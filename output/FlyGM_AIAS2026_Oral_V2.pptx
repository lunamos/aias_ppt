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76" r:id="rId21"/>
    <p:sldId id="277" r:id="rId22"/>
    <p:sldId id="278" r:id="rId23"/>
    <p:sldId id="279" r:id="rId24"/>
    <p:sldId id="280" r:id="rId25"/>
    <p:sldId id="281" r:id="rId26"/>
    <p:sldId id="282" r:id="rId27"/>
    <p:sldId id="262" r:id="rId8"/>
    <p:sldId id="283" r:id="rId28"/>
    <p:sldId id="284" r:id="rId29"/>
    <p:sldId id="266" r:id="rId11"/>
    <p:sldId id="267" r:id="rId12"/>
    <p:sldId id="285" r:id="rId30"/>
    <p:sldId id="286" r:id="rId31"/>
    <p:sldId id="287" r:id="rId32"/>
    <p:sldId id="288" r:id="rId33"/>
  </p:sldIdLst>
  <p:sldSz cx="9144000" cy="5143500" type="screen16x9"/>
  <p:notesSz cx="6858000" cy="9144000"/>
  <p:defaultTextStyle>
    <a:defPPr>
      <a:buNone/>
    </a:defPPr>
    <a:lvl1pPr algn="l" defTabSz="457200">
      <a:spcBef>
        <a:spcPct val="0"/>
      </a:spcBef>
      <a:spcAft>
        <a:spcPct val="0"/>
      </a:spcAft>
      <a:buNone/>
      <a:defRPr kern="1200">
        <a:solidFill>
          <a:schemeClr val="tx1"/>
        </a:solidFill>
        <a:latin typeface="Source Sans Pro"/>
        <a:ea typeface="Source Sans Pro"/>
        <a:cs typeface="Source Sans Pro"/>
      </a:defRPr>
    </a:lvl1pPr>
    <a:lvl2pPr marL="457200" algn="l" defTabSz="457200">
      <a:spcBef>
        <a:spcPct val="0"/>
      </a:spcBef>
      <a:spcAft>
        <a:spcPct val="0"/>
      </a:spcAft>
      <a:buNone/>
      <a:defRPr kern="1200">
        <a:solidFill>
          <a:schemeClr val="tx1"/>
        </a:solidFill>
        <a:latin typeface="Source Sans Pro"/>
        <a:ea typeface="Source Sans Pro"/>
        <a:cs typeface="Source Sans Pro"/>
      </a:defRPr>
    </a:lvl2pPr>
    <a:lvl3pPr marL="914400" algn="l" defTabSz="457200">
      <a:spcBef>
        <a:spcPct val="0"/>
      </a:spcBef>
      <a:spcAft>
        <a:spcPct val="0"/>
      </a:spcAft>
      <a:buNone/>
      <a:defRPr kern="1200">
        <a:solidFill>
          <a:schemeClr val="tx1"/>
        </a:solidFill>
        <a:latin typeface="Source Sans Pro"/>
        <a:ea typeface="Source Sans Pro"/>
        <a:cs typeface="Source Sans Pro"/>
      </a:defRPr>
    </a:lvl3pPr>
    <a:lvl4pPr marL="1371600" algn="l" defTabSz="457200">
      <a:spcBef>
        <a:spcPct val="0"/>
      </a:spcBef>
      <a:spcAft>
        <a:spcPct val="0"/>
      </a:spcAft>
      <a:buNone/>
      <a:defRPr kern="1200">
        <a:solidFill>
          <a:schemeClr val="tx1"/>
        </a:solidFill>
        <a:latin typeface="Source Sans Pro"/>
        <a:ea typeface="Source Sans Pro"/>
        <a:cs typeface="Source Sans Pro"/>
      </a:defRPr>
    </a:lvl4pPr>
    <a:lvl5pPr marL="1828800" algn="l" defTabSz="457200">
      <a:spcBef>
        <a:spcPct val="0"/>
      </a:spcBef>
      <a:spcAft>
        <a:spcPct val="0"/>
      </a:spcAft>
      <a:buNone/>
      <a:defRPr kern="1200">
        <a:solidFill>
          <a:schemeClr val="tx1"/>
        </a:solidFill>
        <a:latin typeface="Source Sans Pro"/>
        <a:ea typeface="Source Sans Pro"/>
        <a:cs typeface="Source Sans Pro"/>
      </a:defRPr>
    </a:lvl5pPr>
    <a:lvl6pPr marL="2286000" algn="l" defTabSz="914400">
      <a:buNone/>
      <a:defRPr kern="1200">
        <a:solidFill>
          <a:schemeClr val="tx1"/>
        </a:solidFill>
        <a:latin typeface="Source Sans Pro"/>
        <a:ea typeface="Source Sans Pro"/>
        <a:cs typeface="Source Sans Pro"/>
      </a:defRPr>
    </a:lvl6pPr>
    <a:lvl7pPr marL="2743200" algn="l" defTabSz="914400">
      <a:buNone/>
      <a:defRPr kern="1200">
        <a:solidFill>
          <a:schemeClr val="tx1"/>
        </a:solidFill>
        <a:latin typeface="Source Sans Pro"/>
        <a:ea typeface="Source Sans Pro"/>
        <a:cs typeface="Source Sans Pro"/>
      </a:defRPr>
    </a:lvl7pPr>
    <a:lvl8pPr marL="3200400" algn="l" defTabSz="914400">
      <a:buNone/>
      <a:defRPr kern="1200">
        <a:solidFill>
          <a:schemeClr val="tx1"/>
        </a:solidFill>
        <a:latin typeface="Source Sans Pro"/>
        <a:ea typeface="Source Sans Pro"/>
        <a:cs typeface="Source Sans Pro"/>
      </a:defRPr>
    </a:lvl8pPr>
    <a:lvl9pPr marL="3657600" algn="l" defTabSz="914400">
      <a:buNone/>
      <a:defRPr kern="1200">
        <a:solidFill>
          <a:schemeClr val="tx1"/>
        </a:solidFill>
        <a:latin typeface="Source Sans Pro"/>
        <a:ea typeface="Source Sans Pro"/>
        <a:cs typeface="Source Sans Pro"/>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35"/>
  </p:normalViewPr>
  <p:slideViewPr>
    <p:cSldViewPr snapToGrid="0" snapToObjects="1">
      <p:cViewPr varScale="1">
        <p:scale>
          <a:sx n="146" d="100"/>
          <a:sy n="146" d="100"/>
        </p:scale>
        <p:origin x="6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7.xml"/><Relationship Id="rId11" Type="http://schemas.openxmlformats.org/officeDocument/2006/relationships/slide" Target="slides/slide10.xml"/><Relationship Id="rId12" Type="http://schemas.openxmlformats.org/officeDocument/2006/relationships/slide" Target="slides/slide1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13"/>
          <c:y val="0.04"/>
          <c:w val="0.83"/>
          <c:h val="0.76"/>
        </c:manualLayout>
      </c:layout>
      <c:scatterChart>
        <c:scatterStyle val="lineMarker"/>
        <c:varyColors val="0"/>
        <c:ser>
          <c:idx val="0"/>
          <c:order val="0"/>
          <c:tx>
            <c:strRef>
              <c:f>Sheet1!$B$1</c:f>
              <c:strCache>
                <c:ptCount val="1"/>
                <c:pt idx="0">
                  <c:v>ER-Random</c:v>
                </c:pt>
              </c:strCache>
            </c:strRef>
          </c:tx>
          <c:spPr>
            <a:ln w="20320">
              <a:solidFill>
                <a:srgbClr val="666666"/>
              </a:solidFill>
            </a:ln>
          </c:spPr>
          <c:marker>
            <c:symbol val="none"/>
          </c:marker>
          <c:xVal>
            <c:numRef>
              <c:f>Sheet1!$A$2:$A$254</c:f>
              <c:numCache>
                <c:formatCode>General</c:formatCode>
                <c:ptCount val="253"/>
                <c:pt idx="0">
                  <c:v>0.004</c:v>
                </c:pt>
                <c:pt idx="1">
                  <c:v>0.674</c:v>
                </c:pt>
                <c:pt idx="2">
                  <c:v>0.969</c:v>
                </c:pt>
                <c:pt idx="3">
                  <c:v>1.034</c:v>
                </c:pt>
                <c:pt idx="4">
                  <c:v>1.189</c:v>
                </c:pt>
                <c:pt idx="5">
                  <c:v>1.244</c:v>
                </c:pt>
                <c:pt idx="6">
                  <c:v>1.374</c:v>
                </c:pt>
                <c:pt idx="7">
                  <c:v>1.414</c:v>
                </c:pt>
                <c:pt idx="8">
                  <c:v>1.504</c:v>
                </c:pt>
                <c:pt idx="9">
                  <c:v>1.654</c:v>
                </c:pt>
                <c:pt idx="10">
                  <c:v>1.694</c:v>
                </c:pt>
                <c:pt idx="11">
                  <c:v>1.769</c:v>
                </c:pt>
                <c:pt idx="12">
                  <c:v>1.859</c:v>
                </c:pt>
                <c:pt idx="13">
                  <c:v>1.939</c:v>
                </c:pt>
                <c:pt idx="14">
                  <c:v>2.029</c:v>
                </c:pt>
                <c:pt idx="15">
                  <c:v>2.134</c:v>
                </c:pt>
                <c:pt idx="16">
                  <c:v>2.204</c:v>
                </c:pt>
                <c:pt idx="17">
                  <c:v>2.339</c:v>
                </c:pt>
                <c:pt idx="18">
                  <c:v>2.379</c:v>
                </c:pt>
                <c:pt idx="19">
                  <c:v>2.454</c:v>
                </c:pt>
                <c:pt idx="20">
                  <c:v>2.514</c:v>
                </c:pt>
                <c:pt idx="21">
                  <c:v>2.589</c:v>
                </c:pt>
                <c:pt idx="22">
                  <c:v>2.674</c:v>
                </c:pt>
                <c:pt idx="23">
                  <c:v>2.749</c:v>
                </c:pt>
                <c:pt idx="24">
                  <c:v>2.819</c:v>
                </c:pt>
                <c:pt idx="25">
                  <c:v>2.874</c:v>
                </c:pt>
                <c:pt idx="26">
                  <c:v>3.029</c:v>
                </c:pt>
                <c:pt idx="27">
                  <c:v>3.099</c:v>
                </c:pt>
                <c:pt idx="28">
                  <c:v>3.134</c:v>
                </c:pt>
                <c:pt idx="29">
                  <c:v>3.214</c:v>
                </c:pt>
                <c:pt idx="30">
                  <c:v>3.489</c:v>
                </c:pt>
                <c:pt idx="31">
                  <c:v>3.574</c:v>
                </c:pt>
                <c:pt idx="32">
                  <c:v>3.639</c:v>
                </c:pt>
                <c:pt idx="33">
                  <c:v>3.789</c:v>
                </c:pt>
                <c:pt idx="34">
                  <c:v>3.869</c:v>
                </c:pt>
                <c:pt idx="35">
                  <c:v>3.989</c:v>
                </c:pt>
                <c:pt idx="36">
                  <c:v>4.024</c:v>
                </c:pt>
                <c:pt idx="37">
                  <c:v>4.099</c:v>
                </c:pt>
                <c:pt idx="38">
                  <c:v>4.169</c:v>
                </c:pt>
                <c:pt idx="39">
                  <c:v>4.259</c:v>
                </c:pt>
                <c:pt idx="40">
                  <c:v>4.339</c:v>
                </c:pt>
                <c:pt idx="41">
                  <c:v>4.404</c:v>
                </c:pt>
                <c:pt idx="42">
                  <c:v>4.459</c:v>
                </c:pt>
                <c:pt idx="43">
                  <c:v>4.524</c:v>
                </c:pt>
                <c:pt idx="44">
                  <c:v>4.674</c:v>
                </c:pt>
                <c:pt idx="45">
                  <c:v>4.749</c:v>
                </c:pt>
                <c:pt idx="46">
                  <c:v>4.944</c:v>
                </c:pt>
                <c:pt idx="47">
                  <c:v>5.069</c:v>
                </c:pt>
                <c:pt idx="48">
                  <c:v>5.139</c:v>
                </c:pt>
                <c:pt idx="49">
                  <c:v>5.214</c:v>
                </c:pt>
                <c:pt idx="50">
                  <c:v>5.264</c:v>
                </c:pt>
                <c:pt idx="51">
                  <c:v>5.319</c:v>
                </c:pt>
                <c:pt idx="52">
                  <c:v>5.369</c:v>
                </c:pt>
                <c:pt idx="53">
                  <c:v>5.494</c:v>
                </c:pt>
                <c:pt idx="54">
                  <c:v>5.554</c:v>
                </c:pt>
                <c:pt idx="55">
                  <c:v>5.619</c:v>
                </c:pt>
                <c:pt idx="56">
                  <c:v>5.664</c:v>
                </c:pt>
                <c:pt idx="57">
                  <c:v>5.789</c:v>
                </c:pt>
                <c:pt idx="58">
                  <c:v>5.859</c:v>
                </c:pt>
                <c:pt idx="59">
                  <c:v>5.989</c:v>
                </c:pt>
                <c:pt idx="60">
                  <c:v>6.179</c:v>
                </c:pt>
                <c:pt idx="61">
                  <c:v>6.234</c:v>
                </c:pt>
                <c:pt idx="62">
                  <c:v>6.339</c:v>
                </c:pt>
                <c:pt idx="63">
                  <c:v>6.524</c:v>
                </c:pt>
                <c:pt idx="64">
                  <c:v>6.689</c:v>
                </c:pt>
                <c:pt idx="65">
                  <c:v>6.789</c:v>
                </c:pt>
                <c:pt idx="66">
                  <c:v>6.889</c:v>
                </c:pt>
                <c:pt idx="67">
                  <c:v>6.929</c:v>
                </c:pt>
                <c:pt idx="68">
                  <c:v>6.979</c:v>
                </c:pt>
                <c:pt idx="69">
                  <c:v>7.094</c:v>
                </c:pt>
                <c:pt idx="70">
                  <c:v>7.164</c:v>
                </c:pt>
                <c:pt idx="71">
                  <c:v>7.199</c:v>
                </c:pt>
                <c:pt idx="72">
                  <c:v>7.319</c:v>
                </c:pt>
                <c:pt idx="73">
                  <c:v>7.404</c:v>
                </c:pt>
                <c:pt idx="74">
                  <c:v>7.469</c:v>
                </c:pt>
                <c:pt idx="75">
                  <c:v>7.609</c:v>
                </c:pt>
                <c:pt idx="76">
                  <c:v>7.664</c:v>
                </c:pt>
                <c:pt idx="77">
                  <c:v>7.749</c:v>
                </c:pt>
                <c:pt idx="78">
                  <c:v>7.809</c:v>
                </c:pt>
                <c:pt idx="79">
                  <c:v>7.859</c:v>
                </c:pt>
                <c:pt idx="80">
                  <c:v>7.919</c:v>
                </c:pt>
                <c:pt idx="81">
                  <c:v>7.979</c:v>
                </c:pt>
                <c:pt idx="82">
                  <c:v>8.039</c:v>
                </c:pt>
                <c:pt idx="83">
                  <c:v>8.129</c:v>
                </c:pt>
                <c:pt idx="84">
                  <c:v>8.219</c:v>
                </c:pt>
                <c:pt idx="85">
                  <c:v>8.284</c:v>
                </c:pt>
                <c:pt idx="86">
                  <c:v>8.379</c:v>
                </c:pt>
                <c:pt idx="87">
                  <c:v>8.454</c:v>
                </c:pt>
                <c:pt idx="88">
                  <c:v>8.539</c:v>
                </c:pt>
                <c:pt idx="89">
                  <c:v>8.659</c:v>
                </c:pt>
                <c:pt idx="90">
                  <c:v>8.729</c:v>
                </c:pt>
                <c:pt idx="91">
                  <c:v>8.794</c:v>
                </c:pt>
                <c:pt idx="92">
                  <c:v>8.899</c:v>
                </c:pt>
                <c:pt idx="93">
                  <c:v>9.009</c:v>
                </c:pt>
                <c:pt idx="94">
                  <c:v>9.119</c:v>
                </c:pt>
                <c:pt idx="95">
                  <c:v>9.164</c:v>
                </c:pt>
                <c:pt idx="96">
                  <c:v>9.229</c:v>
                </c:pt>
                <c:pt idx="97">
                  <c:v>9.309</c:v>
                </c:pt>
                <c:pt idx="98">
                  <c:v>9.394</c:v>
                </c:pt>
                <c:pt idx="99">
                  <c:v>9.449</c:v>
                </c:pt>
                <c:pt idx="100">
                  <c:v>9.484</c:v>
                </c:pt>
                <c:pt idx="101">
                  <c:v>9.564</c:v>
                </c:pt>
                <c:pt idx="102">
                  <c:v>9.634</c:v>
                </c:pt>
                <c:pt idx="103">
                  <c:v>9.734</c:v>
                </c:pt>
                <c:pt idx="104">
                  <c:v>9.809</c:v>
                </c:pt>
                <c:pt idx="105">
                  <c:v>9.894</c:v>
                </c:pt>
                <c:pt idx="106">
                  <c:v>9.984</c:v>
                </c:pt>
                <c:pt idx="107">
                  <c:v>10.094</c:v>
                </c:pt>
                <c:pt idx="108">
                  <c:v>10.184</c:v>
                </c:pt>
                <c:pt idx="109">
                  <c:v>10.269</c:v>
                </c:pt>
                <c:pt idx="110">
                  <c:v>10.349</c:v>
                </c:pt>
                <c:pt idx="111">
                  <c:v>10.419</c:v>
                </c:pt>
                <c:pt idx="112">
                  <c:v>10.469</c:v>
                </c:pt>
                <c:pt idx="113">
                  <c:v>10.574</c:v>
                </c:pt>
                <c:pt idx="114">
                  <c:v>10.634</c:v>
                </c:pt>
                <c:pt idx="115">
                  <c:v>10.749</c:v>
                </c:pt>
                <c:pt idx="116">
                  <c:v>10.799</c:v>
                </c:pt>
                <c:pt idx="117">
                  <c:v>10.894</c:v>
                </c:pt>
                <c:pt idx="118">
                  <c:v>11.004</c:v>
                </c:pt>
                <c:pt idx="119">
                  <c:v>11.079</c:v>
                </c:pt>
                <c:pt idx="120">
                  <c:v>11.184</c:v>
                </c:pt>
                <c:pt idx="121">
                  <c:v>11.234</c:v>
                </c:pt>
                <c:pt idx="122">
                  <c:v>11.284</c:v>
                </c:pt>
                <c:pt idx="123">
                  <c:v>11.329</c:v>
                </c:pt>
                <c:pt idx="124">
                  <c:v>11.499</c:v>
                </c:pt>
                <c:pt idx="125">
                  <c:v>11.599</c:v>
                </c:pt>
                <c:pt idx="126">
                  <c:v>11.724</c:v>
                </c:pt>
                <c:pt idx="127">
                  <c:v>11.819</c:v>
                </c:pt>
                <c:pt idx="128">
                  <c:v>11.869</c:v>
                </c:pt>
                <c:pt idx="129">
                  <c:v>11.999</c:v>
                </c:pt>
                <c:pt idx="130">
                  <c:v>12.084</c:v>
                </c:pt>
                <c:pt idx="131">
                  <c:v>12.174</c:v>
                </c:pt>
                <c:pt idx="132">
                  <c:v>12.229</c:v>
                </c:pt>
                <c:pt idx="133">
                  <c:v>12.289</c:v>
                </c:pt>
                <c:pt idx="134">
                  <c:v>12.399</c:v>
                </c:pt>
                <c:pt idx="135">
                  <c:v>12.439</c:v>
                </c:pt>
                <c:pt idx="136">
                  <c:v>12.594</c:v>
                </c:pt>
                <c:pt idx="137">
                  <c:v>12.639</c:v>
                </c:pt>
                <c:pt idx="138">
                  <c:v>12.729</c:v>
                </c:pt>
                <c:pt idx="139">
                  <c:v>12.884</c:v>
                </c:pt>
                <c:pt idx="140">
                  <c:v>12.964</c:v>
                </c:pt>
                <c:pt idx="141">
                  <c:v>13.064</c:v>
                </c:pt>
                <c:pt idx="142">
                  <c:v>13.129</c:v>
                </c:pt>
                <c:pt idx="143">
                  <c:v>13.179</c:v>
                </c:pt>
                <c:pt idx="144">
                  <c:v>13.224</c:v>
                </c:pt>
                <c:pt idx="145">
                  <c:v>13.339</c:v>
                </c:pt>
                <c:pt idx="146">
                  <c:v>13.454</c:v>
                </c:pt>
                <c:pt idx="147">
                  <c:v>13.589</c:v>
                </c:pt>
                <c:pt idx="148">
                  <c:v>13.644</c:v>
                </c:pt>
                <c:pt idx="149">
                  <c:v>13.774</c:v>
                </c:pt>
                <c:pt idx="150">
                  <c:v>13.834</c:v>
                </c:pt>
                <c:pt idx="151">
                  <c:v>13.899</c:v>
                </c:pt>
                <c:pt idx="152">
                  <c:v>14.034</c:v>
                </c:pt>
                <c:pt idx="153">
                  <c:v>14.164</c:v>
                </c:pt>
                <c:pt idx="154">
                  <c:v>14.254</c:v>
                </c:pt>
                <c:pt idx="155">
                  <c:v>14.349</c:v>
                </c:pt>
                <c:pt idx="156">
                  <c:v>14.524</c:v>
                </c:pt>
                <c:pt idx="157">
                  <c:v>14.674</c:v>
                </c:pt>
                <c:pt idx="158">
                  <c:v>14.784</c:v>
                </c:pt>
                <c:pt idx="159">
                  <c:v>14.944</c:v>
                </c:pt>
                <c:pt idx="160">
                  <c:v>15.039</c:v>
                </c:pt>
                <c:pt idx="161">
                  <c:v>15.299</c:v>
                </c:pt>
                <c:pt idx="162">
                  <c:v>15.409</c:v>
                </c:pt>
                <c:pt idx="163">
                  <c:v>15.499</c:v>
                </c:pt>
                <c:pt idx="164">
                  <c:v>15.584</c:v>
                </c:pt>
                <c:pt idx="165">
                  <c:v>15.664</c:v>
                </c:pt>
                <c:pt idx="166">
                  <c:v>15.739</c:v>
                </c:pt>
                <c:pt idx="167">
                  <c:v>15.849</c:v>
                </c:pt>
                <c:pt idx="168">
                  <c:v>15.899</c:v>
                </c:pt>
                <c:pt idx="169">
                  <c:v>15.954</c:v>
                </c:pt>
                <c:pt idx="170">
                  <c:v>16.059</c:v>
                </c:pt>
                <c:pt idx="171">
                  <c:v>16.129</c:v>
                </c:pt>
                <c:pt idx="172">
                  <c:v>16.204</c:v>
                </c:pt>
                <c:pt idx="173">
                  <c:v>16.249</c:v>
                </c:pt>
                <c:pt idx="174">
                  <c:v>16.369</c:v>
                </c:pt>
                <c:pt idx="175">
                  <c:v>16.499</c:v>
                </c:pt>
                <c:pt idx="176">
                  <c:v>16.664</c:v>
                </c:pt>
                <c:pt idx="177">
                  <c:v>16.814</c:v>
                </c:pt>
                <c:pt idx="178">
                  <c:v>16.869</c:v>
                </c:pt>
                <c:pt idx="179">
                  <c:v>16.979</c:v>
                </c:pt>
                <c:pt idx="180">
                  <c:v>17.049</c:v>
                </c:pt>
                <c:pt idx="181">
                  <c:v>17.119</c:v>
                </c:pt>
                <c:pt idx="182">
                  <c:v>17.194</c:v>
                </c:pt>
                <c:pt idx="183">
                  <c:v>17.239</c:v>
                </c:pt>
                <c:pt idx="184">
                  <c:v>17.349</c:v>
                </c:pt>
                <c:pt idx="185">
                  <c:v>17.429</c:v>
                </c:pt>
                <c:pt idx="186">
                  <c:v>17.534</c:v>
                </c:pt>
                <c:pt idx="187">
                  <c:v>17.659</c:v>
                </c:pt>
                <c:pt idx="188">
                  <c:v>17.699</c:v>
                </c:pt>
                <c:pt idx="189">
                  <c:v>17.764</c:v>
                </c:pt>
                <c:pt idx="190">
                  <c:v>17.834</c:v>
                </c:pt>
                <c:pt idx="191">
                  <c:v>17.874</c:v>
                </c:pt>
                <c:pt idx="192">
                  <c:v>17.969</c:v>
                </c:pt>
                <c:pt idx="193">
                  <c:v>18.039</c:v>
                </c:pt>
                <c:pt idx="194">
                  <c:v>18.109</c:v>
                </c:pt>
                <c:pt idx="195">
                  <c:v>18.194</c:v>
                </c:pt>
                <c:pt idx="196">
                  <c:v>18.279</c:v>
                </c:pt>
                <c:pt idx="197">
                  <c:v>18.324</c:v>
                </c:pt>
                <c:pt idx="198">
                  <c:v>18.394</c:v>
                </c:pt>
                <c:pt idx="199">
                  <c:v>18.474</c:v>
                </c:pt>
                <c:pt idx="200">
                  <c:v>18.534</c:v>
                </c:pt>
                <c:pt idx="201">
                  <c:v>18.634</c:v>
                </c:pt>
                <c:pt idx="202">
                  <c:v>18.774</c:v>
                </c:pt>
                <c:pt idx="203">
                  <c:v>18.849</c:v>
                </c:pt>
                <c:pt idx="204">
                  <c:v>18.934</c:v>
                </c:pt>
                <c:pt idx="205">
                  <c:v>19.104</c:v>
                </c:pt>
                <c:pt idx="206">
                  <c:v>19.179</c:v>
                </c:pt>
                <c:pt idx="207">
                  <c:v>19.279</c:v>
                </c:pt>
                <c:pt idx="208">
                  <c:v>19.324</c:v>
                </c:pt>
                <c:pt idx="209">
                  <c:v>19.434</c:v>
                </c:pt>
                <c:pt idx="210">
                  <c:v>19.504</c:v>
                </c:pt>
                <c:pt idx="211">
                  <c:v>19.544</c:v>
                </c:pt>
                <c:pt idx="212">
                  <c:v>19.789</c:v>
                </c:pt>
                <c:pt idx="213">
                  <c:v>19.849</c:v>
                </c:pt>
                <c:pt idx="214">
                  <c:v>19.909</c:v>
                </c:pt>
                <c:pt idx="215">
                  <c:v>19.999</c:v>
                </c:pt>
                <c:pt idx="216">
                  <c:v>20.179</c:v>
                </c:pt>
                <c:pt idx="217">
                  <c:v>20.239</c:v>
                </c:pt>
                <c:pt idx="218">
                  <c:v>20.284</c:v>
                </c:pt>
                <c:pt idx="219">
                  <c:v>20.404</c:v>
                </c:pt>
                <c:pt idx="220">
                  <c:v>20.484</c:v>
                </c:pt>
                <c:pt idx="221">
                  <c:v>20.579</c:v>
                </c:pt>
                <c:pt idx="222">
                  <c:v>20.624</c:v>
                </c:pt>
                <c:pt idx="223">
                  <c:v>20.664</c:v>
                </c:pt>
                <c:pt idx="224">
                  <c:v>20.759</c:v>
                </c:pt>
                <c:pt idx="225">
                  <c:v>20.819</c:v>
                </c:pt>
                <c:pt idx="226">
                  <c:v>20.919</c:v>
                </c:pt>
                <c:pt idx="227">
                  <c:v>20.994</c:v>
                </c:pt>
                <c:pt idx="228">
                  <c:v>21.074</c:v>
                </c:pt>
                <c:pt idx="229">
                  <c:v>21.199</c:v>
                </c:pt>
                <c:pt idx="230">
                  <c:v>21.264</c:v>
                </c:pt>
                <c:pt idx="231">
                  <c:v>21.364</c:v>
                </c:pt>
                <c:pt idx="232">
                  <c:v>21.399</c:v>
                </c:pt>
                <c:pt idx="233">
                  <c:v>21.474</c:v>
                </c:pt>
                <c:pt idx="234">
                  <c:v>21.544</c:v>
                </c:pt>
                <c:pt idx="235">
                  <c:v>21.609</c:v>
                </c:pt>
                <c:pt idx="236">
                  <c:v>21.659</c:v>
                </c:pt>
                <c:pt idx="237">
                  <c:v>21.729</c:v>
                </c:pt>
                <c:pt idx="238">
                  <c:v>21.819</c:v>
                </c:pt>
                <c:pt idx="239">
                  <c:v>21.914</c:v>
                </c:pt>
                <c:pt idx="240">
                  <c:v>22.014</c:v>
                </c:pt>
                <c:pt idx="241">
                  <c:v>22.109</c:v>
                </c:pt>
                <c:pt idx="242">
                  <c:v>22.199</c:v>
                </c:pt>
                <c:pt idx="243">
                  <c:v>22.269</c:v>
                </c:pt>
                <c:pt idx="244">
                  <c:v>22.364</c:v>
                </c:pt>
                <c:pt idx="245">
                  <c:v>22.484</c:v>
                </c:pt>
                <c:pt idx="246">
                  <c:v>22.569</c:v>
                </c:pt>
                <c:pt idx="247">
                  <c:v>22.639</c:v>
                </c:pt>
                <c:pt idx="248">
                  <c:v>22.739</c:v>
                </c:pt>
                <c:pt idx="249">
                  <c:v>22.804</c:v>
                </c:pt>
                <c:pt idx="250">
                  <c:v>22.864</c:v>
                </c:pt>
                <c:pt idx="251">
                  <c:v>22.904</c:v>
                </c:pt>
                <c:pt idx="252">
                  <c:v>22.944</c:v>
                </c:pt>
              </c:numCache>
            </c:numRef>
          </c:xVal>
          <c:yVal>
            <c:numRef>
              <c:f>Sheet1!$B$2:$B$254</c:f>
              <c:numCache>
                <c:formatCode>General</c:formatCode>
                <c:ptCount val="253"/>
                <c:pt idx="0">
                  <c:v>3.54598</c:v>
                </c:pt>
                <c:pt idx="1">
                  <c:v>0.66145</c:v>
                </c:pt>
                <c:pt idx="2">
                  <c:v>0.42855</c:v>
                </c:pt>
                <c:pt idx="3">
                  <c:v>0.43122</c:v>
                </c:pt>
                <c:pt idx="4">
                  <c:v>0.37753</c:v>
                </c:pt>
                <c:pt idx="5">
                  <c:v>0.36983</c:v>
                </c:pt>
                <c:pt idx="6">
                  <c:v>0.34086</c:v>
                </c:pt>
                <c:pt idx="7">
                  <c:v>0.33922</c:v>
                </c:pt>
                <c:pt idx="8">
                  <c:v>0.33225</c:v>
                </c:pt>
                <c:pt idx="9">
                  <c:v>0.31011</c:v>
                </c:pt>
                <c:pt idx="10">
                  <c:v>0.31581</c:v>
                </c:pt>
                <c:pt idx="11">
                  <c:v>0.30818</c:v>
                </c:pt>
                <c:pt idx="12">
                  <c:v>0.29585</c:v>
                </c:pt>
                <c:pt idx="13">
                  <c:v>0.29143</c:v>
                </c:pt>
                <c:pt idx="14">
                  <c:v>0.28964</c:v>
                </c:pt>
                <c:pt idx="15">
                  <c:v>0.28232</c:v>
                </c:pt>
                <c:pt idx="16">
                  <c:v>0.28327</c:v>
                </c:pt>
                <c:pt idx="17">
                  <c:v>0.27767</c:v>
                </c:pt>
                <c:pt idx="18">
                  <c:v>0.27953</c:v>
                </c:pt>
                <c:pt idx="19">
                  <c:v>0.27905</c:v>
                </c:pt>
                <c:pt idx="20">
                  <c:v>0.27575</c:v>
                </c:pt>
                <c:pt idx="21">
                  <c:v>0.27597</c:v>
                </c:pt>
                <c:pt idx="22">
                  <c:v>0.27156</c:v>
                </c:pt>
                <c:pt idx="23">
                  <c:v>0.27194</c:v>
                </c:pt>
                <c:pt idx="24">
                  <c:v>0.27187</c:v>
                </c:pt>
                <c:pt idx="25">
                  <c:v>0.27292</c:v>
                </c:pt>
                <c:pt idx="26">
                  <c:v>0.25903</c:v>
                </c:pt>
                <c:pt idx="27">
                  <c:v>0.25815</c:v>
                </c:pt>
                <c:pt idx="28">
                  <c:v>0.26494</c:v>
                </c:pt>
                <c:pt idx="29">
                  <c:v>0.27189</c:v>
                </c:pt>
                <c:pt idx="30">
                  <c:v>0.25668</c:v>
                </c:pt>
                <c:pt idx="31">
                  <c:v>0.25607</c:v>
                </c:pt>
                <c:pt idx="32">
                  <c:v>0.25433</c:v>
                </c:pt>
                <c:pt idx="33">
                  <c:v>0.24743</c:v>
                </c:pt>
                <c:pt idx="34">
                  <c:v>0.24753</c:v>
                </c:pt>
                <c:pt idx="35">
                  <c:v>0.24416</c:v>
                </c:pt>
                <c:pt idx="36">
                  <c:v>0.2502</c:v>
                </c:pt>
                <c:pt idx="37">
                  <c:v>0.24234</c:v>
                </c:pt>
                <c:pt idx="38">
                  <c:v>0.24561</c:v>
                </c:pt>
                <c:pt idx="39">
                  <c:v>0.24253</c:v>
                </c:pt>
                <c:pt idx="40">
                  <c:v>0.23995</c:v>
                </c:pt>
                <c:pt idx="41">
                  <c:v>0.24236</c:v>
                </c:pt>
                <c:pt idx="42">
                  <c:v>0.24381</c:v>
                </c:pt>
                <c:pt idx="43">
                  <c:v>0.24363</c:v>
                </c:pt>
                <c:pt idx="44">
                  <c:v>0.23649</c:v>
                </c:pt>
                <c:pt idx="45">
                  <c:v>0.23346</c:v>
                </c:pt>
                <c:pt idx="46">
                  <c:v>0.23062</c:v>
                </c:pt>
                <c:pt idx="47">
                  <c:v>0.23157</c:v>
                </c:pt>
                <c:pt idx="48">
                  <c:v>0.2334</c:v>
                </c:pt>
                <c:pt idx="49">
                  <c:v>0.22884</c:v>
                </c:pt>
                <c:pt idx="50">
                  <c:v>0.23023</c:v>
                </c:pt>
                <c:pt idx="51">
                  <c:v>0.22643</c:v>
                </c:pt>
                <c:pt idx="52">
                  <c:v>0.22785</c:v>
                </c:pt>
                <c:pt idx="53">
                  <c:v>0.22647</c:v>
                </c:pt>
                <c:pt idx="54">
                  <c:v>0.23191</c:v>
                </c:pt>
                <c:pt idx="55">
                  <c:v>0.23303</c:v>
                </c:pt>
                <c:pt idx="56">
                  <c:v>0.23243</c:v>
                </c:pt>
                <c:pt idx="57">
                  <c:v>0.22761</c:v>
                </c:pt>
                <c:pt idx="58">
                  <c:v>0.23118</c:v>
                </c:pt>
                <c:pt idx="59">
                  <c:v>0.22416</c:v>
                </c:pt>
                <c:pt idx="60">
                  <c:v>0.21476</c:v>
                </c:pt>
                <c:pt idx="61">
                  <c:v>0.21304</c:v>
                </c:pt>
                <c:pt idx="62">
                  <c:v>0.21635</c:v>
                </c:pt>
                <c:pt idx="63">
                  <c:v>0.20797</c:v>
                </c:pt>
                <c:pt idx="64">
                  <c:v>0.20835</c:v>
                </c:pt>
                <c:pt idx="65">
                  <c:v>0.21222</c:v>
                </c:pt>
                <c:pt idx="66">
                  <c:v>0.21934</c:v>
                </c:pt>
                <c:pt idx="67">
                  <c:v>0.22095</c:v>
                </c:pt>
                <c:pt idx="68">
                  <c:v>0.2212</c:v>
                </c:pt>
                <c:pt idx="69">
                  <c:v>0.2173</c:v>
                </c:pt>
                <c:pt idx="70">
                  <c:v>0.21362</c:v>
                </c:pt>
                <c:pt idx="71">
                  <c:v>0.21417</c:v>
                </c:pt>
                <c:pt idx="72">
                  <c:v>0.21341</c:v>
                </c:pt>
                <c:pt idx="73">
                  <c:v>0.21362</c:v>
                </c:pt>
                <c:pt idx="74">
                  <c:v>0.20981</c:v>
                </c:pt>
                <c:pt idx="75">
                  <c:v>0.20401</c:v>
                </c:pt>
                <c:pt idx="76">
                  <c:v>0.21351</c:v>
                </c:pt>
                <c:pt idx="77">
                  <c:v>0.21335</c:v>
                </c:pt>
                <c:pt idx="78">
                  <c:v>0.21169</c:v>
                </c:pt>
                <c:pt idx="79">
                  <c:v>0.20876</c:v>
                </c:pt>
                <c:pt idx="80">
                  <c:v>0.20809</c:v>
                </c:pt>
                <c:pt idx="81">
                  <c:v>0.21112</c:v>
                </c:pt>
                <c:pt idx="82">
                  <c:v>0.21069</c:v>
                </c:pt>
                <c:pt idx="83">
                  <c:v>0.21058</c:v>
                </c:pt>
                <c:pt idx="84">
                  <c:v>0.2063</c:v>
                </c:pt>
                <c:pt idx="85">
                  <c:v>0.20919</c:v>
                </c:pt>
                <c:pt idx="86">
                  <c:v>0.20809</c:v>
                </c:pt>
                <c:pt idx="87">
                  <c:v>0.20999</c:v>
                </c:pt>
                <c:pt idx="88">
                  <c:v>0.20938</c:v>
                </c:pt>
                <c:pt idx="89">
                  <c:v>0.20263</c:v>
                </c:pt>
                <c:pt idx="90">
                  <c:v>0.19937</c:v>
                </c:pt>
                <c:pt idx="91">
                  <c:v>0.19998</c:v>
                </c:pt>
                <c:pt idx="92">
                  <c:v>0.1993</c:v>
                </c:pt>
                <c:pt idx="93">
                  <c:v>0.19788</c:v>
                </c:pt>
                <c:pt idx="94">
                  <c:v>0.19645</c:v>
                </c:pt>
                <c:pt idx="95">
                  <c:v>0.20056</c:v>
                </c:pt>
                <c:pt idx="96">
                  <c:v>0.19862</c:v>
                </c:pt>
                <c:pt idx="97">
                  <c:v>0.20027</c:v>
                </c:pt>
                <c:pt idx="98">
                  <c:v>0.19882</c:v>
                </c:pt>
                <c:pt idx="99">
                  <c:v>0.19623</c:v>
                </c:pt>
                <c:pt idx="100">
                  <c:v>0.20472</c:v>
                </c:pt>
                <c:pt idx="101">
                  <c:v>0.2006</c:v>
                </c:pt>
                <c:pt idx="102">
                  <c:v>0.20203</c:v>
                </c:pt>
                <c:pt idx="103">
                  <c:v>0.19868</c:v>
                </c:pt>
                <c:pt idx="104">
                  <c:v>0.19985</c:v>
                </c:pt>
                <c:pt idx="105">
                  <c:v>0.19558</c:v>
                </c:pt>
                <c:pt idx="106">
                  <c:v>0.19549</c:v>
                </c:pt>
                <c:pt idx="107">
                  <c:v>0.19058</c:v>
                </c:pt>
                <c:pt idx="108">
                  <c:v>0.19906</c:v>
                </c:pt>
                <c:pt idx="109">
                  <c:v>0.20138</c:v>
                </c:pt>
                <c:pt idx="110">
                  <c:v>0.19755</c:v>
                </c:pt>
                <c:pt idx="111">
                  <c:v>0.19542</c:v>
                </c:pt>
                <c:pt idx="112">
                  <c:v>0.19416</c:v>
                </c:pt>
                <c:pt idx="113">
                  <c:v>0.19474</c:v>
                </c:pt>
                <c:pt idx="114">
                  <c:v>0.19751</c:v>
                </c:pt>
                <c:pt idx="115">
                  <c:v>0.19464</c:v>
                </c:pt>
                <c:pt idx="116">
                  <c:v>0.19901</c:v>
                </c:pt>
                <c:pt idx="117">
                  <c:v>0.19232</c:v>
                </c:pt>
                <c:pt idx="118">
                  <c:v>0.19273</c:v>
                </c:pt>
                <c:pt idx="119">
                  <c:v>0.19484</c:v>
                </c:pt>
                <c:pt idx="120">
                  <c:v>0.19568</c:v>
                </c:pt>
                <c:pt idx="121">
                  <c:v>0.19738</c:v>
                </c:pt>
                <c:pt idx="122">
                  <c:v>0.19578</c:v>
                </c:pt>
                <c:pt idx="123">
                  <c:v>0.19495</c:v>
                </c:pt>
                <c:pt idx="124">
                  <c:v>0.18994</c:v>
                </c:pt>
                <c:pt idx="125">
                  <c:v>0.18477</c:v>
                </c:pt>
                <c:pt idx="126">
                  <c:v>0.18319</c:v>
                </c:pt>
                <c:pt idx="127">
                  <c:v>0.18741</c:v>
                </c:pt>
                <c:pt idx="128">
                  <c:v>0.18609</c:v>
                </c:pt>
                <c:pt idx="129">
                  <c:v>0.1807</c:v>
                </c:pt>
                <c:pt idx="130">
                  <c:v>0.18041</c:v>
                </c:pt>
                <c:pt idx="131">
                  <c:v>0.18753</c:v>
                </c:pt>
                <c:pt idx="132">
                  <c:v>0.19356</c:v>
                </c:pt>
                <c:pt idx="133">
                  <c:v>0.1932</c:v>
                </c:pt>
                <c:pt idx="134">
                  <c:v>0.18969</c:v>
                </c:pt>
                <c:pt idx="135">
                  <c:v>0.19191</c:v>
                </c:pt>
                <c:pt idx="136">
                  <c:v>0.18424</c:v>
                </c:pt>
                <c:pt idx="137">
                  <c:v>0.18634</c:v>
                </c:pt>
                <c:pt idx="138">
                  <c:v>0.19188</c:v>
                </c:pt>
                <c:pt idx="139">
                  <c:v>0.18272</c:v>
                </c:pt>
                <c:pt idx="140">
                  <c:v>0.19017</c:v>
                </c:pt>
                <c:pt idx="141">
                  <c:v>0.18678</c:v>
                </c:pt>
                <c:pt idx="142">
                  <c:v>0.18277</c:v>
                </c:pt>
                <c:pt idx="143">
                  <c:v>0.18682</c:v>
                </c:pt>
                <c:pt idx="144">
                  <c:v>0.18662</c:v>
                </c:pt>
                <c:pt idx="145">
                  <c:v>0.18024</c:v>
                </c:pt>
                <c:pt idx="146">
                  <c:v>0.17617</c:v>
                </c:pt>
                <c:pt idx="147">
                  <c:v>0.17425</c:v>
                </c:pt>
                <c:pt idx="148">
                  <c:v>0.17547</c:v>
                </c:pt>
                <c:pt idx="149">
                  <c:v>0.17641</c:v>
                </c:pt>
                <c:pt idx="150">
                  <c:v>0.1766</c:v>
                </c:pt>
                <c:pt idx="151">
                  <c:v>0.17712</c:v>
                </c:pt>
                <c:pt idx="152">
                  <c:v>0.1732</c:v>
                </c:pt>
                <c:pt idx="153">
                  <c:v>0.17297</c:v>
                </c:pt>
                <c:pt idx="154">
                  <c:v>0.17556</c:v>
                </c:pt>
                <c:pt idx="155">
                  <c:v>0.18199</c:v>
                </c:pt>
                <c:pt idx="156">
                  <c:v>0.17945</c:v>
                </c:pt>
                <c:pt idx="157">
                  <c:v>0.17931</c:v>
                </c:pt>
                <c:pt idx="158">
                  <c:v>0.17408</c:v>
                </c:pt>
                <c:pt idx="159">
                  <c:v>0.17041</c:v>
                </c:pt>
                <c:pt idx="160">
                  <c:v>0.17028</c:v>
                </c:pt>
                <c:pt idx="161">
                  <c:v>0.16927</c:v>
                </c:pt>
                <c:pt idx="162">
                  <c:v>0.17016</c:v>
                </c:pt>
                <c:pt idx="163">
                  <c:v>0.17403</c:v>
                </c:pt>
                <c:pt idx="164">
                  <c:v>0.17184</c:v>
                </c:pt>
                <c:pt idx="165">
                  <c:v>0.17402</c:v>
                </c:pt>
                <c:pt idx="166">
                  <c:v>0.17379</c:v>
                </c:pt>
                <c:pt idx="167">
                  <c:v>0.17132</c:v>
                </c:pt>
                <c:pt idx="168">
                  <c:v>0.16897</c:v>
                </c:pt>
                <c:pt idx="169">
                  <c:v>0.16955</c:v>
                </c:pt>
                <c:pt idx="170">
                  <c:v>0.16632</c:v>
                </c:pt>
                <c:pt idx="171">
                  <c:v>0.16594</c:v>
                </c:pt>
                <c:pt idx="172">
                  <c:v>0.16635</c:v>
                </c:pt>
                <c:pt idx="173">
                  <c:v>0.17359</c:v>
                </c:pt>
                <c:pt idx="174">
                  <c:v>0.16825</c:v>
                </c:pt>
                <c:pt idx="175">
                  <c:v>0.16787</c:v>
                </c:pt>
                <c:pt idx="176">
                  <c:v>0.17184</c:v>
                </c:pt>
                <c:pt idx="177">
                  <c:v>0.16722</c:v>
                </c:pt>
                <c:pt idx="178">
                  <c:v>0.16683</c:v>
                </c:pt>
                <c:pt idx="179">
                  <c:v>0.16745</c:v>
                </c:pt>
                <c:pt idx="180">
                  <c:v>0.16814</c:v>
                </c:pt>
                <c:pt idx="181">
                  <c:v>0.16504</c:v>
                </c:pt>
                <c:pt idx="182">
                  <c:v>0.16322</c:v>
                </c:pt>
                <c:pt idx="183">
                  <c:v>0.1648</c:v>
                </c:pt>
                <c:pt idx="184">
                  <c:v>0.16406</c:v>
                </c:pt>
                <c:pt idx="185">
                  <c:v>0.16167</c:v>
                </c:pt>
                <c:pt idx="186">
                  <c:v>0.1654</c:v>
                </c:pt>
                <c:pt idx="187">
                  <c:v>0.16267</c:v>
                </c:pt>
                <c:pt idx="188">
                  <c:v>0.16165</c:v>
                </c:pt>
                <c:pt idx="189">
                  <c:v>0.16187</c:v>
                </c:pt>
                <c:pt idx="190">
                  <c:v>0.16176</c:v>
                </c:pt>
                <c:pt idx="191">
                  <c:v>0.16308</c:v>
                </c:pt>
                <c:pt idx="192">
                  <c:v>0.16056</c:v>
                </c:pt>
                <c:pt idx="193">
                  <c:v>0.1604</c:v>
                </c:pt>
                <c:pt idx="194">
                  <c:v>0.15939</c:v>
                </c:pt>
                <c:pt idx="195">
                  <c:v>0.16196</c:v>
                </c:pt>
                <c:pt idx="196">
                  <c:v>0.16364</c:v>
                </c:pt>
                <c:pt idx="197">
                  <c:v>0.16622</c:v>
                </c:pt>
                <c:pt idx="198">
                  <c:v>0.16502</c:v>
                </c:pt>
                <c:pt idx="199">
                  <c:v>0.16548</c:v>
                </c:pt>
                <c:pt idx="200">
                  <c:v>0.16466</c:v>
                </c:pt>
                <c:pt idx="201">
                  <c:v>0.16447</c:v>
                </c:pt>
                <c:pt idx="202">
                  <c:v>0.15999</c:v>
                </c:pt>
                <c:pt idx="203">
                  <c:v>0.1609</c:v>
                </c:pt>
                <c:pt idx="204">
                  <c:v>0.15966</c:v>
                </c:pt>
                <c:pt idx="205">
                  <c:v>0.15929</c:v>
                </c:pt>
                <c:pt idx="206">
                  <c:v>0.15962</c:v>
                </c:pt>
                <c:pt idx="207">
                  <c:v>0.16466</c:v>
                </c:pt>
                <c:pt idx="208">
                  <c:v>0.16681</c:v>
                </c:pt>
                <c:pt idx="209">
                  <c:v>0.17204</c:v>
                </c:pt>
                <c:pt idx="210">
                  <c:v>0.1696</c:v>
                </c:pt>
                <c:pt idx="211">
                  <c:v>0.17001</c:v>
                </c:pt>
                <c:pt idx="212">
                  <c:v>0.15715</c:v>
                </c:pt>
                <c:pt idx="213">
                  <c:v>0.15762</c:v>
                </c:pt>
                <c:pt idx="214">
                  <c:v>0.1572</c:v>
                </c:pt>
                <c:pt idx="215">
                  <c:v>0.1572</c:v>
                </c:pt>
                <c:pt idx="216">
                  <c:v>0.15845</c:v>
                </c:pt>
                <c:pt idx="217">
                  <c:v>0.15794</c:v>
                </c:pt>
                <c:pt idx="218">
                  <c:v>0.16018</c:v>
                </c:pt>
                <c:pt idx="219">
                  <c:v>0.15669</c:v>
                </c:pt>
                <c:pt idx="220">
                  <c:v>0.1615</c:v>
                </c:pt>
                <c:pt idx="221">
                  <c:v>0.15697</c:v>
                </c:pt>
                <c:pt idx="222">
                  <c:v>0.15765</c:v>
                </c:pt>
                <c:pt idx="223">
                  <c:v>0.16264</c:v>
                </c:pt>
                <c:pt idx="224">
                  <c:v>0.16268</c:v>
                </c:pt>
                <c:pt idx="225">
                  <c:v>0.16454</c:v>
                </c:pt>
                <c:pt idx="226">
                  <c:v>0.1615</c:v>
                </c:pt>
                <c:pt idx="227">
                  <c:v>0.15788</c:v>
                </c:pt>
                <c:pt idx="228">
                  <c:v>0.15629</c:v>
                </c:pt>
                <c:pt idx="229">
                  <c:v>0.15355</c:v>
                </c:pt>
                <c:pt idx="230">
                  <c:v>0.15194</c:v>
                </c:pt>
                <c:pt idx="231">
                  <c:v>0.15255</c:v>
                </c:pt>
                <c:pt idx="232">
                  <c:v>0.15872</c:v>
                </c:pt>
                <c:pt idx="233">
                  <c:v>0.1596</c:v>
                </c:pt>
                <c:pt idx="234">
                  <c:v>0.15954</c:v>
                </c:pt>
                <c:pt idx="235">
                  <c:v>0.1587</c:v>
                </c:pt>
                <c:pt idx="236">
                  <c:v>0.16164</c:v>
                </c:pt>
                <c:pt idx="237">
                  <c:v>0.16188</c:v>
                </c:pt>
                <c:pt idx="238">
                  <c:v>0.16036</c:v>
                </c:pt>
                <c:pt idx="239">
                  <c:v>0.15684</c:v>
                </c:pt>
                <c:pt idx="240">
                  <c:v>0.1555</c:v>
                </c:pt>
                <c:pt idx="241">
                  <c:v>0.15512</c:v>
                </c:pt>
                <c:pt idx="242">
                  <c:v>0.15492</c:v>
                </c:pt>
                <c:pt idx="243">
                  <c:v>0.15368</c:v>
                </c:pt>
                <c:pt idx="244">
                  <c:v>0.15531</c:v>
                </c:pt>
                <c:pt idx="245">
                  <c:v>0.15335</c:v>
                </c:pt>
                <c:pt idx="246">
                  <c:v>0.15242</c:v>
                </c:pt>
                <c:pt idx="247">
                  <c:v>0.15127</c:v>
                </c:pt>
                <c:pt idx="248">
                  <c:v>0.14876</c:v>
                </c:pt>
                <c:pt idx="249">
                  <c:v>0.15293</c:v>
                </c:pt>
                <c:pt idx="250">
                  <c:v>0.15281</c:v>
                </c:pt>
                <c:pt idx="251">
                  <c:v>0.15538</c:v>
                </c:pt>
                <c:pt idx="252">
                  <c:v>0.15486</c:v>
                </c:pt>
              </c:numCache>
            </c:numRef>
          </c:yVal>
          <c:smooth val="0"/>
        </c:ser>
        <c:ser>
          <c:idx val="1"/>
          <c:order val="1"/>
          <c:tx>
            <c:strRef>
              <c:f>Sheet1!$B$256</c:f>
              <c:strCache>
                <c:ptCount val="1"/>
                <c:pt idx="0">
                  <c:v>Rewired</c:v>
                </c:pt>
              </c:strCache>
            </c:strRef>
          </c:tx>
          <c:spPr>
            <a:ln w="20320">
              <a:solidFill>
                <a:srgbClr val="009E73"/>
              </a:solidFill>
            </a:ln>
          </c:spPr>
          <c:marker>
            <c:symbol val="none"/>
          </c:marker>
          <c:xVal>
            <c:numRef>
              <c:f>Sheet1!$A$257:$A$527</c:f>
              <c:numCache>
                <c:formatCode>General</c:formatCode>
                <c:ptCount val="271"/>
                <c:pt idx="0">
                  <c:v>0.004</c:v>
                </c:pt>
                <c:pt idx="1">
                  <c:v>0.709</c:v>
                </c:pt>
                <c:pt idx="2">
                  <c:v>0.984</c:v>
                </c:pt>
                <c:pt idx="3">
                  <c:v>1.219</c:v>
                </c:pt>
                <c:pt idx="4">
                  <c:v>1.339</c:v>
                </c:pt>
                <c:pt idx="5">
                  <c:v>1.419</c:v>
                </c:pt>
                <c:pt idx="6">
                  <c:v>1.564</c:v>
                </c:pt>
                <c:pt idx="7">
                  <c:v>1.679</c:v>
                </c:pt>
                <c:pt idx="8">
                  <c:v>1.849</c:v>
                </c:pt>
                <c:pt idx="9">
                  <c:v>1.889</c:v>
                </c:pt>
                <c:pt idx="10">
                  <c:v>2.064</c:v>
                </c:pt>
                <c:pt idx="11">
                  <c:v>2.104</c:v>
                </c:pt>
                <c:pt idx="12">
                  <c:v>2.164</c:v>
                </c:pt>
                <c:pt idx="13">
                  <c:v>2.364</c:v>
                </c:pt>
                <c:pt idx="14">
                  <c:v>2.519</c:v>
                </c:pt>
                <c:pt idx="15">
                  <c:v>2.624</c:v>
                </c:pt>
                <c:pt idx="16">
                  <c:v>2.734</c:v>
                </c:pt>
                <c:pt idx="17">
                  <c:v>2.809</c:v>
                </c:pt>
                <c:pt idx="18">
                  <c:v>2.914</c:v>
                </c:pt>
                <c:pt idx="19">
                  <c:v>2.979</c:v>
                </c:pt>
                <c:pt idx="20">
                  <c:v>3.044</c:v>
                </c:pt>
                <c:pt idx="21">
                  <c:v>3.144</c:v>
                </c:pt>
                <c:pt idx="22">
                  <c:v>3.214</c:v>
                </c:pt>
                <c:pt idx="23">
                  <c:v>3.279</c:v>
                </c:pt>
                <c:pt idx="24">
                  <c:v>3.359</c:v>
                </c:pt>
                <c:pt idx="25">
                  <c:v>3.494</c:v>
                </c:pt>
                <c:pt idx="26">
                  <c:v>3.564</c:v>
                </c:pt>
                <c:pt idx="27">
                  <c:v>3.649</c:v>
                </c:pt>
                <c:pt idx="28">
                  <c:v>3.779</c:v>
                </c:pt>
                <c:pt idx="29">
                  <c:v>3.874</c:v>
                </c:pt>
                <c:pt idx="30">
                  <c:v>3.979</c:v>
                </c:pt>
                <c:pt idx="31">
                  <c:v>4.054</c:v>
                </c:pt>
                <c:pt idx="32">
                  <c:v>4.134</c:v>
                </c:pt>
                <c:pt idx="33">
                  <c:v>4.209</c:v>
                </c:pt>
                <c:pt idx="34">
                  <c:v>4.244</c:v>
                </c:pt>
                <c:pt idx="35">
                  <c:v>4.324</c:v>
                </c:pt>
                <c:pt idx="36">
                  <c:v>4.419</c:v>
                </c:pt>
                <c:pt idx="37">
                  <c:v>4.529</c:v>
                </c:pt>
                <c:pt idx="38">
                  <c:v>4.654</c:v>
                </c:pt>
                <c:pt idx="39">
                  <c:v>4.724</c:v>
                </c:pt>
                <c:pt idx="40">
                  <c:v>4.794</c:v>
                </c:pt>
                <c:pt idx="41">
                  <c:v>4.944</c:v>
                </c:pt>
                <c:pt idx="42">
                  <c:v>5.124</c:v>
                </c:pt>
                <c:pt idx="43">
                  <c:v>5.249</c:v>
                </c:pt>
                <c:pt idx="44">
                  <c:v>5.324</c:v>
                </c:pt>
                <c:pt idx="45">
                  <c:v>5.424</c:v>
                </c:pt>
                <c:pt idx="46">
                  <c:v>5.469</c:v>
                </c:pt>
                <c:pt idx="47">
                  <c:v>5.674</c:v>
                </c:pt>
                <c:pt idx="48">
                  <c:v>5.749</c:v>
                </c:pt>
                <c:pt idx="49">
                  <c:v>5.859</c:v>
                </c:pt>
                <c:pt idx="50">
                  <c:v>5.919</c:v>
                </c:pt>
                <c:pt idx="51">
                  <c:v>5.999</c:v>
                </c:pt>
                <c:pt idx="52">
                  <c:v>6.069</c:v>
                </c:pt>
                <c:pt idx="53">
                  <c:v>6.164</c:v>
                </c:pt>
                <c:pt idx="54">
                  <c:v>6.214</c:v>
                </c:pt>
                <c:pt idx="55">
                  <c:v>6.334</c:v>
                </c:pt>
                <c:pt idx="56">
                  <c:v>6.424</c:v>
                </c:pt>
                <c:pt idx="57">
                  <c:v>6.499</c:v>
                </c:pt>
                <c:pt idx="58">
                  <c:v>6.584</c:v>
                </c:pt>
                <c:pt idx="59">
                  <c:v>6.619</c:v>
                </c:pt>
                <c:pt idx="60">
                  <c:v>6.674</c:v>
                </c:pt>
                <c:pt idx="61">
                  <c:v>6.744</c:v>
                </c:pt>
                <c:pt idx="62">
                  <c:v>6.854</c:v>
                </c:pt>
                <c:pt idx="63">
                  <c:v>6.944</c:v>
                </c:pt>
                <c:pt idx="64">
                  <c:v>7.024</c:v>
                </c:pt>
                <c:pt idx="65">
                  <c:v>7.114</c:v>
                </c:pt>
                <c:pt idx="66">
                  <c:v>7.214</c:v>
                </c:pt>
                <c:pt idx="67">
                  <c:v>7.279</c:v>
                </c:pt>
                <c:pt idx="68">
                  <c:v>7.359</c:v>
                </c:pt>
                <c:pt idx="69">
                  <c:v>7.394</c:v>
                </c:pt>
                <c:pt idx="70">
                  <c:v>7.429</c:v>
                </c:pt>
                <c:pt idx="71">
                  <c:v>7.534</c:v>
                </c:pt>
                <c:pt idx="72">
                  <c:v>7.569</c:v>
                </c:pt>
                <c:pt idx="73">
                  <c:v>7.619</c:v>
                </c:pt>
                <c:pt idx="74">
                  <c:v>7.749</c:v>
                </c:pt>
                <c:pt idx="75">
                  <c:v>7.794</c:v>
                </c:pt>
                <c:pt idx="76">
                  <c:v>7.894</c:v>
                </c:pt>
                <c:pt idx="77">
                  <c:v>7.954</c:v>
                </c:pt>
                <c:pt idx="78">
                  <c:v>8.004</c:v>
                </c:pt>
                <c:pt idx="79">
                  <c:v>8.139</c:v>
                </c:pt>
                <c:pt idx="80">
                  <c:v>8.299</c:v>
                </c:pt>
                <c:pt idx="81">
                  <c:v>8.394</c:v>
                </c:pt>
                <c:pt idx="82">
                  <c:v>8.489</c:v>
                </c:pt>
                <c:pt idx="83">
                  <c:v>8.559</c:v>
                </c:pt>
                <c:pt idx="84">
                  <c:v>8.629</c:v>
                </c:pt>
                <c:pt idx="85">
                  <c:v>8.689</c:v>
                </c:pt>
                <c:pt idx="86">
                  <c:v>8.784</c:v>
                </c:pt>
                <c:pt idx="87">
                  <c:v>8.894</c:v>
                </c:pt>
                <c:pt idx="88">
                  <c:v>8.949</c:v>
                </c:pt>
                <c:pt idx="89">
                  <c:v>9.034</c:v>
                </c:pt>
                <c:pt idx="90">
                  <c:v>9.149</c:v>
                </c:pt>
                <c:pt idx="91">
                  <c:v>9.204</c:v>
                </c:pt>
                <c:pt idx="92">
                  <c:v>9.284</c:v>
                </c:pt>
                <c:pt idx="93">
                  <c:v>9.404</c:v>
                </c:pt>
                <c:pt idx="94">
                  <c:v>9.494</c:v>
                </c:pt>
                <c:pt idx="95">
                  <c:v>9.564</c:v>
                </c:pt>
                <c:pt idx="96">
                  <c:v>9.614</c:v>
                </c:pt>
                <c:pt idx="97">
                  <c:v>9.724</c:v>
                </c:pt>
                <c:pt idx="98">
                  <c:v>9.819</c:v>
                </c:pt>
                <c:pt idx="99">
                  <c:v>9.929</c:v>
                </c:pt>
                <c:pt idx="100">
                  <c:v>10.009</c:v>
                </c:pt>
                <c:pt idx="101">
                  <c:v>10.134</c:v>
                </c:pt>
                <c:pt idx="102">
                  <c:v>10.214</c:v>
                </c:pt>
                <c:pt idx="103">
                  <c:v>10.314</c:v>
                </c:pt>
                <c:pt idx="104">
                  <c:v>10.404</c:v>
                </c:pt>
                <c:pt idx="105">
                  <c:v>10.474</c:v>
                </c:pt>
                <c:pt idx="106">
                  <c:v>10.519</c:v>
                </c:pt>
                <c:pt idx="107">
                  <c:v>10.584</c:v>
                </c:pt>
                <c:pt idx="108">
                  <c:v>10.614</c:v>
                </c:pt>
                <c:pt idx="109">
                  <c:v>10.669</c:v>
                </c:pt>
                <c:pt idx="110">
                  <c:v>10.789</c:v>
                </c:pt>
                <c:pt idx="111">
                  <c:v>10.854</c:v>
                </c:pt>
                <c:pt idx="112">
                  <c:v>10.919</c:v>
                </c:pt>
                <c:pt idx="113">
                  <c:v>11.049</c:v>
                </c:pt>
                <c:pt idx="114">
                  <c:v>11.139</c:v>
                </c:pt>
                <c:pt idx="115">
                  <c:v>11.234</c:v>
                </c:pt>
                <c:pt idx="116">
                  <c:v>11.284</c:v>
                </c:pt>
                <c:pt idx="117">
                  <c:v>11.364</c:v>
                </c:pt>
                <c:pt idx="118">
                  <c:v>11.459</c:v>
                </c:pt>
                <c:pt idx="119">
                  <c:v>11.614</c:v>
                </c:pt>
                <c:pt idx="120">
                  <c:v>11.714</c:v>
                </c:pt>
                <c:pt idx="121">
                  <c:v>11.844</c:v>
                </c:pt>
                <c:pt idx="122">
                  <c:v>11.914</c:v>
                </c:pt>
                <c:pt idx="123">
                  <c:v>11.974</c:v>
                </c:pt>
                <c:pt idx="124">
                  <c:v>12.024</c:v>
                </c:pt>
                <c:pt idx="125">
                  <c:v>12.189</c:v>
                </c:pt>
                <c:pt idx="126">
                  <c:v>12.249</c:v>
                </c:pt>
                <c:pt idx="127">
                  <c:v>12.329</c:v>
                </c:pt>
                <c:pt idx="128">
                  <c:v>12.384</c:v>
                </c:pt>
                <c:pt idx="129">
                  <c:v>12.494</c:v>
                </c:pt>
                <c:pt idx="130">
                  <c:v>12.604</c:v>
                </c:pt>
                <c:pt idx="131">
                  <c:v>12.669</c:v>
                </c:pt>
                <c:pt idx="132">
                  <c:v>12.734</c:v>
                </c:pt>
                <c:pt idx="133">
                  <c:v>12.779</c:v>
                </c:pt>
                <c:pt idx="134">
                  <c:v>12.844</c:v>
                </c:pt>
                <c:pt idx="135">
                  <c:v>12.889</c:v>
                </c:pt>
                <c:pt idx="136">
                  <c:v>12.929</c:v>
                </c:pt>
                <c:pt idx="137">
                  <c:v>13.004</c:v>
                </c:pt>
                <c:pt idx="138">
                  <c:v>13.044</c:v>
                </c:pt>
                <c:pt idx="139">
                  <c:v>13.149</c:v>
                </c:pt>
                <c:pt idx="140">
                  <c:v>13.224</c:v>
                </c:pt>
                <c:pt idx="141">
                  <c:v>13.314</c:v>
                </c:pt>
                <c:pt idx="142">
                  <c:v>13.394</c:v>
                </c:pt>
                <c:pt idx="143">
                  <c:v>13.474</c:v>
                </c:pt>
                <c:pt idx="144">
                  <c:v>13.554</c:v>
                </c:pt>
                <c:pt idx="145">
                  <c:v>13.579</c:v>
                </c:pt>
                <c:pt idx="146">
                  <c:v>13.629</c:v>
                </c:pt>
                <c:pt idx="147">
                  <c:v>13.674</c:v>
                </c:pt>
                <c:pt idx="148">
                  <c:v>13.719</c:v>
                </c:pt>
                <c:pt idx="149">
                  <c:v>13.789</c:v>
                </c:pt>
                <c:pt idx="150">
                  <c:v>13.954</c:v>
                </c:pt>
                <c:pt idx="151">
                  <c:v>14.124</c:v>
                </c:pt>
                <c:pt idx="152">
                  <c:v>14.204</c:v>
                </c:pt>
                <c:pt idx="153">
                  <c:v>14.339</c:v>
                </c:pt>
                <c:pt idx="154">
                  <c:v>14.409</c:v>
                </c:pt>
                <c:pt idx="155">
                  <c:v>14.444</c:v>
                </c:pt>
                <c:pt idx="156">
                  <c:v>14.489</c:v>
                </c:pt>
                <c:pt idx="157">
                  <c:v>14.569</c:v>
                </c:pt>
                <c:pt idx="158">
                  <c:v>14.689</c:v>
                </c:pt>
                <c:pt idx="159">
                  <c:v>14.774</c:v>
                </c:pt>
                <c:pt idx="160">
                  <c:v>14.829</c:v>
                </c:pt>
                <c:pt idx="161">
                  <c:v>14.919</c:v>
                </c:pt>
                <c:pt idx="162">
                  <c:v>14.994</c:v>
                </c:pt>
                <c:pt idx="163">
                  <c:v>15.039</c:v>
                </c:pt>
                <c:pt idx="164">
                  <c:v>15.164</c:v>
                </c:pt>
                <c:pt idx="165">
                  <c:v>15.204</c:v>
                </c:pt>
                <c:pt idx="166">
                  <c:v>15.299</c:v>
                </c:pt>
                <c:pt idx="167">
                  <c:v>15.339</c:v>
                </c:pt>
                <c:pt idx="168">
                  <c:v>15.399</c:v>
                </c:pt>
                <c:pt idx="169">
                  <c:v>15.464</c:v>
                </c:pt>
                <c:pt idx="170">
                  <c:v>15.534</c:v>
                </c:pt>
                <c:pt idx="171">
                  <c:v>15.574</c:v>
                </c:pt>
                <c:pt idx="172">
                  <c:v>15.624</c:v>
                </c:pt>
                <c:pt idx="173">
                  <c:v>15.669</c:v>
                </c:pt>
                <c:pt idx="174">
                  <c:v>15.789</c:v>
                </c:pt>
                <c:pt idx="175">
                  <c:v>15.844</c:v>
                </c:pt>
                <c:pt idx="176">
                  <c:v>15.954</c:v>
                </c:pt>
                <c:pt idx="177">
                  <c:v>16.039</c:v>
                </c:pt>
                <c:pt idx="178">
                  <c:v>16.084</c:v>
                </c:pt>
                <c:pt idx="179">
                  <c:v>16.119</c:v>
                </c:pt>
                <c:pt idx="180">
                  <c:v>16.174</c:v>
                </c:pt>
                <c:pt idx="181">
                  <c:v>16.239</c:v>
                </c:pt>
                <c:pt idx="182">
                  <c:v>16.344</c:v>
                </c:pt>
                <c:pt idx="183">
                  <c:v>16.409</c:v>
                </c:pt>
                <c:pt idx="184">
                  <c:v>16.449</c:v>
                </c:pt>
                <c:pt idx="185">
                  <c:v>16.569</c:v>
                </c:pt>
                <c:pt idx="186">
                  <c:v>16.644</c:v>
                </c:pt>
                <c:pt idx="187">
                  <c:v>16.689</c:v>
                </c:pt>
                <c:pt idx="188">
                  <c:v>16.824</c:v>
                </c:pt>
                <c:pt idx="189">
                  <c:v>16.894</c:v>
                </c:pt>
                <c:pt idx="190">
                  <c:v>16.944</c:v>
                </c:pt>
                <c:pt idx="191">
                  <c:v>16.994</c:v>
                </c:pt>
                <c:pt idx="192">
                  <c:v>17.034</c:v>
                </c:pt>
                <c:pt idx="193">
                  <c:v>17.104</c:v>
                </c:pt>
                <c:pt idx="194">
                  <c:v>17.219</c:v>
                </c:pt>
                <c:pt idx="195">
                  <c:v>17.314</c:v>
                </c:pt>
                <c:pt idx="196">
                  <c:v>17.369</c:v>
                </c:pt>
                <c:pt idx="197">
                  <c:v>17.449</c:v>
                </c:pt>
                <c:pt idx="198">
                  <c:v>17.574</c:v>
                </c:pt>
                <c:pt idx="199">
                  <c:v>17.629</c:v>
                </c:pt>
                <c:pt idx="200">
                  <c:v>17.689</c:v>
                </c:pt>
                <c:pt idx="201">
                  <c:v>17.839</c:v>
                </c:pt>
                <c:pt idx="202">
                  <c:v>17.884</c:v>
                </c:pt>
                <c:pt idx="203">
                  <c:v>17.909</c:v>
                </c:pt>
                <c:pt idx="204">
                  <c:v>17.984</c:v>
                </c:pt>
                <c:pt idx="205">
                  <c:v>18.069</c:v>
                </c:pt>
                <c:pt idx="206">
                  <c:v>18.149</c:v>
                </c:pt>
                <c:pt idx="207">
                  <c:v>18.264</c:v>
                </c:pt>
                <c:pt idx="208">
                  <c:v>18.349</c:v>
                </c:pt>
                <c:pt idx="209">
                  <c:v>18.454</c:v>
                </c:pt>
                <c:pt idx="210">
                  <c:v>18.519</c:v>
                </c:pt>
                <c:pt idx="211">
                  <c:v>18.574</c:v>
                </c:pt>
                <c:pt idx="212">
                  <c:v>18.664</c:v>
                </c:pt>
                <c:pt idx="213">
                  <c:v>18.744</c:v>
                </c:pt>
                <c:pt idx="214">
                  <c:v>18.799</c:v>
                </c:pt>
                <c:pt idx="215">
                  <c:v>18.914</c:v>
                </c:pt>
                <c:pt idx="216">
                  <c:v>19.014</c:v>
                </c:pt>
                <c:pt idx="217">
                  <c:v>19.074</c:v>
                </c:pt>
                <c:pt idx="218">
                  <c:v>19.174</c:v>
                </c:pt>
                <c:pt idx="219">
                  <c:v>19.264</c:v>
                </c:pt>
                <c:pt idx="220">
                  <c:v>19.324</c:v>
                </c:pt>
                <c:pt idx="221">
                  <c:v>19.389</c:v>
                </c:pt>
                <c:pt idx="222">
                  <c:v>19.494</c:v>
                </c:pt>
                <c:pt idx="223">
                  <c:v>19.584</c:v>
                </c:pt>
                <c:pt idx="224">
                  <c:v>19.624</c:v>
                </c:pt>
                <c:pt idx="225">
                  <c:v>19.689</c:v>
                </c:pt>
                <c:pt idx="226">
                  <c:v>19.814</c:v>
                </c:pt>
                <c:pt idx="227">
                  <c:v>19.914</c:v>
                </c:pt>
                <c:pt idx="228">
                  <c:v>19.959</c:v>
                </c:pt>
                <c:pt idx="229">
                  <c:v>20.019</c:v>
                </c:pt>
                <c:pt idx="230">
                  <c:v>20.049</c:v>
                </c:pt>
                <c:pt idx="231">
                  <c:v>20.129</c:v>
                </c:pt>
                <c:pt idx="232">
                  <c:v>20.204</c:v>
                </c:pt>
                <c:pt idx="233">
                  <c:v>20.269</c:v>
                </c:pt>
                <c:pt idx="234">
                  <c:v>20.329</c:v>
                </c:pt>
                <c:pt idx="235">
                  <c:v>20.369</c:v>
                </c:pt>
                <c:pt idx="236">
                  <c:v>20.429</c:v>
                </c:pt>
                <c:pt idx="237">
                  <c:v>20.539</c:v>
                </c:pt>
                <c:pt idx="238">
                  <c:v>20.609</c:v>
                </c:pt>
                <c:pt idx="239">
                  <c:v>20.674</c:v>
                </c:pt>
                <c:pt idx="240">
                  <c:v>20.759</c:v>
                </c:pt>
                <c:pt idx="241">
                  <c:v>20.804</c:v>
                </c:pt>
                <c:pt idx="242">
                  <c:v>20.859</c:v>
                </c:pt>
                <c:pt idx="243">
                  <c:v>20.959</c:v>
                </c:pt>
                <c:pt idx="244">
                  <c:v>21.054</c:v>
                </c:pt>
                <c:pt idx="245">
                  <c:v>21.139</c:v>
                </c:pt>
                <c:pt idx="246">
                  <c:v>21.229</c:v>
                </c:pt>
                <c:pt idx="247">
                  <c:v>21.269</c:v>
                </c:pt>
                <c:pt idx="248">
                  <c:v>21.304</c:v>
                </c:pt>
                <c:pt idx="249">
                  <c:v>21.399</c:v>
                </c:pt>
                <c:pt idx="250">
                  <c:v>21.464</c:v>
                </c:pt>
                <c:pt idx="251">
                  <c:v>21.574</c:v>
                </c:pt>
                <c:pt idx="252">
                  <c:v>21.679</c:v>
                </c:pt>
                <c:pt idx="253">
                  <c:v>21.764</c:v>
                </c:pt>
                <c:pt idx="254">
                  <c:v>21.809</c:v>
                </c:pt>
                <c:pt idx="255">
                  <c:v>21.854</c:v>
                </c:pt>
                <c:pt idx="256">
                  <c:v>22.064</c:v>
                </c:pt>
                <c:pt idx="257">
                  <c:v>22.139</c:v>
                </c:pt>
                <c:pt idx="258">
                  <c:v>22.194</c:v>
                </c:pt>
                <c:pt idx="259">
                  <c:v>22.229</c:v>
                </c:pt>
                <c:pt idx="260">
                  <c:v>22.324</c:v>
                </c:pt>
                <c:pt idx="261">
                  <c:v>22.414</c:v>
                </c:pt>
                <c:pt idx="262">
                  <c:v>22.479</c:v>
                </c:pt>
                <c:pt idx="263">
                  <c:v>22.564</c:v>
                </c:pt>
                <c:pt idx="264">
                  <c:v>22.654</c:v>
                </c:pt>
                <c:pt idx="265">
                  <c:v>22.729</c:v>
                </c:pt>
                <c:pt idx="266">
                  <c:v>22.799</c:v>
                </c:pt>
                <c:pt idx="267">
                  <c:v>22.874</c:v>
                </c:pt>
                <c:pt idx="268">
                  <c:v>22.904</c:v>
                </c:pt>
                <c:pt idx="269">
                  <c:v>22.964</c:v>
                </c:pt>
                <c:pt idx="270">
                  <c:v>22.999</c:v>
                </c:pt>
              </c:numCache>
            </c:numRef>
          </c:xVal>
          <c:yVal>
            <c:numRef>
              <c:f>Sheet1!$B$257:$B$527</c:f>
              <c:numCache>
                <c:formatCode>General</c:formatCode>
                <c:ptCount val="271"/>
                <c:pt idx="0">
                  <c:v>2.58747</c:v>
                </c:pt>
                <c:pt idx="1">
                  <c:v>0.53193</c:v>
                </c:pt>
                <c:pt idx="2">
                  <c:v>0.37259</c:v>
                </c:pt>
                <c:pt idx="3">
                  <c:v>0.31216</c:v>
                </c:pt>
                <c:pt idx="4">
                  <c:v>0.29162</c:v>
                </c:pt>
                <c:pt idx="5">
                  <c:v>0.28458</c:v>
                </c:pt>
                <c:pt idx="6">
                  <c:v>0.27472</c:v>
                </c:pt>
                <c:pt idx="7">
                  <c:v>0.26816</c:v>
                </c:pt>
                <c:pt idx="8">
                  <c:v>0.25115</c:v>
                </c:pt>
                <c:pt idx="9">
                  <c:v>0.25222</c:v>
                </c:pt>
                <c:pt idx="10">
                  <c:v>0.23457</c:v>
                </c:pt>
                <c:pt idx="11">
                  <c:v>0.23399</c:v>
                </c:pt>
                <c:pt idx="12">
                  <c:v>0.23783</c:v>
                </c:pt>
                <c:pt idx="13">
                  <c:v>0.22193</c:v>
                </c:pt>
                <c:pt idx="14">
                  <c:v>0.21403</c:v>
                </c:pt>
                <c:pt idx="15">
                  <c:v>0.20909</c:v>
                </c:pt>
                <c:pt idx="16">
                  <c:v>0.21096</c:v>
                </c:pt>
                <c:pt idx="17">
                  <c:v>0.20602</c:v>
                </c:pt>
                <c:pt idx="18">
                  <c:v>0.20951</c:v>
                </c:pt>
                <c:pt idx="19">
                  <c:v>0.2056</c:v>
                </c:pt>
                <c:pt idx="20">
                  <c:v>0.2074</c:v>
                </c:pt>
                <c:pt idx="21">
                  <c:v>0.19836</c:v>
                </c:pt>
                <c:pt idx="22">
                  <c:v>0.19606</c:v>
                </c:pt>
                <c:pt idx="23">
                  <c:v>0.19721</c:v>
                </c:pt>
                <c:pt idx="24">
                  <c:v>0.19189</c:v>
                </c:pt>
                <c:pt idx="25">
                  <c:v>0.19072</c:v>
                </c:pt>
                <c:pt idx="26">
                  <c:v>0.18931</c:v>
                </c:pt>
                <c:pt idx="27">
                  <c:v>0.18872</c:v>
                </c:pt>
                <c:pt idx="28">
                  <c:v>0.18179</c:v>
                </c:pt>
                <c:pt idx="29">
                  <c:v>0.17644</c:v>
                </c:pt>
                <c:pt idx="30">
                  <c:v>0.1833</c:v>
                </c:pt>
                <c:pt idx="31">
                  <c:v>0.18344</c:v>
                </c:pt>
                <c:pt idx="32">
                  <c:v>0.18117</c:v>
                </c:pt>
                <c:pt idx="33">
                  <c:v>0.18365</c:v>
                </c:pt>
                <c:pt idx="34">
                  <c:v>0.18653</c:v>
                </c:pt>
                <c:pt idx="35">
                  <c:v>0.18167</c:v>
                </c:pt>
                <c:pt idx="36">
                  <c:v>0.18135</c:v>
                </c:pt>
                <c:pt idx="37">
                  <c:v>0.17486</c:v>
                </c:pt>
                <c:pt idx="38">
                  <c:v>0.17275</c:v>
                </c:pt>
                <c:pt idx="39">
                  <c:v>0.16923</c:v>
                </c:pt>
                <c:pt idx="40">
                  <c:v>0.17261</c:v>
                </c:pt>
                <c:pt idx="41">
                  <c:v>0.16635</c:v>
                </c:pt>
                <c:pt idx="42">
                  <c:v>0.16067</c:v>
                </c:pt>
                <c:pt idx="43">
                  <c:v>0.15951</c:v>
                </c:pt>
                <c:pt idx="44">
                  <c:v>0.15811</c:v>
                </c:pt>
                <c:pt idx="45">
                  <c:v>0.15801</c:v>
                </c:pt>
                <c:pt idx="46">
                  <c:v>0.15828</c:v>
                </c:pt>
                <c:pt idx="47">
                  <c:v>0.15462</c:v>
                </c:pt>
                <c:pt idx="48">
                  <c:v>0.15684</c:v>
                </c:pt>
                <c:pt idx="49">
                  <c:v>0.15905</c:v>
                </c:pt>
                <c:pt idx="50">
                  <c:v>0.15547</c:v>
                </c:pt>
                <c:pt idx="51">
                  <c:v>0.1624</c:v>
                </c:pt>
                <c:pt idx="52">
                  <c:v>0.1589</c:v>
                </c:pt>
                <c:pt idx="53">
                  <c:v>0.15771</c:v>
                </c:pt>
                <c:pt idx="54">
                  <c:v>0.15656</c:v>
                </c:pt>
                <c:pt idx="55">
                  <c:v>0.1499</c:v>
                </c:pt>
                <c:pt idx="56">
                  <c:v>0.14645</c:v>
                </c:pt>
                <c:pt idx="57">
                  <c:v>0.15198</c:v>
                </c:pt>
                <c:pt idx="58">
                  <c:v>0.15062</c:v>
                </c:pt>
                <c:pt idx="59">
                  <c:v>0.15101</c:v>
                </c:pt>
                <c:pt idx="60">
                  <c:v>0.15024</c:v>
                </c:pt>
                <c:pt idx="61">
                  <c:v>0.1545</c:v>
                </c:pt>
                <c:pt idx="62">
                  <c:v>0.15179</c:v>
                </c:pt>
                <c:pt idx="63">
                  <c:v>0.15238</c:v>
                </c:pt>
                <c:pt idx="64">
                  <c:v>0.14729</c:v>
                </c:pt>
                <c:pt idx="65">
                  <c:v>0.14841</c:v>
                </c:pt>
                <c:pt idx="66">
                  <c:v>0.1441</c:v>
                </c:pt>
                <c:pt idx="67">
                  <c:v>0.14205</c:v>
                </c:pt>
                <c:pt idx="68">
                  <c:v>0.14005</c:v>
                </c:pt>
                <c:pt idx="69">
                  <c:v>0.14235</c:v>
                </c:pt>
                <c:pt idx="70">
                  <c:v>0.14452</c:v>
                </c:pt>
                <c:pt idx="71">
                  <c:v>0.14486</c:v>
                </c:pt>
                <c:pt idx="72">
                  <c:v>0.14439</c:v>
                </c:pt>
                <c:pt idx="73">
                  <c:v>0.14458</c:v>
                </c:pt>
                <c:pt idx="74">
                  <c:v>0.13945</c:v>
                </c:pt>
                <c:pt idx="75">
                  <c:v>0.13912</c:v>
                </c:pt>
                <c:pt idx="76">
                  <c:v>0.1376</c:v>
                </c:pt>
                <c:pt idx="77">
                  <c:v>0.13752</c:v>
                </c:pt>
                <c:pt idx="78">
                  <c:v>0.13847</c:v>
                </c:pt>
                <c:pt idx="79">
                  <c:v>0.13634</c:v>
                </c:pt>
                <c:pt idx="80">
                  <c:v>0.13609</c:v>
                </c:pt>
                <c:pt idx="81">
                  <c:v>0.13462</c:v>
                </c:pt>
                <c:pt idx="82">
                  <c:v>0.13126</c:v>
                </c:pt>
                <c:pt idx="83">
                  <c:v>0.13187</c:v>
                </c:pt>
                <c:pt idx="84">
                  <c:v>0.13179</c:v>
                </c:pt>
                <c:pt idx="85">
                  <c:v>0.13065</c:v>
                </c:pt>
                <c:pt idx="86">
                  <c:v>0.13021</c:v>
                </c:pt>
                <c:pt idx="87">
                  <c:v>0.13051</c:v>
                </c:pt>
                <c:pt idx="88">
                  <c:v>0.12992</c:v>
                </c:pt>
                <c:pt idx="89">
                  <c:v>0.13418</c:v>
                </c:pt>
                <c:pt idx="90">
                  <c:v>0.13463</c:v>
                </c:pt>
                <c:pt idx="91">
                  <c:v>0.13264</c:v>
                </c:pt>
                <c:pt idx="92">
                  <c:v>0.13028</c:v>
                </c:pt>
                <c:pt idx="93">
                  <c:v>0.13169</c:v>
                </c:pt>
                <c:pt idx="94">
                  <c:v>0.13024</c:v>
                </c:pt>
                <c:pt idx="95">
                  <c:v>0.13201</c:v>
                </c:pt>
                <c:pt idx="96">
                  <c:v>0.13116</c:v>
                </c:pt>
                <c:pt idx="97">
                  <c:v>0.13011</c:v>
                </c:pt>
                <c:pt idx="98">
                  <c:v>0.12855</c:v>
                </c:pt>
                <c:pt idx="99">
                  <c:v>0.12436</c:v>
                </c:pt>
                <c:pt idx="100">
                  <c:v>0.1224</c:v>
                </c:pt>
                <c:pt idx="101">
                  <c:v>0.12084</c:v>
                </c:pt>
                <c:pt idx="102">
                  <c:v>0.12177</c:v>
                </c:pt>
                <c:pt idx="103">
                  <c:v>0.1208</c:v>
                </c:pt>
                <c:pt idx="104">
                  <c:v>0.11832</c:v>
                </c:pt>
                <c:pt idx="105">
                  <c:v>0.11832</c:v>
                </c:pt>
                <c:pt idx="106">
                  <c:v>0.12145</c:v>
                </c:pt>
                <c:pt idx="107">
                  <c:v>0.12621</c:v>
                </c:pt>
                <c:pt idx="108">
                  <c:v>0.12567</c:v>
                </c:pt>
                <c:pt idx="109">
                  <c:v>0.12504</c:v>
                </c:pt>
                <c:pt idx="110">
                  <c:v>0.12375</c:v>
                </c:pt>
                <c:pt idx="111">
                  <c:v>0.12287</c:v>
                </c:pt>
                <c:pt idx="112">
                  <c:v>0.12142</c:v>
                </c:pt>
                <c:pt idx="113">
                  <c:v>0.11929</c:v>
                </c:pt>
                <c:pt idx="114">
                  <c:v>0.11904</c:v>
                </c:pt>
                <c:pt idx="115">
                  <c:v>0.11754</c:v>
                </c:pt>
                <c:pt idx="116">
                  <c:v>0.11895</c:v>
                </c:pt>
                <c:pt idx="117">
                  <c:v>0.12162</c:v>
                </c:pt>
                <c:pt idx="118">
                  <c:v>0.11986</c:v>
                </c:pt>
                <c:pt idx="119">
                  <c:v>0.11452</c:v>
                </c:pt>
                <c:pt idx="120">
                  <c:v>0.11594</c:v>
                </c:pt>
                <c:pt idx="121">
                  <c:v>0.11794</c:v>
                </c:pt>
                <c:pt idx="122">
                  <c:v>0.1212</c:v>
                </c:pt>
                <c:pt idx="123">
                  <c:v>0.11895</c:v>
                </c:pt>
                <c:pt idx="124">
                  <c:v>0.12027</c:v>
                </c:pt>
                <c:pt idx="125">
                  <c:v>0.11636</c:v>
                </c:pt>
                <c:pt idx="126">
                  <c:v>0.11584</c:v>
                </c:pt>
                <c:pt idx="127">
                  <c:v>0.11769</c:v>
                </c:pt>
                <c:pt idx="128">
                  <c:v>0.12004</c:v>
                </c:pt>
                <c:pt idx="129">
                  <c:v>0.11438</c:v>
                </c:pt>
                <c:pt idx="130">
                  <c:v>0.1143</c:v>
                </c:pt>
                <c:pt idx="131">
                  <c:v>0.11251</c:v>
                </c:pt>
                <c:pt idx="132">
                  <c:v>0.11286</c:v>
                </c:pt>
                <c:pt idx="133">
                  <c:v>0.1115</c:v>
                </c:pt>
                <c:pt idx="134">
                  <c:v>0.11244</c:v>
                </c:pt>
                <c:pt idx="135">
                  <c:v>0.1114</c:v>
                </c:pt>
                <c:pt idx="136">
                  <c:v>0.11069</c:v>
                </c:pt>
                <c:pt idx="137">
                  <c:v>0.1102</c:v>
                </c:pt>
                <c:pt idx="138">
                  <c:v>0.10894</c:v>
                </c:pt>
                <c:pt idx="139">
                  <c:v>0.10671</c:v>
                </c:pt>
                <c:pt idx="140">
                  <c:v>0.10761</c:v>
                </c:pt>
                <c:pt idx="141">
                  <c:v>0.1092</c:v>
                </c:pt>
                <c:pt idx="142">
                  <c:v>0.10776</c:v>
                </c:pt>
                <c:pt idx="143">
                  <c:v>0.10663</c:v>
                </c:pt>
                <c:pt idx="144">
                  <c:v>0.1072</c:v>
                </c:pt>
                <c:pt idx="145">
                  <c:v>0.10794</c:v>
                </c:pt>
                <c:pt idx="146">
                  <c:v>0.10905</c:v>
                </c:pt>
                <c:pt idx="147">
                  <c:v>0.11039</c:v>
                </c:pt>
                <c:pt idx="148">
                  <c:v>0.11324</c:v>
                </c:pt>
                <c:pt idx="149">
                  <c:v>0.11394</c:v>
                </c:pt>
                <c:pt idx="150">
                  <c:v>0.10848</c:v>
                </c:pt>
                <c:pt idx="151">
                  <c:v>0.10529</c:v>
                </c:pt>
                <c:pt idx="152">
                  <c:v>0.10577</c:v>
                </c:pt>
                <c:pt idx="153">
                  <c:v>0.10516</c:v>
                </c:pt>
                <c:pt idx="154">
                  <c:v>0.10524</c:v>
                </c:pt>
                <c:pt idx="155">
                  <c:v>0.10512</c:v>
                </c:pt>
                <c:pt idx="156">
                  <c:v>0.10606</c:v>
                </c:pt>
                <c:pt idx="157">
                  <c:v>0.1062</c:v>
                </c:pt>
                <c:pt idx="158">
                  <c:v>0.10494</c:v>
                </c:pt>
                <c:pt idx="159">
                  <c:v>0.10621</c:v>
                </c:pt>
                <c:pt idx="160">
                  <c:v>0.1057</c:v>
                </c:pt>
                <c:pt idx="161">
                  <c:v>0.1067</c:v>
                </c:pt>
                <c:pt idx="162">
                  <c:v>0.10546</c:v>
                </c:pt>
                <c:pt idx="163">
                  <c:v>0.10581</c:v>
                </c:pt>
                <c:pt idx="164">
                  <c:v>0.10039</c:v>
                </c:pt>
                <c:pt idx="165">
                  <c:v>0.10181</c:v>
                </c:pt>
                <c:pt idx="166">
                  <c:v>0.10281</c:v>
                </c:pt>
                <c:pt idx="167">
                  <c:v>0.10324</c:v>
                </c:pt>
                <c:pt idx="168">
                  <c:v>0.10602</c:v>
                </c:pt>
                <c:pt idx="169">
                  <c:v>0.10756</c:v>
                </c:pt>
                <c:pt idx="170">
                  <c:v>0.10852</c:v>
                </c:pt>
                <c:pt idx="171">
                  <c:v>0.10994</c:v>
                </c:pt>
                <c:pt idx="172">
                  <c:v>0.11014</c:v>
                </c:pt>
                <c:pt idx="173">
                  <c:v>0.10811</c:v>
                </c:pt>
                <c:pt idx="174">
                  <c:v>0.10596</c:v>
                </c:pt>
                <c:pt idx="175">
                  <c:v>0.10425</c:v>
                </c:pt>
                <c:pt idx="176">
                  <c:v>0.1045</c:v>
                </c:pt>
                <c:pt idx="177">
                  <c:v>0.10327</c:v>
                </c:pt>
                <c:pt idx="178">
                  <c:v>0.1025</c:v>
                </c:pt>
                <c:pt idx="179">
                  <c:v>0.10319</c:v>
                </c:pt>
                <c:pt idx="180">
                  <c:v>0.1076</c:v>
                </c:pt>
                <c:pt idx="181">
                  <c:v>0.10665</c:v>
                </c:pt>
                <c:pt idx="182">
                  <c:v>0.10866</c:v>
                </c:pt>
                <c:pt idx="183">
                  <c:v>0.10452</c:v>
                </c:pt>
                <c:pt idx="184">
                  <c:v>0.10716</c:v>
                </c:pt>
                <c:pt idx="185">
                  <c:v>0.10194</c:v>
                </c:pt>
                <c:pt idx="186">
                  <c:v>0.10175</c:v>
                </c:pt>
                <c:pt idx="187">
                  <c:v>0.10318</c:v>
                </c:pt>
                <c:pt idx="188">
                  <c:v>0.09957</c:v>
                </c:pt>
                <c:pt idx="189">
                  <c:v>0.09703</c:v>
                </c:pt>
                <c:pt idx="190">
                  <c:v>0.09929</c:v>
                </c:pt>
                <c:pt idx="191">
                  <c:v>0.09766</c:v>
                </c:pt>
                <c:pt idx="192">
                  <c:v>0.09944</c:v>
                </c:pt>
                <c:pt idx="193">
                  <c:v>0.09791</c:v>
                </c:pt>
                <c:pt idx="194">
                  <c:v>0.09659</c:v>
                </c:pt>
                <c:pt idx="195">
                  <c:v>0.09579</c:v>
                </c:pt>
                <c:pt idx="196">
                  <c:v>0.09995</c:v>
                </c:pt>
                <c:pt idx="197">
                  <c:v>0.09861</c:v>
                </c:pt>
                <c:pt idx="198">
                  <c:v>0.09867</c:v>
                </c:pt>
                <c:pt idx="199">
                  <c:v>0.10131</c:v>
                </c:pt>
                <c:pt idx="200">
                  <c:v>0.09993</c:v>
                </c:pt>
                <c:pt idx="201">
                  <c:v>0.09542</c:v>
                </c:pt>
                <c:pt idx="202">
                  <c:v>0.0952</c:v>
                </c:pt>
                <c:pt idx="203">
                  <c:v>0.09626</c:v>
                </c:pt>
                <c:pt idx="204">
                  <c:v>0.09644</c:v>
                </c:pt>
                <c:pt idx="205">
                  <c:v>0.09747</c:v>
                </c:pt>
                <c:pt idx="206">
                  <c:v>0.09507</c:v>
                </c:pt>
                <c:pt idx="207">
                  <c:v>0.09308</c:v>
                </c:pt>
                <c:pt idx="208">
                  <c:v>0.09704</c:v>
                </c:pt>
                <c:pt idx="209">
                  <c:v>0.09712</c:v>
                </c:pt>
                <c:pt idx="210">
                  <c:v>0.09717</c:v>
                </c:pt>
                <c:pt idx="211">
                  <c:v>0.09586</c:v>
                </c:pt>
                <c:pt idx="212">
                  <c:v>0.09548</c:v>
                </c:pt>
                <c:pt idx="213">
                  <c:v>0.09363</c:v>
                </c:pt>
                <c:pt idx="214">
                  <c:v>0.09408</c:v>
                </c:pt>
                <c:pt idx="215">
                  <c:v>0.0942</c:v>
                </c:pt>
                <c:pt idx="216">
                  <c:v>0.0938</c:v>
                </c:pt>
                <c:pt idx="217">
                  <c:v>0.09292</c:v>
                </c:pt>
                <c:pt idx="218">
                  <c:v>0.09445</c:v>
                </c:pt>
                <c:pt idx="219">
                  <c:v>0.09495</c:v>
                </c:pt>
                <c:pt idx="220">
                  <c:v>0.09505</c:v>
                </c:pt>
                <c:pt idx="221">
                  <c:v>0.09671</c:v>
                </c:pt>
                <c:pt idx="222">
                  <c:v>0.09739</c:v>
                </c:pt>
                <c:pt idx="223">
                  <c:v>0.09592</c:v>
                </c:pt>
                <c:pt idx="224">
                  <c:v>0.09714</c:v>
                </c:pt>
                <c:pt idx="225">
                  <c:v>0.0949</c:v>
                </c:pt>
                <c:pt idx="226">
                  <c:v>0.09137</c:v>
                </c:pt>
                <c:pt idx="227">
                  <c:v>0.09334</c:v>
                </c:pt>
                <c:pt idx="228">
                  <c:v>0.09343</c:v>
                </c:pt>
                <c:pt idx="229">
                  <c:v>0.09277</c:v>
                </c:pt>
                <c:pt idx="230">
                  <c:v>0.09356</c:v>
                </c:pt>
                <c:pt idx="231">
                  <c:v>0.09203</c:v>
                </c:pt>
                <c:pt idx="232">
                  <c:v>0.09122</c:v>
                </c:pt>
                <c:pt idx="233">
                  <c:v>0.09599</c:v>
                </c:pt>
                <c:pt idx="234">
                  <c:v>0.09491</c:v>
                </c:pt>
                <c:pt idx="235">
                  <c:v>0.0957</c:v>
                </c:pt>
                <c:pt idx="236">
                  <c:v>0.09775</c:v>
                </c:pt>
                <c:pt idx="237">
                  <c:v>0.09633</c:v>
                </c:pt>
                <c:pt idx="238">
                  <c:v>0.09728</c:v>
                </c:pt>
                <c:pt idx="239">
                  <c:v>0.09823</c:v>
                </c:pt>
                <c:pt idx="240">
                  <c:v>0.09625</c:v>
                </c:pt>
                <c:pt idx="241">
                  <c:v>0.09533</c:v>
                </c:pt>
                <c:pt idx="242">
                  <c:v>0.09433</c:v>
                </c:pt>
                <c:pt idx="243">
                  <c:v>0.09232</c:v>
                </c:pt>
                <c:pt idx="244">
                  <c:v>0.09426</c:v>
                </c:pt>
                <c:pt idx="245">
                  <c:v>0.09248</c:v>
                </c:pt>
                <c:pt idx="246">
                  <c:v>0.0887</c:v>
                </c:pt>
                <c:pt idx="247">
                  <c:v>0.09133</c:v>
                </c:pt>
                <c:pt idx="248">
                  <c:v>0.09127</c:v>
                </c:pt>
                <c:pt idx="249">
                  <c:v>0.0896</c:v>
                </c:pt>
                <c:pt idx="250">
                  <c:v>0.08975</c:v>
                </c:pt>
                <c:pt idx="251">
                  <c:v>0.0883</c:v>
                </c:pt>
                <c:pt idx="252">
                  <c:v>0.08704</c:v>
                </c:pt>
                <c:pt idx="253">
                  <c:v>0.08727</c:v>
                </c:pt>
                <c:pt idx="254">
                  <c:v>0.08604</c:v>
                </c:pt>
                <c:pt idx="255">
                  <c:v>0.08596</c:v>
                </c:pt>
                <c:pt idx="256">
                  <c:v>0.08847</c:v>
                </c:pt>
                <c:pt idx="257">
                  <c:v>0.0899</c:v>
                </c:pt>
                <c:pt idx="258">
                  <c:v>0.09086</c:v>
                </c:pt>
                <c:pt idx="259">
                  <c:v>0.09056</c:v>
                </c:pt>
                <c:pt idx="260">
                  <c:v>0.08968</c:v>
                </c:pt>
                <c:pt idx="261">
                  <c:v>0.08919</c:v>
                </c:pt>
                <c:pt idx="262">
                  <c:v>0.08879</c:v>
                </c:pt>
                <c:pt idx="263">
                  <c:v>0.08521</c:v>
                </c:pt>
                <c:pt idx="264">
                  <c:v>0.08494</c:v>
                </c:pt>
                <c:pt idx="265">
                  <c:v>0.08621</c:v>
                </c:pt>
                <c:pt idx="266">
                  <c:v>0.08763</c:v>
                </c:pt>
                <c:pt idx="267">
                  <c:v>0.08926</c:v>
                </c:pt>
                <c:pt idx="268">
                  <c:v>0.08977</c:v>
                </c:pt>
                <c:pt idx="269">
                  <c:v>0.0881</c:v>
                </c:pt>
                <c:pt idx="270">
                  <c:v>0.08713</c:v>
                </c:pt>
              </c:numCache>
            </c:numRef>
          </c:yVal>
          <c:smooth val="0"/>
        </c:ser>
        <c:ser>
          <c:idx val="2"/>
          <c:order val="2"/>
          <c:tx>
            <c:strRef>
              <c:f>Sheet1!$B$529</c:f>
              <c:strCache>
                <c:ptCount val="1"/>
                <c:pt idx="0">
                  <c:v>MLP</c:v>
                </c:pt>
              </c:strCache>
            </c:strRef>
          </c:tx>
          <c:spPr>
            <a:ln w="20320">
              <a:solidFill>
                <a:srgbClr val="0072B2"/>
              </a:solidFill>
            </a:ln>
          </c:spPr>
          <c:marker>
            <c:symbol val="none"/>
          </c:marker>
          <c:xVal>
            <c:numRef>
              <c:f>Sheet1!$A$530:$A$821</c:f>
              <c:numCache>
                <c:formatCode>General</c:formatCode>
                <c:ptCount val="292"/>
                <c:pt idx="0">
                  <c:v>0.004</c:v>
                </c:pt>
                <c:pt idx="1">
                  <c:v>0.754</c:v>
                </c:pt>
                <c:pt idx="2">
                  <c:v>1.269</c:v>
                </c:pt>
                <c:pt idx="3">
                  <c:v>1.349</c:v>
                </c:pt>
                <c:pt idx="4">
                  <c:v>1.449</c:v>
                </c:pt>
                <c:pt idx="5">
                  <c:v>1.569</c:v>
                </c:pt>
                <c:pt idx="6">
                  <c:v>1.664</c:v>
                </c:pt>
                <c:pt idx="7">
                  <c:v>1.729</c:v>
                </c:pt>
                <c:pt idx="8">
                  <c:v>1.824</c:v>
                </c:pt>
                <c:pt idx="9">
                  <c:v>1.854</c:v>
                </c:pt>
                <c:pt idx="10">
                  <c:v>1.924</c:v>
                </c:pt>
                <c:pt idx="11">
                  <c:v>2.079</c:v>
                </c:pt>
                <c:pt idx="12">
                  <c:v>2.144</c:v>
                </c:pt>
                <c:pt idx="13">
                  <c:v>2.199</c:v>
                </c:pt>
                <c:pt idx="14">
                  <c:v>2.279</c:v>
                </c:pt>
                <c:pt idx="15">
                  <c:v>2.319</c:v>
                </c:pt>
                <c:pt idx="16">
                  <c:v>2.449</c:v>
                </c:pt>
                <c:pt idx="17">
                  <c:v>2.514</c:v>
                </c:pt>
                <c:pt idx="18">
                  <c:v>2.589</c:v>
                </c:pt>
                <c:pt idx="19">
                  <c:v>2.659</c:v>
                </c:pt>
                <c:pt idx="20">
                  <c:v>2.739</c:v>
                </c:pt>
                <c:pt idx="21">
                  <c:v>2.829</c:v>
                </c:pt>
                <c:pt idx="22">
                  <c:v>2.899</c:v>
                </c:pt>
                <c:pt idx="23">
                  <c:v>2.964</c:v>
                </c:pt>
                <c:pt idx="24">
                  <c:v>3.119</c:v>
                </c:pt>
                <c:pt idx="25">
                  <c:v>3.219</c:v>
                </c:pt>
                <c:pt idx="26">
                  <c:v>3.354</c:v>
                </c:pt>
                <c:pt idx="27">
                  <c:v>3.414</c:v>
                </c:pt>
                <c:pt idx="28">
                  <c:v>3.529</c:v>
                </c:pt>
                <c:pt idx="29">
                  <c:v>3.584</c:v>
                </c:pt>
                <c:pt idx="30">
                  <c:v>3.629</c:v>
                </c:pt>
                <c:pt idx="31">
                  <c:v>3.729</c:v>
                </c:pt>
                <c:pt idx="32">
                  <c:v>3.794</c:v>
                </c:pt>
                <c:pt idx="33">
                  <c:v>3.864</c:v>
                </c:pt>
                <c:pt idx="34">
                  <c:v>3.989</c:v>
                </c:pt>
                <c:pt idx="35">
                  <c:v>4.084</c:v>
                </c:pt>
                <c:pt idx="36">
                  <c:v>4.144</c:v>
                </c:pt>
                <c:pt idx="37">
                  <c:v>4.214</c:v>
                </c:pt>
                <c:pt idx="38">
                  <c:v>4.394</c:v>
                </c:pt>
                <c:pt idx="39">
                  <c:v>4.444</c:v>
                </c:pt>
                <c:pt idx="40">
                  <c:v>4.539</c:v>
                </c:pt>
                <c:pt idx="41">
                  <c:v>4.704</c:v>
                </c:pt>
                <c:pt idx="42">
                  <c:v>4.809</c:v>
                </c:pt>
                <c:pt idx="43">
                  <c:v>4.879</c:v>
                </c:pt>
                <c:pt idx="44">
                  <c:v>4.904</c:v>
                </c:pt>
                <c:pt idx="45">
                  <c:v>5.044</c:v>
                </c:pt>
                <c:pt idx="46">
                  <c:v>5.089</c:v>
                </c:pt>
                <c:pt idx="47">
                  <c:v>5.179</c:v>
                </c:pt>
                <c:pt idx="48">
                  <c:v>5.224</c:v>
                </c:pt>
                <c:pt idx="49">
                  <c:v>5.274</c:v>
                </c:pt>
                <c:pt idx="50">
                  <c:v>5.319</c:v>
                </c:pt>
                <c:pt idx="51">
                  <c:v>5.369</c:v>
                </c:pt>
                <c:pt idx="52">
                  <c:v>5.414</c:v>
                </c:pt>
                <c:pt idx="53">
                  <c:v>5.464</c:v>
                </c:pt>
                <c:pt idx="54">
                  <c:v>5.534</c:v>
                </c:pt>
                <c:pt idx="55">
                  <c:v>5.664</c:v>
                </c:pt>
                <c:pt idx="56">
                  <c:v>5.754</c:v>
                </c:pt>
                <c:pt idx="57">
                  <c:v>5.864</c:v>
                </c:pt>
                <c:pt idx="58">
                  <c:v>5.929</c:v>
                </c:pt>
                <c:pt idx="59">
                  <c:v>5.969</c:v>
                </c:pt>
                <c:pt idx="60">
                  <c:v>6.044</c:v>
                </c:pt>
                <c:pt idx="61">
                  <c:v>6.099</c:v>
                </c:pt>
                <c:pt idx="62">
                  <c:v>6.194</c:v>
                </c:pt>
                <c:pt idx="63">
                  <c:v>6.264</c:v>
                </c:pt>
                <c:pt idx="64">
                  <c:v>6.359</c:v>
                </c:pt>
                <c:pt idx="65">
                  <c:v>6.514</c:v>
                </c:pt>
                <c:pt idx="66">
                  <c:v>6.609</c:v>
                </c:pt>
                <c:pt idx="67">
                  <c:v>6.669</c:v>
                </c:pt>
                <c:pt idx="68">
                  <c:v>6.729</c:v>
                </c:pt>
                <c:pt idx="69">
                  <c:v>6.799</c:v>
                </c:pt>
                <c:pt idx="70">
                  <c:v>6.954</c:v>
                </c:pt>
                <c:pt idx="71">
                  <c:v>6.989</c:v>
                </c:pt>
                <c:pt idx="72">
                  <c:v>7.069</c:v>
                </c:pt>
                <c:pt idx="73">
                  <c:v>7.149</c:v>
                </c:pt>
                <c:pt idx="74">
                  <c:v>7.304</c:v>
                </c:pt>
                <c:pt idx="75">
                  <c:v>7.359</c:v>
                </c:pt>
                <c:pt idx="76">
                  <c:v>7.419</c:v>
                </c:pt>
                <c:pt idx="77">
                  <c:v>7.494</c:v>
                </c:pt>
                <c:pt idx="78">
                  <c:v>7.524</c:v>
                </c:pt>
                <c:pt idx="79">
                  <c:v>7.554</c:v>
                </c:pt>
                <c:pt idx="80">
                  <c:v>7.604</c:v>
                </c:pt>
                <c:pt idx="81">
                  <c:v>7.674</c:v>
                </c:pt>
                <c:pt idx="82">
                  <c:v>7.794</c:v>
                </c:pt>
                <c:pt idx="83">
                  <c:v>7.864</c:v>
                </c:pt>
                <c:pt idx="84">
                  <c:v>7.944</c:v>
                </c:pt>
                <c:pt idx="85">
                  <c:v>8.069</c:v>
                </c:pt>
                <c:pt idx="86">
                  <c:v>8.174</c:v>
                </c:pt>
                <c:pt idx="87">
                  <c:v>8.224</c:v>
                </c:pt>
                <c:pt idx="88">
                  <c:v>8.389</c:v>
                </c:pt>
                <c:pt idx="89">
                  <c:v>8.519</c:v>
                </c:pt>
                <c:pt idx="90">
                  <c:v>8.569</c:v>
                </c:pt>
                <c:pt idx="91">
                  <c:v>8.649</c:v>
                </c:pt>
                <c:pt idx="92">
                  <c:v>8.734</c:v>
                </c:pt>
                <c:pt idx="93">
                  <c:v>8.789</c:v>
                </c:pt>
                <c:pt idx="94">
                  <c:v>8.889</c:v>
                </c:pt>
                <c:pt idx="95">
                  <c:v>8.979</c:v>
                </c:pt>
                <c:pt idx="96">
                  <c:v>9.059</c:v>
                </c:pt>
                <c:pt idx="97">
                  <c:v>9.134</c:v>
                </c:pt>
                <c:pt idx="98">
                  <c:v>9.189</c:v>
                </c:pt>
                <c:pt idx="99">
                  <c:v>9.214</c:v>
                </c:pt>
                <c:pt idx="100">
                  <c:v>9.244</c:v>
                </c:pt>
                <c:pt idx="101">
                  <c:v>9.314</c:v>
                </c:pt>
                <c:pt idx="102">
                  <c:v>9.379</c:v>
                </c:pt>
                <c:pt idx="103">
                  <c:v>9.434</c:v>
                </c:pt>
                <c:pt idx="104">
                  <c:v>9.514</c:v>
                </c:pt>
                <c:pt idx="105">
                  <c:v>9.589</c:v>
                </c:pt>
                <c:pt idx="106">
                  <c:v>9.639</c:v>
                </c:pt>
                <c:pt idx="107">
                  <c:v>9.699</c:v>
                </c:pt>
                <c:pt idx="108">
                  <c:v>9.739</c:v>
                </c:pt>
                <c:pt idx="109">
                  <c:v>9.834</c:v>
                </c:pt>
                <c:pt idx="110">
                  <c:v>9.884</c:v>
                </c:pt>
                <c:pt idx="111">
                  <c:v>9.929</c:v>
                </c:pt>
                <c:pt idx="112">
                  <c:v>10.009</c:v>
                </c:pt>
                <c:pt idx="113">
                  <c:v>10.059</c:v>
                </c:pt>
                <c:pt idx="114">
                  <c:v>10.104</c:v>
                </c:pt>
                <c:pt idx="115">
                  <c:v>10.164</c:v>
                </c:pt>
                <c:pt idx="116">
                  <c:v>10.224</c:v>
                </c:pt>
                <c:pt idx="117">
                  <c:v>10.274</c:v>
                </c:pt>
                <c:pt idx="118">
                  <c:v>10.314</c:v>
                </c:pt>
                <c:pt idx="119">
                  <c:v>10.449</c:v>
                </c:pt>
                <c:pt idx="120">
                  <c:v>10.559</c:v>
                </c:pt>
                <c:pt idx="121">
                  <c:v>10.614</c:v>
                </c:pt>
                <c:pt idx="122">
                  <c:v>10.664</c:v>
                </c:pt>
                <c:pt idx="123">
                  <c:v>10.709</c:v>
                </c:pt>
                <c:pt idx="124">
                  <c:v>10.789</c:v>
                </c:pt>
                <c:pt idx="125">
                  <c:v>10.844</c:v>
                </c:pt>
                <c:pt idx="126">
                  <c:v>10.924</c:v>
                </c:pt>
                <c:pt idx="127">
                  <c:v>10.979</c:v>
                </c:pt>
                <c:pt idx="128">
                  <c:v>11.074</c:v>
                </c:pt>
                <c:pt idx="129">
                  <c:v>11.204</c:v>
                </c:pt>
                <c:pt idx="130">
                  <c:v>11.269</c:v>
                </c:pt>
                <c:pt idx="131">
                  <c:v>11.324</c:v>
                </c:pt>
                <c:pt idx="132">
                  <c:v>11.509</c:v>
                </c:pt>
                <c:pt idx="133">
                  <c:v>11.664</c:v>
                </c:pt>
                <c:pt idx="134">
                  <c:v>11.764</c:v>
                </c:pt>
                <c:pt idx="135">
                  <c:v>11.809</c:v>
                </c:pt>
                <c:pt idx="136">
                  <c:v>11.859</c:v>
                </c:pt>
                <c:pt idx="137">
                  <c:v>11.929</c:v>
                </c:pt>
                <c:pt idx="138">
                  <c:v>11.989</c:v>
                </c:pt>
                <c:pt idx="139">
                  <c:v>12.044</c:v>
                </c:pt>
                <c:pt idx="140">
                  <c:v>12.119</c:v>
                </c:pt>
                <c:pt idx="141">
                  <c:v>12.184</c:v>
                </c:pt>
                <c:pt idx="142">
                  <c:v>12.219</c:v>
                </c:pt>
                <c:pt idx="143">
                  <c:v>12.319</c:v>
                </c:pt>
                <c:pt idx="144">
                  <c:v>12.384</c:v>
                </c:pt>
                <c:pt idx="145">
                  <c:v>12.439</c:v>
                </c:pt>
                <c:pt idx="146">
                  <c:v>12.509</c:v>
                </c:pt>
                <c:pt idx="147">
                  <c:v>12.644</c:v>
                </c:pt>
                <c:pt idx="148">
                  <c:v>12.729</c:v>
                </c:pt>
                <c:pt idx="149">
                  <c:v>12.834</c:v>
                </c:pt>
                <c:pt idx="150">
                  <c:v>12.894</c:v>
                </c:pt>
                <c:pt idx="151">
                  <c:v>12.979</c:v>
                </c:pt>
                <c:pt idx="152">
                  <c:v>13.064</c:v>
                </c:pt>
                <c:pt idx="153">
                  <c:v>13.144</c:v>
                </c:pt>
                <c:pt idx="154">
                  <c:v>13.224</c:v>
                </c:pt>
                <c:pt idx="155">
                  <c:v>13.264</c:v>
                </c:pt>
                <c:pt idx="156">
                  <c:v>13.304</c:v>
                </c:pt>
                <c:pt idx="157">
                  <c:v>13.359</c:v>
                </c:pt>
                <c:pt idx="158">
                  <c:v>13.489</c:v>
                </c:pt>
                <c:pt idx="159">
                  <c:v>13.609</c:v>
                </c:pt>
                <c:pt idx="160">
                  <c:v>13.654</c:v>
                </c:pt>
                <c:pt idx="161">
                  <c:v>13.709</c:v>
                </c:pt>
                <c:pt idx="162">
                  <c:v>13.784</c:v>
                </c:pt>
                <c:pt idx="163">
                  <c:v>13.894</c:v>
                </c:pt>
                <c:pt idx="164">
                  <c:v>13.999</c:v>
                </c:pt>
                <c:pt idx="165">
                  <c:v>14.089</c:v>
                </c:pt>
                <c:pt idx="166">
                  <c:v>14.184</c:v>
                </c:pt>
                <c:pt idx="167">
                  <c:v>14.229</c:v>
                </c:pt>
                <c:pt idx="168">
                  <c:v>14.299</c:v>
                </c:pt>
                <c:pt idx="169">
                  <c:v>14.354</c:v>
                </c:pt>
                <c:pt idx="170">
                  <c:v>14.454</c:v>
                </c:pt>
                <c:pt idx="171">
                  <c:v>14.529</c:v>
                </c:pt>
                <c:pt idx="172">
                  <c:v>14.614</c:v>
                </c:pt>
                <c:pt idx="173">
                  <c:v>14.744</c:v>
                </c:pt>
                <c:pt idx="174">
                  <c:v>14.829</c:v>
                </c:pt>
                <c:pt idx="175">
                  <c:v>14.869</c:v>
                </c:pt>
                <c:pt idx="176">
                  <c:v>14.934</c:v>
                </c:pt>
                <c:pt idx="177">
                  <c:v>15.009</c:v>
                </c:pt>
                <c:pt idx="178">
                  <c:v>15.044</c:v>
                </c:pt>
                <c:pt idx="179">
                  <c:v>15.084</c:v>
                </c:pt>
                <c:pt idx="180">
                  <c:v>15.139</c:v>
                </c:pt>
                <c:pt idx="181">
                  <c:v>15.204</c:v>
                </c:pt>
                <c:pt idx="182">
                  <c:v>15.249</c:v>
                </c:pt>
                <c:pt idx="183">
                  <c:v>15.424</c:v>
                </c:pt>
                <c:pt idx="184">
                  <c:v>15.499</c:v>
                </c:pt>
                <c:pt idx="185">
                  <c:v>15.574</c:v>
                </c:pt>
                <c:pt idx="186">
                  <c:v>15.634</c:v>
                </c:pt>
                <c:pt idx="187">
                  <c:v>15.709</c:v>
                </c:pt>
                <c:pt idx="188">
                  <c:v>15.764</c:v>
                </c:pt>
                <c:pt idx="189">
                  <c:v>15.799</c:v>
                </c:pt>
                <c:pt idx="190">
                  <c:v>15.864</c:v>
                </c:pt>
                <c:pt idx="191">
                  <c:v>15.929</c:v>
                </c:pt>
                <c:pt idx="192">
                  <c:v>16.019</c:v>
                </c:pt>
                <c:pt idx="193">
                  <c:v>16.074</c:v>
                </c:pt>
                <c:pt idx="194">
                  <c:v>16.144</c:v>
                </c:pt>
                <c:pt idx="195">
                  <c:v>16.209</c:v>
                </c:pt>
                <c:pt idx="196">
                  <c:v>16.244</c:v>
                </c:pt>
                <c:pt idx="197">
                  <c:v>16.304</c:v>
                </c:pt>
                <c:pt idx="198">
                  <c:v>16.394</c:v>
                </c:pt>
                <c:pt idx="199">
                  <c:v>16.479</c:v>
                </c:pt>
                <c:pt idx="200">
                  <c:v>16.579</c:v>
                </c:pt>
                <c:pt idx="201">
                  <c:v>16.649</c:v>
                </c:pt>
                <c:pt idx="202">
                  <c:v>16.709</c:v>
                </c:pt>
                <c:pt idx="203">
                  <c:v>16.809</c:v>
                </c:pt>
                <c:pt idx="204">
                  <c:v>16.944</c:v>
                </c:pt>
                <c:pt idx="205">
                  <c:v>17.039</c:v>
                </c:pt>
                <c:pt idx="206">
                  <c:v>17.074</c:v>
                </c:pt>
                <c:pt idx="207">
                  <c:v>17.124</c:v>
                </c:pt>
                <c:pt idx="208">
                  <c:v>17.174</c:v>
                </c:pt>
                <c:pt idx="209">
                  <c:v>17.244</c:v>
                </c:pt>
                <c:pt idx="210">
                  <c:v>17.324</c:v>
                </c:pt>
                <c:pt idx="211">
                  <c:v>17.364</c:v>
                </c:pt>
                <c:pt idx="212">
                  <c:v>17.409</c:v>
                </c:pt>
                <c:pt idx="213">
                  <c:v>17.509</c:v>
                </c:pt>
                <c:pt idx="214">
                  <c:v>17.589</c:v>
                </c:pt>
                <c:pt idx="215">
                  <c:v>17.689</c:v>
                </c:pt>
                <c:pt idx="216">
                  <c:v>17.789</c:v>
                </c:pt>
                <c:pt idx="217">
                  <c:v>17.829</c:v>
                </c:pt>
                <c:pt idx="218">
                  <c:v>17.889</c:v>
                </c:pt>
                <c:pt idx="219">
                  <c:v>17.974</c:v>
                </c:pt>
                <c:pt idx="220">
                  <c:v>18.019</c:v>
                </c:pt>
                <c:pt idx="221">
                  <c:v>18.089</c:v>
                </c:pt>
                <c:pt idx="222">
                  <c:v>18.129</c:v>
                </c:pt>
                <c:pt idx="223">
                  <c:v>18.219</c:v>
                </c:pt>
                <c:pt idx="224">
                  <c:v>18.284</c:v>
                </c:pt>
                <c:pt idx="225">
                  <c:v>18.344</c:v>
                </c:pt>
                <c:pt idx="226">
                  <c:v>18.404</c:v>
                </c:pt>
                <c:pt idx="227">
                  <c:v>18.474</c:v>
                </c:pt>
                <c:pt idx="228">
                  <c:v>18.589</c:v>
                </c:pt>
                <c:pt idx="229">
                  <c:v>18.659</c:v>
                </c:pt>
                <c:pt idx="230">
                  <c:v>18.704</c:v>
                </c:pt>
                <c:pt idx="231">
                  <c:v>18.814</c:v>
                </c:pt>
                <c:pt idx="232">
                  <c:v>18.874</c:v>
                </c:pt>
                <c:pt idx="233">
                  <c:v>18.939</c:v>
                </c:pt>
                <c:pt idx="234">
                  <c:v>19.014</c:v>
                </c:pt>
                <c:pt idx="235">
                  <c:v>19.159</c:v>
                </c:pt>
                <c:pt idx="236">
                  <c:v>19.224</c:v>
                </c:pt>
                <c:pt idx="237">
                  <c:v>19.264</c:v>
                </c:pt>
                <c:pt idx="238">
                  <c:v>19.319</c:v>
                </c:pt>
                <c:pt idx="239">
                  <c:v>19.359</c:v>
                </c:pt>
                <c:pt idx="240">
                  <c:v>19.404</c:v>
                </c:pt>
                <c:pt idx="241">
                  <c:v>19.449</c:v>
                </c:pt>
                <c:pt idx="242">
                  <c:v>19.514</c:v>
                </c:pt>
                <c:pt idx="243">
                  <c:v>19.564</c:v>
                </c:pt>
                <c:pt idx="244">
                  <c:v>19.679</c:v>
                </c:pt>
                <c:pt idx="245">
                  <c:v>19.739</c:v>
                </c:pt>
                <c:pt idx="246">
                  <c:v>19.799</c:v>
                </c:pt>
                <c:pt idx="247">
                  <c:v>19.909</c:v>
                </c:pt>
                <c:pt idx="248">
                  <c:v>19.979</c:v>
                </c:pt>
                <c:pt idx="249">
                  <c:v>20.014</c:v>
                </c:pt>
                <c:pt idx="250">
                  <c:v>20.089</c:v>
                </c:pt>
                <c:pt idx="251">
                  <c:v>20.219</c:v>
                </c:pt>
                <c:pt idx="252">
                  <c:v>20.279</c:v>
                </c:pt>
                <c:pt idx="253">
                  <c:v>20.329</c:v>
                </c:pt>
                <c:pt idx="254">
                  <c:v>20.379</c:v>
                </c:pt>
                <c:pt idx="255">
                  <c:v>20.459</c:v>
                </c:pt>
                <c:pt idx="256">
                  <c:v>20.599</c:v>
                </c:pt>
                <c:pt idx="257">
                  <c:v>20.644</c:v>
                </c:pt>
                <c:pt idx="258">
                  <c:v>20.704</c:v>
                </c:pt>
                <c:pt idx="259">
                  <c:v>20.834</c:v>
                </c:pt>
                <c:pt idx="260">
                  <c:v>20.864</c:v>
                </c:pt>
                <c:pt idx="261">
                  <c:v>20.969</c:v>
                </c:pt>
                <c:pt idx="262">
                  <c:v>21.069</c:v>
                </c:pt>
                <c:pt idx="263">
                  <c:v>21.129</c:v>
                </c:pt>
                <c:pt idx="264">
                  <c:v>21.174</c:v>
                </c:pt>
                <c:pt idx="265">
                  <c:v>21.229</c:v>
                </c:pt>
                <c:pt idx="266">
                  <c:v>21.304</c:v>
                </c:pt>
                <c:pt idx="267">
                  <c:v>21.419</c:v>
                </c:pt>
                <c:pt idx="268">
                  <c:v>21.479</c:v>
                </c:pt>
                <c:pt idx="269">
                  <c:v>21.569</c:v>
                </c:pt>
                <c:pt idx="270">
                  <c:v>21.659</c:v>
                </c:pt>
                <c:pt idx="271">
                  <c:v>21.699</c:v>
                </c:pt>
                <c:pt idx="272">
                  <c:v>21.744</c:v>
                </c:pt>
                <c:pt idx="273">
                  <c:v>21.809</c:v>
                </c:pt>
                <c:pt idx="274">
                  <c:v>21.869</c:v>
                </c:pt>
                <c:pt idx="275">
                  <c:v>21.924</c:v>
                </c:pt>
                <c:pt idx="276">
                  <c:v>21.984</c:v>
                </c:pt>
                <c:pt idx="277">
                  <c:v>22.024</c:v>
                </c:pt>
                <c:pt idx="278">
                  <c:v>22.069</c:v>
                </c:pt>
                <c:pt idx="279">
                  <c:v>22.164</c:v>
                </c:pt>
                <c:pt idx="280">
                  <c:v>22.209</c:v>
                </c:pt>
                <c:pt idx="281">
                  <c:v>22.269</c:v>
                </c:pt>
                <c:pt idx="282">
                  <c:v>22.304</c:v>
                </c:pt>
                <c:pt idx="283">
                  <c:v>22.359</c:v>
                </c:pt>
                <c:pt idx="284">
                  <c:v>22.494</c:v>
                </c:pt>
                <c:pt idx="285">
                  <c:v>22.624</c:v>
                </c:pt>
                <c:pt idx="286">
                  <c:v>22.699</c:v>
                </c:pt>
                <c:pt idx="287">
                  <c:v>22.799</c:v>
                </c:pt>
                <c:pt idx="288">
                  <c:v>22.844</c:v>
                </c:pt>
                <c:pt idx="289">
                  <c:v>22.884</c:v>
                </c:pt>
                <c:pt idx="290">
                  <c:v>22.969</c:v>
                </c:pt>
                <c:pt idx="291">
                  <c:v>22.999</c:v>
                </c:pt>
              </c:numCache>
            </c:numRef>
          </c:xVal>
          <c:yVal>
            <c:numRef>
              <c:f>Sheet1!$B$530:$B$821</c:f>
              <c:numCache>
                <c:formatCode>General</c:formatCode>
                <c:ptCount val="292"/>
                <c:pt idx="0">
                  <c:v>3.18571</c:v>
                </c:pt>
                <c:pt idx="1">
                  <c:v>0.51718</c:v>
                </c:pt>
                <c:pt idx="2">
                  <c:v>0.25715</c:v>
                </c:pt>
                <c:pt idx="3">
                  <c:v>0.24148</c:v>
                </c:pt>
                <c:pt idx="4">
                  <c:v>0.228</c:v>
                </c:pt>
                <c:pt idx="5">
                  <c:v>0.2188</c:v>
                </c:pt>
                <c:pt idx="6">
                  <c:v>0.20776</c:v>
                </c:pt>
                <c:pt idx="7">
                  <c:v>0.20176</c:v>
                </c:pt>
                <c:pt idx="8">
                  <c:v>0.19491</c:v>
                </c:pt>
                <c:pt idx="9">
                  <c:v>0.19313</c:v>
                </c:pt>
                <c:pt idx="10">
                  <c:v>0.19212</c:v>
                </c:pt>
                <c:pt idx="11">
                  <c:v>0.1786</c:v>
                </c:pt>
                <c:pt idx="12">
                  <c:v>0.17883</c:v>
                </c:pt>
                <c:pt idx="13">
                  <c:v>0.17705</c:v>
                </c:pt>
                <c:pt idx="14">
                  <c:v>0.17488</c:v>
                </c:pt>
                <c:pt idx="15">
                  <c:v>0.17784</c:v>
                </c:pt>
                <c:pt idx="16">
                  <c:v>0.17646</c:v>
                </c:pt>
                <c:pt idx="17">
                  <c:v>0.17845</c:v>
                </c:pt>
                <c:pt idx="18">
                  <c:v>0.17224</c:v>
                </c:pt>
                <c:pt idx="19">
                  <c:v>0.17012</c:v>
                </c:pt>
                <c:pt idx="20">
                  <c:v>0.16437</c:v>
                </c:pt>
                <c:pt idx="21">
                  <c:v>0.16421</c:v>
                </c:pt>
                <c:pt idx="22">
                  <c:v>0.16175</c:v>
                </c:pt>
                <c:pt idx="23">
                  <c:v>0.16335</c:v>
                </c:pt>
                <c:pt idx="24">
                  <c:v>0.15804</c:v>
                </c:pt>
                <c:pt idx="25">
                  <c:v>0.15486</c:v>
                </c:pt>
                <c:pt idx="26">
                  <c:v>0.15148</c:v>
                </c:pt>
                <c:pt idx="27">
                  <c:v>0.15192</c:v>
                </c:pt>
                <c:pt idx="28">
                  <c:v>0.14965</c:v>
                </c:pt>
                <c:pt idx="29">
                  <c:v>0.14547</c:v>
                </c:pt>
                <c:pt idx="30">
                  <c:v>0.15025</c:v>
                </c:pt>
                <c:pt idx="31">
                  <c:v>0.14413</c:v>
                </c:pt>
                <c:pt idx="32">
                  <c:v>0.1429</c:v>
                </c:pt>
                <c:pt idx="33">
                  <c:v>0.14773</c:v>
                </c:pt>
                <c:pt idx="34">
                  <c:v>0.14349</c:v>
                </c:pt>
                <c:pt idx="35">
                  <c:v>0.14704</c:v>
                </c:pt>
                <c:pt idx="36">
                  <c:v>0.1465</c:v>
                </c:pt>
                <c:pt idx="37">
                  <c:v>0.14232</c:v>
                </c:pt>
                <c:pt idx="38">
                  <c:v>0.13594</c:v>
                </c:pt>
                <c:pt idx="39">
                  <c:v>0.13615</c:v>
                </c:pt>
                <c:pt idx="40">
                  <c:v>0.13482</c:v>
                </c:pt>
                <c:pt idx="41">
                  <c:v>0.13103</c:v>
                </c:pt>
                <c:pt idx="42">
                  <c:v>0.13372</c:v>
                </c:pt>
                <c:pt idx="43">
                  <c:v>0.13052</c:v>
                </c:pt>
                <c:pt idx="44">
                  <c:v>0.13167</c:v>
                </c:pt>
                <c:pt idx="45">
                  <c:v>0.12871</c:v>
                </c:pt>
                <c:pt idx="46">
                  <c:v>0.12961</c:v>
                </c:pt>
                <c:pt idx="47">
                  <c:v>0.12832</c:v>
                </c:pt>
                <c:pt idx="48">
                  <c:v>0.12856</c:v>
                </c:pt>
                <c:pt idx="49">
                  <c:v>0.12934</c:v>
                </c:pt>
                <c:pt idx="50">
                  <c:v>0.12959</c:v>
                </c:pt>
                <c:pt idx="51">
                  <c:v>0.13013</c:v>
                </c:pt>
                <c:pt idx="52">
                  <c:v>0.12908</c:v>
                </c:pt>
                <c:pt idx="53">
                  <c:v>0.13059</c:v>
                </c:pt>
                <c:pt idx="54">
                  <c:v>0.12869</c:v>
                </c:pt>
                <c:pt idx="55">
                  <c:v>0.12521</c:v>
                </c:pt>
                <c:pt idx="56">
                  <c:v>0.12368</c:v>
                </c:pt>
                <c:pt idx="57">
                  <c:v>0.1206</c:v>
                </c:pt>
                <c:pt idx="58">
                  <c:v>0.12025</c:v>
                </c:pt>
                <c:pt idx="59">
                  <c:v>0.12118</c:v>
                </c:pt>
                <c:pt idx="60">
                  <c:v>0.12507</c:v>
                </c:pt>
                <c:pt idx="61">
                  <c:v>0.13122</c:v>
                </c:pt>
                <c:pt idx="62">
                  <c:v>0.12997</c:v>
                </c:pt>
                <c:pt idx="63">
                  <c:v>0.12593</c:v>
                </c:pt>
                <c:pt idx="64">
                  <c:v>0.12315</c:v>
                </c:pt>
                <c:pt idx="65">
                  <c:v>0.11883</c:v>
                </c:pt>
                <c:pt idx="66">
                  <c:v>0.12237</c:v>
                </c:pt>
                <c:pt idx="67">
                  <c:v>0.12447</c:v>
                </c:pt>
                <c:pt idx="68">
                  <c:v>0.12382</c:v>
                </c:pt>
                <c:pt idx="69">
                  <c:v>0.12086</c:v>
                </c:pt>
                <c:pt idx="70">
                  <c:v>0.11642</c:v>
                </c:pt>
                <c:pt idx="71">
                  <c:v>0.11657</c:v>
                </c:pt>
                <c:pt idx="72">
                  <c:v>0.1174</c:v>
                </c:pt>
                <c:pt idx="73">
                  <c:v>0.11916</c:v>
                </c:pt>
                <c:pt idx="74">
                  <c:v>0.11726</c:v>
                </c:pt>
                <c:pt idx="75">
                  <c:v>0.11815</c:v>
                </c:pt>
                <c:pt idx="76">
                  <c:v>0.11605</c:v>
                </c:pt>
                <c:pt idx="77">
                  <c:v>0.11833</c:v>
                </c:pt>
                <c:pt idx="78">
                  <c:v>0.11862</c:v>
                </c:pt>
                <c:pt idx="79">
                  <c:v>0.11793</c:v>
                </c:pt>
                <c:pt idx="80">
                  <c:v>0.1173</c:v>
                </c:pt>
                <c:pt idx="81">
                  <c:v>0.11543</c:v>
                </c:pt>
                <c:pt idx="82">
                  <c:v>0.11465</c:v>
                </c:pt>
                <c:pt idx="83">
                  <c:v>0.11329</c:v>
                </c:pt>
                <c:pt idx="84">
                  <c:v>0.11541</c:v>
                </c:pt>
                <c:pt idx="85">
                  <c:v>0.11268</c:v>
                </c:pt>
                <c:pt idx="86">
                  <c:v>0.11202</c:v>
                </c:pt>
                <c:pt idx="87">
                  <c:v>0.1142</c:v>
                </c:pt>
                <c:pt idx="88">
                  <c:v>0.11025</c:v>
                </c:pt>
                <c:pt idx="89">
                  <c:v>0.11038</c:v>
                </c:pt>
                <c:pt idx="90">
                  <c:v>0.11069</c:v>
                </c:pt>
                <c:pt idx="91">
                  <c:v>0.10844</c:v>
                </c:pt>
                <c:pt idx="92">
                  <c:v>0.1072</c:v>
                </c:pt>
                <c:pt idx="93">
                  <c:v>0.10707</c:v>
                </c:pt>
                <c:pt idx="94">
                  <c:v>0.10828</c:v>
                </c:pt>
                <c:pt idx="95">
                  <c:v>0.10692</c:v>
                </c:pt>
                <c:pt idx="96">
                  <c:v>0.10933</c:v>
                </c:pt>
                <c:pt idx="97">
                  <c:v>0.10759</c:v>
                </c:pt>
                <c:pt idx="98">
                  <c:v>0.10661</c:v>
                </c:pt>
                <c:pt idx="99">
                  <c:v>0.10712</c:v>
                </c:pt>
                <c:pt idx="100">
                  <c:v>0.10648</c:v>
                </c:pt>
                <c:pt idx="101">
                  <c:v>0.10769</c:v>
                </c:pt>
                <c:pt idx="102">
                  <c:v>0.1064</c:v>
                </c:pt>
                <c:pt idx="103">
                  <c:v>0.10596</c:v>
                </c:pt>
                <c:pt idx="104">
                  <c:v>0.10871</c:v>
                </c:pt>
                <c:pt idx="105">
                  <c:v>0.10681</c:v>
                </c:pt>
                <c:pt idx="106">
                  <c:v>0.10669</c:v>
                </c:pt>
                <c:pt idx="107">
                  <c:v>0.10413</c:v>
                </c:pt>
                <c:pt idx="108">
                  <c:v>0.10746</c:v>
                </c:pt>
                <c:pt idx="109">
                  <c:v>0.10479</c:v>
                </c:pt>
                <c:pt idx="110">
                  <c:v>0.10261</c:v>
                </c:pt>
                <c:pt idx="111">
                  <c:v>0.10399</c:v>
                </c:pt>
                <c:pt idx="112">
                  <c:v>0.10509</c:v>
                </c:pt>
                <c:pt idx="113">
                  <c:v>0.104</c:v>
                </c:pt>
                <c:pt idx="114">
                  <c:v>0.10378</c:v>
                </c:pt>
                <c:pt idx="115">
                  <c:v>0.10441</c:v>
                </c:pt>
                <c:pt idx="116">
                  <c:v>0.10717</c:v>
                </c:pt>
                <c:pt idx="117">
                  <c:v>0.1107</c:v>
                </c:pt>
                <c:pt idx="118">
                  <c:v>0.10845</c:v>
                </c:pt>
                <c:pt idx="119">
                  <c:v>0.10172</c:v>
                </c:pt>
                <c:pt idx="120">
                  <c:v>0.10371</c:v>
                </c:pt>
                <c:pt idx="121">
                  <c:v>0.10271</c:v>
                </c:pt>
                <c:pt idx="122">
                  <c:v>0.10181</c:v>
                </c:pt>
                <c:pt idx="123">
                  <c:v>0.10546</c:v>
                </c:pt>
                <c:pt idx="124">
                  <c:v>0.10335</c:v>
                </c:pt>
                <c:pt idx="125">
                  <c:v>0.10473</c:v>
                </c:pt>
                <c:pt idx="126">
                  <c:v>0.1011</c:v>
                </c:pt>
                <c:pt idx="127">
                  <c:v>0.10311</c:v>
                </c:pt>
                <c:pt idx="128">
                  <c:v>0.10615</c:v>
                </c:pt>
                <c:pt idx="129">
                  <c:v>0.10592</c:v>
                </c:pt>
                <c:pt idx="130">
                  <c:v>0.1021</c:v>
                </c:pt>
                <c:pt idx="131">
                  <c:v>0.10191</c:v>
                </c:pt>
                <c:pt idx="132">
                  <c:v>0.09552</c:v>
                </c:pt>
                <c:pt idx="133">
                  <c:v>0.09442</c:v>
                </c:pt>
                <c:pt idx="134">
                  <c:v>0.09562</c:v>
                </c:pt>
                <c:pt idx="135">
                  <c:v>0.09939</c:v>
                </c:pt>
                <c:pt idx="136">
                  <c:v>0.1016</c:v>
                </c:pt>
                <c:pt idx="137">
                  <c:v>0.10259</c:v>
                </c:pt>
                <c:pt idx="138">
                  <c:v>0.10071</c:v>
                </c:pt>
                <c:pt idx="139">
                  <c:v>0.09912</c:v>
                </c:pt>
                <c:pt idx="140">
                  <c:v>0.0968</c:v>
                </c:pt>
                <c:pt idx="141">
                  <c:v>0.10108</c:v>
                </c:pt>
                <c:pt idx="142">
                  <c:v>0.10153</c:v>
                </c:pt>
                <c:pt idx="143">
                  <c:v>0.0992</c:v>
                </c:pt>
                <c:pt idx="144">
                  <c:v>0.09769</c:v>
                </c:pt>
                <c:pt idx="145">
                  <c:v>0.09971</c:v>
                </c:pt>
                <c:pt idx="146">
                  <c:v>0.09921</c:v>
                </c:pt>
                <c:pt idx="147">
                  <c:v>0.09687</c:v>
                </c:pt>
                <c:pt idx="148">
                  <c:v>0.09589</c:v>
                </c:pt>
                <c:pt idx="149">
                  <c:v>0.09763</c:v>
                </c:pt>
                <c:pt idx="150">
                  <c:v>0.09544</c:v>
                </c:pt>
                <c:pt idx="151">
                  <c:v>0.09714</c:v>
                </c:pt>
                <c:pt idx="152">
                  <c:v>0.09498</c:v>
                </c:pt>
                <c:pt idx="153">
                  <c:v>0.0991</c:v>
                </c:pt>
                <c:pt idx="154">
                  <c:v>0.09636</c:v>
                </c:pt>
                <c:pt idx="155">
                  <c:v>0.09798</c:v>
                </c:pt>
                <c:pt idx="156">
                  <c:v>0.09718</c:v>
                </c:pt>
                <c:pt idx="157">
                  <c:v>0.10162</c:v>
                </c:pt>
                <c:pt idx="158">
                  <c:v>0.09737</c:v>
                </c:pt>
                <c:pt idx="159">
                  <c:v>0.09621</c:v>
                </c:pt>
                <c:pt idx="160">
                  <c:v>0.09576</c:v>
                </c:pt>
                <c:pt idx="161">
                  <c:v>0.09753</c:v>
                </c:pt>
                <c:pt idx="162">
                  <c:v>0.09593</c:v>
                </c:pt>
                <c:pt idx="163">
                  <c:v>0.09489</c:v>
                </c:pt>
                <c:pt idx="164">
                  <c:v>0.09185</c:v>
                </c:pt>
                <c:pt idx="165">
                  <c:v>0.08783</c:v>
                </c:pt>
                <c:pt idx="166">
                  <c:v>0.08838</c:v>
                </c:pt>
                <c:pt idx="167">
                  <c:v>0.08822</c:v>
                </c:pt>
                <c:pt idx="168">
                  <c:v>0.09142</c:v>
                </c:pt>
                <c:pt idx="169">
                  <c:v>0.09117</c:v>
                </c:pt>
                <c:pt idx="170">
                  <c:v>0.09542</c:v>
                </c:pt>
                <c:pt idx="171">
                  <c:v>0.1002</c:v>
                </c:pt>
                <c:pt idx="172">
                  <c:v>0.10029</c:v>
                </c:pt>
                <c:pt idx="173">
                  <c:v>0.10258</c:v>
                </c:pt>
                <c:pt idx="174">
                  <c:v>0.09933</c:v>
                </c:pt>
                <c:pt idx="175">
                  <c:v>0.09817</c:v>
                </c:pt>
                <c:pt idx="176">
                  <c:v>0.09812</c:v>
                </c:pt>
                <c:pt idx="177">
                  <c:v>0.09537</c:v>
                </c:pt>
                <c:pt idx="178">
                  <c:v>0.09704</c:v>
                </c:pt>
                <c:pt idx="179">
                  <c:v>0.09754</c:v>
                </c:pt>
                <c:pt idx="180">
                  <c:v>0.09665</c:v>
                </c:pt>
                <c:pt idx="181">
                  <c:v>0.09497</c:v>
                </c:pt>
                <c:pt idx="182">
                  <c:v>0.09503</c:v>
                </c:pt>
                <c:pt idx="183">
                  <c:v>0.0936</c:v>
                </c:pt>
                <c:pt idx="184">
                  <c:v>0.09754</c:v>
                </c:pt>
                <c:pt idx="185">
                  <c:v>0.09511</c:v>
                </c:pt>
                <c:pt idx="186">
                  <c:v>0.09639</c:v>
                </c:pt>
                <c:pt idx="187">
                  <c:v>0.0943</c:v>
                </c:pt>
                <c:pt idx="188">
                  <c:v>0.09479</c:v>
                </c:pt>
                <c:pt idx="189">
                  <c:v>0.09585</c:v>
                </c:pt>
                <c:pt idx="190">
                  <c:v>0.09473</c:v>
                </c:pt>
                <c:pt idx="191">
                  <c:v>0.09404</c:v>
                </c:pt>
                <c:pt idx="192">
                  <c:v>0.09759</c:v>
                </c:pt>
                <c:pt idx="193">
                  <c:v>0.09933</c:v>
                </c:pt>
                <c:pt idx="194">
                  <c:v>0.09558</c:v>
                </c:pt>
                <c:pt idx="195">
                  <c:v>0.0944</c:v>
                </c:pt>
                <c:pt idx="196">
                  <c:v>0.09518</c:v>
                </c:pt>
                <c:pt idx="197">
                  <c:v>0.09385</c:v>
                </c:pt>
                <c:pt idx="198">
                  <c:v>0.09442</c:v>
                </c:pt>
                <c:pt idx="199">
                  <c:v>0.09151</c:v>
                </c:pt>
                <c:pt idx="200">
                  <c:v>0.08738</c:v>
                </c:pt>
                <c:pt idx="201">
                  <c:v>0.09135</c:v>
                </c:pt>
                <c:pt idx="202">
                  <c:v>0.09057</c:v>
                </c:pt>
                <c:pt idx="203">
                  <c:v>0.08956</c:v>
                </c:pt>
                <c:pt idx="204">
                  <c:v>0.08728</c:v>
                </c:pt>
                <c:pt idx="205">
                  <c:v>0.08869</c:v>
                </c:pt>
                <c:pt idx="206">
                  <c:v>0.08883</c:v>
                </c:pt>
                <c:pt idx="207">
                  <c:v>0.08822</c:v>
                </c:pt>
                <c:pt idx="208">
                  <c:v>0.09098</c:v>
                </c:pt>
                <c:pt idx="209">
                  <c:v>0.09066</c:v>
                </c:pt>
                <c:pt idx="210">
                  <c:v>0.09268</c:v>
                </c:pt>
                <c:pt idx="211">
                  <c:v>0.09248</c:v>
                </c:pt>
                <c:pt idx="212">
                  <c:v>0.09161</c:v>
                </c:pt>
                <c:pt idx="213">
                  <c:v>0.08907</c:v>
                </c:pt>
                <c:pt idx="214">
                  <c:v>0.08957</c:v>
                </c:pt>
                <c:pt idx="215">
                  <c:v>0.09139</c:v>
                </c:pt>
                <c:pt idx="216">
                  <c:v>0.09189</c:v>
                </c:pt>
                <c:pt idx="217">
                  <c:v>0.09118</c:v>
                </c:pt>
                <c:pt idx="218">
                  <c:v>0.09074</c:v>
                </c:pt>
                <c:pt idx="219">
                  <c:v>0.09067</c:v>
                </c:pt>
                <c:pt idx="220">
                  <c:v>0.09204</c:v>
                </c:pt>
                <c:pt idx="221">
                  <c:v>0.09212</c:v>
                </c:pt>
                <c:pt idx="222">
                  <c:v>0.09178</c:v>
                </c:pt>
                <c:pt idx="223">
                  <c:v>0.09087</c:v>
                </c:pt>
                <c:pt idx="224">
                  <c:v>0.09091</c:v>
                </c:pt>
                <c:pt idx="225">
                  <c:v>0.09239</c:v>
                </c:pt>
                <c:pt idx="226">
                  <c:v>0.091</c:v>
                </c:pt>
                <c:pt idx="227">
                  <c:v>0.0973</c:v>
                </c:pt>
                <c:pt idx="228">
                  <c:v>0.09187</c:v>
                </c:pt>
                <c:pt idx="229">
                  <c:v>0.08994</c:v>
                </c:pt>
                <c:pt idx="230">
                  <c:v>0.08951</c:v>
                </c:pt>
                <c:pt idx="231">
                  <c:v>0.08548</c:v>
                </c:pt>
                <c:pt idx="232">
                  <c:v>0.08578</c:v>
                </c:pt>
                <c:pt idx="233">
                  <c:v>0.08524</c:v>
                </c:pt>
                <c:pt idx="234">
                  <c:v>0.08434</c:v>
                </c:pt>
                <c:pt idx="235">
                  <c:v>0.08478</c:v>
                </c:pt>
                <c:pt idx="236">
                  <c:v>0.08662</c:v>
                </c:pt>
                <c:pt idx="237">
                  <c:v>0.08679</c:v>
                </c:pt>
                <c:pt idx="238">
                  <c:v>0.08936</c:v>
                </c:pt>
                <c:pt idx="239">
                  <c:v>0.08892</c:v>
                </c:pt>
                <c:pt idx="240">
                  <c:v>0.09147</c:v>
                </c:pt>
                <c:pt idx="241">
                  <c:v>0.09102</c:v>
                </c:pt>
                <c:pt idx="242">
                  <c:v>0.08833</c:v>
                </c:pt>
                <c:pt idx="243">
                  <c:v>0.08706</c:v>
                </c:pt>
                <c:pt idx="244">
                  <c:v>0.08581</c:v>
                </c:pt>
                <c:pt idx="245">
                  <c:v>0.08723</c:v>
                </c:pt>
                <c:pt idx="246">
                  <c:v>0.08759</c:v>
                </c:pt>
                <c:pt idx="247">
                  <c:v>0.08312</c:v>
                </c:pt>
                <c:pt idx="248">
                  <c:v>0.08422</c:v>
                </c:pt>
                <c:pt idx="249">
                  <c:v>0.08607</c:v>
                </c:pt>
                <c:pt idx="250">
                  <c:v>0.08613</c:v>
                </c:pt>
                <c:pt idx="251">
                  <c:v>0.08349</c:v>
                </c:pt>
                <c:pt idx="252">
                  <c:v>0.08346</c:v>
                </c:pt>
                <c:pt idx="253">
                  <c:v>0.08452</c:v>
                </c:pt>
                <c:pt idx="254">
                  <c:v>0.08375</c:v>
                </c:pt>
                <c:pt idx="255">
                  <c:v>0.08282</c:v>
                </c:pt>
                <c:pt idx="256">
                  <c:v>0.0824</c:v>
                </c:pt>
                <c:pt idx="257">
                  <c:v>0.08098</c:v>
                </c:pt>
                <c:pt idx="258">
                  <c:v>0.08452</c:v>
                </c:pt>
                <c:pt idx="259">
                  <c:v>0.08438</c:v>
                </c:pt>
                <c:pt idx="260">
                  <c:v>0.08421</c:v>
                </c:pt>
                <c:pt idx="261">
                  <c:v>0.0816</c:v>
                </c:pt>
                <c:pt idx="262">
                  <c:v>0.07995</c:v>
                </c:pt>
                <c:pt idx="263">
                  <c:v>0.08147</c:v>
                </c:pt>
                <c:pt idx="264">
                  <c:v>0.08395</c:v>
                </c:pt>
                <c:pt idx="265">
                  <c:v>0.08518</c:v>
                </c:pt>
                <c:pt idx="266">
                  <c:v>0.08442</c:v>
                </c:pt>
                <c:pt idx="267">
                  <c:v>0.0834</c:v>
                </c:pt>
                <c:pt idx="268">
                  <c:v>0.08388</c:v>
                </c:pt>
                <c:pt idx="269">
                  <c:v>0.08378</c:v>
                </c:pt>
                <c:pt idx="270">
                  <c:v>0.08354</c:v>
                </c:pt>
                <c:pt idx="271">
                  <c:v>0.085</c:v>
                </c:pt>
                <c:pt idx="272">
                  <c:v>0.08533</c:v>
                </c:pt>
                <c:pt idx="273">
                  <c:v>0.08368</c:v>
                </c:pt>
                <c:pt idx="274">
                  <c:v>0.08217</c:v>
                </c:pt>
                <c:pt idx="275">
                  <c:v>0.08162</c:v>
                </c:pt>
                <c:pt idx="276">
                  <c:v>0.08156</c:v>
                </c:pt>
                <c:pt idx="277">
                  <c:v>0.08119</c:v>
                </c:pt>
                <c:pt idx="278">
                  <c:v>0.08227</c:v>
                </c:pt>
                <c:pt idx="279">
                  <c:v>0.08164</c:v>
                </c:pt>
                <c:pt idx="280">
                  <c:v>0.08381</c:v>
                </c:pt>
                <c:pt idx="281">
                  <c:v>0.08428</c:v>
                </c:pt>
                <c:pt idx="282">
                  <c:v>0.08458</c:v>
                </c:pt>
                <c:pt idx="283">
                  <c:v>0.0843</c:v>
                </c:pt>
                <c:pt idx="284">
                  <c:v>0.08229</c:v>
                </c:pt>
                <c:pt idx="285">
                  <c:v>0.08182</c:v>
                </c:pt>
                <c:pt idx="286">
                  <c:v>0.08274</c:v>
                </c:pt>
                <c:pt idx="287">
                  <c:v>0.0823</c:v>
                </c:pt>
                <c:pt idx="288">
                  <c:v>0.08235</c:v>
                </c:pt>
                <c:pt idx="289">
                  <c:v>0.0827</c:v>
                </c:pt>
                <c:pt idx="290">
                  <c:v>0.08151</c:v>
                </c:pt>
                <c:pt idx="291">
                  <c:v>0.08081</c:v>
                </c:pt>
              </c:numCache>
            </c:numRef>
          </c:yVal>
          <c:smooth val="0"/>
        </c:ser>
        <c:ser>
          <c:idx val="3"/>
          <c:order val="3"/>
          <c:tx>
            <c:strRef>
              <c:f>Sheet1!$B$823</c:f>
              <c:strCache>
                <c:ptCount val="1"/>
                <c:pt idx="0">
                  <c:v>FlyGM</c:v>
                </c:pt>
              </c:strCache>
            </c:strRef>
          </c:tx>
          <c:spPr>
            <a:ln w="31750">
              <a:solidFill>
                <a:srgbClr val="D55E00"/>
              </a:solidFill>
            </a:ln>
          </c:spPr>
          <c:marker>
            <c:symbol val="none"/>
          </c:marker>
          <c:xVal>
            <c:numRef>
              <c:f>Sheet1!$A$824:$A$1112</c:f>
              <c:numCache>
                <c:formatCode>General</c:formatCode>
                <c:ptCount val="289"/>
                <c:pt idx="0">
                  <c:v>0.004</c:v>
                </c:pt>
                <c:pt idx="1">
                  <c:v>0.534</c:v>
                </c:pt>
                <c:pt idx="2">
                  <c:v>0.914</c:v>
                </c:pt>
                <c:pt idx="3">
                  <c:v>1.109</c:v>
                </c:pt>
                <c:pt idx="4">
                  <c:v>1.314</c:v>
                </c:pt>
                <c:pt idx="5">
                  <c:v>1.554</c:v>
                </c:pt>
                <c:pt idx="6">
                  <c:v>1.619</c:v>
                </c:pt>
                <c:pt idx="7">
                  <c:v>1.719</c:v>
                </c:pt>
                <c:pt idx="8">
                  <c:v>1.809</c:v>
                </c:pt>
                <c:pt idx="9">
                  <c:v>1.959</c:v>
                </c:pt>
                <c:pt idx="10">
                  <c:v>1.999</c:v>
                </c:pt>
                <c:pt idx="11">
                  <c:v>2.059</c:v>
                </c:pt>
                <c:pt idx="12">
                  <c:v>2.124</c:v>
                </c:pt>
                <c:pt idx="13">
                  <c:v>2.159</c:v>
                </c:pt>
                <c:pt idx="14">
                  <c:v>2.194</c:v>
                </c:pt>
                <c:pt idx="15">
                  <c:v>2.279</c:v>
                </c:pt>
                <c:pt idx="16">
                  <c:v>2.389</c:v>
                </c:pt>
                <c:pt idx="17">
                  <c:v>2.534</c:v>
                </c:pt>
                <c:pt idx="18">
                  <c:v>2.694</c:v>
                </c:pt>
                <c:pt idx="19">
                  <c:v>2.764</c:v>
                </c:pt>
                <c:pt idx="20">
                  <c:v>2.959</c:v>
                </c:pt>
                <c:pt idx="21">
                  <c:v>3.014</c:v>
                </c:pt>
                <c:pt idx="22">
                  <c:v>3.229</c:v>
                </c:pt>
                <c:pt idx="23">
                  <c:v>3.514</c:v>
                </c:pt>
                <c:pt idx="24">
                  <c:v>3.559</c:v>
                </c:pt>
                <c:pt idx="25">
                  <c:v>3.619</c:v>
                </c:pt>
                <c:pt idx="26">
                  <c:v>3.649</c:v>
                </c:pt>
                <c:pt idx="27">
                  <c:v>3.744</c:v>
                </c:pt>
                <c:pt idx="28">
                  <c:v>3.894</c:v>
                </c:pt>
                <c:pt idx="29">
                  <c:v>4.004</c:v>
                </c:pt>
                <c:pt idx="30">
                  <c:v>4.084</c:v>
                </c:pt>
                <c:pt idx="31">
                  <c:v>4.154</c:v>
                </c:pt>
                <c:pt idx="32">
                  <c:v>4.194</c:v>
                </c:pt>
                <c:pt idx="33">
                  <c:v>4.254</c:v>
                </c:pt>
                <c:pt idx="34">
                  <c:v>4.414</c:v>
                </c:pt>
                <c:pt idx="35">
                  <c:v>4.469</c:v>
                </c:pt>
                <c:pt idx="36">
                  <c:v>4.549</c:v>
                </c:pt>
                <c:pt idx="37">
                  <c:v>4.709</c:v>
                </c:pt>
                <c:pt idx="38">
                  <c:v>4.764</c:v>
                </c:pt>
                <c:pt idx="39">
                  <c:v>4.914</c:v>
                </c:pt>
                <c:pt idx="40">
                  <c:v>4.954</c:v>
                </c:pt>
                <c:pt idx="41">
                  <c:v>4.994</c:v>
                </c:pt>
                <c:pt idx="42">
                  <c:v>5.099</c:v>
                </c:pt>
                <c:pt idx="43">
                  <c:v>5.204</c:v>
                </c:pt>
                <c:pt idx="44">
                  <c:v>5.294</c:v>
                </c:pt>
                <c:pt idx="45">
                  <c:v>5.444</c:v>
                </c:pt>
                <c:pt idx="46">
                  <c:v>5.524</c:v>
                </c:pt>
                <c:pt idx="47">
                  <c:v>5.589</c:v>
                </c:pt>
                <c:pt idx="48">
                  <c:v>5.689</c:v>
                </c:pt>
                <c:pt idx="49">
                  <c:v>5.729</c:v>
                </c:pt>
                <c:pt idx="50">
                  <c:v>5.799</c:v>
                </c:pt>
                <c:pt idx="51">
                  <c:v>5.874</c:v>
                </c:pt>
                <c:pt idx="52">
                  <c:v>5.919</c:v>
                </c:pt>
                <c:pt idx="53">
                  <c:v>6.089</c:v>
                </c:pt>
                <c:pt idx="54">
                  <c:v>6.169</c:v>
                </c:pt>
                <c:pt idx="55">
                  <c:v>6.239</c:v>
                </c:pt>
                <c:pt idx="56">
                  <c:v>6.349</c:v>
                </c:pt>
                <c:pt idx="57">
                  <c:v>6.414</c:v>
                </c:pt>
                <c:pt idx="58">
                  <c:v>6.449</c:v>
                </c:pt>
                <c:pt idx="59">
                  <c:v>6.504</c:v>
                </c:pt>
                <c:pt idx="60">
                  <c:v>6.584</c:v>
                </c:pt>
                <c:pt idx="61">
                  <c:v>6.644</c:v>
                </c:pt>
                <c:pt idx="62">
                  <c:v>6.759</c:v>
                </c:pt>
                <c:pt idx="63">
                  <c:v>6.864</c:v>
                </c:pt>
                <c:pt idx="64">
                  <c:v>6.899</c:v>
                </c:pt>
                <c:pt idx="65">
                  <c:v>7.034</c:v>
                </c:pt>
                <c:pt idx="66">
                  <c:v>7.079</c:v>
                </c:pt>
                <c:pt idx="67">
                  <c:v>7.149</c:v>
                </c:pt>
                <c:pt idx="68">
                  <c:v>7.189</c:v>
                </c:pt>
                <c:pt idx="69">
                  <c:v>7.254</c:v>
                </c:pt>
                <c:pt idx="70">
                  <c:v>7.314</c:v>
                </c:pt>
                <c:pt idx="71">
                  <c:v>7.354</c:v>
                </c:pt>
                <c:pt idx="72">
                  <c:v>7.439</c:v>
                </c:pt>
                <c:pt idx="73">
                  <c:v>7.589</c:v>
                </c:pt>
                <c:pt idx="74">
                  <c:v>7.649</c:v>
                </c:pt>
                <c:pt idx="75">
                  <c:v>7.729</c:v>
                </c:pt>
                <c:pt idx="76">
                  <c:v>7.779</c:v>
                </c:pt>
                <c:pt idx="77">
                  <c:v>7.809</c:v>
                </c:pt>
                <c:pt idx="78">
                  <c:v>7.874</c:v>
                </c:pt>
                <c:pt idx="79">
                  <c:v>7.964</c:v>
                </c:pt>
                <c:pt idx="80">
                  <c:v>8.039</c:v>
                </c:pt>
                <c:pt idx="81">
                  <c:v>8.109</c:v>
                </c:pt>
                <c:pt idx="82">
                  <c:v>8.179</c:v>
                </c:pt>
                <c:pt idx="83">
                  <c:v>8.249</c:v>
                </c:pt>
                <c:pt idx="84">
                  <c:v>8.334</c:v>
                </c:pt>
                <c:pt idx="85">
                  <c:v>8.449</c:v>
                </c:pt>
                <c:pt idx="86">
                  <c:v>8.584</c:v>
                </c:pt>
                <c:pt idx="87">
                  <c:v>8.624</c:v>
                </c:pt>
                <c:pt idx="88">
                  <c:v>8.724</c:v>
                </c:pt>
                <c:pt idx="89">
                  <c:v>8.809</c:v>
                </c:pt>
                <c:pt idx="90">
                  <c:v>8.854</c:v>
                </c:pt>
                <c:pt idx="91">
                  <c:v>8.919</c:v>
                </c:pt>
                <c:pt idx="92">
                  <c:v>8.959</c:v>
                </c:pt>
                <c:pt idx="93">
                  <c:v>9.079</c:v>
                </c:pt>
                <c:pt idx="94">
                  <c:v>9.159</c:v>
                </c:pt>
                <c:pt idx="95">
                  <c:v>9.239</c:v>
                </c:pt>
                <c:pt idx="96">
                  <c:v>9.434</c:v>
                </c:pt>
                <c:pt idx="97">
                  <c:v>9.514</c:v>
                </c:pt>
                <c:pt idx="98">
                  <c:v>9.619</c:v>
                </c:pt>
                <c:pt idx="99">
                  <c:v>9.724</c:v>
                </c:pt>
                <c:pt idx="100">
                  <c:v>9.764</c:v>
                </c:pt>
                <c:pt idx="101">
                  <c:v>9.829</c:v>
                </c:pt>
                <c:pt idx="102">
                  <c:v>9.889</c:v>
                </c:pt>
                <c:pt idx="103">
                  <c:v>10.019</c:v>
                </c:pt>
                <c:pt idx="104">
                  <c:v>10.074</c:v>
                </c:pt>
                <c:pt idx="105">
                  <c:v>10.194</c:v>
                </c:pt>
                <c:pt idx="106">
                  <c:v>10.289</c:v>
                </c:pt>
                <c:pt idx="107">
                  <c:v>10.384</c:v>
                </c:pt>
                <c:pt idx="108">
                  <c:v>10.484</c:v>
                </c:pt>
                <c:pt idx="109">
                  <c:v>10.554</c:v>
                </c:pt>
                <c:pt idx="110">
                  <c:v>10.644</c:v>
                </c:pt>
                <c:pt idx="111">
                  <c:v>10.704</c:v>
                </c:pt>
                <c:pt idx="112">
                  <c:v>10.764</c:v>
                </c:pt>
                <c:pt idx="113">
                  <c:v>10.824</c:v>
                </c:pt>
                <c:pt idx="114">
                  <c:v>10.924</c:v>
                </c:pt>
                <c:pt idx="115">
                  <c:v>10.984</c:v>
                </c:pt>
                <c:pt idx="116">
                  <c:v>11.039</c:v>
                </c:pt>
                <c:pt idx="117">
                  <c:v>11.129</c:v>
                </c:pt>
                <c:pt idx="118">
                  <c:v>11.189</c:v>
                </c:pt>
                <c:pt idx="119">
                  <c:v>11.289</c:v>
                </c:pt>
                <c:pt idx="120">
                  <c:v>11.424</c:v>
                </c:pt>
                <c:pt idx="121">
                  <c:v>11.509</c:v>
                </c:pt>
                <c:pt idx="122">
                  <c:v>11.564</c:v>
                </c:pt>
                <c:pt idx="123">
                  <c:v>11.674</c:v>
                </c:pt>
                <c:pt idx="124">
                  <c:v>11.769</c:v>
                </c:pt>
                <c:pt idx="125">
                  <c:v>11.839</c:v>
                </c:pt>
                <c:pt idx="126">
                  <c:v>11.884</c:v>
                </c:pt>
                <c:pt idx="127">
                  <c:v>11.924</c:v>
                </c:pt>
                <c:pt idx="128">
                  <c:v>12.004</c:v>
                </c:pt>
                <c:pt idx="129">
                  <c:v>12.059</c:v>
                </c:pt>
                <c:pt idx="130">
                  <c:v>12.104</c:v>
                </c:pt>
                <c:pt idx="131">
                  <c:v>12.249</c:v>
                </c:pt>
                <c:pt idx="132">
                  <c:v>12.294</c:v>
                </c:pt>
                <c:pt idx="133">
                  <c:v>12.344</c:v>
                </c:pt>
                <c:pt idx="134">
                  <c:v>12.384</c:v>
                </c:pt>
                <c:pt idx="135">
                  <c:v>12.439</c:v>
                </c:pt>
                <c:pt idx="136">
                  <c:v>12.514</c:v>
                </c:pt>
                <c:pt idx="137">
                  <c:v>12.549</c:v>
                </c:pt>
                <c:pt idx="138">
                  <c:v>12.594</c:v>
                </c:pt>
                <c:pt idx="139">
                  <c:v>12.644</c:v>
                </c:pt>
                <c:pt idx="140">
                  <c:v>12.734</c:v>
                </c:pt>
                <c:pt idx="141">
                  <c:v>12.784</c:v>
                </c:pt>
                <c:pt idx="142">
                  <c:v>12.839</c:v>
                </c:pt>
                <c:pt idx="143">
                  <c:v>12.934</c:v>
                </c:pt>
                <c:pt idx="144">
                  <c:v>13.029</c:v>
                </c:pt>
                <c:pt idx="145">
                  <c:v>13.089</c:v>
                </c:pt>
                <c:pt idx="146">
                  <c:v>13.144</c:v>
                </c:pt>
                <c:pt idx="147">
                  <c:v>13.189</c:v>
                </c:pt>
                <c:pt idx="148">
                  <c:v>13.249</c:v>
                </c:pt>
                <c:pt idx="149">
                  <c:v>13.384</c:v>
                </c:pt>
                <c:pt idx="150">
                  <c:v>13.474</c:v>
                </c:pt>
                <c:pt idx="151">
                  <c:v>13.554</c:v>
                </c:pt>
                <c:pt idx="152">
                  <c:v>13.674</c:v>
                </c:pt>
                <c:pt idx="153">
                  <c:v>13.739</c:v>
                </c:pt>
                <c:pt idx="154">
                  <c:v>13.769</c:v>
                </c:pt>
                <c:pt idx="155">
                  <c:v>13.829</c:v>
                </c:pt>
                <c:pt idx="156">
                  <c:v>13.899</c:v>
                </c:pt>
                <c:pt idx="157">
                  <c:v>13.959</c:v>
                </c:pt>
                <c:pt idx="158">
                  <c:v>14.009</c:v>
                </c:pt>
                <c:pt idx="159">
                  <c:v>14.054</c:v>
                </c:pt>
                <c:pt idx="160">
                  <c:v>14.129</c:v>
                </c:pt>
                <c:pt idx="161">
                  <c:v>14.179</c:v>
                </c:pt>
                <c:pt idx="162">
                  <c:v>14.254</c:v>
                </c:pt>
                <c:pt idx="163">
                  <c:v>14.324</c:v>
                </c:pt>
                <c:pt idx="164">
                  <c:v>14.394</c:v>
                </c:pt>
                <c:pt idx="165">
                  <c:v>14.449</c:v>
                </c:pt>
                <c:pt idx="166">
                  <c:v>14.499</c:v>
                </c:pt>
                <c:pt idx="167">
                  <c:v>14.539</c:v>
                </c:pt>
                <c:pt idx="168">
                  <c:v>14.624</c:v>
                </c:pt>
                <c:pt idx="169">
                  <c:v>14.699</c:v>
                </c:pt>
                <c:pt idx="170">
                  <c:v>14.764</c:v>
                </c:pt>
                <c:pt idx="171">
                  <c:v>14.814</c:v>
                </c:pt>
                <c:pt idx="172">
                  <c:v>14.879</c:v>
                </c:pt>
                <c:pt idx="173">
                  <c:v>14.939</c:v>
                </c:pt>
                <c:pt idx="174">
                  <c:v>14.989</c:v>
                </c:pt>
                <c:pt idx="175">
                  <c:v>15.024</c:v>
                </c:pt>
                <c:pt idx="176">
                  <c:v>15.094</c:v>
                </c:pt>
                <c:pt idx="177">
                  <c:v>15.124</c:v>
                </c:pt>
                <c:pt idx="178">
                  <c:v>15.234</c:v>
                </c:pt>
                <c:pt idx="179">
                  <c:v>15.289</c:v>
                </c:pt>
                <c:pt idx="180">
                  <c:v>15.344</c:v>
                </c:pt>
                <c:pt idx="181">
                  <c:v>15.409</c:v>
                </c:pt>
                <c:pt idx="182">
                  <c:v>15.489</c:v>
                </c:pt>
                <c:pt idx="183">
                  <c:v>15.559</c:v>
                </c:pt>
                <c:pt idx="184">
                  <c:v>15.659</c:v>
                </c:pt>
                <c:pt idx="185">
                  <c:v>15.769</c:v>
                </c:pt>
                <c:pt idx="186">
                  <c:v>15.824</c:v>
                </c:pt>
                <c:pt idx="187">
                  <c:v>15.889</c:v>
                </c:pt>
                <c:pt idx="188">
                  <c:v>15.964</c:v>
                </c:pt>
                <c:pt idx="189">
                  <c:v>16.004</c:v>
                </c:pt>
                <c:pt idx="190">
                  <c:v>16.094</c:v>
                </c:pt>
                <c:pt idx="191">
                  <c:v>16.134</c:v>
                </c:pt>
                <c:pt idx="192">
                  <c:v>16.189</c:v>
                </c:pt>
                <c:pt idx="193">
                  <c:v>16.239</c:v>
                </c:pt>
                <c:pt idx="194">
                  <c:v>16.289</c:v>
                </c:pt>
                <c:pt idx="195">
                  <c:v>16.354</c:v>
                </c:pt>
                <c:pt idx="196">
                  <c:v>16.404</c:v>
                </c:pt>
                <c:pt idx="197">
                  <c:v>16.454</c:v>
                </c:pt>
                <c:pt idx="198">
                  <c:v>16.509</c:v>
                </c:pt>
                <c:pt idx="199">
                  <c:v>16.604</c:v>
                </c:pt>
                <c:pt idx="200">
                  <c:v>16.664</c:v>
                </c:pt>
                <c:pt idx="201">
                  <c:v>16.749</c:v>
                </c:pt>
                <c:pt idx="202">
                  <c:v>16.829</c:v>
                </c:pt>
                <c:pt idx="203">
                  <c:v>16.879</c:v>
                </c:pt>
                <c:pt idx="204">
                  <c:v>16.964</c:v>
                </c:pt>
                <c:pt idx="205">
                  <c:v>17.004</c:v>
                </c:pt>
                <c:pt idx="206">
                  <c:v>17.094</c:v>
                </c:pt>
                <c:pt idx="207">
                  <c:v>17.134</c:v>
                </c:pt>
                <c:pt idx="208">
                  <c:v>17.194</c:v>
                </c:pt>
                <c:pt idx="209">
                  <c:v>17.269</c:v>
                </c:pt>
                <c:pt idx="210">
                  <c:v>17.374</c:v>
                </c:pt>
                <c:pt idx="211">
                  <c:v>17.424</c:v>
                </c:pt>
                <c:pt idx="212">
                  <c:v>17.489</c:v>
                </c:pt>
                <c:pt idx="213">
                  <c:v>17.564</c:v>
                </c:pt>
                <c:pt idx="214">
                  <c:v>17.614</c:v>
                </c:pt>
                <c:pt idx="215">
                  <c:v>17.749</c:v>
                </c:pt>
                <c:pt idx="216">
                  <c:v>17.789</c:v>
                </c:pt>
                <c:pt idx="217">
                  <c:v>17.899</c:v>
                </c:pt>
                <c:pt idx="218">
                  <c:v>17.949</c:v>
                </c:pt>
                <c:pt idx="219">
                  <c:v>18.049</c:v>
                </c:pt>
                <c:pt idx="220">
                  <c:v>18.144</c:v>
                </c:pt>
                <c:pt idx="221">
                  <c:v>18.214</c:v>
                </c:pt>
                <c:pt idx="222">
                  <c:v>18.309</c:v>
                </c:pt>
                <c:pt idx="223">
                  <c:v>18.339</c:v>
                </c:pt>
                <c:pt idx="224">
                  <c:v>18.479</c:v>
                </c:pt>
                <c:pt idx="225">
                  <c:v>18.559</c:v>
                </c:pt>
                <c:pt idx="226">
                  <c:v>18.699</c:v>
                </c:pt>
                <c:pt idx="227">
                  <c:v>18.774</c:v>
                </c:pt>
                <c:pt idx="228">
                  <c:v>18.844</c:v>
                </c:pt>
                <c:pt idx="229">
                  <c:v>18.909</c:v>
                </c:pt>
                <c:pt idx="230">
                  <c:v>18.989</c:v>
                </c:pt>
                <c:pt idx="231">
                  <c:v>19.059</c:v>
                </c:pt>
                <c:pt idx="232">
                  <c:v>19.089</c:v>
                </c:pt>
                <c:pt idx="233">
                  <c:v>19.134</c:v>
                </c:pt>
                <c:pt idx="234">
                  <c:v>19.209</c:v>
                </c:pt>
                <c:pt idx="235">
                  <c:v>19.254</c:v>
                </c:pt>
                <c:pt idx="236">
                  <c:v>19.334</c:v>
                </c:pt>
                <c:pt idx="237">
                  <c:v>19.414</c:v>
                </c:pt>
                <c:pt idx="238">
                  <c:v>19.464</c:v>
                </c:pt>
                <c:pt idx="239">
                  <c:v>19.544</c:v>
                </c:pt>
                <c:pt idx="240">
                  <c:v>19.629</c:v>
                </c:pt>
                <c:pt idx="241">
                  <c:v>19.664</c:v>
                </c:pt>
                <c:pt idx="242">
                  <c:v>19.759</c:v>
                </c:pt>
                <c:pt idx="243">
                  <c:v>19.824</c:v>
                </c:pt>
                <c:pt idx="244">
                  <c:v>19.899</c:v>
                </c:pt>
                <c:pt idx="245">
                  <c:v>19.934</c:v>
                </c:pt>
                <c:pt idx="246">
                  <c:v>19.994</c:v>
                </c:pt>
                <c:pt idx="247">
                  <c:v>20.039</c:v>
                </c:pt>
                <c:pt idx="248">
                  <c:v>20.114</c:v>
                </c:pt>
                <c:pt idx="249">
                  <c:v>20.149</c:v>
                </c:pt>
                <c:pt idx="250">
                  <c:v>20.184</c:v>
                </c:pt>
                <c:pt idx="251">
                  <c:v>20.244</c:v>
                </c:pt>
                <c:pt idx="252">
                  <c:v>20.334</c:v>
                </c:pt>
                <c:pt idx="253">
                  <c:v>20.369</c:v>
                </c:pt>
                <c:pt idx="254">
                  <c:v>20.409</c:v>
                </c:pt>
                <c:pt idx="255">
                  <c:v>20.594</c:v>
                </c:pt>
                <c:pt idx="256">
                  <c:v>20.659</c:v>
                </c:pt>
                <c:pt idx="257">
                  <c:v>20.694</c:v>
                </c:pt>
                <c:pt idx="258">
                  <c:v>20.769</c:v>
                </c:pt>
                <c:pt idx="259">
                  <c:v>20.834</c:v>
                </c:pt>
                <c:pt idx="260">
                  <c:v>20.904</c:v>
                </c:pt>
                <c:pt idx="261">
                  <c:v>20.969</c:v>
                </c:pt>
                <c:pt idx="262">
                  <c:v>21.029</c:v>
                </c:pt>
                <c:pt idx="263">
                  <c:v>21.109</c:v>
                </c:pt>
                <c:pt idx="264">
                  <c:v>21.214</c:v>
                </c:pt>
                <c:pt idx="265">
                  <c:v>21.284</c:v>
                </c:pt>
                <c:pt idx="266">
                  <c:v>21.334</c:v>
                </c:pt>
                <c:pt idx="267">
                  <c:v>21.434</c:v>
                </c:pt>
                <c:pt idx="268">
                  <c:v>21.544</c:v>
                </c:pt>
                <c:pt idx="269">
                  <c:v>21.614</c:v>
                </c:pt>
                <c:pt idx="270">
                  <c:v>21.709</c:v>
                </c:pt>
                <c:pt idx="271">
                  <c:v>21.769</c:v>
                </c:pt>
                <c:pt idx="272">
                  <c:v>21.844</c:v>
                </c:pt>
                <c:pt idx="273">
                  <c:v>21.904</c:v>
                </c:pt>
                <c:pt idx="274">
                  <c:v>21.949</c:v>
                </c:pt>
                <c:pt idx="275">
                  <c:v>21.989</c:v>
                </c:pt>
                <c:pt idx="276">
                  <c:v>22.064</c:v>
                </c:pt>
                <c:pt idx="277">
                  <c:v>22.119</c:v>
                </c:pt>
                <c:pt idx="278">
                  <c:v>22.269</c:v>
                </c:pt>
                <c:pt idx="279">
                  <c:v>22.334</c:v>
                </c:pt>
                <c:pt idx="280">
                  <c:v>22.399</c:v>
                </c:pt>
                <c:pt idx="281">
                  <c:v>22.489</c:v>
                </c:pt>
                <c:pt idx="282">
                  <c:v>22.564</c:v>
                </c:pt>
                <c:pt idx="283">
                  <c:v>22.649</c:v>
                </c:pt>
                <c:pt idx="284">
                  <c:v>22.694</c:v>
                </c:pt>
                <c:pt idx="285">
                  <c:v>22.789</c:v>
                </c:pt>
                <c:pt idx="286">
                  <c:v>22.874</c:v>
                </c:pt>
                <c:pt idx="287">
                  <c:v>22.949</c:v>
                </c:pt>
                <c:pt idx="288">
                  <c:v>22.999</c:v>
                </c:pt>
              </c:numCache>
            </c:numRef>
          </c:xVal>
          <c:yVal>
            <c:numRef>
              <c:f>Sheet1!$B$824:$B$1112</c:f>
              <c:numCache>
                <c:formatCode>General</c:formatCode>
                <c:ptCount val="289"/>
                <c:pt idx="0">
                  <c:v>3.22187</c:v>
                </c:pt>
                <c:pt idx="1">
                  <c:v>0.7218</c:v>
                </c:pt>
                <c:pt idx="2">
                  <c:v>0.33047</c:v>
                </c:pt>
                <c:pt idx="3">
                  <c:v>0.25819</c:v>
                </c:pt>
                <c:pt idx="4">
                  <c:v>0.22107</c:v>
                </c:pt>
                <c:pt idx="5">
                  <c:v>0.18566</c:v>
                </c:pt>
                <c:pt idx="6">
                  <c:v>0.18164</c:v>
                </c:pt>
                <c:pt idx="7">
                  <c:v>0.17144</c:v>
                </c:pt>
                <c:pt idx="8">
                  <c:v>0.17089</c:v>
                </c:pt>
                <c:pt idx="9">
                  <c:v>0.16126</c:v>
                </c:pt>
                <c:pt idx="10">
                  <c:v>0.15988</c:v>
                </c:pt>
                <c:pt idx="11">
                  <c:v>0.16044</c:v>
                </c:pt>
                <c:pt idx="12">
                  <c:v>0.15855</c:v>
                </c:pt>
                <c:pt idx="13">
                  <c:v>0.15873</c:v>
                </c:pt>
                <c:pt idx="14">
                  <c:v>0.16189</c:v>
                </c:pt>
                <c:pt idx="15">
                  <c:v>0.15615</c:v>
                </c:pt>
                <c:pt idx="16">
                  <c:v>0.15905</c:v>
                </c:pt>
                <c:pt idx="17">
                  <c:v>0.15078</c:v>
                </c:pt>
                <c:pt idx="18">
                  <c:v>0.14328</c:v>
                </c:pt>
                <c:pt idx="19">
                  <c:v>0.14125</c:v>
                </c:pt>
                <c:pt idx="20">
                  <c:v>0.13834</c:v>
                </c:pt>
                <c:pt idx="21">
                  <c:v>0.13836</c:v>
                </c:pt>
                <c:pt idx="22">
                  <c:v>0.13442</c:v>
                </c:pt>
                <c:pt idx="23">
                  <c:v>0.12462</c:v>
                </c:pt>
                <c:pt idx="24">
                  <c:v>0.12471</c:v>
                </c:pt>
                <c:pt idx="25">
                  <c:v>0.12239</c:v>
                </c:pt>
                <c:pt idx="26">
                  <c:v>0.12421</c:v>
                </c:pt>
                <c:pt idx="27">
                  <c:v>0.12076</c:v>
                </c:pt>
                <c:pt idx="28">
                  <c:v>0.11736</c:v>
                </c:pt>
                <c:pt idx="29">
                  <c:v>0.11594</c:v>
                </c:pt>
                <c:pt idx="30">
                  <c:v>0.11338</c:v>
                </c:pt>
                <c:pt idx="31">
                  <c:v>0.11364</c:v>
                </c:pt>
                <c:pt idx="32">
                  <c:v>0.11568</c:v>
                </c:pt>
                <c:pt idx="33">
                  <c:v>0.11325</c:v>
                </c:pt>
                <c:pt idx="34">
                  <c:v>0.11041</c:v>
                </c:pt>
                <c:pt idx="35">
                  <c:v>0.11532</c:v>
                </c:pt>
                <c:pt idx="36">
                  <c:v>0.11392</c:v>
                </c:pt>
                <c:pt idx="37">
                  <c:v>0.1079</c:v>
                </c:pt>
                <c:pt idx="38">
                  <c:v>0.10584</c:v>
                </c:pt>
                <c:pt idx="39">
                  <c:v>0.1033</c:v>
                </c:pt>
                <c:pt idx="40">
                  <c:v>0.10271</c:v>
                </c:pt>
                <c:pt idx="41">
                  <c:v>0.10526</c:v>
                </c:pt>
                <c:pt idx="42">
                  <c:v>0.10574</c:v>
                </c:pt>
                <c:pt idx="43">
                  <c:v>0.10442</c:v>
                </c:pt>
                <c:pt idx="44">
                  <c:v>0.10104</c:v>
                </c:pt>
                <c:pt idx="45">
                  <c:v>0.09788</c:v>
                </c:pt>
                <c:pt idx="46">
                  <c:v>0.09743</c:v>
                </c:pt>
                <c:pt idx="47">
                  <c:v>0.09928</c:v>
                </c:pt>
                <c:pt idx="48">
                  <c:v>0.09458</c:v>
                </c:pt>
                <c:pt idx="49">
                  <c:v>0.09629</c:v>
                </c:pt>
                <c:pt idx="50">
                  <c:v>0.09486</c:v>
                </c:pt>
                <c:pt idx="51">
                  <c:v>0.09442</c:v>
                </c:pt>
                <c:pt idx="52">
                  <c:v>0.09665</c:v>
                </c:pt>
                <c:pt idx="53">
                  <c:v>0.09568</c:v>
                </c:pt>
                <c:pt idx="54">
                  <c:v>0.09486</c:v>
                </c:pt>
                <c:pt idx="55">
                  <c:v>0.09243</c:v>
                </c:pt>
                <c:pt idx="56">
                  <c:v>0.09131</c:v>
                </c:pt>
                <c:pt idx="57">
                  <c:v>0.08949</c:v>
                </c:pt>
                <c:pt idx="58">
                  <c:v>0.09033</c:v>
                </c:pt>
                <c:pt idx="59">
                  <c:v>0.09053</c:v>
                </c:pt>
                <c:pt idx="60">
                  <c:v>0.09107</c:v>
                </c:pt>
                <c:pt idx="61">
                  <c:v>0.08943</c:v>
                </c:pt>
                <c:pt idx="62">
                  <c:v>0.08704</c:v>
                </c:pt>
                <c:pt idx="63">
                  <c:v>0.08677</c:v>
                </c:pt>
                <c:pt idx="64">
                  <c:v>0.08763</c:v>
                </c:pt>
                <c:pt idx="65">
                  <c:v>0.08893</c:v>
                </c:pt>
                <c:pt idx="66">
                  <c:v>0.08804</c:v>
                </c:pt>
                <c:pt idx="67">
                  <c:v>0.08551</c:v>
                </c:pt>
                <c:pt idx="68">
                  <c:v>0.08601</c:v>
                </c:pt>
                <c:pt idx="69">
                  <c:v>0.0849</c:v>
                </c:pt>
                <c:pt idx="70">
                  <c:v>0.08579</c:v>
                </c:pt>
                <c:pt idx="71">
                  <c:v>0.08604</c:v>
                </c:pt>
                <c:pt idx="72">
                  <c:v>0.08413</c:v>
                </c:pt>
                <c:pt idx="73">
                  <c:v>0.08198</c:v>
                </c:pt>
                <c:pt idx="74">
                  <c:v>0.08612</c:v>
                </c:pt>
                <c:pt idx="75">
                  <c:v>0.08404</c:v>
                </c:pt>
                <c:pt idx="76">
                  <c:v>0.08535</c:v>
                </c:pt>
                <c:pt idx="77">
                  <c:v>0.08569</c:v>
                </c:pt>
                <c:pt idx="78">
                  <c:v>0.08638</c:v>
                </c:pt>
                <c:pt idx="79">
                  <c:v>0.08459</c:v>
                </c:pt>
                <c:pt idx="80">
                  <c:v>0.08246</c:v>
                </c:pt>
                <c:pt idx="81">
                  <c:v>0.08302</c:v>
                </c:pt>
                <c:pt idx="82">
                  <c:v>0.08859</c:v>
                </c:pt>
                <c:pt idx="83">
                  <c:v>0.08686</c:v>
                </c:pt>
                <c:pt idx="84">
                  <c:v>0.08463</c:v>
                </c:pt>
                <c:pt idx="85">
                  <c:v>0.08215</c:v>
                </c:pt>
                <c:pt idx="86">
                  <c:v>0.07989</c:v>
                </c:pt>
                <c:pt idx="87">
                  <c:v>0.08005</c:v>
                </c:pt>
                <c:pt idx="88">
                  <c:v>0.07926</c:v>
                </c:pt>
                <c:pt idx="89">
                  <c:v>0.07926</c:v>
                </c:pt>
                <c:pt idx="90">
                  <c:v>0.08009</c:v>
                </c:pt>
                <c:pt idx="91">
                  <c:v>0.07937</c:v>
                </c:pt>
                <c:pt idx="92">
                  <c:v>0.07875</c:v>
                </c:pt>
                <c:pt idx="93">
                  <c:v>0.07567</c:v>
                </c:pt>
                <c:pt idx="94">
                  <c:v>0.0748</c:v>
                </c:pt>
                <c:pt idx="95">
                  <c:v>0.07566</c:v>
                </c:pt>
                <c:pt idx="96">
                  <c:v>0.07149</c:v>
                </c:pt>
                <c:pt idx="97">
                  <c:v>0.07047</c:v>
                </c:pt>
                <c:pt idx="98">
                  <c:v>0.06869</c:v>
                </c:pt>
                <c:pt idx="99">
                  <c:v>0.0714</c:v>
                </c:pt>
                <c:pt idx="100">
                  <c:v>0.07109</c:v>
                </c:pt>
                <c:pt idx="101">
                  <c:v>0.07273</c:v>
                </c:pt>
                <c:pt idx="102">
                  <c:v>0.07316</c:v>
                </c:pt>
                <c:pt idx="103">
                  <c:v>0.0731</c:v>
                </c:pt>
                <c:pt idx="104">
                  <c:v>0.07427</c:v>
                </c:pt>
                <c:pt idx="105">
                  <c:v>0.07406</c:v>
                </c:pt>
                <c:pt idx="106">
                  <c:v>0.07136</c:v>
                </c:pt>
                <c:pt idx="107">
                  <c:v>0.07206</c:v>
                </c:pt>
                <c:pt idx="108">
                  <c:v>0.07253</c:v>
                </c:pt>
                <c:pt idx="109">
                  <c:v>0.07168</c:v>
                </c:pt>
                <c:pt idx="110">
                  <c:v>0.06993</c:v>
                </c:pt>
                <c:pt idx="111">
                  <c:v>0.06824</c:v>
                </c:pt>
                <c:pt idx="112">
                  <c:v>0.0666</c:v>
                </c:pt>
                <c:pt idx="113">
                  <c:v>0.06695</c:v>
                </c:pt>
                <c:pt idx="114">
                  <c:v>0.06919</c:v>
                </c:pt>
                <c:pt idx="115">
                  <c:v>0.06845</c:v>
                </c:pt>
                <c:pt idx="116">
                  <c:v>0.06878</c:v>
                </c:pt>
                <c:pt idx="117">
                  <c:v>0.07038</c:v>
                </c:pt>
                <c:pt idx="118">
                  <c:v>0.06927</c:v>
                </c:pt>
                <c:pt idx="119">
                  <c:v>0.07018</c:v>
                </c:pt>
                <c:pt idx="120">
                  <c:v>0.06759</c:v>
                </c:pt>
                <c:pt idx="121">
                  <c:v>0.06673</c:v>
                </c:pt>
                <c:pt idx="122">
                  <c:v>0.06625</c:v>
                </c:pt>
                <c:pt idx="123">
                  <c:v>0.06509</c:v>
                </c:pt>
                <c:pt idx="124">
                  <c:v>0.06368</c:v>
                </c:pt>
                <c:pt idx="125">
                  <c:v>0.06407</c:v>
                </c:pt>
                <c:pt idx="126">
                  <c:v>0.06335</c:v>
                </c:pt>
                <c:pt idx="127">
                  <c:v>0.06403</c:v>
                </c:pt>
                <c:pt idx="128">
                  <c:v>0.06423</c:v>
                </c:pt>
                <c:pt idx="129">
                  <c:v>0.06477</c:v>
                </c:pt>
                <c:pt idx="130">
                  <c:v>0.06478</c:v>
                </c:pt>
                <c:pt idx="131">
                  <c:v>0.06389</c:v>
                </c:pt>
                <c:pt idx="132">
                  <c:v>0.06602</c:v>
                </c:pt>
                <c:pt idx="133">
                  <c:v>0.0663</c:v>
                </c:pt>
                <c:pt idx="134">
                  <c:v>0.06962</c:v>
                </c:pt>
                <c:pt idx="135">
                  <c:v>0.06804</c:v>
                </c:pt>
                <c:pt idx="136">
                  <c:v>0.06725</c:v>
                </c:pt>
                <c:pt idx="137">
                  <c:v>0.06782</c:v>
                </c:pt>
                <c:pt idx="138">
                  <c:v>0.06682</c:v>
                </c:pt>
                <c:pt idx="139">
                  <c:v>0.06561</c:v>
                </c:pt>
                <c:pt idx="140">
                  <c:v>0.0646</c:v>
                </c:pt>
                <c:pt idx="141">
                  <c:v>0.06484</c:v>
                </c:pt>
                <c:pt idx="142">
                  <c:v>0.06662</c:v>
                </c:pt>
                <c:pt idx="143">
                  <c:v>0.0638</c:v>
                </c:pt>
                <c:pt idx="144">
                  <c:v>0.06586</c:v>
                </c:pt>
                <c:pt idx="145">
                  <c:v>0.06505</c:v>
                </c:pt>
                <c:pt idx="146">
                  <c:v>0.06548</c:v>
                </c:pt>
                <c:pt idx="147">
                  <c:v>0.0658</c:v>
                </c:pt>
                <c:pt idx="148">
                  <c:v>0.06384</c:v>
                </c:pt>
                <c:pt idx="149">
                  <c:v>0.06098</c:v>
                </c:pt>
                <c:pt idx="150">
                  <c:v>0.05943</c:v>
                </c:pt>
                <c:pt idx="151">
                  <c:v>0.05902</c:v>
                </c:pt>
                <c:pt idx="152">
                  <c:v>0.06046</c:v>
                </c:pt>
                <c:pt idx="153">
                  <c:v>0.05961</c:v>
                </c:pt>
                <c:pt idx="154">
                  <c:v>0.06127</c:v>
                </c:pt>
                <c:pt idx="155">
                  <c:v>0.06148</c:v>
                </c:pt>
                <c:pt idx="156">
                  <c:v>0.06277</c:v>
                </c:pt>
                <c:pt idx="157">
                  <c:v>0.06162</c:v>
                </c:pt>
                <c:pt idx="158">
                  <c:v>0.06105</c:v>
                </c:pt>
                <c:pt idx="159">
                  <c:v>0.06477</c:v>
                </c:pt>
                <c:pt idx="160">
                  <c:v>0.06374</c:v>
                </c:pt>
                <c:pt idx="161">
                  <c:v>0.06378</c:v>
                </c:pt>
                <c:pt idx="162">
                  <c:v>0.06161</c:v>
                </c:pt>
                <c:pt idx="163">
                  <c:v>0.0612</c:v>
                </c:pt>
                <c:pt idx="164">
                  <c:v>0.05964</c:v>
                </c:pt>
                <c:pt idx="165">
                  <c:v>0.05926</c:v>
                </c:pt>
                <c:pt idx="166">
                  <c:v>0.05992</c:v>
                </c:pt>
                <c:pt idx="167">
                  <c:v>0.06039</c:v>
                </c:pt>
                <c:pt idx="168">
                  <c:v>0.05853</c:v>
                </c:pt>
                <c:pt idx="169">
                  <c:v>0.05875</c:v>
                </c:pt>
                <c:pt idx="170">
                  <c:v>0.05869</c:v>
                </c:pt>
                <c:pt idx="171">
                  <c:v>0.05803</c:v>
                </c:pt>
                <c:pt idx="172">
                  <c:v>0.05785</c:v>
                </c:pt>
                <c:pt idx="173">
                  <c:v>0.0578</c:v>
                </c:pt>
                <c:pt idx="174">
                  <c:v>0.05912</c:v>
                </c:pt>
                <c:pt idx="175">
                  <c:v>0.0591</c:v>
                </c:pt>
                <c:pt idx="176">
                  <c:v>0.06321</c:v>
                </c:pt>
                <c:pt idx="177">
                  <c:v>0.0629</c:v>
                </c:pt>
                <c:pt idx="178">
                  <c:v>0.06105</c:v>
                </c:pt>
                <c:pt idx="179">
                  <c:v>0.06006</c:v>
                </c:pt>
                <c:pt idx="180">
                  <c:v>0.06014</c:v>
                </c:pt>
                <c:pt idx="181">
                  <c:v>0.0582</c:v>
                </c:pt>
                <c:pt idx="182">
                  <c:v>0.05734</c:v>
                </c:pt>
                <c:pt idx="183">
                  <c:v>0.0588</c:v>
                </c:pt>
                <c:pt idx="184">
                  <c:v>0.05795</c:v>
                </c:pt>
                <c:pt idx="185">
                  <c:v>0.05693</c:v>
                </c:pt>
                <c:pt idx="186">
                  <c:v>0.05786</c:v>
                </c:pt>
                <c:pt idx="187">
                  <c:v>0.05769</c:v>
                </c:pt>
                <c:pt idx="188">
                  <c:v>0.05766</c:v>
                </c:pt>
                <c:pt idx="189">
                  <c:v>0.057</c:v>
                </c:pt>
                <c:pt idx="190">
                  <c:v>0.05566</c:v>
                </c:pt>
                <c:pt idx="191">
                  <c:v>0.05671</c:v>
                </c:pt>
                <c:pt idx="192">
                  <c:v>0.05562</c:v>
                </c:pt>
                <c:pt idx="193">
                  <c:v>0.0554</c:v>
                </c:pt>
                <c:pt idx="194">
                  <c:v>0.0551</c:v>
                </c:pt>
                <c:pt idx="195">
                  <c:v>0.05547</c:v>
                </c:pt>
                <c:pt idx="196">
                  <c:v>0.05766</c:v>
                </c:pt>
                <c:pt idx="197">
                  <c:v>0.05767</c:v>
                </c:pt>
                <c:pt idx="198">
                  <c:v>0.05867</c:v>
                </c:pt>
                <c:pt idx="199">
                  <c:v>0.05645</c:v>
                </c:pt>
                <c:pt idx="200">
                  <c:v>0.05675</c:v>
                </c:pt>
                <c:pt idx="201">
                  <c:v>0.05629</c:v>
                </c:pt>
                <c:pt idx="202">
                  <c:v>0.05502</c:v>
                </c:pt>
                <c:pt idx="203">
                  <c:v>0.05664</c:v>
                </c:pt>
                <c:pt idx="204">
                  <c:v>0.05463</c:v>
                </c:pt>
                <c:pt idx="205">
                  <c:v>0.05498</c:v>
                </c:pt>
                <c:pt idx="206">
                  <c:v>0.05391</c:v>
                </c:pt>
                <c:pt idx="207">
                  <c:v>0.05526</c:v>
                </c:pt>
                <c:pt idx="208">
                  <c:v>0.05653</c:v>
                </c:pt>
                <c:pt idx="209">
                  <c:v>0.05609</c:v>
                </c:pt>
                <c:pt idx="210">
                  <c:v>0.05343</c:v>
                </c:pt>
                <c:pt idx="211">
                  <c:v>0.05491</c:v>
                </c:pt>
                <c:pt idx="212">
                  <c:v>0.05475</c:v>
                </c:pt>
                <c:pt idx="213">
                  <c:v>0.05711</c:v>
                </c:pt>
                <c:pt idx="214">
                  <c:v>0.05643</c:v>
                </c:pt>
                <c:pt idx="215">
                  <c:v>0.05442</c:v>
                </c:pt>
                <c:pt idx="216">
                  <c:v>0.05456</c:v>
                </c:pt>
                <c:pt idx="217">
                  <c:v>0.05638</c:v>
                </c:pt>
                <c:pt idx="218">
                  <c:v>0.05609</c:v>
                </c:pt>
                <c:pt idx="219">
                  <c:v>0.05494</c:v>
                </c:pt>
                <c:pt idx="220">
                  <c:v>0.05474</c:v>
                </c:pt>
                <c:pt idx="221">
                  <c:v>0.05347</c:v>
                </c:pt>
                <c:pt idx="222">
                  <c:v>0.05259</c:v>
                </c:pt>
                <c:pt idx="223">
                  <c:v>0.05377</c:v>
                </c:pt>
                <c:pt idx="224">
                  <c:v>0.05172</c:v>
                </c:pt>
                <c:pt idx="225">
                  <c:v>0.0511</c:v>
                </c:pt>
                <c:pt idx="226">
                  <c:v>0.04934</c:v>
                </c:pt>
                <c:pt idx="227">
                  <c:v>0.05006</c:v>
                </c:pt>
                <c:pt idx="228">
                  <c:v>0.04859</c:v>
                </c:pt>
                <c:pt idx="229">
                  <c:v>0.04962</c:v>
                </c:pt>
                <c:pt idx="230">
                  <c:v>0.05032</c:v>
                </c:pt>
                <c:pt idx="231">
                  <c:v>0.05194</c:v>
                </c:pt>
                <c:pt idx="232">
                  <c:v>0.05171</c:v>
                </c:pt>
                <c:pt idx="233">
                  <c:v>0.05192</c:v>
                </c:pt>
                <c:pt idx="234">
                  <c:v>0.05337</c:v>
                </c:pt>
                <c:pt idx="235">
                  <c:v>0.05472</c:v>
                </c:pt>
                <c:pt idx="236">
                  <c:v>0.05321</c:v>
                </c:pt>
                <c:pt idx="237">
                  <c:v>0.05331</c:v>
                </c:pt>
                <c:pt idx="238">
                  <c:v>0.05367</c:v>
                </c:pt>
                <c:pt idx="239">
                  <c:v>0.05251</c:v>
                </c:pt>
                <c:pt idx="240">
                  <c:v>0.0506</c:v>
                </c:pt>
                <c:pt idx="241">
                  <c:v>0.05091</c:v>
                </c:pt>
                <c:pt idx="242">
                  <c:v>0.05193</c:v>
                </c:pt>
                <c:pt idx="243">
                  <c:v>0.05178</c:v>
                </c:pt>
                <c:pt idx="244">
                  <c:v>0.05247</c:v>
                </c:pt>
                <c:pt idx="245">
                  <c:v>0.05187</c:v>
                </c:pt>
                <c:pt idx="246">
                  <c:v>0.05138</c:v>
                </c:pt>
                <c:pt idx="247">
                  <c:v>0.05125</c:v>
                </c:pt>
                <c:pt idx="248">
                  <c:v>0.05169</c:v>
                </c:pt>
                <c:pt idx="249">
                  <c:v>0.05159</c:v>
                </c:pt>
                <c:pt idx="250">
                  <c:v>0.05254</c:v>
                </c:pt>
                <c:pt idx="251">
                  <c:v>0.0523</c:v>
                </c:pt>
                <c:pt idx="252">
                  <c:v>0.05376</c:v>
                </c:pt>
                <c:pt idx="253">
                  <c:v>0.05332</c:v>
                </c:pt>
                <c:pt idx="254">
                  <c:v>0.05325</c:v>
                </c:pt>
                <c:pt idx="255">
                  <c:v>0.04876</c:v>
                </c:pt>
                <c:pt idx="256">
                  <c:v>0.04835</c:v>
                </c:pt>
                <c:pt idx="257">
                  <c:v>0.0478</c:v>
                </c:pt>
                <c:pt idx="258">
                  <c:v>0.04907</c:v>
                </c:pt>
                <c:pt idx="259">
                  <c:v>0.05037</c:v>
                </c:pt>
                <c:pt idx="260">
                  <c:v>0.04946</c:v>
                </c:pt>
                <c:pt idx="261">
                  <c:v>0.0496</c:v>
                </c:pt>
                <c:pt idx="262">
                  <c:v>0.04939</c:v>
                </c:pt>
                <c:pt idx="263">
                  <c:v>0.04863</c:v>
                </c:pt>
                <c:pt idx="264">
                  <c:v>0.05415</c:v>
                </c:pt>
                <c:pt idx="265">
                  <c:v>0.05212</c:v>
                </c:pt>
                <c:pt idx="266">
                  <c:v>0.05245</c:v>
                </c:pt>
                <c:pt idx="267">
                  <c:v>0.05172</c:v>
                </c:pt>
                <c:pt idx="268">
                  <c:v>0.049</c:v>
                </c:pt>
                <c:pt idx="269">
                  <c:v>0.04987</c:v>
                </c:pt>
                <c:pt idx="270">
                  <c:v>0.04869</c:v>
                </c:pt>
                <c:pt idx="271">
                  <c:v>0.04888</c:v>
                </c:pt>
                <c:pt idx="272">
                  <c:v>0.04742</c:v>
                </c:pt>
                <c:pt idx="273">
                  <c:v>0.04768</c:v>
                </c:pt>
                <c:pt idx="274">
                  <c:v>0.04919</c:v>
                </c:pt>
                <c:pt idx="275">
                  <c:v>0.05135</c:v>
                </c:pt>
                <c:pt idx="276">
                  <c:v>0.05045</c:v>
                </c:pt>
                <c:pt idx="277">
                  <c:v>0.05003</c:v>
                </c:pt>
                <c:pt idx="278">
                  <c:v>0.04706</c:v>
                </c:pt>
                <c:pt idx="279">
                  <c:v>0.04639</c:v>
                </c:pt>
                <c:pt idx="280">
                  <c:v>0.04937</c:v>
                </c:pt>
                <c:pt idx="281">
                  <c:v>0.0471</c:v>
                </c:pt>
                <c:pt idx="282">
                  <c:v>0.04654</c:v>
                </c:pt>
                <c:pt idx="283">
                  <c:v>0.04587</c:v>
                </c:pt>
                <c:pt idx="284">
                  <c:v>0.04641</c:v>
                </c:pt>
                <c:pt idx="285">
                  <c:v>0.04767</c:v>
                </c:pt>
                <c:pt idx="286">
                  <c:v>0.05129</c:v>
                </c:pt>
                <c:pt idx="287">
                  <c:v>0.04989</c:v>
                </c:pt>
                <c:pt idx="288">
                  <c:v>0.04833</c:v>
                </c:pt>
              </c:numCache>
            </c:numRef>
          </c:yVal>
          <c:smooth val="0"/>
        </c:ser>
        <c:ser>
          <c:idx val="4"/>
          <c:order val="4"/>
          <c:tx>
            <c:strRef>
              <c:f>Sheet1!$B$1114</c:f>
              <c:strCache>
                <c:ptCount val="1"/>
                <c:pt idx="0">
                  <c:v>MLP final level</c:v>
                </c:pt>
              </c:strCache>
            </c:strRef>
          </c:tx>
          <c:spPr>
            <a:ln w="15875">
              <a:solidFill>
                <a:srgbClr val="0072B2"/>
              </a:solidFill>
              <a:prstDash val="dash"/>
            </a:ln>
          </c:spPr>
          <c:marker>
            <c:symbol val="none"/>
          </c:marker>
          <c:xVal>
            <c:numRef>
              <c:f>Sheet1!$A$1115:$A$1116</c:f>
              <c:numCache>
                <c:formatCode>General</c:formatCode>
                <c:ptCount val="2"/>
                <c:pt idx="0">
                  <c:v>8.91</c:v>
                </c:pt>
                <c:pt idx="1">
                  <c:v>23.0</c:v>
                </c:pt>
              </c:numCache>
            </c:numRef>
          </c:xVal>
          <c:yVal>
            <c:numRef>
              <c:f>Sheet1!$B$1115:$B$1116</c:f>
              <c:numCache>
                <c:formatCode>General</c:formatCode>
                <c:ptCount val="2"/>
                <c:pt idx="0">
                  <c:v>0.08080814166622877</c:v>
                </c:pt>
                <c:pt idx="1">
                  <c:v>0.08080814166622877</c:v>
                </c:pt>
              </c:numCache>
            </c:numRef>
          </c:yVal>
          <c:smooth val="0"/>
        </c:ser>
        <c:ser>
          <c:idx val="5"/>
          <c:order val="5"/>
          <c:tx>
            <c:strRef>
              <c:f>Sheet1!$B$1118</c:f>
              <c:strCache>
                <c:ptCount val="1"/>
                <c:pt idx="0">
                  <c:v>FlyGM reaches it</c:v>
                </c:pt>
              </c:strCache>
            </c:strRef>
          </c:tx>
          <c:spPr>
            <a:ln>
              <a:noFill/>
            </a:ln>
          </c:spPr>
          <c:marker>
            <c:symbol val="circle"/>
            <c:size val="8"/>
            <c:spPr>
              <a:solidFill>
                <a:srgbClr val="FFFFFF"/>
              </a:solidFill>
              <a:ln w="25400">
                <a:solidFill>
                  <a:srgbClr val="D55E00"/>
                </a:solidFill>
              </a:ln>
            </c:spPr>
          </c:marker>
          <c:xVal>
            <c:numRef>
              <c:f>Sheet1!$A$1119:$A$1119</c:f>
              <c:numCache>
                <c:formatCode>General</c:formatCode>
                <c:ptCount val="1"/>
                <c:pt idx="0">
                  <c:v>8.91</c:v>
                </c:pt>
              </c:numCache>
            </c:numRef>
          </c:xVal>
          <c:yVal>
            <c:numRef>
              <c:f>Sheet1!$B$1119:$B$1119</c:f>
              <c:numCache>
                <c:formatCode>General</c:formatCode>
                <c:ptCount val="1"/>
                <c:pt idx="0">
                  <c:v>0.08080814166622877</c:v>
                </c:pt>
              </c:numCache>
            </c:numRef>
          </c:yVal>
          <c:smooth val="0"/>
        </c:ser>
        <c:axId val="-2128940872"/>
        <c:axId val="-2129643912"/>
      </c:scatterChart>
      <c:valAx>
        <c:axId val="-2128940872"/>
        <c:scaling>
          <c:orientation val="minMax"/>
          <c:max val="23.0"/>
          <c:min val="0.0"/>
        </c:scaling>
        <c:delete val="0"/>
        <c:axPos val="b"/>
        <c:title>
          <c:tx>
            <c:rich>
              <a:bodyPr/>
              <a:lstStyle/>
              <a:p>
                <a:r>
                  <a:rPr sz="900" b="0">
                    <a:solidFill>
                      <a:srgbClr val="7A7387"/>
                    </a:solidFill>
                    <a:latin typeface="Arial"/>
                  </a:rPr>
                  <a:t>Gradient updates (×10³)</a:t>
                </a:r>
              </a:p>
            </c:rich>
          </c:tx>
          <c:layout/>
          <c:overlay val="0"/>
        </c:title>
        <c:numFmt formatCode="0" sourceLinked="0"/>
        <c:majorTickMark val="none"/>
        <c:minorTickMark val="none"/>
        <c:tickLblPos val="nextTo"/>
        <c:spPr>
          <a:ln w="9525">
            <a:solidFill>
              <a:srgbClr val="B9B1C6"/>
            </a:solidFill>
          </a:ln>
        </c:spPr>
        <c:txPr>
          <a:bodyPr/>
          <a:lstStyle/>
          <a:p>
            <a:pPr>
              <a:defRPr sz="900">
                <a:solidFill>
                  <a:srgbClr val="7A7387"/>
                </a:solidFill>
                <a:latin typeface="Arial"/>
              </a:defRPr>
            </a:pPr>
          </a:p>
        </c:txPr>
        <c:crossAx val="-2129643912"/>
        <c:crosses val="autoZero"/>
        <c:crossBetween val="midCat"/>
        <c:majorUnit val="5.0"/>
      </c:valAx>
      <c:valAx>
        <c:axId val="-2129643912"/>
        <c:scaling>
          <c:logBase val="10"/>
          <c:orientation val="minMax"/>
          <c:max val="4.0"/>
          <c:min val="0.04"/>
        </c:scaling>
        <c:delete val="0"/>
        <c:axPos val="l"/>
        <c:majorGridlines>
          <c:spPr>
            <a:ln w="9525">
              <a:solidFill>
                <a:srgbClr val="E2DCEA"/>
              </a:solidFill>
            </a:ln>
          </c:spPr>
        </c:majorGridlines>
        <c:title>
          <c:tx>
            <c:rich>
              <a:bodyPr/>
              <a:lstStyle/>
              <a:p>
                <a:r>
                  <a:rPr sz="900" b="0">
                    <a:solidFill>
                      <a:srgbClr val="7A7387"/>
                    </a:solidFill>
                    <a:latin typeface="Arial"/>
                  </a:rPr>
                  <a:t>Action-mean MSE (log)</a:t>
                </a:r>
              </a:p>
            </c:rich>
          </c:tx>
          <c:layout/>
          <c:overlay val="0"/>
        </c:title>
        <c:numFmt formatCode="0.0#" sourceLinked="0"/>
        <c:majorTickMark val="none"/>
        <c:minorTickMark val="none"/>
        <c:tickLblPos val="nextTo"/>
        <c:spPr>
          <a:ln>
            <a:noFill/>
          </a:ln>
        </c:spPr>
        <c:txPr>
          <a:bodyPr/>
          <a:lstStyle/>
          <a:p>
            <a:pPr>
              <a:defRPr sz="900">
                <a:solidFill>
                  <a:srgbClr val="7A7387"/>
                </a:solidFill>
                <a:latin typeface="Arial"/>
              </a:defRPr>
            </a:pPr>
          </a:p>
        </c:txPr>
        <c:crossAx val="-2128940872"/>
        <c:crosses val="autoZero"/>
        <c:crossBetween val="midCat"/>
      </c:valAx>
      <c:spPr>
        <a:noFill/>
        <a:ln>
          <a:noFill/>
        </a:ln>
      </c:spPr>
    </c:plotArea>
    <c:plotVisOnly val="1"/>
    <c:dispBlanksAs val="gap"/>
    <c:showDLblsOverMax val="0"/>
  </c:chart>
  <c:spPr>
    <a:noFill/>
    <a:ln>
      <a:noFill/>
    </a:ln>
  </c:spPr>
  <c:txPr>
    <a:bodyPr/>
    <a:lstStyle/>
    <a:p>
      <a:pPr>
        <a:defRPr sz="900">
          <a:solidFill>
            <a:srgbClr val="7A7387"/>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9"/>
          <c:y val="0.1"/>
          <c:w val="0.89"/>
          <c:h val="0.74"/>
        </c:manualLayout>
      </c:layout>
      <c:barChart>
        <c:barDir val="col"/>
        <c:grouping val="clustered"/>
        <c:ser>
          <c:idx val="0"/>
          <c:order val="0"/>
          <c:tx>
            <c:strRef>
              <c:f>Sheet1!$B$1</c:f>
              <c:strCache>
                <c:ptCount val="1"/>
                <c:pt idx="0">
                  <c:v>FlyGM</c:v>
                </c:pt>
              </c:strCache>
            </c:strRef>
          </c:tx>
          <c:spPr>
            <a:solidFill>
              <a:srgbClr val="D55E00"/>
            </a:solidFill>
            <a:ln>
              <a:noFill/>
            </a:ln>
          </c:spPr>
          <c:invertIfNegative val="0"/>
          <c:dLbls>
            <c:dLbl>
              <c:idx val="0"/>
              <c:tx>
                <c:rich>
                  <a:bodyPr/>
                  <a:lstStyle/>
                  <a:p>
                    <a:r>
                      <a:rPr sz="850" b="1">
                        <a:solidFill>
                          <a:srgbClr val="D55E00"/>
                        </a:solidFill>
                        <a:latin typeface="Arial"/>
                      </a:rPr>
                      <a:t>5.0</a:t>
                    </a:r>
                  </a:p>
                </c:rich>
              </c:tx>
              <c:dLblPos val="outEnd"/>
              <c:showLegendKey val="0"/>
              <c:showVal val="1"/>
              <c:showCatName val="0"/>
              <c:showSerName val="0"/>
              <c:showPercent val="0"/>
              <c:showBubbleSize val="0"/>
            </c:dLbl>
            <c:dLbl>
              <c:idx val="1"/>
              <c:tx>
                <c:rich>
                  <a:bodyPr/>
                  <a:lstStyle/>
                  <a:p>
                    <a:r>
                      <a:rPr sz="850" b="1">
                        <a:solidFill>
                          <a:srgbClr val="D55E00"/>
                        </a:solidFill>
                        <a:latin typeface="Arial"/>
                      </a:rPr>
                      <a:t>5.6</a:t>
                    </a:r>
                  </a:p>
                </c:rich>
              </c:tx>
              <c:dLblPos val="outEnd"/>
              <c:showLegendKey val="0"/>
              <c:showVal val="1"/>
              <c:showCatName val="0"/>
              <c:showSerName val="0"/>
              <c:showPercent val="0"/>
              <c:showBubbleSize val="0"/>
            </c:dLbl>
            <c:dLbl>
              <c:idx val="2"/>
              <c:tx>
                <c:rich>
                  <a:bodyPr/>
                  <a:lstStyle/>
                  <a:p>
                    <a:r>
                      <a:rPr sz="850" b="1">
                        <a:solidFill>
                          <a:srgbClr val="D55E00"/>
                        </a:solidFill>
                        <a:latin typeface="Arial"/>
                      </a:rPr>
                      <a:t>6.4</a:t>
                    </a:r>
                  </a:p>
                </c:rich>
              </c:tx>
              <c:dLblPos val="outEnd"/>
              <c:showLegendKey val="0"/>
              <c:showVal val="1"/>
              <c:showCatName val="0"/>
              <c:showSerName val="0"/>
              <c:showPercent val="0"/>
              <c:showBubbleSize val="0"/>
            </c:dLbl>
            <c:dLbl>
              <c:idx val="3"/>
              <c:tx>
                <c:rich>
                  <a:bodyPr/>
                  <a:lstStyle/>
                  <a:p>
                    <a:r>
                      <a:rPr sz="850" b="1">
                        <a:solidFill>
                          <a:srgbClr val="D55E00"/>
                        </a:solidFill>
                        <a:latin typeface="Arial"/>
                      </a:rPr>
                      <a:t>8.3</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v=2, ψ=0</c:v>
                </c:pt>
                <c:pt idx="1">
                  <c:v>v=3, ψ=0</c:v>
                </c:pt>
                <c:pt idx="2">
                  <c:v>v=3, ψ=4</c:v>
                </c:pt>
                <c:pt idx="3">
                  <c:v>v=3, ψ=7</c:v>
                </c:pt>
              </c:strCache>
            </c:strRef>
          </c:cat>
          <c:val>
            <c:numRef>
              <c:f>Sheet1!$B$2:$B$5</c:f>
              <c:numCache>
                <c:formatCode>General</c:formatCode>
                <c:ptCount val="4"/>
                <c:pt idx="0">
                  <c:v>4.96</c:v>
                </c:pt>
                <c:pt idx="1">
                  <c:v>5.57</c:v>
                </c:pt>
                <c:pt idx="2">
                  <c:v>6.36</c:v>
                </c:pt>
                <c:pt idx="3">
                  <c:v>8.29</c:v>
                </c:pt>
              </c:numCache>
            </c:numRef>
          </c:val>
        </c:ser>
        <c:ser>
          <c:idx val="1"/>
          <c:order val="1"/>
          <c:tx>
            <c:strRef>
              <c:f>Sheet1!$C$1</c:f>
              <c:strCache>
                <c:ptCount val="1"/>
                <c:pt idx="0">
                  <c:v>DP-Rewired</c:v>
                </c:pt>
              </c:strCache>
            </c:strRef>
          </c:tx>
          <c:spPr>
            <a:solidFill>
              <a:srgbClr val="009E73"/>
            </a:solidFill>
            <a:ln>
              <a:noFill/>
            </a:ln>
          </c:spPr>
          <c:invertIfNegative val="0"/>
          <c:cat>
            <c:strRef>
              <c:f>Sheet1!$A$2:$A$5</c:f>
              <c:strCache>
                <c:ptCount val="4"/>
                <c:pt idx="0">
                  <c:v>v=2, ψ=0</c:v>
                </c:pt>
                <c:pt idx="1">
                  <c:v>v=3, ψ=0</c:v>
                </c:pt>
                <c:pt idx="2">
                  <c:v>v=3, ψ=4</c:v>
                </c:pt>
                <c:pt idx="3">
                  <c:v>v=3, ψ=7</c:v>
                </c:pt>
              </c:strCache>
            </c:strRef>
          </c:cat>
          <c:val>
            <c:numRef>
              <c:f>Sheet1!$C$2:$C$5</c:f>
              <c:numCache>
                <c:formatCode>General</c:formatCode>
                <c:ptCount val="4"/>
                <c:pt idx="0">
                  <c:v>7.84</c:v>
                </c:pt>
                <c:pt idx="1">
                  <c:v>7.77</c:v>
                </c:pt>
                <c:pt idx="2">
                  <c:v>9.72</c:v>
                </c:pt>
                <c:pt idx="3">
                  <c:v>13.55</c:v>
                </c:pt>
              </c:numCache>
            </c:numRef>
          </c:val>
        </c:ser>
        <c:ser>
          <c:idx val="2"/>
          <c:order val="2"/>
          <c:tx>
            <c:strRef>
              <c:f>Sheet1!$D$1</c:f>
              <c:strCache>
                <c:ptCount val="1"/>
                <c:pt idx="0">
                  <c:v>ER-Random</c:v>
                </c:pt>
              </c:strCache>
            </c:strRef>
          </c:tx>
          <c:spPr>
            <a:solidFill>
              <a:srgbClr val="666666"/>
            </a:solidFill>
            <a:ln>
              <a:noFill/>
            </a:ln>
          </c:spPr>
          <c:invertIfNegative val="0"/>
          <c:cat>
            <c:strRef>
              <c:f>Sheet1!$A$2:$A$5</c:f>
              <c:strCache>
                <c:ptCount val="4"/>
                <c:pt idx="0">
                  <c:v>v=2, ψ=0</c:v>
                </c:pt>
                <c:pt idx="1">
                  <c:v>v=3, ψ=0</c:v>
                </c:pt>
                <c:pt idx="2">
                  <c:v>v=3, ψ=4</c:v>
                </c:pt>
                <c:pt idx="3">
                  <c:v>v=3, ψ=7</c:v>
                </c:pt>
              </c:strCache>
            </c:strRef>
          </c:cat>
          <c:val>
            <c:numRef>
              <c:f>Sheet1!$D$2:$D$5</c:f>
              <c:numCache>
                <c:formatCode>General</c:formatCode>
                <c:ptCount val="4"/>
                <c:pt idx="0">
                  <c:v>12.11</c:v>
                </c:pt>
                <c:pt idx="1">
                  <c:v>11.33</c:v>
                </c:pt>
                <c:pt idx="2">
                  <c:v>17.45</c:v>
                </c:pt>
                <c:pt idx="3">
                  <c:v>125.36</c:v>
                </c:pt>
              </c:numCache>
            </c:numRef>
          </c:val>
        </c:ser>
        <c:ser>
          <c:idx val="3"/>
          <c:order val="3"/>
          <c:tx>
            <c:strRef>
              <c:f>Sheet1!$E$1</c:f>
              <c:strCache>
                <c:ptCount val="1"/>
                <c:pt idx="0">
                  <c:v>MLP</c:v>
                </c:pt>
              </c:strCache>
            </c:strRef>
          </c:tx>
          <c:spPr>
            <a:solidFill>
              <a:srgbClr val="0072B2"/>
            </a:solidFill>
            <a:ln>
              <a:noFill/>
            </a:ln>
          </c:spPr>
          <c:invertIfNegative val="0"/>
          <c:cat>
            <c:strRef>
              <c:f>Sheet1!$A$2:$A$5</c:f>
              <c:strCache>
                <c:ptCount val="4"/>
                <c:pt idx="0">
                  <c:v>v=2, ψ=0</c:v>
                </c:pt>
                <c:pt idx="1">
                  <c:v>v=3, ψ=0</c:v>
                </c:pt>
                <c:pt idx="2">
                  <c:v>v=3, ψ=4</c:v>
                </c:pt>
                <c:pt idx="3">
                  <c:v>v=3, ψ=7</c:v>
                </c:pt>
              </c:strCache>
            </c:strRef>
          </c:cat>
          <c:val>
            <c:numRef>
              <c:f>Sheet1!$E$2:$E$5</c:f>
              <c:numCache>
                <c:formatCode>General</c:formatCode>
                <c:ptCount val="4"/>
                <c:pt idx="0">
                  <c:v>6.76</c:v>
                </c:pt>
                <c:pt idx="1">
                  <c:v>7.18</c:v>
                </c:pt>
                <c:pt idx="2">
                  <c:v>8.85</c:v>
                </c:pt>
                <c:pt idx="3">
                  <c:v>13.9</c:v>
                </c:pt>
              </c:numCache>
            </c:numRef>
          </c:val>
        </c:ser>
        <c:gapWidth val="55"/>
        <c:axId val="-2068027336"/>
        <c:axId val="-2113994440"/>
      </c:barChart>
      <c:catAx>
        <c:axId val="-2068027336"/>
        <c:scaling>
          <c:orientation val="minMax"/>
        </c:scaling>
        <c:delete val="0"/>
        <c:axPos val="b"/>
        <c:majorTickMark val="none"/>
        <c:minorTickMark val="none"/>
        <c:tickLblPos val="nextTo"/>
        <c:spPr>
          <a:ln w="9525">
            <a:solidFill>
              <a:srgbClr val="B9B1C6"/>
            </a:solidFill>
          </a:ln>
        </c:spPr>
        <c:txPr>
          <a:bodyPr/>
          <a:lstStyle/>
          <a:p>
            <a:pPr>
              <a:defRPr sz="900">
                <a:solidFill>
                  <a:srgbClr val="7A7387"/>
                </a:solidFill>
                <a:latin typeface="Arial"/>
              </a:defRPr>
            </a:pPr>
          </a:p>
        </c:txPr>
        <c:crossAx val="-2113994440"/>
        <c:crosses val="autoZero"/>
        <c:auto val="1"/>
        <c:lblAlgn val="ctr"/>
        <c:lblOffset val="100"/>
        <c:noMultiLvlLbl val="0"/>
      </c:catAx>
      <c:valAx>
        <c:axId val="-2113994440"/>
        <c:scaling>
          <c:max val="20.0"/>
          <c:min val="0.0"/>
        </c:scaling>
        <c:delete val="0"/>
        <c:axPos val="l"/>
        <c:majorGridlines>
          <c:spPr>
            <a:ln w="9525">
              <a:solidFill>
                <a:srgbClr val="E2DCEA"/>
              </a:solidFill>
            </a:ln>
          </c:spPr>
        </c:majorGridlines>
        <c:numFmt formatCode="0" sourceLinked="0"/>
        <c:majorTickMark val="none"/>
        <c:minorTickMark val="none"/>
        <c:tickLblPos val="nextTo"/>
        <c:spPr>
          <a:ln>
            <a:noFill/>
          </a:ln>
        </c:spPr>
        <c:txPr>
          <a:bodyPr/>
          <a:lstStyle/>
          <a:p>
            <a:pPr>
              <a:defRPr sz="900">
                <a:solidFill>
                  <a:srgbClr val="7A7387"/>
                </a:solidFill>
                <a:latin typeface="Arial"/>
              </a:defRPr>
            </a:pPr>
          </a:p>
        </c:txPr>
        <c:crossAx val="-2068027336"/>
        <c:crosses val="autoZero"/>
        <c:majorUnit val="5.0"/>
      </c:valAx>
      <c:spPr>
        <a:noFill/>
        <a:ln>
          <a:noFill/>
        </a:ln>
      </c:spPr>
    </c:plotArea>
    <c:dispBlanksAs val="gap"/>
  </c:chart>
  <c:spPr>
    <a:noFill/>
    <a:ln>
      <a:noFill/>
    </a:ln>
  </c:spPr>
  <c:txPr>
    <a:bodyPr/>
    <a:lstStyle/>
    <a:p>
      <a:pPr>
        <a:defRPr sz="900">
          <a:solidFill>
            <a:srgbClr val="7A7387"/>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2"/>
          <c:y val="0.03"/>
          <c:w val="0.66"/>
          <c:h val="0.84"/>
        </c:manualLayout>
      </c:layout>
      <c:barChart>
        <c:barDir val="bar"/>
        <c:grouping val="clustered"/>
        <c:ser>
          <c:idx val="0"/>
          <c:order val="0"/>
          <c:tx>
            <c:strRef>
              <c:f>Sheet1!$B$1</c:f>
              <c:strCache>
                <c:ptCount val="1"/>
                <c:pt idx="0">
                  <c:v>Reward</c:v>
                </c:pt>
              </c:strCache>
            </c:strRef>
          </c:tx>
          <c:spPr>
            <a:ln>
              <a:noFill/>
            </a:ln>
          </c:spPr>
          <c:dPt>
            <c:idx val="0"/>
            <c:spPr>
              <a:solidFill>
                <a:srgbClr val="B9B1C6"/>
              </a:solidFill>
            </c:spPr>
          </c:dPt>
          <c:dPt>
            <c:idx val="1"/>
            <c:spPr>
              <a:solidFill>
                <a:srgbClr val="B9B1C6"/>
              </a:solidFill>
            </c:spPr>
          </c:dPt>
          <c:dPt>
            <c:idx val="2"/>
            <c:spPr>
              <a:solidFill>
                <a:srgbClr val="B9B1C6"/>
              </a:solidFill>
            </c:spPr>
          </c:dPt>
          <c:dPt>
            <c:idx val="3"/>
            <c:spPr>
              <a:solidFill>
                <a:srgbClr val="B9B1C6"/>
              </a:solidFill>
            </c:spPr>
          </c:dPt>
          <c:dPt>
            <c:idx val="4"/>
            <c:spPr>
              <a:solidFill>
                <a:srgbClr val="B9B1C6"/>
              </a:solidFill>
            </c:spPr>
          </c:dPt>
          <c:dPt>
            <c:idx val="5"/>
            <c:spPr>
              <a:solidFill>
                <a:srgbClr val="D55E00"/>
              </a:solidFill>
            </c:spPr>
          </c:dPt>
          <c:dLbls>
            <c:dLbl>
              <c:idx val="0"/>
              <c:tx>
                <c:rich>
                  <a:bodyPr/>
                  <a:lstStyle/>
                  <a:p>
                    <a:r>
                      <a:rPr sz="900" b="0">
                        <a:solidFill>
                          <a:srgbClr val="7A7387"/>
                        </a:solidFill>
                        <a:latin typeface="Arial"/>
                      </a:rPr>
                      <a:t>43</a:t>
                    </a:r>
                  </a:p>
                </c:rich>
              </c:tx>
              <c:dLblPos val="outEnd"/>
              <c:showLegendKey val="0"/>
              <c:showVal val="1"/>
              <c:showCatName val="0"/>
              <c:showSerName val="0"/>
              <c:showPercent val="0"/>
              <c:showBubbleSize val="0"/>
            </c:dLbl>
            <c:dLbl>
              <c:idx val="1"/>
              <c:tx>
                <c:rich>
                  <a:bodyPr/>
                  <a:lstStyle/>
                  <a:p>
                    <a:r>
                      <a:rPr sz="900" b="0">
                        <a:solidFill>
                          <a:srgbClr val="7A7387"/>
                        </a:solidFill>
                        <a:latin typeface="Arial"/>
                      </a:rPr>
                      <a:t>90</a:t>
                    </a:r>
                  </a:p>
                </c:rich>
              </c:tx>
              <c:dLblPos val="outEnd"/>
              <c:showLegendKey val="0"/>
              <c:showVal val="1"/>
              <c:showCatName val="0"/>
              <c:showSerName val="0"/>
              <c:showPercent val="0"/>
              <c:showBubbleSize val="0"/>
            </c:dLbl>
            <c:dLbl>
              <c:idx val="2"/>
              <c:tx>
                <c:rich>
                  <a:bodyPr/>
                  <a:lstStyle/>
                  <a:p>
                    <a:r>
                      <a:rPr sz="900" b="0">
                        <a:solidFill>
                          <a:srgbClr val="7A7387"/>
                        </a:solidFill>
                        <a:latin typeface="Arial"/>
                      </a:rPr>
                      <a:t>126</a:t>
                    </a:r>
                  </a:p>
                </c:rich>
              </c:tx>
              <c:dLblPos val="outEnd"/>
              <c:showLegendKey val="0"/>
              <c:showVal val="1"/>
              <c:showCatName val="0"/>
              <c:showSerName val="0"/>
              <c:showPercent val="0"/>
              <c:showBubbleSize val="0"/>
            </c:dLbl>
            <c:dLbl>
              <c:idx val="3"/>
              <c:tx>
                <c:rich>
                  <a:bodyPr/>
                  <a:lstStyle/>
                  <a:p>
                    <a:r>
                      <a:rPr sz="900" b="0">
                        <a:solidFill>
                          <a:srgbClr val="7A7387"/>
                        </a:solidFill>
                        <a:latin typeface="Arial"/>
                      </a:rPr>
                      <a:t>133</a:t>
                    </a:r>
                  </a:p>
                </c:rich>
              </c:tx>
              <c:dLblPos val="outEnd"/>
              <c:showLegendKey val="0"/>
              <c:showVal val="1"/>
              <c:showCatName val="0"/>
              <c:showSerName val="0"/>
              <c:showPercent val="0"/>
              <c:showBubbleSize val="0"/>
            </c:dLbl>
            <c:dLbl>
              <c:idx val="4"/>
              <c:tx>
                <c:rich>
                  <a:bodyPr/>
                  <a:lstStyle/>
                  <a:p>
                    <a:r>
                      <a:rPr sz="900" b="0">
                        <a:solidFill>
                          <a:srgbClr val="7A7387"/>
                        </a:solidFill>
                        <a:latin typeface="Arial"/>
                      </a:rPr>
                      <a:t>145</a:t>
                    </a:r>
                  </a:p>
                </c:rich>
              </c:tx>
              <c:dLblPos val="outEnd"/>
              <c:showLegendKey val="0"/>
              <c:showVal val="1"/>
              <c:showCatName val="0"/>
              <c:showSerName val="0"/>
              <c:showPercent val="0"/>
              <c:showBubbleSize val="0"/>
            </c:dLbl>
            <c:dLbl>
              <c:idx val="5"/>
              <c:tx>
                <c:rich>
                  <a:bodyPr/>
                  <a:lstStyle/>
                  <a:p>
                    <a:r>
                      <a:rPr sz="900" b="1">
                        <a:solidFill>
                          <a:srgbClr val="D55E00"/>
                        </a:solidFill>
                        <a:latin typeface="Arial"/>
                      </a:rPr>
                      <a:t>334</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GCN</c:v>
                </c:pt>
                <c:pt idx="1">
                  <c:v>EdgeCNN</c:v>
                </c:pt>
                <c:pt idx="2">
                  <c:v>GraphSAGE</c:v>
                </c:pt>
                <c:pt idx="3">
                  <c:v>GAT</c:v>
                </c:pt>
                <c:pt idx="4">
                  <c:v>PNA</c:v>
                </c:pt>
                <c:pt idx="5">
                  <c:v>FlyGM</c:v>
                </c:pt>
              </c:strCache>
            </c:strRef>
          </c:cat>
          <c:val>
            <c:numRef>
              <c:f>Sheet1!$B$2:$B$7</c:f>
              <c:numCache>
                <c:formatCode>General</c:formatCode>
                <c:ptCount val="6"/>
                <c:pt idx="0">
                  <c:v>43.13</c:v>
                </c:pt>
                <c:pt idx="1">
                  <c:v>90.48</c:v>
                </c:pt>
                <c:pt idx="2">
                  <c:v>125.55</c:v>
                </c:pt>
                <c:pt idx="3">
                  <c:v>132.65</c:v>
                </c:pt>
                <c:pt idx="4">
                  <c:v>145.33</c:v>
                </c:pt>
                <c:pt idx="5">
                  <c:v>334.34</c:v>
                </c:pt>
              </c:numCache>
            </c:numRef>
          </c:val>
        </c:ser>
        <c:gapWidth val="45"/>
        <c:axId val="-2068027336"/>
        <c:axId val="-2113994440"/>
      </c:barChart>
      <c:catAx>
        <c:axId val="-2068027336"/>
        <c:scaling>
          <c:orientation val="minMax"/>
        </c:scaling>
        <c:delete val="0"/>
        <c:axPos val="l"/>
        <c:majorTickMark val="none"/>
        <c:minorTickMark val="none"/>
        <c:tickLblPos val="nextTo"/>
        <c:spPr>
          <a:ln w="9525">
            <a:solidFill>
              <a:srgbClr val="B9B1C6"/>
            </a:solidFill>
          </a:ln>
        </c:spPr>
        <c:txPr>
          <a:bodyPr/>
          <a:lstStyle/>
          <a:p>
            <a:pPr>
              <a:defRPr sz="1000">
                <a:solidFill>
                  <a:srgbClr val="1F1A2E"/>
                </a:solidFill>
                <a:latin typeface="Arial"/>
              </a:defRPr>
            </a:pPr>
          </a:p>
        </c:txPr>
        <c:crossAx val="-2113994440"/>
        <c:crosses val="autoZero"/>
        <c:auto val="1"/>
        <c:lblAlgn val="ctr"/>
        <c:lblOffset val="100"/>
        <c:noMultiLvlLbl val="0"/>
      </c:catAx>
      <c:valAx>
        <c:axId val="-2113994440"/>
        <c:scaling>
          <c:max val="350.0"/>
          <c:min val="0.0"/>
        </c:scaling>
        <c:delete val="0"/>
        <c:axPos val="b"/>
        <c:majorGridlines>
          <c:spPr>
            <a:ln w="9525">
              <a:solidFill>
                <a:srgbClr val="E2DCEA"/>
              </a:solidFill>
            </a:ln>
          </c:spPr>
        </c:majorGridlines>
        <c:numFmt formatCode="0" sourceLinked="0"/>
        <c:majorTickMark val="none"/>
        <c:minorTickMark val="none"/>
        <c:tickLblPos val="nextTo"/>
        <c:spPr>
          <a:ln>
            <a:noFill/>
          </a:ln>
        </c:spPr>
        <c:txPr>
          <a:bodyPr/>
          <a:lstStyle/>
          <a:p>
            <a:pPr>
              <a:defRPr sz="900">
                <a:solidFill>
                  <a:srgbClr val="7A7387"/>
                </a:solidFill>
                <a:latin typeface="Arial"/>
              </a:defRPr>
            </a:pPr>
          </a:p>
        </c:txPr>
        <c:crossAx val="-2068027336"/>
        <c:crosses val="autoZero"/>
        <c:majorUnit val="100.0"/>
      </c:valAx>
      <c:spPr>
        <a:noFill/>
        <a:ln>
          <a:noFill/>
        </a:ln>
      </c:spPr>
    </c:plotArea>
    <c:dispBlanksAs val="gap"/>
  </c:chart>
  <c:spPr>
    <a:noFill/>
    <a:ln>
      <a:noFill/>
    </a:ln>
  </c:spPr>
  <c:txPr>
    <a:bodyPr/>
    <a:lstStyle/>
    <a:p>
      <a:pPr>
        <a:defRPr sz="900">
          <a:solidFill>
            <a:srgbClr val="7A7387"/>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42"/>
          <c:y val="0.02"/>
          <c:w val="0.46"/>
          <c:h val="0.86"/>
        </c:manualLayout>
      </c:layout>
      <c:barChart>
        <c:barDir val="bar"/>
        <c:grouping val="clustered"/>
        <c:ser>
          <c:idx val="0"/>
          <c:order val="0"/>
          <c:tx>
            <c:strRef>
              <c:f>Sheet1!$B$1</c:f>
              <c:strCache>
                <c:ptCount val="1"/>
                <c:pt idx="0">
                  <c:v>Angle error</c:v>
                </c:pt>
              </c:strCache>
            </c:strRef>
          </c:tx>
          <c:spPr>
            <a:ln>
              <a:noFill/>
            </a:ln>
          </c:spPr>
          <c:dPt>
            <c:idx val="0"/>
            <c:spPr>
              <a:solidFill>
                <a:srgbClr val="0072B2"/>
              </a:solidFill>
            </c:spPr>
          </c:dPt>
          <c:dPt>
            <c:idx val="1"/>
            <c:spPr>
              <a:solidFill>
                <a:srgbClr val="009E73"/>
              </a:solidFill>
            </c:spPr>
          </c:dPt>
          <c:dPt>
            <c:idx val="2"/>
            <c:spPr>
              <a:solidFill>
                <a:srgbClr val="F2B48A"/>
              </a:solidFill>
            </c:spPr>
          </c:dPt>
          <c:dPt>
            <c:idx val="3"/>
            <c:spPr>
              <a:solidFill>
                <a:srgbClr val="F2B48A"/>
              </a:solidFill>
            </c:spPr>
          </c:dPt>
          <c:dPt>
            <c:idx val="4"/>
            <c:spPr>
              <a:solidFill>
                <a:srgbClr val="F2B48A"/>
              </a:solidFill>
            </c:spPr>
          </c:dPt>
          <c:dPt>
            <c:idx val="5"/>
            <c:spPr>
              <a:solidFill>
                <a:srgbClr val="E58A4E"/>
              </a:solidFill>
            </c:spPr>
          </c:dPt>
          <c:dPt>
            <c:idx val="6"/>
            <c:spPr>
              <a:solidFill>
                <a:srgbClr val="E58A4E"/>
              </a:solidFill>
            </c:spPr>
          </c:dPt>
          <c:dPt>
            <c:idx val="7"/>
            <c:spPr>
              <a:solidFill>
                <a:srgbClr val="D55E00"/>
              </a:solidFill>
            </c:spPr>
          </c:dPt>
          <c:dLbls>
            <c:dLbl>
              <c:idx val="0"/>
              <c:tx>
                <c:rich>
                  <a:bodyPr/>
                  <a:lstStyle/>
                  <a:p>
                    <a:r>
                      <a:rPr sz="850" b="1">
                        <a:solidFill>
                          <a:srgbClr val="0072B2"/>
                        </a:solidFill>
                        <a:latin typeface="Arial"/>
                      </a:rPr>
                      <a:t>13.90</a:t>
                    </a:r>
                  </a:p>
                </c:rich>
              </c:tx>
              <c:dLblPos val="outEnd"/>
              <c:showLegendKey val="0"/>
              <c:showVal val="1"/>
              <c:showCatName val="0"/>
              <c:showSerName val="0"/>
              <c:showPercent val="0"/>
              <c:showBubbleSize val="0"/>
            </c:dLbl>
            <c:dLbl>
              <c:idx val="1"/>
              <c:tx>
                <c:rich>
                  <a:bodyPr/>
                  <a:lstStyle/>
                  <a:p>
                    <a:r>
                      <a:rPr sz="850" b="1">
                        <a:solidFill>
                          <a:srgbClr val="009E73"/>
                        </a:solidFill>
                        <a:latin typeface="Arial"/>
                      </a:rPr>
                      <a:t>13.55</a:t>
                    </a:r>
                  </a:p>
                </c:rich>
              </c:tx>
              <c:dLblPos val="outEnd"/>
              <c:showLegendKey val="0"/>
              <c:showVal val="1"/>
              <c:showCatName val="0"/>
              <c:showSerName val="0"/>
              <c:showPercent val="0"/>
              <c:showBubbleSize val="0"/>
            </c:dLbl>
            <c:dLbl>
              <c:idx val="2"/>
              <c:tx>
                <c:rich>
                  <a:bodyPr/>
                  <a:lstStyle/>
                  <a:p>
                    <a:r>
                      <a:rPr sz="850" b="0">
                        <a:solidFill>
                          <a:srgbClr val="D55E00"/>
                        </a:solidFill>
                        <a:latin typeface="Arial"/>
                      </a:rPr>
                      <a:t>13.43</a:t>
                    </a:r>
                  </a:p>
                </c:rich>
              </c:tx>
              <c:dLblPos val="outEnd"/>
              <c:showLegendKey val="0"/>
              <c:showVal val="1"/>
              <c:showCatName val="0"/>
              <c:showSerName val="0"/>
              <c:showPercent val="0"/>
              <c:showBubbleSize val="0"/>
            </c:dLbl>
            <c:dLbl>
              <c:idx val="3"/>
              <c:tx>
                <c:rich>
                  <a:bodyPr/>
                  <a:lstStyle/>
                  <a:p>
                    <a:r>
                      <a:rPr sz="850" b="0">
                        <a:solidFill>
                          <a:srgbClr val="D55E00"/>
                        </a:solidFill>
                        <a:latin typeface="Arial"/>
                      </a:rPr>
                      <a:t>13.23</a:t>
                    </a:r>
                  </a:p>
                </c:rich>
              </c:tx>
              <c:dLblPos val="outEnd"/>
              <c:showLegendKey val="0"/>
              <c:showVal val="1"/>
              <c:showCatName val="0"/>
              <c:showSerName val="0"/>
              <c:showPercent val="0"/>
              <c:showBubbleSize val="0"/>
            </c:dLbl>
            <c:dLbl>
              <c:idx val="4"/>
              <c:tx>
                <c:rich>
                  <a:bodyPr/>
                  <a:lstStyle/>
                  <a:p>
                    <a:r>
                      <a:rPr sz="850" b="0">
                        <a:solidFill>
                          <a:srgbClr val="D55E00"/>
                        </a:solidFill>
                        <a:latin typeface="Arial"/>
                      </a:rPr>
                      <a:t>11.00</a:t>
                    </a:r>
                  </a:p>
                </c:rich>
              </c:tx>
              <c:dLblPos val="outEnd"/>
              <c:showLegendKey val="0"/>
              <c:showVal val="1"/>
              <c:showCatName val="0"/>
              <c:showSerName val="0"/>
              <c:showPercent val="0"/>
              <c:showBubbleSize val="0"/>
            </c:dLbl>
            <c:dLbl>
              <c:idx val="5"/>
              <c:tx>
                <c:rich>
                  <a:bodyPr/>
                  <a:lstStyle/>
                  <a:p>
                    <a:r>
                      <a:rPr sz="850" b="0">
                        <a:solidFill>
                          <a:srgbClr val="D55E00"/>
                        </a:solidFill>
                        <a:latin typeface="Arial"/>
                      </a:rPr>
                      <a:t>9.17</a:t>
                    </a:r>
                  </a:p>
                </c:rich>
              </c:tx>
              <c:dLblPos val="outEnd"/>
              <c:showLegendKey val="0"/>
              <c:showVal val="1"/>
              <c:showCatName val="0"/>
              <c:showSerName val="0"/>
              <c:showPercent val="0"/>
              <c:showBubbleSize val="0"/>
            </c:dLbl>
            <c:dLbl>
              <c:idx val="6"/>
              <c:tx>
                <c:rich>
                  <a:bodyPr/>
                  <a:lstStyle/>
                  <a:p>
                    <a:r>
                      <a:rPr sz="850" b="0">
                        <a:solidFill>
                          <a:srgbClr val="D55E00"/>
                        </a:solidFill>
                        <a:latin typeface="Arial"/>
                      </a:rPr>
                      <a:t>9.10</a:t>
                    </a:r>
                  </a:p>
                </c:rich>
              </c:tx>
              <c:dLblPos val="outEnd"/>
              <c:showLegendKey val="0"/>
              <c:showVal val="1"/>
              <c:showCatName val="0"/>
              <c:showSerName val="0"/>
              <c:showPercent val="0"/>
              <c:showBubbleSize val="0"/>
            </c:dLbl>
            <c:dLbl>
              <c:idx val="7"/>
              <c:tx>
                <c:rich>
                  <a:bodyPr/>
                  <a:lstStyle/>
                  <a:p>
                    <a:r>
                      <a:rPr sz="850" b="1">
                        <a:solidFill>
                          <a:srgbClr val="D55E00"/>
                        </a:solidFill>
                        <a:latin typeface="Arial"/>
                      </a:rPr>
                      <a:t>8.29</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Sheet1!$A$2:$A$9</c:f>
              <c:strCache>
                <c:ptCount val="8"/>
                <c:pt idx="0">
                  <c:v>MLP</c:v>
                </c:pt>
                <c:pt idx="1">
                  <c:v>DP-Rewired</c:v>
                </c:pt>
                <c:pt idx="2">
                  <c:v>Shared desc., unweighted</c:v>
                </c:pt>
                <c:pt idx="3">
                  <c:v>No desc., unweighted</c:v>
                </c:pt>
                <c:pt idx="4">
                  <c:v>Unweighted</c:v>
                </c:pt>
                <c:pt idx="5">
                  <c:v>No desc., weighted</c:v>
                </c:pt>
                <c:pt idx="6">
                  <c:v>Shared desc., weighted</c:v>
                </c:pt>
                <c:pt idx="7">
                  <c:v>FlyGM (full)</c:v>
                </c:pt>
              </c:strCache>
            </c:strRef>
          </c:cat>
          <c:val>
            <c:numRef>
              <c:f>Sheet1!$B$2:$B$9</c:f>
              <c:numCache>
                <c:formatCode>General</c:formatCode>
                <c:ptCount val="8"/>
                <c:pt idx="0">
                  <c:v>13.9</c:v>
                </c:pt>
                <c:pt idx="1">
                  <c:v>13.55</c:v>
                </c:pt>
                <c:pt idx="2">
                  <c:v>13.43</c:v>
                </c:pt>
                <c:pt idx="3">
                  <c:v>13.23</c:v>
                </c:pt>
                <c:pt idx="4">
                  <c:v>11.0</c:v>
                </c:pt>
                <c:pt idx="5">
                  <c:v>9.17</c:v>
                </c:pt>
                <c:pt idx="6">
                  <c:v>9.1</c:v>
                </c:pt>
                <c:pt idx="7">
                  <c:v>8.29</c:v>
                </c:pt>
              </c:numCache>
            </c:numRef>
          </c:val>
        </c:ser>
        <c:gapWidth val="40"/>
        <c:axId val="-2068027336"/>
        <c:axId val="-2113994440"/>
      </c:barChart>
      <c:catAx>
        <c:axId val="-2068027336"/>
        <c:scaling>
          <c:orientation val="minMax"/>
        </c:scaling>
        <c:delete val="0"/>
        <c:axPos val="l"/>
        <c:majorTickMark val="none"/>
        <c:minorTickMark val="none"/>
        <c:tickLblPos val="nextTo"/>
        <c:spPr>
          <a:ln w="9525">
            <a:solidFill>
              <a:srgbClr val="B9B1C6"/>
            </a:solidFill>
          </a:ln>
        </c:spPr>
        <c:txPr>
          <a:bodyPr/>
          <a:lstStyle/>
          <a:p>
            <a:pPr>
              <a:defRPr sz="900">
                <a:solidFill>
                  <a:srgbClr val="1F1A2E"/>
                </a:solidFill>
                <a:latin typeface="Arial"/>
              </a:defRPr>
            </a:pPr>
          </a:p>
        </c:txPr>
        <c:crossAx val="-2113994440"/>
        <c:crosses val="autoZero"/>
        <c:auto val="1"/>
        <c:lblAlgn val="ctr"/>
        <c:lblOffset val="100"/>
        <c:noMultiLvlLbl val="0"/>
      </c:catAx>
      <c:valAx>
        <c:axId val="-2113994440"/>
        <c:scaling>
          <c:max val="16.0"/>
          <c:min val="0.0"/>
        </c:scaling>
        <c:delete val="0"/>
        <c:axPos val="b"/>
        <c:majorGridlines>
          <c:spPr>
            <a:ln w="9525">
              <a:solidFill>
                <a:srgbClr val="E2DCEA"/>
              </a:solidFill>
            </a:ln>
          </c:spPr>
        </c:majorGridlines>
        <c:numFmt formatCode="0" sourceLinked="0"/>
        <c:majorTickMark val="none"/>
        <c:minorTickMark val="none"/>
        <c:tickLblPos val="nextTo"/>
        <c:spPr>
          <a:ln>
            <a:noFill/>
          </a:ln>
        </c:spPr>
        <c:txPr>
          <a:bodyPr/>
          <a:lstStyle/>
          <a:p>
            <a:pPr>
              <a:defRPr sz="900">
                <a:solidFill>
                  <a:srgbClr val="7A7387"/>
                </a:solidFill>
                <a:latin typeface="Arial"/>
              </a:defRPr>
            </a:pPr>
          </a:p>
        </c:txPr>
        <c:crossAx val="-2068027336"/>
        <c:crosses val="autoZero"/>
        <c:majorUnit val="4.0"/>
      </c:valAx>
      <c:spPr>
        <a:noFill/>
        <a:ln>
          <a:noFill/>
        </a:ln>
      </c:spPr>
    </c:plotArea>
    <c:dispBlanksAs val="gap"/>
  </c:chart>
  <c:spPr>
    <a:noFill/>
    <a:ln>
      <a:noFill/>
    </a:ln>
  </c:spPr>
  <c:txPr>
    <a:bodyPr/>
    <a:lstStyle/>
    <a:p>
      <a:pPr>
        <a:defRPr sz="900">
          <a:solidFill>
            <a:srgbClr val="7A7387"/>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60 seconds.</a:t>
            </a:r>
          </a:p>
          <a:p/>
          <a:p>
            <a:r>
              <a:t>Before the numbers, here is what the policies do. On the left is the walking policy. From rest, it initiates a gait within roughly the first 80 milliseconds, irregular steps quickly giving way to rhythmic stepping. During straight walking at 3 centimeters per second it produces the classic alternating tripod gait, and it turns at 10 radians per second by shortening the strides on the inner side, without any turn-specific rules.</a:t>
            </a:r>
          </a:p>
          <a:p/>
          <a:p>
            <a:r>
              <a:t>On the right is a separately trained flight policy. It modulates the wing-beat pattern generator to keep stable forward flight at 20 centimeters per second while holding the body aligned with the target direction.</a:t>
            </a:r>
          </a:p>
          <a:p/>
          <a:p>
            <a:r>
              <a:t>In both videos, the left panel shows the connectome in a force-directed layout, colored by afferent, intrinsic and efferent activity. The layout reflects connectivity, not the physical anatomy. The videos are slowed down, so the simulation timestamps are the right timescale. The next question is whether the specific wiring is what makes this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75 seconds.</a:t>
            </a:r>
          </a:p>
          <a:p>
            <a:endParaRPr/>
          </a:p>
          <a:p>
            <a:r>
              <a:t>This composite recording shows two synchronized camera views and the measured forward-velocity signal below. The sequence covers 0 to 768 milliseconds of simulation time and plays ten times slower for inspection. Notice the velocity approaching zero during the pause, followed by renewed motion and the turn. The upper-right panel reveals the published Figure 5 neural representation from left to right using a white mask, with its own millisecond counter and time-axis labels. The mask follows the presentation clock across the published 0–760 ms axis; the archived movie continues to 768 ms. This is a presentation animation of the published model-activity image, not a new analysis or measured EEG. It uses the paper’s PCA processing and is not recalculated from this archived recording. We discuss this figure on the next slide. The archived illustrative rollout has 139,246 recorded nodes and two state channels, rather than the final quantitative experiment’s 32-channel checkpoint. Source: THU_A100 /data/jzh/Documents/flygnn_v2/neuro_rollout.pkl; submission31_revised, Figure 5. Time alignment uses record indices at 2 ms per step. Cameras follow the environment step while observations precede it, giving a possible 2 ms offset. The lower trace shows forward velocity normalized to its absolute peak; the bold line uses an 11-sample (22 ms) moving average.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60 seconds.</a:t>
            </a:r>
          </a:p>
          <a:p>
            <a:endParaRPr/>
          </a:p>
          <a:p>
            <a:r>
              <a:t>The same sequence lets us inspect the model’s internal representations. The visualization compresses the multichannel state with PCA, groups neurons by superclass, and orders similar responses together within each class. The resulting patterns differ across classes and phases. A random-graph control processed with the same pipeline shows less clear class-wise differentiation. This is suggestive evidence that wiring shapes the learned computation. However, it is qualitative. Grouping, normalization and sorting all affect what is easy to see. We do not have a quantitative segregation test or validation against recorded neural activity here. I would describe the result as structured latent dynamics, rather than biological function recovered from anatomy. Source: submission31_revised, Figure 5 and representation-analysis appendix.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30 seconds.</a:t>
            </a:r>
          </a:p>
          <a:p/>
          <a:p>
            <a:r>
              <a:t>Good morning. Our work asks a simple question: can the wiring diagram of an animal's brain be used to build a controller for its body? We study the fruit fly, because it is the one animal for which we now have both a complete brain connectome and a detailed whole-body physics simulator. FlyGM turns that connectome into the architecture of a learned controller. I will explain why this question is timely, how FlyGM works, what the results say about the value of the real wiring, and where this could go next.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60 seconds.</a:t>
            </a:r>
          </a:p>
          <a:p/>
          <a:p>
            <a:r>
              <a:t>Why now? In 2024 the FlyWire consortium published the first complete wiring diagram of an adult brain: an adult female fruit fly, 139,255 neurons, about 54.5 million synapses, and more than eight thousand annotated cell types. Within months, connectome-constrained models showed that this wiring can predict neural activity in the visual system and sensorimotor responses across the brain.</a:t>
            </a:r>
          </a:p>
          <a:p/>
          <a:p>
            <a:r>
              <a:t>At the same time, the body became digital too. flybody, published in Nature in 2025, provides an anatomically detailed fly in the MuJoCo physics engine, with learned controllers that walk and fly; NeuroMechFly v2 is a complementary platform. And this year the male central nervous system connectome added the ventral nerve cord, the fly's equivalent of the spinal cord.</a:t>
            </a:r>
          </a:p>
          <a:p/>
          <a:p>
            <a:r>
              <a:t>So, for the first time, one animal has both a complete brain map and a whole-body simulator. The obvious next question is how to connect them.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60 seconds.</a:t>
            </a:r>
          </a:p>
          <a:p/>
          <a:p>
            <a:r>
              <a:t>This combination has already caught the public imagination. In March 2026, the startup Eon Systems announced "We've uploaded a fruit fly": a connectome-based leaky integrate-and-fire brain model, from Shiu and colleagues, coupled to the NeuroMechFly body. The video of a virtual fly walking, grooming and feeding went viral.</a:t>
            </a:r>
          </a:p>
          <a:p/>
          <a:p>
            <a:r>
              <a:t>The response from neuroscientists was quick. Essays such as "No, we haven't uploaded a fly yet" and Patrick Mineault's "Deconstructing viral fly sims" pointed out what the wiring diagram leaves out. First, synapse counts tell us which paths exist, not how strongly neurons influence each other in the living animal; that is the effectome argument of Pospisil and colleagues. Second, the neuron models are simplified. Third, and most relevant for us, the interface to the body: according to Eon's own write-up, a few hand-picked descending neurons switch pre-built walking, grooming and feeding programs in the body model.</a:t>
            </a:r>
          </a:p>
          <a:p/>
          <a:p>
            <a:r>
              <a:t>So the open question is not whether we have the wiring. It is how a connectome should be used to control a whole body.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60 seconds.</a:t>
            </a:r>
          </a:p>
          <a:p/>
          <a:p>
            <a:r>
              <a:t>There are two common ways to connect a brain map to behavior. The first is to emulate the wiring: put a simple spiking neuron at every node and run it. This keeps the biology and needs no training, but the neuron models are generic, and the body is usually driven by hand-designed controllers. The second is to learn a generic controller with deep reinforcement learning. flybody does this very well, producing realistic walking and flight, but the network is a multilayer perceptron with no relation to the brain.</a:t>
            </a:r>
          </a:p>
          <a:p/>
          <a:p>
            <a:r>
              <a:t>FlyGM sits in between. We keep the wiring as the architecture: every motor command flows through the 139-thousand-neuron connectome. But we let learning supply what the connectome does not specify, and we train the whole system end to end on whole-body tasks. This framing gives us a clean scientific question: can whole-brain connectivity serve as a useful structural prior for whole-body control? And because the architecture is explicit, we can test it against controls with the same size but different wiring.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60 seconds.</a:t>
            </a:r>
          </a:p>
          <a:p/>
          <a:p>
            <a:r>
              <a:t>Here is the full loop. At every control step, the simulated fly produces an observation: proprioception, touch and, for walking, binocular vision; 1,253 numbers in total. A light encoder compresses this observation and injects it into the afferent, or input-facing, neurons of the connectome.</a:t>
            </a:r>
          </a:p>
          <a:p/>
          <a:p>
            <a:r>
              <a:t>Information then propagates along the real synapses. Each neuron aggregates the states of its presynaptic partners through the connectome weight matrix, M equals W times H, and a shared update network, conditioned on a learned descriptor for that neuron, computes its new state. This is repeated for four message-passing layers.</a:t>
            </a:r>
          </a:p>
          <a:p/>
          <a:p>
            <a:r>
              <a:t>Finally, the efferent, or output-facing, neurons are decoded into 59 actuator commands for the legs, adhesion pads, head and abdomen. The body moves in MuJoCo, and the next observation closes the loop. The important design choice is that the connectome determines which neurons can communicate; the encoder, decoder and update rule are learned.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50 seconds.</a:t>
            </a:r>
          </a:p>
          <a:p/>
          <a:p>
            <a:r>
              <a:t>It helps to separate what is fixed from what is learned. Fixed, from the connectome: the directed topology, meaning who can talk to whom; an approximate signed weight for every connection, computed as excitatory minus inhibitory synapse counts using neurotransmitter predictions from electron microscopy; and FlyWire's partition into afferent, intrinsic and efferent neurons. The figure on the left shows this structure aggregated by superclass.</a:t>
            </a:r>
          </a:p>
          <a:p/>
          <a:p>
            <a:r>
              <a:t>Learned, by training: the observation encoder and action decoder, a descriptor for every neuron that can capture properties such as excitability or gain that the connectome does not record, and one shared update network.</a:t>
            </a:r>
          </a:p>
          <a:p/>
          <a:p>
            <a:r>
              <a:t>Two caveats keep the claim precise. The latent states are learned vectors, not measured firing rates. And the signed weights are a modeling convention, not a receptor-level account of physiology. FlyGM is a connectome-structured policy; its biological fidelity is a separate question.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50 seconds.</a:t>
            </a:r>
          </a:p>
          <a:p/>
          <a:p>
            <a:r>
              <a:t>Training has two stages. First, we roll out the existing flybody expert, an MLP policy, and keep successful episodes longer than one hundred steps. FlyGM is trained to match the expert's action distribution with a KL objective plus an annealed mean-squared-error term. This gives the connectome-structured policy stable walking and flight quickly.</a:t>
            </a:r>
          </a:p>
          <a:p/>
          <a:p>
            <a:r>
              <a:t>Second, we fine-tune with proximal policy optimization on the task reward in MuJoCo, using an MLP value network and parallel rollouts, so the policy can improve beyond the demonstrations.</a:t>
            </a:r>
          </a:p>
          <a:p/>
          <a:p>
            <a:r>
              <a:t>Two points matter for interpreting the results. Every controller we compare goes through exactly the same imitation-plus-PPO pipeline, so the comparisons isolate the architecture. And walking and flight are separately trained policies; we do not claim one policy switches between them.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90 seconds.</a:t>
            </a:r>
          </a:p>
          <a:p/>
          <a:p>
            <a:r>
              <a:t>This is the central result. To test whether the specific wiring matters, we compare FlyGM with three controls, color-coded at the top. A degree-preserving rewiring keeps every neuron's number of inputs and outputs but shuffles its partners. An Erdos-Renyi random graph keeps only the number of neurons and edges. And an MLP has no graph at all, with more parameters than FlyGM. All four go through the identical imitation-plus-PPO pipeline.</a:t>
            </a:r>
          </a:p>
          <a:p/>
          <a:p>
            <a:r>
              <a:t>On the left is imitation learning: the error between each model's actions and the expert's, on a log scale. FlyGM drops fastest and ends lowest. A simple way to read it: FlyGM reaches the MLP's final error after about nine thousand of the twenty-three thousand updates, roughly 2.6 times fewer. Both rewired and random graphs lag throughout.</a:t>
            </a:r>
          </a:p>
          <a:p/>
          <a:p>
            <a:r>
              <a:t>On the right is control after the full pipeline: heading-angle error across speeds and turning rates. FlyGM has the lowest error in every condition, 22 to 39 percent below the best baseline. The gap grows with turning rate: at 7 radians per second the rewired graph has 13.6 degrees and the random graph fails with 125 degrees, against 8.3 for FlyGM.</a:t>
            </a:r>
          </a:p>
          <a:p/>
          <a:p>
            <a:r>
              <a:t>Two honest caveats: the training curves are one trace per model, and the error bars come from ten evaluation rollouts of one checkpoint, not from independently trained seeds.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50 seconds. Optional slide: skip if short on time.</a:t>
            </a:r>
          </a:p>
          <a:p/>
          <a:p>
            <a:r>
              <a:t>Two follow-up questions. First, is the gain simply from using a graph neural network? On the left, we put five standard GNN layers, GCN, EdgeCNN, GraphSAGE, GAT and PNA, on the same FlyWire neurons and the same pipeline. None comes close: FlyGM earns 2.3 times the reward of the best one. A spiking network with the MLP layout never learns a stable gait. A caveat: the GNNs were sized to the largest configuration that fits one A100, so some are narrower than FlyGM.</a:t>
            </a:r>
          </a:p>
          <a:p/>
          <a:p>
            <a:r>
              <a:t>Second, which part of FlyGM matters? On the right are ablations at the hardest condition, fast turning. Removing signed weights or per-neuron descriptors costs accuracy, and signed weights help most here: 8.3 versus 11.0 degrees. But every connectome variant, even unweighted and without descriptors, stays below the rewired graph and the MLP. That points to the topology itself as the main source of the prior.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50 seconds.</a:t>
            </a:r>
          </a:p>
          <a:p/>
          <a:p>
            <a:r>
              <a:t>Where next? FlyGM currently uses the female brain connectome. The brain does not control the legs directly: descending neurons send commands through the neck to the ventral nerve cord, where premotor and motor circuits generate the actual leg and wing movements. In FlyGM, that last step is played by a learned decoder.</a:t>
            </a:r>
          </a:p>
          <a:p/>
          <a:p>
            <a:r>
              <a:t>This image is rendered from the public male CNS release published this year: the brain on the left, the ventral nerve cord on the right, joined at the neck. In orange are a sample of the 1,314 descending neurons, in blue ascending neurons that carry feedback from the body back to the brain, and in purple motor neurons. The full dataset has 166,700 neurons.</a:t>
            </a:r>
          </a:p>
          <a:p/>
          <a:p>
            <a:r>
              <a:t>For FlyGM, this would replace part of the learned decoder with measured premotor and motor wiring, and route body feedback through real ascending pathways. Together with updated synapse detections and sex-specific annotations, it would let us test connectome-based control on longer sequences, recovery from perturbations, and navigation. These are directions, not results.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45 seconds.</a:t>
            </a:r>
          </a:p>
          <a:p/>
          <a:p>
            <a:r>
              <a:t>To summarize. First, a whole-brain connectome can serve as the architecture of a controller: FlyGM turns the 139-thousand-neuron FlyWire graph into a trainable policy that walks, turns and flies a detailed simulated body. Second, the real wiring matters: under the same training pipeline it learns faster and steers more accurately than rewired, random and MLP controls, and than five standard GNNs. Third, its internal dynamics are structured by neuron class, which a random graph does not show, though this analysis is qualitative.</a:t>
            </a:r>
          </a:p>
          <a:p/>
          <a:p>
            <a:r>
              <a:t>To come back to the debate: this is not an upload of a fly. It is something more modest but testable, a connectome-structured controller whose assumptions are explicit. What remains open is the biological fidelity of the learned dynamics, learning without expert demonstrations, and transfer to other bodies and simulators.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15 seconds.</a:t>
            </a:r>
          </a:p>
          <a:p/>
          <a:p>
            <a:r>
              <a:t>Thank you. The demo page, at lnsgroup.cc slash research slash FlyGM, has the walking, turning and flight videos with live connectome activity; the QR code links there. I am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a:t>
            </a:r>
          </a:p>
          <a:p/>
          <a:p>
            <a:r>
              <a:t>Numbered references cited on the slides. [1] is our paper; the demo page is lnsgroup.cc/research/FlyGM. [9]-[11] are the 2026 public discussion of the Eon Systems fly demo. GNN baselines [16]-[20] correspond to GCN, EdgeCNN (DGCNN), GraphSAGE, GAT and PNA. The male CNS rendering on the outlook slide was produced from the public FlyEM v1.0 release (gs://flyem-male-cns).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B5344-341F-443D-8F25-1D9685E2ABE6}"/>
              </a:ext>
            </a:extLst>
          </p:cNvPr>
          <p:cNvSpPr>
            <a:spLocks noGrp="1"/>
          </p:cNvSpPr>
          <p:nvPr>
            <p:ph type="ctrTitle"/>
          </p:nvPr>
        </p:nvSpPr>
        <p:spPr>
          <a:xfrm>
            <a:off x="457200" y="509114"/>
            <a:ext cx="8229600" cy="1034133"/>
          </a:xfrm>
          <a:prstGeom prst="rect">
            <a:avLst/>
          </a:prstGeom>
        </p:spPr>
        <p:txBody>
          <a:bodyPr>
            <a:noAutofit/>
          </a:bodyPr>
          <a:lstStyle>
            <a:lvl1pPr algn="ctr">
              <a:buNone/>
              <a:defRPr sz="3600">
                <a:solidFill>
                  <a:schemeClr val="tx1"/>
                </a:solidFill>
              </a:defRPr>
            </a:lvl1pPr>
          </a:lstStyle>
          <a:p>
            <a:r>
              <a:t>Click to edit Master title style</a:t>
            </a:r>
          </a:p>
        </p:txBody>
      </p:sp>
      <p:sp>
        <p:nvSpPr>
          <p:cNvPr id="12" name="Text Placeholder 33">
            <a:extLst>
              <a:ext uri="{FF2B5EF4-FFF2-40B4-BE49-F238E27FC236}">
                <a16:creationId xmlns:a16="http://schemas.microsoft.com/office/drawing/2014/main" id="{CA060B57-E2E3-4912-AB23-45E31E5F697A}"/>
              </a:ext>
            </a:extLst>
          </p:cNvPr>
          <p:cNvSpPr>
            <a:spLocks noGrp="1"/>
          </p:cNvSpPr>
          <p:nvPr>
            <p:ph type="body" idx="18"/>
          </p:nvPr>
        </p:nvSpPr>
        <p:spPr>
          <a:xfrm>
            <a:off x="1603375" y="3599022"/>
            <a:ext cx="6059488" cy="205740"/>
          </a:xfrm>
          <a:prstGeom prst="rect">
            <a:avLst/>
          </a:prstGeom>
        </p:spPr>
        <p:txBody>
          <a:bodyPr wrap="none" anchor="ctr">
            <a:noAutofit/>
          </a:bodyPr>
          <a:lstStyle>
            <a:lvl1pPr algn="ctr">
              <a:buNone/>
              <a:defRPr sz="1800" cap="none" spc="0" baseline="0">
                <a:solidFill>
                  <a:schemeClr val="tx1">
                    <a:lumMod val="65000"/>
                    <a:lumOff val="35000"/>
                  </a:schemeClr>
                </a:solidFill>
              </a:defRPr>
            </a:lvl1pPr>
            <a:lvl2pPr>
              <a:buNone/>
              <a:defRPr/>
            </a:lvl2pPr>
            <a:lvl3pPr>
              <a:buNone/>
              <a:defRPr/>
            </a:lvl3pPr>
            <a:lvl4pPr>
              <a:buNone/>
              <a:defRPr/>
            </a:lvl4pPr>
            <a:lvl5pPr>
              <a:buNone/>
              <a:defRPr/>
            </a:lvl5pPr>
          </a:lstStyle>
          <a:p>
            <a:pPr lvl="0">
              <a:buNone/>
            </a:pPr>
            <a:r>
              <a:t>Click to edit Master text styles</a:t>
            </a:r>
          </a:p>
        </p:txBody>
      </p:sp>
      <p:sp>
        <p:nvSpPr>
          <p:cNvPr id="13" name="Subtitle 2">
            <a:extLst>
              <a:ext uri="{FF2B5EF4-FFF2-40B4-BE49-F238E27FC236}">
                <a16:creationId xmlns:a16="http://schemas.microsoft.com/office/drawing/2014/main" id="{A10A3E61-6082-4D4E-BB89-BEC8B47D99C7}"/>
              </a:ext>
            </a:extLst>
          </p:cNvPr>
          <p:cNvSpPr>
            <a:spLocks noGrp="1"/>
          </p:cNvSpPr>
          <p:nvPr>
            <p:ph type="subTitle" idx="1"/>
          </p:nvPr>
        </p:nvSpPr>
        <p:spPr>
          <a:xfrm>
            <a:off x="457200" y="2410990"/>
            <a:ext cx="8229600" cy="461897"/>
          </a:xfrm>
          <a:prstGeom prst="rect">
            <a:avLst/>
          </a:prstGeom>
        </p:spPr>
        <p:txBody>
          <a:bodyPr>
            <a:noAutofit/>
          </a:bodyPr>
          <a:lstStyle>
            <a:lvl1pPr marL="0" indent="0" algn="ctr">
              <a:buNone/>
              <a:defRPr sz="2100" cap="small" spc="300">
                <a:solidFill>
                  <a:srgbClr val="660874"/>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3" name="Slide Number Placeholder 2">
            <a:extLst>
              <a:ext uri="{FF2B5EF4-FFF2-40B4-BE49-F238E27FC236}">
                <a16:creationId xmlns:a16="http://schemas.microsoft.com/office/drawing/2014/main" id="{962054D1-2B75-4625-AE41-6A7C057C243C}"/>
              </a:ext>
            </a:extLst>
          </p:cNvPr>
          <p:cNvSpPr>
            <a:spLocks noGrp="1"/>
          </p:cNvSpPr>
          <p:nvPr>
            <p:ph type="sldNum" idx="19"/>
          </p:nvPr>
        </p:nvSpPr>
        <p:spPr/>
        <p:txBody>
          <a:bodyPr/>
          <a:lstStyle/>
          <a:p>
            <a:fld id="{4E2FCFD3-C48B-654C-9D5B-B7027AB6127D}"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3337AACC-2590-47D2-BD2E-6820BEF6657B}"/>
              </a:ext>
            </a:extLst>
          </p:cNvPr>
          <p:cNvSpPr>
            <a:spLocks noGrp="1"/>
          </p:cNvSpPr>
          <p:nvPr>
            <p:ph idx="10"/>
          </p:nvPr>
        </p:nvSpPr>
        <p:spPr>
          <a:xfrm>
            <a:off x="373746" y="751668"/>
            <a:ext cx="8412480" cy="4144802"/>
          </a:xfrm>
        </p:spPr>
        <p:txBody>
          <a:bodyPr/>
          <a:lstStyle>
            <a:lvl1pPr marL="342900" indent="-342900">
              <a:buClr>
                <a:srgbClr val="660874"/>
              </a:buClr>
              <a:buFont typeface="Wingdings"/>
              <a:buChar char="§"/>
              <a:defRPr/>
            </a:lvl1pPr>
            <a:lvl2pPr marL="288925" indent="-288925" algn="l" defTabSz="457200">
              <a:spcBef>
                <a:spcPct val="20000"/>
              </a:spcBef>
              <a:spcAft>
                <a:spcPct val="0"/>
              </a:spcAft>
              <a:buClr>
                <a:srgbClr val="660874"/>
              </a:buClr>
              <a:buFont typeface="Wingdings"/>
              <a:buChar char="§"/>
              <a:defRPr/>
            </a:lvl2pPr>
          </a:lstStyle>
          <a:p>
            <a:pPr marL="288925" lvl="1" indent="-288925" algn="l" defTabSz="457200">
              <a:spcBef>
                <a:spcPct val="20000"/>
              </a:spcBef>
              <a:spcAft>
                <a:spcPct val="0"/>
              </a:spcAft>
              <a:buClr>
                <a:srgbClr val="660874"/>
              </a:buClr>
              <a:buFont typeface="Wingdings"/>
              <a:buChar char="§"/>
            </a:pPr>
            <a:r>
              <a:t>Click to edit Master text styles</a:t>
            </a:r>
          </a:p>
          <a:p>
            <a:pPr lvl="2">
              <a:buNone/>
            </a:pPr>
            <a:r>
              <a:t>Second level</a:t>
            </a:r>
          </a:p>
          <a:p>
            <a:pPr lvl="3">
              <a:buNone/>
            </a:pPr>
            <a:r>
              <a:t>Third level</a:t>
            </a:r>
          </a:p>
          <a:p>
            <a:pPr lvl="4">
              <a:buNone/>
            </a:pPr>
            <a:r>
              <a:t>Forth level</a:t>
            </a:r>
          </a:p>
          <a:p>
            <a:pPr lvl="0">
              <a:buNone/>
            </a:pPr>
            <a:endParaRPr/>
          </a:p>
        </p:txBody>
      </p:sp>
      <p:sp>
        <p:nvSpPr>
          <p:cNvPr id="3" name="Slide Number Placeholder 2">
            <a:extLst>
              <a:ext uri="{FF2B5EF4-FFF2-40B4-BE49-F238E27FC236}">
                <a16:creationId xmlns:a16="http://schemas.microsoft.com/office/drawing/2014/main" id="{2A32655B-C85C-4A3F-84CC-BEB52FDD3D66}"/>
              </a:ext>
            </a:extLst>
          </p:cNvPr>
          <p:cNvSpPr>
            <a:spLocks noGrp="1"/>
          </p:cNvSpPr>
          <p:nvPr>
            <p:ph type="sldNum" idx="11"/>
          </p:nvPr>
        </p:nvSpPr>
        <p:spPr>
          <a:xfrm>
            <a:off x="8720931" y="4827588"/>
            <a:ext cx="624547" cy="271462"/>
          </a:xfrm>
        </p:spPr>
        <p:txBody>
          <a:bodyPr/>
          <a:lstStyle/>
          <a:p>
            <a:fld id="{4E2FCFD3-C48B-654C-9D5B-B7027AB6127D}" type="slidenum">
              <a:t>‹#›</a:t>
            </a:fld>
            <a:endParaRPr/>
          </a:p>
        </p:txBody>
      </p:sp>
      <p:sp>
        <p:nvSpPr>
          <p:cNvPr id="5" name="Title Placeholder 2">
            <a:extLst>
              <a:ext uri="{FF2B5EF4-FFF2-40B4-BE49-F238E27FC236}">
                <a16:creationId xmlns:a16="http://schemas.microsoft.com/office/drawing/2014/main" id="{6CEBB6EA-4FBC-6544-8B9D-B1DE6459DA72}"/>
              </a:ext>
            </a:extLst>
          </p:cNvPr>
          <p:cNvSpPr>
            <a:spLocks noGrp="1"/>
          </p:cNvSpPr>
          <p:nvPr>
            <p:ph type="title"/>
          </p:nvPr>
        </p:nvSpPr>
        <p:spPr>
          <a:xfrm>
            <a:off x="373746" y="87561"/>
            <a:ext cx="8412480" cy="516874"/>
          </a:xfrm>
          <a:prstGeom prst="rect">
            <a:avLst/>
          </a:prstGeom>
          <a:noFill/>
          <a:ln>
            <a:noFill/>
          </a:ln>
        </p:spPr>
        <p:txBody>
          <a:bodyPr vert="horz" wrap="square" lIns="0" tIns="45720" rIns="91440" bIns="45720" anchor="b"/>
          <a:lstStyle>
            <a:lvl1pPr algn="ctr">
              <a:lnSpc>
                <a:spcPct val="100000"/>
              </a:lnSpc>
              <a:buNone/>
              <a:defRPr/>
            </a:lvl1pPr>
          </a:lstStyle>
          <a:p>
            <a:pPr lvl="0">
              <a:buNone/>
            </a:pPr>
            <a:r>
              <a:t>Click to edit Master title style</a:t>
            </a:r>
          </a:p>
        </p:txBody>
      </p:sp>
      <p:sp>
        <p:nvSpPr>
          <p:cNvPr id="6" name="Line 12">
            <a:extLst>
              <a:ext uri="{FF2B5EF4-FFF2-40B4-BE49-F238E27FC236}">
                <a16:creationId xmlns:a16="http://schemas.microsoft.com/office/drawing/2014/main" id="{3BCC4910-01D2-E246-9EA7-EE64B806480A}"/>
              </a:ext>
            </a:extLst>
          </p:cNvPr>
          <p:cNvSpPr>
            <a:spLocks noGrp="1"/>
          </p:cNvSpPr>
          <p:nvPr/>
        </p:nvSpPr>
        <p:spPr>
          <a:xfrm>
            <a:off x="373746" y="660903"/>
            <a:ext cx="8412480" cy="2"/>
          </a:xfrm>
          <a:prstGeom prst="line">
            <a:avLst/>
          </a:prstGeom>
          <a:noFill/>
          <a:ln w="50800">
            <a:solidFill>
              <a:srgbClr val="7030A0"/>
            </a:solidFill>
            <a:miter/>
          </a:ln>
        </p:spPr>
        <p:txBody>
          <a:bodyPr wrap="none"/>
          <a:lstStyle/>
          <a:p>
            <a:pPr>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0CDCD1E-8839-476F-A1FF-F808BEABB1E9}"/>
              </a:ext>
            </a:extLst>
          </p:cNvPr>
          <p:cNvSpPr>
            <a:spLocks noGrp="1"/>
          </p:cNvSpPr>
          <p:nvPr>
            <p:ph idx="10"/>
          </p:nvPr>
        </p:nvSpPr>
        <p:spPr>
          <a:xfrm>
            <a:off x="373746" y="751668"/>
            <a:ext cx="8412480" cy="4144802"/>
          </a:xfrm>
        </p:spPr>
        <p:txBody>
          <a:bodyPr/>
          <a:lstStyle>
            <a:lvl1pPr marL="342900" indent="-342900">
              <a:buClr>
                <a:srgbClr val="660874"/>
              </a:buClr>
              <a:buFont typeface="Wingdings"/>
              <a:buChar char="§"/>
              <a:defRPr/>
            </a:lvl1pPr>
            <a:lvl2pPr marL="288925" indent="-288925" algn="l" defTabSz="457200">
              <a:spcBef>
                <a:spcPct val="20000"/>
              </a:spcBef>
              <a:spcAft>
                <a:spcPct val="0"/>
              </a:spcAft>
              <a:buClr>
                <a:srgbClr val="660874"/>
              </a:buClr>
              <a:buFont typeface="Wingdings"/>
              <a:buChar char="§"/>
              <a:defRPr/>
            </a:lvl2pPr>
          </a:lstStyle>
          <a:p>
            <a:pPr marL="288925" lvl="1" indent="-288925" algn="l" defTabSz="457200">
              <a:spcBef>
                <a:spcPct val="20000"/>
              </a:spcBef>
              <a:spcAft>
                <a:spcPct val="0"/>
              </a:spcAft>
              <a:buClr>
                <a:srgbClr val="660874"/>
              </a:buClr>
              <a:buFont typeface="Wingdings"/>
              <a:buChar char="§"/>
            </a:pPr>
            <a:r>
              <a:t>Click to edit Master text styles</a:t>
            </a:r>
          </a:p>
          <a:p>
            <a:pPr lvl="2">
              <a:buNone/>
            </a:pPr>
            <a:r>
              <a:t>Second level</a:t>
            </a:r>
          </a:p>
          <a:p>
            <a:pPr lvl="3">
              <a:buNone/>
            </a:pPr>
            <a:r>
              <a:t>Third level</a:t>
            </a:r>
          </a:p>
          <a:p>
            <a:pPr lvl="4">
              <a:buNone/>
            </a:pPr>
            <a:r>
              <a:t>Forth level</a:t>
            </a:r>
          </a:p>
          <a:p>
            <a:pPr lvl="0">
              <a:buNone/>
            </a:pPr>
            <a:endParaRPr/>
          </a:p>
        </p:txBody>
      </p:sp>
      <p:sp>
        <p:nvSpPr>
          <p:cNvPr id="3" name="Slide Number Placeholder 2">
            <a:extLst>
              <a:ext uri="{FF2B5EF4-FFF2-40B4-BE49-F238E27FC236}">
                <a16:creationId xmlns:a16="http://schemas.microsoft.com/office/drawing/2014/main" id="{05382CFA-7974-40AD-87BA-AC35B19ABE28}"/>
              </a:ext>
            </a:extLst>
          </p:cNvPr>
          <p:cNvSpPr>
            <a:spLocks noGrp="1"/>
          </p:cNvSpPr>
          <p:nvPr>
            <p:ph type="sldNum" idx="11"/>
          </p:nvPr>
        </p:nvSpPr>
        <p:spPr>
          <a:xfrm>
            <a:off x="8720931" y="4827588"/>
            <a:ext cx="624547" cy="271462"/>
          </a:xfrm>
        </p:spPr>
        <p:txBody>
          <a:bodyPr/>
          <a:lstStyle/>
          <a:p>
            <a:fld id="{4E2FCFD3-C48B-654C-9D5B-B7027AB6127D}" type="slidenum">
              <a:t>‹#›</a:t>
            </a:fld>
            <a:endParaRPr/>
          </a:p>
        </p:txBody>
      </p:sp>
      <p:sp>
        <p:nvSpPr>
          <p:cNvPr id="5" name="Title Placeholder 2">
            <a:extLst>
              <a:ext uri="{FF2B5EF4-FFF2-40B4-BE49-F238E27FC236}">
                <a16:creationId xmlns:a16="http://schemas.microsoft.com/office/drawing/2014/main" id="{6CEBB6EA-4FBC-6544-8B9D-B1DE6459DA72}"/>
              </a:ext>
            </a:extLst>
          </p:cNvPr>
          <p:cNvSpPr>
            <a:spLocks noGrp="1"/>
          </p:cNvSpPr>
          <p:nvPr>
            <p:ph type="title"/>
          </p:nvPr>
        </p:nvSpPr>
        <p:spPr>
          <a:xfrm>
            <a:off x="373746" y="87561"/>
            <a:ext cx="8412480" cy="516874"/>
          </a:xfrm>
          <a:prstGeom prst="rect">
            <a:avLst/>
          </a:prstGeom>
          <a:noFill/>
          <a:ln>
            <a:noFill/>
          </a:ln>
        </p:spPr>
        <p:txBody>
          <a:bodyPr vert="horz" wrap="square" lIns="0" tIns="45720" rIns="91440" bIns="45720" anchor="b"/>
          <a:lstStyle>
            <a:lvl1pPr algn="ctr">
              <a:lnSpc>
                <a:spcPct val="100000"/>
              </a:lnSpc>
              <a:buNone/>
              <a:defRPr/>
            </a:lvl1pPr>
          </a:lstStyle>
          <a:p>
            <a:pPr lvl="0">
              <a:buNone/>
            </a:pPr>
            <a:r>
              <a:t>Click to edit Master 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2">
            <a:extLst>
              <a:ext uri="{FF2B5EF4-FFF2-40B4-BE49-F238E27FC236}">
                <a16:creationId xmlns:a16="http://schemas.microsoft.com/office/drawing/2014/main" id="{CF9D100D-E13E-45D6-A018-75F4A346FADB}"/>
              </a:ext>
            </a:extLst>
          </p:cNvPr>
          <p:cNvSpPr>
            <a:spLocks noGrp="1"/>
          </p:cNvSpPr>
          <p:nvPr>
            <p:ph type="title"/>
          </p:nvPr>
        </p:nvSpPr>
        <p:spPr>
          <a:xfrm>
            <a:off x="573439" y="172799"/>
            <a:ext cx="8070002" cy="488950"/>
          </a:xfrm>
          <a:prstGeom prst="rect">
            <a:avLst/>
          </a:prstGeom>
          <a:noFill/>
          <a:ln>
            <a:noFill/>
          </a:ln>
        </p:spPr>
        <p:txBody>
          <a:bodyPr vert="horz" wrap="square" lIns="0" tIns="45720" rIns="91440" bIns="45720" anchor="b"/>
          <a:lstStyle/>
          <a:p>
            <a:pPr lvl="0">
              <a:buNone/>
            </a:pPr>
            <a:r>
              <a:t>Click to edit Master title style</a:t>
            </a:r>
          </a:p>
        </p:txBody>
      </p:sp>
      <p:sp>
        <p:nvSpPr>
          <p:cNvPr id="4" name="Text Placeholder 3">
            <a:extLst>
              <a:ext uri="{FF2B5EF4-FFF2-40B4-BE49-F238E27FC236}">
                <a16:creationId xmlns:a16="http://schemas.microsoft.com/office/drawing/2014/main" id="{297A9EC7-E432-4F65-B6E2-77204910EF1B}"/>
              </a:ext>
            </a:extLst>
          </p:cNvPr>
          <p:cNvSpPr>
            <a:spLocks noGrp="1"/>
          </p:cNvSpPr>
          <p:nvPr>
            <p:ph type="body" idx="1"/>
          </p:nvPr>
        </p:nvSpPr>
        <p:spPr>
          <a:xfrm>
            <a:off x="573439" y="767166"/>
            <a:ext cx="8070002" cy="4060421"/>
          </a:xfrm>
          <a:prstGeom prst="rect">
            <a:avLst/>
          </a:prstGeom>
        </p:spPr>
        <p:txBody>
          <a:bodyPr vert="horz" lIns="0" tIns="45720" rIns="0" bIns="45720">
            <a:normAutofit/>
          </a:bodyPr>
          <a:lstStyle/>
          <a:p>
            <a:pPr marL="288925" lvl="1" indent="-288925" algn="l" defTabSz="457200">
              <a:spcBef>
                <a:spcPct val="20000"/>
              </a:spcBef>
              <a:spcAft>
                <a:spcPct val="0"/>
              </a:spcAft>
              <a:buClr>
                <a:srgbClr val="660874"/>
              </a:buClr>
              <a:buFont typeface="Wingdings"/>
              <a:buChar char="§"/>
            </a:pPr>
            <a:r>
              <a:t>Click to edit Master text styles</a:t>
            </a:r>
          </a:p>
          <a:p>
            <a:pPr lvl="2">
              <a:buNone/>
            </a:pPr>
            <a:r>
              <a:t>Second level</a:t>
            </a:r>
          </a:p>
          <a:p>
            <a:pPr lvl="3">
              <a:buNone/>
            </a:pPr>
            <a:r>
              <a:t>Third level</a:t>
            </a:r>
          </a:p>
          <a:p>
            <a:pPr lvl="4">
              <a:buNone/>
            </a:pPr>
            <a:r>
              <a:t>Forth level</a:t>
            </a:r>
          </a:p>
        </p:txBody>
      </p:sp>
      <p:sp>
        <p:nvSpPr>
          <p:cNvPr id="6" name="Slide Number Placeholder 4">
            <a:extLst>
              <a:ext uri="{FF2B5EF4-FFF2-40B4-BE49-F238E27FC236}">
                <a16:creationId xmlns:a16="http://schemas.microsoft.com/office/drawing/2014/main" id="{CF740102-D102-43FB-8570-6CA321D5A265}"/>
              </a:ext>
            </a:extLst>
          </p:cNvPr>
          <p:cNvSpPr>
            <a:spLocks noGrp="1"/>
          </p:cNvSpPr>
          <p:nvPr>
            <p:ph type="sldNum" idx="4"/>
          </p:nvPr>
        </p:nvSpPr>
        <p:spPr>
          <a:xfrm>
            <a:off x="8720931" y="4827588"/>
            <a:ext cx="423069" cy="271462"/>
          </a:xfrm>
          <a:prstGeom prst="rect">
            <a:avLst/>
          </a:prstGeom>
        </p:spPr>
        <p:txBody>
          <a:bodyPr vert="horz" wrap="square" lIns="91440" tIns="45720" rIns="91440" bIns="45720" anchor="ctr"/>
          <a:lstStyle>
            <a:lvl1pPr>
              <a:buNone/>
              <a:defRPr sz="1000">
                <a:solidFill>
                  <a:srgbClr val="898989"/>
                </a:solidFill>
                <a:latin typeface="Arial"/>
                <a:ea typeface="Arial"/>
                <a:cs typeface="Arial"/>
              </a:defRPr>
            </a:lvl1pPr>
          </a:lstStyle>
          <a:p>
            <a:fld id="{4E2FCFD3-C48B-654C-9D5B-B7027AB612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ctr" defTabSz="457200">
        <a:lnSpc>
          <a:spcPct val="85000"/>
        </a:lnSpc>
        <a:spcBef>
          <a:spcPct val="0"/>
        </a:spcBef>
        <a:spcAft>
          <a:spcPct val="0"/>
        </a:spcAft>
        <a:buNone/>
        <a:defRPr sz="3200" kern="1200">
          <a:solidFill>
            <a:srgbClr val="660874"/>
          </a:solidFill>
          <a:latin typeface="Arial"/>
          <a:ea typeface="Arial"/>
          <a:cs typeface="Arial"/>
        </a:defRPr>
      </a:lvl1pPr>
      <a:lvl2pPr algn="l" defTabSz="457200">
        <a:lnSpc>
          <a:spcPct val="85000"/>
        </a:lnSpc>
        <a:spcBef>
          <a:spcPct val="0"/>
        </a:spcBef>
        <a:spcAft>
          <a:spcPct val="0"/>
        </a:spcAft>
        <a:buNone/>
        <a:defRPr sz="2400">
          <a:solidFill>
            <a:schemeClr val="bg2"/>
          </a:solidFill>
          <a:latin typeface="Arial"/>
          <a:ea typeface="Arial"/>
          <a:cs typeface="Arial"/>
        </a:defRPr>
      </a:lvl2pPr>
      <a:lvl3pPr algn="l" defTabSz="457200">
        <a:lnSpc>
          <a:spcPct val="85000"/>
        </a:lnSpc>
        <a:spcBef>
          <a:spcPct val="0"/>
        </a:spcBef>
        <a:spcAft>
          <a:spcPct val="0"/>
        </a:spcAft>
        <a:buNone/>
        <a:defRPr sz="2400">
          <a:solidFill>
            <a:schemeClr val="bg2"/>
          </a:solidFill>
          <a:latin typeface="Arial"/>
          <a:ea typeface="Arial"/>
          <a:cs typeface="Arial"/>
        </a:defRPr>
      </a:lvl3pPr>
      <a:lvl4pPr algn="l" defTabSz="457200">
        <a:lnSpc>
          <a:spcPct val="85000"/>
        </a:lnSpc>
        <a:spcBef>
          <a:spcPct val="0"/>
        </a:spcBef>
        <a:spcAft>
          <a:spcPct val="0"/>
        </a:spcAft>
        <a:buNone/>
        <a:defRPr sz="2400">
          <a:solidFill>
            <a:schemeClr val="bg2"/>
          </a:solidFill>
          <a:latin typeface="Arial"/>
          <a:ea typeface="Arial"/>
          <a:cs typeface="Arial"/>
        </a:defRPr>
      </a:lvl4pPr>
      <a:lvl5pPr algn="l" defTabSz="457200">
        <a:lnSpc>
          <a:spcPct val="85000"/>
        </a:lnSpc>
        <a:spcBef>
          <a:spcPct val="0"/>
        </a:spcBef>
        <a:spcAft>
          <a:spcPct val="0"/>
        </a:spcAft>
        <a:buNone/>
        <a:defRPr sz="2400">
          <a:solidFill>
            <a:schemeClr val="bg2"/>
          </a:solidFill>
          <a:latin typeface="Arial"/>
          <a:ea typeface="Arial"/>
          <a:cs typeface="Arial"/>
        </a:defRPr>
      </a:lvl5pPr>
      <a:lvl6pPr marL="457200" algn="l" defTabSz="457200">
        <a:lnSpc>
          <a:spcPct val="85000"/>
        </a:lnSpc>
        <a:spcBef>
          <a:spcPct val="0"/>
        </a:spcBef>
        <a:spcAft>
          <a:spcPct val="0"/>
        </a:spcAft>
        <a:buNone/>
        <a:defRPr sz="2400">
          <a:solidFill>
            <a:schemeClr val="bg2"/>
          </a:solidFill>
          <a:latin typeface="Source Sans Pro Semibold"/>
          <a:ea typeface="Source Sans Pro Semibold"/>
          <a:cs typeface="Source Sans Pro Semibold"/>
        </a:defRPr>
      </a:lvl6pPr>
      <a:lvl7pPr marL="914400" algn="l" defTabSz="457200">
        <a:lnSpc>
          <a:spcPct val="85000"/>
        </a:lnSpc>
        <a:spcBef>
          <a:spcPct val="0"/>
        </a:spcBef>
        <a:spcAft>
          <a:spcPct val="0"/>
        </a:spcAft>
        <a:buNone/>
        <a:defRPr sz="2400">
          <a:solidFill>
            <a:schemeClr val="bg2"/>
          </a:solidFill>
          <a:latin typeface="Source Sans Pro Semibold"/>
          <a:ea typeface="Source Sans Pro Semibold"/>
          <a:cs typeface="Source Sans Pro Semibold"/>
        </a:defRPr>
      </a:lvl7pPr>
      <a:lvl8pPr marL="1371600" algn="l" defTabSz="457200">
        <a:lnSpc>
          <a:spcPct val="85000"/>
        </a:lnSpc>
        <a:spcBef>
          <a:spcPct val="0"/>
        </a:spcBef>
        <a:spcAft>
          <a:spcPct val="0"/>
        </a:spcAft>
        <a:buNone/>
        <a:defRPr sz="2400">
          <a:solidFill>
            <a:schemeClr val="bg2"/>
          </a:solidFill>
          <a:latin typeface="Source Sans Pro Semibold"/>
          <a:ea typeface="Source Sans Pro Semibold"/>
          <a:cs typeface="Source Sans Pro Semibold"/>
        </a:defRPr>
      </a:lvl8pPr>
      <a:lvl9pPr marL="1828800" algn="l" defTabSz="457200">
        <a:lnSpc>
          <a:spcPct val="85000"/>
        </a:lnSpc>
        <a:spcBef>
          <a:spcPct val="0"/>
        </a:spcBef>
        <a:spcAft>
          <a:spcPct val="0"/>
        </a:spcAft>
        <a:buNone/>
        <a:defRPr sz="2400">
          <a:solidFill>
            <a:schemeClr val="bg2"/>
          </a:solidFill>
          <a:latin typeface="Source Sans Pro Semibold"/>
          <a:ea typeface="Source Sans Pro Semibold"/>
          <a:cs typeface="Source Sans Pro Semibold"/>
        </a:defRPr>
      </a:lvl9pPr>
    </p:titleStyle>
    <p:bodyStyle>
      <a:lvl1pPr marL="288925" indent="-288925" algn="l" defTabSz="457200">
        <a:spcBef>
          <a:spcPct val="20000"/>
        </a:spcBef>
        <a:spcAft>
          <a:spcPct val="0"/>
        </a:spcAft>
        <a:buClr>
          <a:schemeClr val="bg2"/>
        </a:buClr>
        <a:buFont typeface="Wingdings"/>
        <a:buNone/>
        <a:defRPr sz="2400" kern="1200" spc="20">
          <a:solidFill>
            <a:schemeClr val="tx1"/>
          </a:solidFill>
          <a:latin typeface="Arial"/>
          <a:ea typeface="Arial"/>
          <a:cs typeface="Arial"/>
        </a:defRPr>
      </a:lvl1pPr>
      <a:lvl2pPr marL="288925" indent="-288925" algn="l" defTabSz="457200">
        <a:spcBef>
          <a:spcPct val="20000"/>
        </a:spcBef>
        <a:spcAft>
          <a:spcPct val="0"/>
        </a:spcAft>
        <a:buClr>
          <a:srgbClr val="660874"/>
        </a:buClr>
        <a:buFont typeface="Wingdings"/>
        <a:buChar char="§"/>
        <a:defRPr sz="2400" kern="1200">
          <a:solidFill>
            <a:schemeClr val="tx1"/>
          </a:solidFill>
          <a:latin typeface="Arial"/>
          <a:ea typeface="Arial"/>
          <a:cs typeface="Arial"/>
        </a:defRPr>
      </a:lvl2pPr>
      <a:lvl3pPr marL="569913" indent="-225425" algn="l" defTabSz="457200">
        <a:spcBef>
          <a:spcPct val="20000"/>
        </a:spcBef>
        <a:spcAft>
          <a:spcPct val="0"/>
        </a:spcAft>
        <a:buClr>
          <a:srgbClr val="660874"/>
        </a:buClr>
        <a:buSzPct val="102000"/>
        <a:buFont typeface="Source Sans Pro"/>
        <a:buChar char="›"/>
        <a:defRPr sz="2000" kern="1200">
          <a:solidFill>
            <a:schemeClr val="tx1"/>
          </a:solidFill>
          <a:latin typeface="Arial"/>
          <a:ea typeface="Arial"/>
          <a:cs typeface="Arial"/>
        </a:defRPr>
      </a:lvl3pPr>
      <a:lvl4pPr marL="914400" indent="-227013" algn="l" defTabSz="457200">
        <a:spcBef>
          <a:spcPct val="20000"/>
        </a:spcBef>
        <a:spcAft>
          <a:spcPct val="0"/>
        </a:spcAft>
        <a:buClr>
          <a:srgbClr val="660874"/>
        </a:buClr>
        <a:buFont typeface="Arial"/>
        <a:buChar char="•"/>
        <a:defRPr sz="2000" kern="1200">
          <a:solidFill>
            <a:schemeClr val="tx1"/>
          </a:solidFill>
          <a:latin typeface="Arial"/>
          <a:ea typeface="Arial"/>
          <a:cs typeface="Arial"/>
        </a:defRPr>
      </a:lvl4pPr>
      <a:lvl5pPr marL="1258888" indent="-227013" algn="l" defTabSz="457200">
        <a:spcBef>
          <a:spcPct val="20000"/>
        </a:spcBef>
        <a:spcAft>
          <a:spcPct val="0"/>
        </a:spcAft>
        <a:buClr>
          <a:srgbClr val="660874"/>
        </a:buClr>
        <a:buFont typeface="Source Sans Pro"/>
        <a:buChar char="–"/>
        <a:defRPr sz="2000" kern="1200">
          <a:solidFill>
            <a:schemeClr val="tx1"/>
          </a:solidFill>
          <a:latin typeface="Arial"/>
          <a:ea typeface="Arial"/>
          <a:cs typeface="Arial"/>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7.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slideLayout" Target="../slideLayouts/slideLayout3.xml"/><Relationship Id="rId6" Type="http://schemas.openxmlformats.org/officeDocument/2006/relationships/notesSlide" Target="../notesSlides/notesSlide7.xml"/><Relationship Id="rId7" Type="http://schemas.openxmlformats.org/officeDocument/2006/relationships/image" Target="../media/image9.png"/><Relationship Id="rId8"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microsoft.com/office/2007/relationships/media" Target="../media/media3.mp4"/><Relationship Id="rId2" Type="http://schemas.openxmlformats.org/officeDocument/2006/relationships/video" Target="../media/media3.mp4"/><Relationship Id="rId3" Type="http://schemas.openxmlformats.org/officeDocument/2006/relationships/slideLayout" Target="../slideLayouts/slideLayout3.xml"/><Relationship Id="rId4" Type="http://schemas.openxmlformats.org/officeDocument/2006/relationships/notesSlide" Target="../notesSlides/notesSlide10.xml"/><Relationship Id="rId5"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7.png"/><Relationship Id="rId6" Type="http://schemas.openxmlformats.org/officeDocument/2006/relationships/hyperlink" Target="https://lnsgroup.cc/research/FlyGM/" TargetMode="Externa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21.png"/><Relationship Id="rId4" Type="http://schemas.openxmlformats.org/officeDocument/2006/relationships/image" Target="../media/image5.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23.png"/><Relationship Id="rId4" Type="http://schemas.openxmlformats.org/officeDocument/2006/relationships/image" Target="../media/image8.jpe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chart" Target="../charts/chart1.xml"/><Relationship Id="rId7" Type="http://schemas.openxmlformats.org/officeDocument/2006/relationships/chart" Target="../charts/chart2.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hyperlink" Target="https://lnsgroup.cc/research/FlyGM/" TargetMode="External"/><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lnsgroup.cc/research/FlyGM/" TargetMode="External"/><Relationship Id="rId3" Type="http://schemas.openxmlformats.org/officeDocument/2006/relationships/hyperlink" Target="https://arxiv.org/abs/2602.17997" TargetMode="External"/><Relationship Id="rId4" Type="http://schemas.openxmlformats.org/officeDocument/2006/relationships/hyperlink" Target="https://codex.flywire.ai" TargetMode="External"/><Relationship Id="rId5" Type="http://schemas.openxmlformats.org/officeDocument/2006/relationships/hyperlink" Target="https://github.com/TuragaLab/flybody" TargetMode="External"/><Relationship Id="rId6" Type="http://schemas.openxmlformats.org/officeDocument/2006/relationships/notesSlide" Target="../notesSlides/notesSlide27.xml"/></Relationships>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9CB3A2-F40C-4BD9-86DE-C56CDB5300AE}"/>
              </a:ext>
            </a:extLst>
          </p:cNvPr>
          <p:cNvPicPr>
            <a:picLocks noChangeAspect="1"/>
          </p:cNvPicPr>
          <p:nvPr/>
        </p:nvPicPr>
        <p:blipFill>
          <a:blip r:embed="rId7"/>
          <a:stretch/>
        </p:blipFill>
        <p:spPr>
          <a:xfrm>
            <a:off x="457200" y="1024128"/>
            <a:ext cx="4005072" cy="2252852"/>
          </a:xfrm>
          <a:prstGeom prst="rect">
            <a:avLst/>
          </a:prstGeom>
        </p:spPr>
      </p:pic>
      <p:pic>
        <p:nvPicPr>
          <p:cNvPr id="4" name="Picture 3">
            <a:extLst>
              <a:ext uri="{FF2B5EF4-FFF2-40B4-BE49-F238E27FC236}">
                <a16:creationId xmlns:a16="http://schemas.microsoft.com/office/drawing/2014/main" id="{D44414EA-51AB-4D66-A1F8-6168D72E645F}"/>
              </a:ext>
            </a:extLst>
          </p:cNvPr>
          <p:cNvPicPr>
            <a:picLocks noChangeAspect="1"/>
          </p:cNvPicPr>
          <p:nvPr/>
        </p:nvPicPr>
        <p:blipFill>
          <a:blip r:embed="rId8"/>
          <a:stretch/>
        </p:blipFill>
        <p:spPr>
          <a:xfrm>
            <a:off x="4681728" y="1024128"/>
            <a:ext cx="4005072" cy="2252852"/>
          </a:xfrm>
          <a:prstGeom prst="rect">
            <a:avLst/>
          </a:prstGeom>
        </p:spPr>
      </p:pic>
      <p:pic>
        <p:nvPicPr>
          <p:cNvPr id="900" name="Silent locomotion.mp4">
            <a:hlinkClick r:id="" action="ppaction://media"/>
            <a:extLst>
              <a:ext uri="{FF2B5EF4-FFF2-40B4-BE49-F238E27FC236}">
                <a16:creationId xmlns:a16="http://schemas.microsoft.com/office/drawing/2014/main" id="{B6823228-6330-7722-C41C-84D2A0600ED1}"/>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024128"/>
            <a:ext cx="4005072" cy="2252852"/>
          </a:xfrm>
          <a:prstGeom prst="rect">
            <a:avLst/>
          </a:prstGeom>
        </p:spPr>
      </p:pic>
      <p:pic>
        <p:nvPicPr>
          <p:cNvPr id="901" name="Silent flight.mp4">
            <a:hlinkClick r:id="" action="ppaction://media"/>
            <a:extLst>
              <a:ext uri="{FF2B5EF4-FFF2-40B4-BE49-F238E27FC236}">
                <a16:creationId xmlns:a16="http://schemas.microsoft.com/office/drawing/2014/main" id="{B6823228-6330-7722-C41C-84D2A0600ED1}"/>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681728" y="1024128"/>
            <a:ext cx="4005072" cy="2252852"/>
          </a:xfrm>
          <a:prstGeom prst="rect">
            <a:avLst/>
          </a:prstGeom>
        </p:spPr>
      </p:pic>
      <p:sp>
        <p:nvSpPr>
          <p:cNvPr id="902" name="Kicker dot"/>
          <p:cNvSpPr/>
          <p:nvPr/>
        </p:nvSpPr>
        <p:spPr>
          <a:xfrm>
            <a:off x="457200" y="278892"/>
            <a:ext cx="77724" cy="77724"/>
          </a:xfrm>
          <a:prstGeom prst="ellipse">
            <a:avLst/>
          </a:prstGeom>
          <a:solidFill>
            <a:srgbClr val="D55E00"/>
          </a:solidFill>
          <a:ln>
            <a:noFill/>
          </a:ln>
        </p:spPr>
        <p:txBody>
          <a:bodyPr rtlCol="0" anchor="ctr"/>
          <a:lstStyle/>
          <a:p>
            <a:pPr algn="ctr"/>
          </a:p>
        </p:txBody>
      </p:sp>
      <p:sp>
        <p:nvSpPr>
          <p:cNvPr id="903" name="Kicker"/>
          <p:cNvSpPr txBox="1"/>
          <p:nvPr/>
        </p:nvSpPr>
        <p:spPr>
          <a:xfrm>
            <a:off x="594360" y="233172"/>
            <a:ext cx="5943600" cy="182880"/>
          </a:xfrm>
          <a:prstGeom prst="rect">
            <a:avLst/>
          </a:prstGeom>
          <a:noFill/>
        </p:spPr>
        <p:txBody>
          <a:bodyPr wrap="square" lIns="0" rIns="0" tIns="0" bIns="0" anchor="ctr">
            <a:noAutofit/>
          </a:bodyPr>
          <a:lstStyle/>
          <a:p>
            <a:pPr algn="l">
              <a:lnSpc>
                <a:spcPct val="108000"/>
              </a:lnSpc>
            </a:pPr>
            <a:r>
              <a:rPr sz="950" b="1" i="0" spc="120">
                <a:solidFill>
                  <a:srgbClr val="660874"/>
                </a:solidFill>
                <a:latin typeface="Arial"/>
              </a:rPr>
              <a:t>BEHAVIOR</a:t>
            </a:r>
          </a:p>
        </p:txBody>
      </p:sp>
      <p:sp>
        <p:nvSpPr>
          <p:cNvPr id="904" name="Title 903"/>
          <p:cNvSpPr>
            <a:spLocks noGrp="1"/>
          </p:cNvSpPr>
          <p:nvPr>
            <p:ph type="title"/>
          </p:nvPr>
        </p:nvSpPr>
        <p:spPr>
          <a:xfrm>
            <a:off x="457200" y="429768"/>
            <a:ext cx="8229600" cy="457200"/>
          </a:xfrm>
        </p:spPr>
        <p:txBody>
          <a:bodyPr wrap="square" anchor="t" lIns="0" rIns="0" tIns="0" bIns="0"/>
          <a:lstStyle/>
          <a:p>
            <a:pPr algn="l">
              <a:lnSpc>
                <a:spcPct val="100000"/>
              </a:lnSpc>
            </a:pPr>
            <a:r>
              <a:rPr sz="2400" b="1">
                <a:solidFill>
                  <a:srgbClr val="1F1A2E"/>
                </a:solidFill>
                <a:latin typeface="Arial"/>
              </a:rPr>
              <a:t>FlyGM drives coordinated walking, turning and flight</a:t>
            </a:r>
          </a:p>
        </p:txBody>
      </p:sp>
      <p:sp>
        <p:nvSpPr>
          <p:cNvPr id="905" name="TextBox 904"/>
          <p:cNvSpPr txBox="1"/>
          <p:nvPr/>
        </p:nvSpPr>
        <p:spPr>
          <a:xfrm>
            <a:off x="457200" y="3404997"/>
            <a:ext cx="4005072" cy="256032"/>
          </a:xfrm>
          <a:prstGeom prst="rect">
            <a:avLst/>
          </a:prstGeom>
          <a:noFill/>
        </p:spPr>
        <p:txBody>
          <a:bodyPr wrap="square" lIns="0" rIns="0" tIns="0" bIns="0" anchor="t">
            <a:noAutofit/>
          </a:bodyPr>
          <a:lstStyle/>
          <a:p>
            <a:pPr algn="l">
              <a:lnSpc>
                <a:spcPct val="108000"/>
              </a:lnSpc>
            </a:pPr>
            <a:r>
              <a:rPr sz="1300" b="1" i="0">
                <a:solidFill>
                  <a:srgbClr val="1F1A2E"/>
                </a:solidFill>
                <a:latin typeface="Arial"/>
              </a:rPr>
              <a:t>Walking policy</a:t>
            </a:r>
          </a:p>
        </p:txBody>
      </p:sp>
      <p:sp>
        <p:nvSpPr>
          <p:cNvPr id="906" name="TextBox 905"/>
          <p:cNvSpPr txBox="1"/>
          <p:nvPr/>
        </p:nvSpPr>
        <p:spPr>
          <a:xfrm>
            <a:off x="4681728" y="3404997"/>
            <a:ext cx="4005072" cy="256032"/>
          </a:xfrm>
          <a:prstGeom prst="rect">
            <a:avLst/>
          </a:prstGeom>
          <a:noFill/>
        </p:spPr>
        <p:txBody>
          <a:bodyPr wrap="square" lIns="0" rIns="0" tIns="0" bIns="0" anchor="t">
            <a:noAutofit/>
          </a:bodyPr>
          <a:lstStyle/>
          <a:p>
            <a:pPr algn="l">
              <a:lnSpc>
                <a:spcPct val="108000"/>
              </a:lnSpc>
            </a:pPr>
            <a:r>
              <a:rPr sz="1300" b="1" i="0">
                <a:solidFill>
                  <a:srgbClr val="1F1A2E"/>
                </a:solidFill>
                <a:latin typeface="Arial"/>
              </a:rPr>
              <a:t>Flight policy</a:t>
            </a:r>
            <a:r>
              <a:rPr sz="1300" b="0" i="0">
                <a:solidFill>
                  <a:srgbClr val="7A7387"/>
                </a:solidFill>
                <a:latin typeface="Arial"/>
              </a:rPr>
              <a:t>  (trained separately)</a:t>
            </a:r>
          </a:p>
        </p:txBody>
      </p:sp>
      <p:sp>
        <p:nvSpPr>
          <p:cNvPr id="907" name="Rounded Rectangle 906"/>
          <p:cNvSpPr/>
          <p:nvPr/>
        </p:nvSpPr>
        <p:spPr>
          <a:xfrm>
            <a:off x="457200" y="3734181"/>
            <a:ext cx="1453896" cy="329184"/>
          </a:xfrm>
          <a:prstGeom prst="roundRect">
            <a:avLst>
              <a:gd name="adj" fmla="val 50000"/>
            </a:avLst>
          </a:prstGeom>
          <a:solidFill>
            <a:srgbClr val="F4F1F8"/>
          </a:solidFill>
          <a:ln>
            <a:noFill/>
          </a:ln>
        </p:spPr>
        <p:txBody>
          <a:bodyPr rtlCol="0" anchor="ctr"/>
          <a:lstStyle/>
          <a:p>
            <a:pPr algn="ctr"/>
          </a:p>
        </p:txBody>
      </p:sp>
      <p:sp>
        <p:nvSpPr>
          <p:cNvPr id="908" name="TextBox 907"/>
          <p:cNvSpPr txBox="1"/>
          <p:nvPr/>
        </p:nvSpPr>
        <p:spPr>
          <a:xfrm>
            <a:off x="457200" y="3734181"/>
            <a:ext cx="1453896" cy="329184"/>
          </a:xfrm>
          <a:prstGeom prst="rect">
            <a:avLst/>
          </a:prstGeom>
          <a:noFill/>
        </p:spPr>
        <p:txBody>
          <a:bodyPr wrap="square" lIns="0" rIns="0" tIns="0" bIns="0" anchor="ctr">
            <a:noAutofit/>
          </a:bodyPr>
          <a:lstStyle/>
          <a:p>
            <a:pPr algn="ctr">
              <a:lnSpc>
                <a:spcPct val="108000"/>
              </a:lnSpc>
            </a:pPr>
            <a:r>
              <a:rPr sz="1000" b="1" i="0">
                <a:solidFill>
                  <a:srgbClr val="1F1A2E"/>
                </a:solidFill>
                <a:latin typeface="Arial"/>
              </a:rPr>
              <a:t>Gait onset</a:t>
            </a:r>
            <a:r>
              <a:rPr sz="1000" b="1" i="0">
                <a:solidFill>
                  <a:srgbClr val="D55E00"/>
                </a:solidFill>
                <a:latin typeface="Arial"/>
              </a:rPr>
              <a:t>  ≈ 80 ms</a:t>
            </a:r>
          </a:p>
        </p:txBody>
      </p:sp>
      <p:sp>
        <p:nvSpPr>
          <p:cNvPr id="909" name="Rounded Rectangle 908"/>
          <p:cNvSpPr/>
          <p:nvPr/>
        </p:nvSpPr>
        <p:spPr>
          <a:xfrm>
            <a:off x="2002536" y="3734181"/>
            <a:ext cx="1453896" cy="329184"/>
          </a:xfrm>
          <a:prstGeom prst="roundRect">
            <a:avLst>
              <a:gd name="adj" fmla="val 50000"/>
            </a:avLst>
          </a:prstGeom>
          <a:solidFill>
            <a:srgbClr val="F4F1F8"/>
          </a:solidFill>
          <a:ln>
            <a:noFill/>
          </a:ln>
        </p:spPr>
        <p:txBody>
          <a:bodyPr rtlCol="0" anchor="ctr"/>
          <a:lstStyle/>
          <a:p>
            <a:pPr algn="ctr"/>
          </a:p>
        </p:txBody>
      </p:sp>
      <p:sp>
        <p:nvSpPr>
          <p:cNvPr id="910" name="TextBox 909"/>
          <p:cNvSpPr txBox="1"/>
          <p:nvPr/>
        </p:nvSpPr>
        <p:spPr>
          <a:xfrm>
            <a:off x="2002536" y="3734181"/>
            <a:ext cx="1453896" cy="329184"/>
          </a:xfrm>
          <a:prstGeom prst="rect">
            <a:avLst/>
          </a:prstGeom>
          <a:noFill/>
        </p:spPr>
        <p:txBody>
          <a:bodyPr wrap="square" lIns="0" rIns="0" tIns="0" bIns="0" anchor="ctr">
            <a:noAutofit/>
          </a:bodyPr>
          <a:lstStyle/>
          <a:p>
            <a:pPr algn="ctr">
              <a:lnSpc>
                <a:spcPct val="108000"/>
              </a:lnSpc>
            </a:pPr>
            <a:r>
              <a:rPr sz="1000" b="1" i="0">
                <a:solidFill>
                  <a:srgbClr val="1F1A2E"/>
                </a:solidFill>
                <a:latin typeface="Arial"/>
              </a:rPr>
              <a:t>Tripod gait</a:t>
            </a:r>
            <a:r>
              <a:rPr sz="1000" b="1" i="0">
                <a:solidFill>
                  <a:srgbClr val="D55E00"/>
                </a:solidFill>
                <a:latin typeface="Arial"/>
              </a:rPr>
              <a:t>  3 cm/s</a:t>
            </a:r>
          </a:p>
        </p:txBody>
      </p:sp>
      <p:sp>
        <p:nvSpPr>
          <p:cNvPr id="911" name="Rounded Rectangle 910"/>
          <p:cNvSpPr/>
          <p:nvPr/>
        </p:nvSpPr>
        <p:spPr>
          <a:xfrm>
            <a:off x="3547872" y="3734181"/>
            <a:ext cx="1197864" cy="329184"/>
          </a:xfrm>
          <a:prstGeom prst="roundRect">
            <a:avLst>
              <a:gd name="adj" fmla="val 50000"/>
            </a:avLst>
          </a:prstGeom>
          <a:solidFill>
            <a:srgbClr val="F4F1F8"/>
          </a:solidFill>
          <a:ln>
            <a:noFill/>
          </a:ln>
        </p:spPr>
        <p:txBody>
          <a:bodyPr rtlCol="0" anchor="ctr"/>
          <a:lstStyle/>
          <a:p>
            <a:pPr algn="ctr"/>
          </a:p>
        </p:txBody>
      </p:sp>
      <p:sp>
        <p:nvSpPr>
          <p:cNvPr id="912" name="TextBox 911"/>
          <p:cNvSpPr txBox="1"/>
          <p:nvPr/>
        </p:nvSpPr>
        <p:spPr>
          <a:xfrm>
            <a:off x="3547872" y="3734181"/>
            <a:ext cx="1197864" cy="329184"/>
          </a:xfrm>
          <a:prstGeom prst="rect">
            <a:avLst/>
          </a:prstGeom>
          <a:noFill/>
        </p:spPr>
        <p:txBody>
          <a:bodyPr wrap="square" lIns="0" rIns="0" tIns="0" bIns="0" anchor="ctr">
            <a:noAutofit/>
          </a:bodyPr>
          <a:lstStyle/>
          <a:p>
            <a:pPr algn="ctr">
              <a:lnSpc>
                <a:spcPct val="108000"/>
              </a:lnSpc>
            </a:pPr>
            <a:r>
              <a:rPr sz="1000" b="1" i="0">
                <a:solidFill>
                  <a:srgbClr val="1F1A2E"/>
                </a:solidFill>
                <a:latin typeface="Arial"/>
              </a:rPr>
              <a:t>Turns</a:t>
            </a:r>
            <a:r>
              <a:rPr sz="1000" b="1" i="0">
                <a:solidFill>
                  <a:srgbClr val="D55E00"/>
                </a:solidFill>
                <a:latin typeface="Arial"/>
              </a:rPr>
              <a:t>  10 rad/s</a:t>
            </a:r>
          </a:p>
        </p:txBody>
      </p:sp>
      <p:sp>
        <p:nvSpPr>
          <p:cNvPr id="913" name="Rounded Rectangle 912"/>
          <p:cNvSpPr/>
          <p:nvPr/>
        </p:nvSpPr>
        <p:spPr>
          <a:xfrm>
            <a:off x="4681728" y="3734181"/>
            <a:ext cx="1709928" cy="329184"/>
          </a:xfrm>
          <a:prstGeom prst="roundRect">
            <a:avLst>
              <a:gd name="adj" fmla="val 50000"/>
            </a:avLst>
          </a:prstGeom>
          <a:solidFill>
            <a:srgbClr val="F4F1F8"/>
          </a:solidFill>
          <a:ln>
            <a:noFill/>
          </a:ln>
        </p:spPr>
        <p:txBody>
          <a:bodyPr rtlCol="0" anchor="ctr"/>
          <a:lstStyle/>
          <a:p>
            <a:pPr algn="ctr"/>
          </a:p>
        </p:txBody>
      </p:sp>
      <p:sp>
        <p:nvSpPr>
          <p:cNvPr id="914" name="TextBox 913"/>
          <p:cNvSpPr txBox="1"/>
          <p:nvPr/>
        </p:nvSpPr>
        <p:spPr>
          <a:xfrm>
            <a:off x="4681728" y="3734181"/>
            <a:ext cx="1709928" cy="329184"/>
          </a:xfrm>
          <a:prstGeom prst="rect">
            <a:avLst/>
          </a:prstGeom>
          <a:noFill/>
        </p:spPr>
        <p:txBody>
          <a:bodyPr wrap="square" lIns="0" rIns="0" tIns="0" bIns="0" anchor="ctr">
            <a:noAutofit/>
          </a:bodyPr>
          <a:lstStyle/>
          <a:p>
            <a:pPr algn="ctr">
              <a:lnSpc>
                <a:spcPct val="108000"/>
              </a:lnSpc>
            </a:pPr>
            <a:r>
              <a:rPr sz="1000" b="1" i="0">
                <a:solidFill>
                  <a:srgbClr val="1F1A2E"/>
                </a:solidFill>
                <a:latin typeface="Arial"/>
              </a:rPr>
              <a:t>Forward flight</a:t>
            </a:r>
            <a:r>
              <a:rPr sz="1000" b="1" i="0">
                <a:solidFill>
                  <a:srgbClr val="D55E00"/>
                </a:solidFill>
                <a:latin typeface="Arial"/>
              </a:rPr>
              <a:t>  20 cm/s</a:t>
            </a:r>
          </a:p>
        </p:txBody>
      </p:sp>
      <p:sp>
        <p:nvSpPr>
          <p:cNvPr id="915" name="Rounded Rectangle 914"/>
          <p:cNvSpPr/>
          <p:nvPr/>
        </p:nvSpPr>
        <p:spPr>
          <a:xfrm>
            <a:off x="6483096" y="3734181"/>
            <a:ext cx="2157984" cy="329184"/>
          </a:xfrm>
          <a:prstGeom prst="roundRect">
            <a:avLst>
              <a:gd name="adj" fmla="val 50000"/>
            </a:avLst>
          </a:prstGeom>
          <a:solidFill>
            <a:srgbClr val="F4F1F8"/>
          </a:solidFill>
          <a:ln>
            <a:noFill/>
          </a:ln>
        </p:spPr>
        <p:txBody>
          <a:bodyPr rtlCol="0" anchor="ctr"/>
          <a:lstStyle/>
          <a:p>
            <a:pPr algn="ctr"/>
          </a:p>
        </p:txBody>
      </p:sp>
      <p:sp>
        <p:nvSpPr>
          <p:cNvPr id="916" name="TextBox 915"/>
          <p:cNvSpPr txBox="1"/>
          <p:nvPr/>
        </p:nvSpPr>
        <p:spPr>
          <a:xfrm>
            <a:off x="6483096" y="3734181"/>
            <a:ext cx="2157984" cy="329184"/>
          </a:xfrm>
          <a:prstGeom prst="rect">
            <a:avLst/>
          </a:prstGeom>
          <a:noFill/>
        </p:spPr>
        <p:txBody>
          <a:bodyPr wrap="square" lIns="0" rIns="0" tIns="0" bIns="0" anchor="ctr">
            <a:noAutofit/>
          </a:bodyPr>
          <a:lstStyle/>
          <a:p>
            <a:pPr algn="ctr">
              <a:lnSpc>
                <a:spcPct val="108000"/>
              </a:lnSpc>
            </a:pPr>
            <a:r>
              <a:rPr sz="1000" b="1" i="0">
                <a:solidFill>
                  <a:srgbClr val="1F1A2E"/>
                </a:solidFill>
                <a:latin typeface="Arial"/>
              </a:rPr>
              <a:t>Wing-beat generator modulation</a:t>
            </a:r>
            <a:r>
              <a:rPr sz="1000" b="1" i="0">
                <a:solidFill>
                  <a:srgbClr val="D55E00"/>
                </a:solidFill>
                <a:latin typeface="Arial"/>
              </a:rPr>
              <a:t/>
            </a:r>
          </a:p>
        </p:txBody>
      </p:sp>
      <p:sp>
        <p:nvSpPr>
          <p:cNvPr id="917" name="TextBox 916"/>
          <p:cNvSpPr txBox="1"/>
          <p:nvPr/>
        </p:nvSpPr>
        <p:spPr>
          <a:xfrm>
            <a:off x="457200" y="4173093"/>
            <a:ext cx="8229600" cy="219456"/>
          </a:xfrm>
          <a:prstGeom prst="rect">
            <a:avLst/>
          </a:prstGeom>
          <a:noFill/>
        </p:spPr>
        <p:txBody>
          <a:bodyPr wrap="square" lIns="0" rIns="0" tIns="0" bIns="0" anchor="t">
            <a:noAutofit/>
          </a:bodyPr>
          <a:lstStyle/>
          <a:p>
            <a:pPr algn="l">
              <a:lnSpc>
                <a:spcPct val="108000"/>
              </a:lnSpc>
            </a:pPr>
            <a:r>
              <a:rPr sz="950" b="0" i="1">
                <a:solidFill>
                  <a:srgbClr val="7A7387"/>
                </a:solidFill>
                <a:latin typeface="Arial"/>
              </a:rPr>
              <a:t>Click a video to play. Playback is slowed for viewing; read the simulation timestamps.</a:t>
            </a:r>
          </a:p>
        </p:txBody>
      </p:sp>
      <p:sp>
        <p:nvSpPr>
          <p:cNvPr id="918" name="Source"/>
          <p:cNvSpPr txBox="1"/>
          <p:nvPr/>
        </p:nvSpPr>
        <p:spPr>
          <a:xfrm>
            <a:off x="457200" y="4791456"/>
            <a:ext cx="7589520" cy="201168"/>
          </a:xfrm>
          <a:prstGeom prst="rect">
            <a:avLst/>
          </a:prstGeom>
          <a:noFill/>
        </p:spPr>
        <p:txBody>
          <a:bodyPr wrap="square" lIns="0" rIns="0" tIns="0" bIns="0" anchor="ctr">
            <a:noAutofit/>
          </a:bodyPr>
          <a:lstStyle/>
          <a:p>
            <a:pPr algn="l">
              <a:lnSpc>
                <a:spcPct val="108000"/>
              </a:lnSpc>
            </a:pPr>
            <a:r>
              <a:rPr sz="850" b="0" i="0">
                <a:solidFill>
                  <a:srgbClr val="7A7387"/>
                </a:solidFill>
                <a:latin typeface="Arial"/>
              </a:rPr>
              <a:t>FlyGM [1]: §3.2, Figs. 3–4. Left panels: force-directed connectome layout with afferent, intrinsic and efferent activity.</a:t>
            </a:r>
          </a:p>
        </p:txBody>
      </p:sp>
      <p:sp>
        <p:nvSpPr>
          <p:cNvPr id="919" name="Slide number"/>
          <p:cNvSpPr txBox="1"/>
          <p:nvPr/>
        </p:nvSpPr>
        <p:spPr>
          <a:xfrm>
            <a:off x="8229600" y="4791456"/>
            <a:ext cx="457200" cy="201168"/>
          </a:xfrm>
          <a:prstGeom prst="rect">
            <a:avLst/>
          </a:prstGeom>
          <a:noFill/>
        </p:spPr>
        <p:txBody>
          <a:bodyPr wrap="none" lIns="0" rIns="0" tIns="0" bIns="0" anchor="ctr">
            <a:spAutoFit/>
          </a:bodyPr>
          <a:lstStyle/>
          <a:p>
            <a:pPr algn="r"/>
            <a:fld id="{5C1D9F7E-2B47-4C0B-9E55-6B0D1A3E1F01}" type="slidenum">
              <a:rPr lang="en-US" sz="900">
                <a:solidFill>
                  <a:srgbClr val="7A7387"/>
                </a:solidFill>
                <a:latin typeface="Arial"/>
              </a:rPr>
              <a:t>#</a:t>
            </a:fld>
          </a:p>
        </p:txBody>
      </p:sp>
    </p:spTree>
    <p:extLst>
      <p:ext uri="{BB962C8B-B14F-4D97-AF65-F5344CB8AC3E}">
        <p14:creationId xmlns:p14="http://schemas.microsoft.com/office/powerpoint/2010/main" val="1526145807"/>
      </p:ext>
    </p:extLst>
  </p:cSld>
  <p:clrMapOvr>
    <a:masterClrMapping/>
  </p:clrMapOvr>
  <p:timing>
    <p:tnLst>
      <p:par>
        <p:cTn id="1" dur="indefinite" restart="never" nodeType="tmRoot">
          <p:childTnLst>
            <p:video>
              <p:cMediaNode vol="0">
                <p:cTn id="2" fill="hold" display="0">
                  <p:stCondLst>
                    <p:cond delay="indefinite"/>
                  </p:stCondLst>
                </p:cTn>
                <p:tgtEl>
                  <p:spTgt spid="900"/>
                </p:tgtEl>
              </p:cMediaNode>
            </p:video>
            <p:video>
              <p:cMediaNode vol="0">
                <p:cTn id="3" fill="hold" display="0">
                  <p:stCondLst>
                    <p:cond delay="indefinite"/>
                  </p:stCondLst>
                </p:cTn>
                <p:tgtEl>
                  <p:spTgt spid="901"/>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80AA9A-E158-495E-B330-BADB84AFD8E7}"/>
              </a:ext>
            </a:extLst>
          </p:cNvPr>
          <p:cNvPicPr>
            <a:picLocks noChangeAspect="1"/>
          </p:cNvPicPr>
          <p:nvPr/>
        </p:nvPicPr>
        <p:blipFill>
          <a:blip r:embed="rId5"/>
          <a:stretch/>
        </p:blipFill>
        <p:spPr>
          <a:xfrm>
            <a:off x="457200" y="987552"/>
            <a:ext cx="8229600" cy="3643312"/>
          </a:xfrm>
          <a:prstGeom prst="rect">
            <a:avLst/>
          </a:prstGeom>
        </p:spPr>
      </p:pic>
      <p:pic>
        <p:nvPicPr>
          <p:cNvPr id="900" name="Silent sequence_sync.mp4">
            <a:hlinkClick r:id="" action="ppaction://media"/>
            <a:extLst>
              <a:ext uri="{FF2B5EF4-FFF2-40B4-BE49-F238E27FC236}">
                <a16:creationId xmlns:a16="http://schemas.microsoft.com/office/drawing/2014/main" id="{B6823228-6330-7722-C41C-84D2A0600ED1}"/>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57200" y="987552"/>
            <a:ext cx="8229600" cy="3643312"/>
          </a:xfrm>
          <a:prstGeom prst="rect">
            <a:avLst/>
          </a:prstGeom>
        </p:spPr>
      </p:pic>
      <p:sp>
        <p:nvSpPr>
          <p:cNvPr id="901" name="Kicker dot"/>
          <p:cNvSpPr/>
          <p:nvPr/>
        </p:nvSpPr>
        <p:spPr>
          <a:xfrm>
            <a:off x="457200" y="278892"/>
            <a:ext cx="77724" cy="77724"/>
          </a:xfrm>
          <a:prstGeom prst="ellipse">
            <a:avLst/>
          </a:prstGeom>
          <a:solidFill>
            <a:srgbClr val="D55E00"/>
          </a:solidFill>
          <a:ln>
            <a:noFill/>
          </a:ln>
        </p:spPr>
        <p:txBody>
          <a:bodyPr rtlCol="0" anchor="ctr"/>
          <a:lstStyle/>
          <a:p>
            <a:pPr algn="ctr"/>
          </a:p>
        </p:txBody>
      </p:sp>
      <p:sp>
        <p:nvSpPr>
          <p:cNvPr id="902" name="Kicker"/>
          <p:cNvSpPr txBox="1"/>
          <p:nvPr/>
        </p:nvSpPr>
        <p:spPr>
          <a:xfrm>
            <a:off x="594360" y="233172"/>
            <a:ext cx="5943600" cy="182880"/>
          </a:xfrm>
          <a:prstGeom prst="rect">
            <a:avLst/>
          </a:prstGeom>
          <a:noFill/>
        </p:spPr>
        <p:txBody>
          <a:bodyPr wrap="square" lIns="0" rIns="0" tIns="0" bIns="0" anchor="ctr">
            <a:noAutofit/>
          </a:bodyPr>
          <a:lstStyle/>
          <a:p>
            <a:pPr algn="l">
              <a:lnSpc>
                <a:spcPct val="108000"/>
              </a:lnSpc>
            </a:pPr>
            <a:r>
              <a:rPr sz="950" b="1" i="0" spc="120">
                <a:solidFill>
                  <a:srgbClr val="660874"/>
                </a:solidFill>
                <a:latin typeface="Arial"/>
              </a:rPr>
              <a:t>INSIDE THE MODEL</a:t>
            </a:r>
          </a:p>
        </p:txBody>
      </p:sp>
      <p:sp>
        <p:nvSpPr>
          <p:cNvPr id="903" name="Title 902"/>
          <p:cNvSpPr>
            <a:spLocks noGrp="1"/>
          </p:cNvSpPr>
          <p:nvPr>
            <p:ph type="title"/>
          </p:nvPr>
        </p:nvSpPr>
        <p:spPr>
          <a:xfrm>
            <a:off x="457200" y="429768"/>
            <a:ext cx="8229600" cy="457200"/>
          </a:xfrm>
        </p:spPr>
        <p:txBody>
          <a:bodyPr wrap="square" anchor="t" lIns="0" rIns="0" tIns="0" bIns="0"/>
          <a:lstStyle/>
          <a:p>
            <a:pPr algn="l">
              <a:lnSpc>
                <a:spcPct val="100000"/>
              </a:lnSpc>
            </a:pPr>
            <a:r>
              <a:rPr sz="2400" b="1">
                <a:solidFill>
                  <a:srgbClr val="1F1A2E"/>
                </a:solidFill>
                <a:latin typeface="Arial"/>
              </a:rPr>
              <a:t>One rollout links walking, pausing and turning</a:t>
            </a:r>
          </a:p>
        </p:txBody>
      </p:sp>
      <p:sp>
        <p:nvSpPr>
          <p:cNvPr id="904" name="Source"/>
          <p:cNvSpPr txBox="1"/>
          <p:nvPr/>
        </p:nvSpPr>
        <p:spPr>
          <a:xfrm>
            <a:off x="457200" y="4791456"/>
            <a:ext cx="7589520" cy="201168"/>
          </a:xfrm>
          <a:prstGeom prst="rect">
            <a:avLst/>
          </a:prstGeom>
          <a:noFill/>
        </p:spPr>
        <p:txBody>
          <a:bodyPr wrap="square" lIns="0" rIns="0" tIns="0" bIns="0" anchor="ctr">
            <a:noAutofit/>
          </a:bodyPr>
          <a:lstStyle/>
          <a:p>
            <a:pPr algn="l">
              <a:lnSpc>
                <a:spcPct val="108000"/>
              </a:lnSpc>
            </a:pPr>
            <a:r>
              <a:rPr sz="850" b="0" i="0">
                <a:solidFill>
                  <a:srgbClr val="7A7387"/>
                </a:solidFill>
                <a:latin typeface="Arial"/>
              </a:rPr>
              <a:t>Original rollout: 0–768 ms · click to play at 10× slow motion · illustrative archived recording; activity panel from FlyGM [1] Fig. 5.</a:t>
            </a:r>
          </a:p>
        </p:txBody>
      </p:sp>
      <p:sp>
        <p:nvSpPr>
          <p:cNvPr id="905" name="Slide number"/>
          <p:cNvSpPr txBox="1"/>
          <p:nvPr/>
        </p:nvSpPr>
        <p:spPr>
          <a:xfrm>
            <a:off x="8229600" y="4791456"/>
            <a:ext cx="457200" cy="201168"/>
          </a:xfrm>
          <a:prstGeom prst="rect">
            <a:avLst/>
          </a:prstGeom>
          <a:noFill/>
        </p:spPr>
        <p:txBody>
          <a:bodyPr wrap="none" lIns="0" rIns="0" tIns="0" bIns="0" anchor="ctr">
            <a:spAutoFit/>
          </a:bodyPr>
          <a:lstStyle/>
          <a:p>
            <a:pPr algn="r"/>
            <a:fld id="{5C1D9F7E-2B47-4C0B-9E55-6B0D1A3E1F01}" type="slidenum">
              <a:rPr lang="en-US" sz="900">
                <a:solidFill>
                  <a:srgbClr val="7A7387"/>
                </a:solidFill>
                <a:latin typeface="Arial"/>
              </a:rPr>
              <a:t>#</a:t>
            </a:fld>
          </a:p>
        </p:txBody>
      </p:sp>
    </p:spTree>
    <p:extLst>
      <p:ext uri="{BB962C8B-B14F-4D97-AF65-F5344CB8AC3E}">
        <p14:creationId xmlns:p14="http://schemas.microsoft.com/office/powerpoint/2010/main" val="1526145807"/>
      </p:ext>
    </p:extLst>
  </p:cSld>
  <p:clrMapOvr>
    <a:masterClrMapping/>
  </p:clrMapOvr>
  <p:timing>
    <p:tnLst>
      <p:par>
        <p:cTn id="1" dur="indefinite" restart="never" nodeType="tmRoot">
          <p:childTnLst>
            <p:video>
              <p:cMediaNode vol="0">
                <p:cTn id="2" fill="hold" display="0">
                  <p:stCondLst>
                    <p:cond delay="indefinite"/>
                  </p:stCondLst>
                </p:cTn>
                <p:tgtEl>
                  <p:spTgt spid="900"/>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B504B2-FA60-43A7-91FF-68CD0D8CA4F5}"/>
              </a:ext>
            </a:extLst>
          </p:cNvPr>
          <p:cNvPicPr>
            <a:picLocks noChangeAspect="1"/>
          </p:cNvPicPr>
          <p:nvPr/>
        </p:nvPicPr>
        <p:blipFill>
          <a:blip r:embed="rId3"/>
          <a:stretch/>
        </p:blipFill>
        <p:spPr>
          <a:xfrm>
            <a:off x="1724025" y="1252347"/>
            <a:ext cx="6191250" cy="2809875"/>
          </a:xfrm>
          <a:prstGeom prst="rect">
            <a:avLst/>
          </a:prstGeom>
        </p:spPr>
      </p:pic>
      <p:sp>
        <p:nvSpPr>
          <p:cNvPr id="4" name="Ascending">
            <a:extLst>
              <a:ext uri="{FF2B5EF4-FFF2-40B4-BE49-F238E27FC236}">
                <a16:creationId xmlns:a16="http://schemas.microsoft.com/office/drawing/2014/main" id="{39937105-EFC6-49EB-A424-68793215ED0E}"/>
              </a:ext>
            </a:extLst>
          </p:cNvPr>
          <p:cNvSpPr>
            <a:spLocks noGrp="1"/>
          </p:cNvSpPr>
          <p:nvPr/>
        </p:nvSpPr>
        <p:spPr>
          <a:xfrm>
            <a:off x="381000" y="1433322"/>
            <a:ext cx="1285875" cy="238125"/>
          </a:xfrm>
          <a:prstGeom prst="rect">
            <a:avLst/>
          </a:prstGeom>
          <a:noFill/>
          <a:ln w="0">
            <a:noFill/>
          </a:ln>
        </p:spPr>
        <p:txBody>
          <a:bodyPr wrap="square" lIns="0" tIns="0" rIns="0" bIns="0" anchor="ctr"/>
          <a:lstStyle>
            <a:defPPr algn="r">
              <a:defRPr sz="1275" b="0">
                <a:solidFill>
                  <a:srgbClr val="555555"/>
                </a:solidFill>
                <a:latin typeface="Arial"/>
                <a:ea typeface="Arial"/>
                <a:cs typeface="Arial"/>
              </a:defRPr>
            </a:defPPr>
            <a:lvl1pPr algn="r">
              <a:defRPr sz="1275" b="0">
                <a:solidFill>
                  <a:srgbClr val="555555"/>
                </a:solidFill>
                <a:latin typeface="Arial"/>
                <a:ea typeface="Arial"/>
                <a:cs typeface="Arial"/>
              </a:defRPr>
            </a:lvl1pPr>
            <a:lvl2pPr algn="r">
              <a:defRPr sz="1275" b="0">
                <a:solidFill>
                  <a:srgbClr val="555555"/>
                </a:solidFill>
                <a:latin typeface="Arial"/>
                <a:ea typeface="Arial"/>
                <a:cs typeface="Arial"/>
              </a:defRPr>
            </a:lvl2pPr>
            <a:lvl3pPr algn="r">
              <a:defRPr sz="1275" b="0">
                <a:solidFill>
                  <a:srgbClr val="555555"/>
                </a:solidFill>
                <a:latin typeface="Arial"/>
                <a:ea typeface="Arial"/>
                <a:cs typeface="Arial"/>
              </a:defRPr>
            </a:lvl3pPr>
            <a:lvl4pPr algn="r">
              <a:defRPr sz="1275" b="0">
                <a:solidFill>
                  <a:srgbClr val="555555"/>
                </a:solidFill>
                <a:latin typeface="Arial"/>
                <a:ea typeface="Arial"/>
                <a:cs typeface="Arial"/>
              </a:defRPr>
            </a:lvl4pPr>
            <a:lvl5pPr algn="r">
              <a:defRPr sz="1275" b="0">
                <a:solidFill>
                  <a:srgbClr val="555555"/>
                </a:solidFill>
                <a:latin typeface="Arial"/>
                <a:ea typeface="Arial"/>
                <a:cs typeface="Arial"/>
              </a:defRPr>
            </a:lvl5pPr>
            <a:lvl6pPr algn="r">
              <a:defRPr sz="1275" b="0">
                <a:solidFill>
                  <a:srgbClr val="555555"/>
                </a:solidFill>
                <a:latin typeface="Arial"/>
                <a:ea typeface="Arial"/>
                <a:cs typeface="Arial"/>
              </a:defRPr>
            </a:lvl6pPr>
            <a:lvl7pPr algn="r">
              <a:defRPr sz="1275" b="0">
                <a:solidFill>
                  <a:srgbClr val="555555"/>
                </a:solidFill>
                <a:latin typeface="Arial"/>
                <a:ea typeface="Arial"/>
                <a:cs typeface="Arial"/>
              </a:defRPr>
            </a:lvl7pPr>
            <a:lvl8pPr algn="r">
              <a:defRPr sz="1275" b="0">
                <a:solidFill>
                  <a:srgbClr val="555555"/>
                </a:solidFill>
                <a:latin typeface="Arial"/>
                <a:ea typeface="Arial"/>
                <a:cs typeface="Arial"/>
              </a:defRPr>
            </a:lvl8pPr>
            <a:lvl9pPr algn="r">
              <a:defRPr sz="1275" b="0">
                <a:solidFill>
                  <a:srgbClr val="555555"/>
                </a:solidFill>
                <a:latin typeface="Arial"/>
                <a:ea typeface="Arial"/>
                <a:cs typeface="Arial"/>
              </a:defRPr>
            </a:lvl9pPr>
          </a:lstStyle>
          <a:p>
            <a:pPr algn="r">
              <a:defRPr sz="1275" b="0">
                <a:solidFill>
                  <a:srgbClr val="555555"/>
                </a:solidFill>
                <a:latin typeface="Arial"/>
                <a:ea typeface="Arial"/>
                <a:cs typeface="Arial"/>
              </a:defRPr>
            </a:pPr>
            <a:r>
              <a:rPr sz="1275" b="0">
                <a:solidFill>
                  <a:srgbClr val="555555"/>
                </a:solidFill>
                <a:latin typeface="Arial"/>
                <a:ea typeface="Arial"/>
                <a:cs typeface="Arial"/>
              </a:rPr>
              <a:t>Ascending</a:t>
            </a:r>
          </a:p>
        </p:txBody>
      </p:sp>
      <p:sp>
        <p:nvSpPr>
          <p:cNvPr id="5" name="Sensory">
            <a:extLst>
              <a:ext uri="{FF2B5EF4-FFF2-40B4-BE49-F238E27FC236}">
                <a16:creationId xmlns:a16="http://schemas.microsoft.com/office/drawing/2014/main" id="{3B6D53DF-DC21-4927-8FF5-E5B306BE3668}"/>
              </a:ext>
            </a:extLst>
          </p:cNvPr>
          <p:cNvSpPr>
            <a:spLocks noGrp="1"/>
          </p:cNvSpPr>
          <p:nvPr/>
        </p:nvSpPr>
        <p:spPr>
          <a:xfrm>
            <a:off x="381000" y="1728597"/>
            <a:ext cx="1285875" cy="238125"/>
          </a:xfrm>
          <a:prstGeom prst="rect">
            <a:avLst/>
          </a:prstGeom>
          <a:noFill/>
          <a:ln w="0">
            <a:noFill/>
          </a:ln>
        </p:spPr>
        <p:txBody>
          <a:bodyPr wrap="square" lIns="0" tIns="0" rIns="0" bIns="0" anchor="ctr"/>
          <a:lstStyle>
            <a:defPPr algn="r">
              <a:defRPr sz="1275" b="0">
                <a:solidFill>
                  <a:srgbClr val="555555"/>
                </a:solidFill>
                <a:latin typeface="Arial"/>
                <a:ea typeface="Arial"/>
                <a:cs typeface="Arial"/>
              </a:defRPr>
            </a:defPPr>
            <a:lvl1pPr algn="r">
              <a:defRPr sz="1275" b="0">
                <a:solidFill>
                  <a:srgbClr val="555555"/>
                </a:solidFill>
                <a:latin typeface="Arial"/>
                <a:ea typeface="Arial"/>
                <a:cs typeface="Arial"/>
              </a:defRPr>
            </a:lvl1pPr>
            <a:lvl2pPr algn="r">
              <a:defRPr sz="1275" b="0">
                <a:solidFill>
                  <a:srgbClr val="555555"/>
                </a:solidFill>
                <a:latin typeface="Arial"/>
                <a:ea typeface="Arial"/>
                <a:cs typeface="Arial"/>
              </a:defRPr>
            </a:lvl2pPr>
            <a:lvl3pPr algn="r">
              <a:defRPr sz="1275" b="0">
                <a:solidFill>
                  <a:srgbClr val="555555"/>
                </a:solidFill>
                <a:latin typeface="Arial"/>
                <a:ea typeface="Arial"/>
                <a:cs typeface="Arial"/>
              </a:defRPr>
            </a:lvl3pPr>
            <a:lvl4pPr algn="r">
              <a:defRPr sz="1275" b="0">
                <a:solidFill>
                  <a:srgbClr val="555555"/>
                </a:solidFill>
                <a:latin typeface="Arial"/>
                <a:ea typeface="Arial"/>
                <a:cs typeface="Arial"/>
              </a:defRPr>
            </a:lvl4pPr>
            <a:lvl5pPr algn="r">
              <a:defRPr sz="1275" b="0">
                <a:solidFill>
                  <a:srgbClr val="555555"/>
                </a:solidFill>
                <a:latin typeface="Arial"/>
                <a:ea typeface="Arial"/>
                <a:cs typeface="Arial"/>
              </a:defRPr>
            </a:lvl5pPr>
            <a:lvl6pPr algn="r">
              <a:defRPr sz="1275" b="0">
                <a:solidFill>
                  <a:srgbClr val="555555"/>
                </a:solidFill>
                <a:latin typeface="Arial"/>
                <a:ea typeface="Arial"/>
                <a:cs typeface="Arial"/>
              </a:defRPr>
            </a:lvl6pPr>
            <a:lvl7pPr algn="r">
              <a:defRPr sz="1275" b="0">
                <a:solidFill>
                  <a:srgbClr val="555555"/>
                </a:solidFill>
                <a:latin typeface="Arial"/>
                <a:ea typeface="Arial"/>
                <a:cs typeface="Arial"/>
              </a:defRPr>
            </a:lvl7pPr>
            <a:lvl8pPr algn="r">
              <a:defRPr sz="1275" b="0">
                <a:solidFill>
                  <a:srgbClr val="555555"/>
                </a:solidFill>
                <a:latin typeface="Arial"/>
                <a:ea typeface="Arial"/>
                <a:cs typeface="Arial"/>
              </a:defRPr>
            </a:lvl8pPr>
            <a:lvl9pPr algn="r">
              <a:defRPr sz="1275" b="0">
                <a:solidFill>
                  <a:srgbClr val="555555"/>
                </a:solidFill>
                <a:latin typeface="Arial"/>
                <a:ea typeface="Arial"/>
                <a:cs typeface="Arial"/>
              </a:defRPr>
            </a:lvl9pPr>
          </a:lstStyle>
          <a:p>
            <a:pPr algn="r">
              <a:defRPr sz="1275" b="0">
                <a:solidFill>
                  <a:srgbClr val="555555"/>
                </a:solidFill>
                <a:latin typeface="Arial"/>
                <a:ea typeface="Arial"/>
                <a:cs typeface="Arial"/>
              </a:defRPr>
            </a:pPr>
            <a:r>
              <a:rPr sz="1275" b="0">
                <a:solidFill>
                  <a:srgbClr val="555555"/>
                </a:solidFill>
                <a:latin typeface="Arial"/>
                <a:ea typeface="Arial"/>
                <a:cs typeface="Arial"/>
              </a:rPr>
              <a:t>Sensory</a:t>
            </a:r>
          </a:p>
        </p:txBody>
      </p:sp>
      <p:sp>
        <p:nvSpPr>
          <p:cNvPr id="6" name="Optic">
            <a:extLst>
              <a:ext uri="{FF2B5EF4-FFF2-40B4-BE49-F238E27FC236}">
                <a16:creationId xmlns:a16="http://schemas.microsoft.com/office/drawing/2014/main" id="{A426A520-FF7A-42B6-9855-B9667983DEF0}"/>
              </a:ext>
            </a:extLst>
          </p:cNvPr>
          <p:cNvSpPr>
            <a:spLocks noGrp="1"/>
          </p:cNvSpPr>
          <p:nvPr/>
        </p:nvSpPr>
        <p:spPr>
          <a:xfrm>
            <a:off x="381000" y="2442972"/>
            <a:ext cx="1285875" cy="238125"/>
          </a:xfrm>
          <a:prstGeom prst="rect">
            <a:avLst/>
          </a:prstGeom>
          <a:noFill/>
          <a:ln w="0">
            <a:noFill/>
          </a:ln>
        </p:spPr>
        <p:txBody>
          <a:bodyPr wrap="square" lIns="0" tIns="0" rIns="0" bIns="0" anchor="ctr"/>
          <a:lstStyle>
            <a:defPPr algn="r">
              <a:defRPr sz="1275" b="0">
                <a:solidFill>
                  <a:srgbClr val="555555"/>
                </a:solidFill>
                <a:latin typeface="Arial"/>
                <a:ea typeface="Arial"/>
                <a:cs typeface="Arial"/>
              </a:defRPr>
            </a:defPPr>
            <a:lvl1pPr algn="r">
              <a:defRPr sz="1275" b="0">
                <a:solidFill>
                  <a:srgbClr val="555555"/>
                </a:solidFill>
                <a:latin typeface="Arial"/>
                <a:ea typeface="Arial"/>
                <a:cs typeface="Arial"/>
              </a:defRPr>
            </a:lvl1pPr>
            <a:lvl2pPr algn="r">
              <a:defRPr sz="1275" b="0">
                <a:solidFill>
                  <a:srgbClr val="555555"/>
                </a:solidFill>
                <a:latin typeface="Arial"/>
                <a:ea typeface="Arial"/>
                <a:cs typeface="Arial"/>
              </a:defRPr>
            </a:lvl2pPr>
            <a:lvl3pPr algn="r">
              <a:defRPr sz="1275" b="0">
                <a:solidFill>
                  <a:srgbClr val="555555"/>
                </a:solidFill>
                <a:latin typeface="Arial"/>
                <a:ea typeface="Arial"/>
                <a:cs typeface="Arial"/>
              </a:defRPr>
            </a:lvl3pPr>
            <a:lvl4pPr algn="r">
              <a:defRPr sz="1275" b="0">
                <a:solidFill>
                  <a:srgbClr val="555555"/>
                </a:solidFill>
                <a:latin typeface="Arial"/>
                <a:ea typeface="Arial"/>
                <a:cs typeface="Arial"/>
              </a:defRPr>
            </a:lvl4pPr>
            <a:lvl5pPr algn="r">
              <a:defRPr sz="1275" b="0">
                <a:solidFill>
                  <a:srgbClr val="555555"/>
                </a:solidFill>
                <a:latin typeface="Arial"/>
                <a:ea typeface="Arial"/>
                <a:cs typeface="Arial"/>
              </a:defRPr>
            </a:lvl5pPr>
            <a:lvl6pPr algn="r">
              <a:defRPr sz="1275" b="0">
                <a:solidFill>
                  <a:srgbClr val="555555"/>
                </a:solidFill>
                <a:latin typeface="Arial"/>
                <a:ea typeface="Arial"/>
                <a:cs typeface="Arial"/>
              </a:defRPr>
            </a:lvl6pPr>
            <a:lvl7pPr algn="r">
              <a:defRPr sz="1275" b="0">
                <a:solidFill>
                  <a:srgbClr val="555555"/>
                </a:solidFill>
                <a:latin typeface="Arial"/>
                <a:ea typeface="Arial"/>
                <a:cs typeface="Arial"/>
              </a:defRPr>
            </a:lvl7pPr>
            <a:lvl8pPr algn="r">
              <a:defRPr sz="1275" b="0">
                <a:solidFill>
                  <a:srgbClr val="555555"/>
                </a:solidFill>
                <a:latin typeface="Arial"/>
                <a:ea typeface="Arial"/>
                <a:cs typeface="Arial"/>
              </a:defRPr>
            </a:lvl8pPr>
            <a:lvl9pPr algn="r">
              <a:defRPr sz="1275" b="0">
                <a:solidFill>
                  <a:srgbClr val="555555"/>
                </a:solidFill>
                <a:latin typeface="Arial"/>
                <a:ea typeface="Arial"/>
                <a:cs typeface="Arial"/>
              </a:defRPr>
            </a:lvl9pPr>
          </a:lstStyle>
          <a:p>
            <a:pPr algn="r">
              <a:defRPr sz="1275" b="0">
                <a:solidFill>
                  <a:srgbClr val="555555"/>
                </a:solidFill>
                <a:latin typeface="Arial"/>
                <a:ea typeface="Arial"/>
                <a:cs typeface="Arial"/>
              </a:defRPr>
            </a:pPr>
            <a:r>
              <a:rPr sz="1275" b="0">
                <a:solidFill>
                  <a:srgbClr val="555555"/>
                </a:solidFill>
                <a:latin typeface="Arial"/>
                <a:ea typeface="Arial"/>
                <a:cs typeface="Arial"/>
              </a:rPr>
              <a:t>Optic</a:t>
            </a:r>
          </a:p>
        </p:txBody>
      </p:sp>
      <p:sp>
        <p:nvSpPr>
          <p:cNvPr id="7" name="Central">
            <a:extLst>
              <a:ext uri="{FF2B5EF4-FFF2-40B4-BE49-F238E27FC236}">
                <a16:creationId xmlns:a16="http://schemas.microsoft.com/office/drawing/2014/main" id="{425E958E-9DAC-4F14-9C38-C882859ADD54}"/>
              </a:ext>
            </a:extLst>
          </p:cNvPr>
          <p:cNvSpPr>
            <a:spLocks noGrp="1"/>
          </p:cNvSpPr>
          <p:nvPr/>
        </p:nvSpPr>
        <p:spPr>
          <a:xfrm>
            <a:off x="381000" y="3300222"/>
            <a:ext cx="1285875" cy="238125"/>
          </a:xfrm>
          <a:prstGeom prst="rect">
            <a:avLst/>
          </a:prstGeom>
          <a:noFill/>
          <a:ln w="0">
            <a:noFill/>
          </a:ln>
        </p:spPr>
        <p:txBody>
          <a:bodyPr wrap="square" lIns="0" tIns="0" rIns="0" bIns="0" anchor="ctr"/>
          <a:lstStyle>
            <a:defPPr algn="r">
              <a:defRPr sz="1275" b="0">
                <a:solidFill>
                  <a:srgbClr val="555555"/>
                </a:solidFill>
                <a:latin typeface="Arial"/>
                <a:ea typeface="Arial"/>
                <a:cs typeface="Arial"/>
              </a:defRPr>
            </a:defPPr>
            <a:lvl1pPr algn="r">
              <a:defRPr sz="1275" b="0">
                <a:solidFill>
                  <a:srgbClr val="555555"/>
                </a:solidFill>
                <a:latin typeface="Arial"/>
                <a:ea typeface="Arial"/>
                <a:cs typeface="Arial"/>
              </a:defRPr>
            </a:lvl1pPr>
            <a:lvl2pPr algn="r">
              <a:defRPr sz="1275" b="0">
                <a:solidFill>
                  <a:srgbClr val="555555"/>
                </a:solidFill>
                <a:latin typeface="Arial"/>
                <a:ea typeface="Arial"/>
                <a:cs typeface="Arial"/>
              </a:defRPr>
            </a:lvl2pPr>
            <a:lvl3pPr algn="r">
              <a:defRPr sz="1275" b="0">
                <a:solidFill>
                  <a:srgbClr val="555555"/>
                </a:solidFill>
                <a:latin typeface="Arial"/>
                <a:ea typeface="Arial"/>
                <a:cs typeface="Arial"/>
              </a:defRPr>
            </a:lvl3pPr>
            <a:lvl4pPr algn="r">
              <a:defRPr sz="1275" b="0">
                <a:solidFill>
                  <a:srgbClr val="555555"/>
                </a:solidFill>
                <a:latin typeface="Arial"/>
                <a:ea typeface="Arial"/>
                <a:cs typeface="Arial"/>
              </a:defRPr>
            </a:lvl4pPr>
            <a:lvl5pPr algn="r">
              <a:defRPr sz="1275" b="0">
                <a:solidFill>
                  <a:srgbClr val="555555"/>
                </a:solidFill>
                <a:latin typeface="Arial"/>
                <a:ea typeface="Arial"/>
                <a:cs typeface="Arial"/>
              </a:defRPr>
            </a:lvl5pPr>
            <a:lvl6pPr algn="r">
              <a:defRPr sz="1275" b="0">
                <a:solidFill>
                  <a:srgbClr val="555555"/>
                </a:solidFill>
                <a:latin typeface="Arial"/>
                <a:ea typeface="Arial"/>
                <a:cs typeface="Arial"/>
              </a:defRPr>
            </a:lvl6pPr>
            <a:lvl7pPr algn="r">
              <a:defRPr sz="1275" b="0">
                <a:solidFill>
                  <a:srgbClr val="555555"/>
                </a:solidFill>
                <a:latin typeface="Arial"/>
                <a:ea typeface="Arial"/>
                <a:cs typeface="Arial"/>
              </a:defRPr>
            </a:lvl7pPr>
            <a:lvl8pPr algn="r">
              <a:defRPr sz="1275" b="0">
                <a:solidFill>
                  <a:srgbClr val="555555"/>
                </a:solidFill>
                <a:latin typeface="Arial"/>
                <a:ea typeface="Arial"/>
                <a:cs typeface="Arial"/>
              </a:defRPr>
            </a:lvl8pPr>
            <a:lvl9pPr algn="r">
              <a:defRPr sz="1275" b="0">
                <a:solidFill>
                  <a:srgbClr val="555555"/>
                </a:solidFill>
                <a:latin typeface="Arial"/>
                <a:ea typeface="Arial"/>
                <a:cs typeface="Arial"/>
              </a:defRPr>
            </a:lvl9pPr>
          </a:lstStyle>
          <a:p>
            <a:pPr algn="r">
              <a:defRPr sz="1275" b="0">
                <a:solidFill>
                  <a:srgbClr val="555555"/>
                </a:solidFill>
                <a:latin typeface="Arial"/>
                <a:ea typeface="Arial"/>
                <a:cs typeface="Arial"/>
              </a:defRPr>
            </a:pPr>
            <a:r>
              <a:rPr sz="1275" b="0">
                <a:solidFill>
                  <a:srgbClr val="555555"/>
                </a:solidFill>
                <a:latin typeface="Arial"/>
                <a:ea typeface="Arial"/>
                <a:cs typeface="Arial"/>
              </a:rPr>
              <a:t>Central</a:t>
            </a:r>
          </a:p>
        </p:txBody>
      </p:sp>
      <p:sp>
        <p:nvSpPr>
          <p:cNvPr id="8" name="VPN / VCN">
            <a:extLst>
              <a:ext uri="{FF2B5EF4-FFF2-40B4-BE49-F238E27FC236}">
                <a16:creationId xmlns:a16="http://schemas.microsoft.com/office/drawing/2014/main" id="{2997385E-9C35-43D8-9341-C081E4E46CDA}"/>
              </a:ext>
            </a:extLst>
          </p:cNvPr>
          <p:cNvSpPr>
            <a:spLocks noGrp="1"/>
          </p:cNvSpPr>
          <p:nvPr/>
        </p:nvSpPr>
        <p:spPr>
          <a:xfrm>
            <a:off x="381000" y="3624072"/>
            <a:ext cx="1285875" cy="238125"/>
          </a:xfrm>
          <a:prstGeom prst="rect">
            <a:avLst/>
          </a:prstGeom>
          <a:noFill/>
          <a:ln w="0">
            <a:noFill/>
          </a:ln>
        </p:spPr>
        <p:txBody>
          <a:bodyPr wrap="square" lIns="0" tIns="0" rIns="0" bIns="0" anchor="ctr"/>
          <a:lstStyle>
            <a:defPPr algn="r">
              <a:defRPr sz="1275" b="0">
                <a:solidFill>
                  <a:srgbClr val="555555"/>
                </a:solidFill>
                <a:latin typeface="Arial"/>
                <a:ea typeface="Arial"/>
                <a:cs typeface="Arial"/>
              </a:defRPr>
            </a:defPPr>
            <a:lvl1pPr algn="r">
              <a:defRPr sz="1275" b="0">
                <a:solidFill>
                  <a:srgbClr val="555555"/>
                </a:solidFill>
                <a:latin typeface="Arial"/>
                <a:ea typeface="Arial"/>
                <a:cs typeface="Arial"/>
              </a:defRPr>
            </a:lvl1pPr>
            <a:lvl2pPr algn="r">
              <a:defRPr sz="1275" b="0">
                <a:solidFill>
                  <a:srgbClr val="555555"/>
                </a:solidFill>
                <a:latin typeface="Arial"/>
                <a:ea typeface="Arial"/>
                <a:cs typeface="Arial"/>
              </a:defRPr>
            </a:lvl2pPr>
            <a:lvl3pPr algn="r">
              <a:defRPr sz="1275" b="0">
                <a:solidFill>
                  <a:srgbClr val="555555"/>
                </a:solidFill>
                <a:latin typeface="Arial"/>
                <a:ea typeface="Arial"/>
                <a:cs typeface="Arial"/>
              </a:defRPr>
            </a:lvl3pPr>
            <a:lvl4pPr algn="r">
              <a:defRPr sz="1275" b="0">
                <a:solidFill>
                  <a:srgbClr val="555555"/>
                </a:solidFill>
                <a:latin typeface="Arial"/>
                <a:ea typeface="Arial"/>
                <a:cs typeface="Arial"/>
              </a:defRPr>
            </a:lvl4pPr>
            <a:lvl5pPr algn="r">
              <a:defRPr sz="1275" b="0">
                <a:solidFill>
                  <a:srgbClr val="555555"/>
                </a:solidFill>
                <a:latin typeface="Arial"/>
                <a:ea typeface="Arial"/>
                <a:cs typeface="Arial"/>
              </a:defRPr>
            </a:lvl5pPr>
            <a:lvl6pPr algn="r">
              <a:defRPr sz="1275" b="0">
                <a:solidFill>
                  <a:srgbClr val="555555"/>
                </a:solidFill>
                <a:latin typeface="Arial"/>
                <a:ea typeface="Arial"/>
                <a:cs typeface="Arial"/>
              </a:defRPr>
            </a:lvl6pPr>
            <a:lvl7pPr algn="r">
              <a:defRPr sz="1275" b="0">
                <a:solidFill>
                  <a:srgbClr val="555555"/>
                </a:solidFill>
                <a:latin typeface="Arial"/>
                <a:ea typeface="Arial"/>
                <a:cs typeface="Arial"/>
              </a:defRPr>
            </a:lvl7pPr>
            <a:lvl8pPr algn="r">
              <a:defRPr sz="1275" b="0">
                <a:solidFill>
                  <a:srgbClr val="555555"/>
                </a:solidFill>
                <a:latin typeface="Arial"/>
                <a:ea typeface="Arial"/>
                <a:cs typeface="Arial"/>
              </a:defRPr>
            </a:lvl8pPr>
            <a:lvl9pPr algn="r">
              <a:defRPr sz="1275" b="0">
                <a:solidFill>
                  <a:srgbClr val="555555"/>
                </a:solidFill>
                <a:latin typeface="Arial"/>
                <a:ea typeface="Arial"/>
                <a:cs typeface="Arial"/>
              </a:defRPr>
            </a:lvl9pPr>
          </a:lstStyle>
          <a:p>
            <a:pPr algn="r">
              <a:defRPr sz="1275" b="0">
                <a:solidFill>
                  <a:srgbClr val="555555"/>
                </a:solidFill>
                <a:latin typeface="Arial"/>
                <a:ea typeface="Arial"/>
                <a:cs typeface="Arial"/>
              </a:defRPr>
            </a:pPr>
            <a:r>
              <a:rPr sz="1275" b="0">
                <a:solidFill>
                  <a:srgbClr val="555555"/>
                </a:solidFill>
                <a:latin typeface="Arial"/>
                <a:ea typeface="Arial"/>
                <a:cs typeface="Arial"/>
              </a:rPr>
              <a:t>VPN / VCN</a:t>
            </a:r>
          </a:p>
        </p:txBody>
      </p:sp>
      <p:sp>
        <p:nvSpPr>
          <p:cNvPr id="9" name="Output classes">
            <a:extLst>
              <a:ext uri="{FF2B5EF4-FFF2-40B4-BE49-F238E27FC236}">
                <a16:creationId xmlns:a16="http://schemas.microsoft.com/office/drawing/2014/main" id="{60C351B0-14F0-480E-AB15-F5092C854A3D}"/>
              </a:ext>
            </a:extLst>
          </p:cNvPr>
          <p:cNvSpPr>
            <a:spLocks noGrp="1"/>
          </p:cNvSpPr>
          <p:nvPr/>
        </p:nvSpPr>
        <p:spPr>
          <a:xfrm>
            <a:off x="381000" y="3938397"/>
            <a:ext cx="1285875" cy="238125"/>
          </a:xfrm>
          <a:prstGeom prst="rect">
            <a:avLst/>
          </a:prstGeom>
          <a:noFill/>
          <a:ln w="0">
            <a:noFill/>
          </a:ln>
        </p:spPr>
        <p:txBody>
          <a:bodyPr wrap="square" lIns="0" tIns="0" rIns="0" bIns="0" anchor="ctr"/>
          <a:lstStyle>
            <a:defPPr algn="r">
              <a:defRPr sz="1275" b="0">
                <a:solidFill>
                  <a:srgbClr val="555555"/>
                </a:solidFill>
                <a:latin typeface="Arial"/>
                <a:ea typeface="Arial"/>
                <a:cs typeface="Arial"/>
              </a:defRPr>
            </a:defPPr>
            <a:lvl1pPr algn="r">
              <a:defRPr sz="1275" b="0">
                <a:solidFill>
                  <a:srgbClr val="555555"/>
                </a:solidFill>
                <a:latin typeface="Arial"/>
                <a:ea typeface="Arial"/>
                <a:cs typeface="Arial"/>
              </a:defRPr>
            </a:lvl1pPr>
            <a:lvl2pPr algn="r">
              <a:defRPr sz="1275" b="0">
                <a:solidFill>
                  <a:srgbClr val="555555"/>
                </a:solidFill>
                <a:latin typeface="Arial"/>
                <a:ea typeface="Arial"/>
                <a:cs typeface="Arial"/>
              </a:defRPr>
            </a:lvl2pPr>
            <a:lvl3pPr algn="r">
              <a:defRPr sz="1275" b="0">
                <a:solidFill>
                  <a:srgbClr val="555555"/>
                </a:solidFill>
                <a:latin typeface="Arial"/>
                <a:ea typeface="Arial"/>
                <a:cs typeface="Arial"/>
              </a:defRPr>
            </a:lvl3pPr>
            <a:lvl4pPr algn="r">
              <a:defRPr sz="1275" b="0">
                <a:solidFill>
                  <a:srgbClr val="555555"/>
                </a:solidFill>
                <a:latin typeface="Arial"/>
                <a:ea typeface="Arial"/>
                <a:cs typeface="Arial"/>
              </a:defRPr>
            </a:lvl4pPr>
            <a:lvl5pPr algn="r">
              <a:defRPr sz="1275" b="0">
                <a:solidFill>
                  <a:srgbClr val="555555"/>
                </a:solidFill>
                <a:latin typeface="Arial"/>
                <a:ea typeface="Arial"/>
                <a:cs typeface="Arial"/>
              </a:defRPr>
            </a:lvl5pPr>
            <a:lvl6pPr algn="r">
              <a:defRPr sz="1275" b="0">
                <a:solidFill>
                  <a:srgbClr val="555555"/>
                </a:solidFill>
                <a:latin typeface="Arial"/>
                <a:ea typeface="Arial"/>
                <a:cs typeface="Arial"/>
              </a:defRPr>
            </a:lvl6pPr>
            <a:lvl7pPr algn="r">
              <a:defRPr sz="1275" b="0">
                <a:solidFill>
                  <a:srgbClr val="555555"/>
                </a:solidFill>
                <a:latin typeface="Arial"/>
                <a:ea typeface="Arial"/>
                <a:cs typeface="Arial"/>
              </a:defRPr>
            </a:lvl7pPr>
            <a:lvl8pPr algn="r">
              <a:defRPr sz="1275" b="0">
                <a:solidFill>
                  <a:srgbClr val="555555"/>
                </a:solidFill>
                <a:latin typeface="Arial"/>
                <a:ea typeface="Arial"/>
                <a:cs typeface="Arial"/>
              </a:defRPr>
            </a:lvl8pPr>
            <a:lvl9pPr algn="r">
              <a:defRPr sz="1275" b="0">
                <a:solidFill>
                  <a:srgbClr val="555555"/>
                </a:solidFill>
                <a:latin typeface="Arial"/>
                <a:ea typeface="Arial"/>
                <a:cs typeface="Arial"/>
              </a:defRPr>
            </a:lvl9pPr>
          </a:lstStyle>
          <a:p>
            <a:pPr algn="r">
              <a:defRPr sz="1275" b="0">
                <a:solidFill>
                  <a:srgbClr val="555555"/>
                </a:solidFill>
                <a:latin typeface="Arial"/>
                <a:ea typeface="Arial"/>
                <a:cs typeface="Arial"/>
              </a:defRPr>
            </a:pPr>
            <a:r>
              <a:rPr sz="1275" b="0">
                <a:solidFill>
                  <a:srgbClr val="555555"/>
                </a:solidFill>
                <a:latin typeface="Arial"/>
                <a:ea typeface="Arial"/>
                <a:cs typeface="Arial"/>
              </a:rPr>
              <a:t>Output classes</a:t>
            </a:r>
          </a:p>
        </p:txBody>
      </p:sp>
      <p:sp>
        <p:nvSpPr>
          <p:cNvPr id="10" name="Walk">
            <a:extLst>
              <a:ext uri="{FF2B5EF4-FFF2-40B4-BE49-F238E27FC236}">
                <a16:creationId xmlns:a16="http://schemas.microsoft.com/office/drawing/2014/main" id="{1EDC7976-D438-4C1C-81A1-826B1D2D9B2F}"/>
              </a:ext>
            </a:extLst>
          </p:cNvPr>
          <p:cNvSpPr>
            <a:spLocks noGrp="1"/>
          </p:cNvSpPr>
          <p:nvPr/>
        </p:nvSpPr>
        <p:spPr>
          <a:xfrm>
            <a:off x="2488782" y="899922"/>
            <a:ext cx="914400" cy="333375"/>
          </a:xfrm>
          <a:prstGeom prst="rect">
            <a:avLst/>
          </a:prstGeom>
          <a:noFill/>
          <a:ln w="0">
            <a:noFill/>
          </a:ln>
        </p:spPr>
        <p:txBody>
          <a:bodyPr wrap="square" lIns="0" tIns="0" rIns="0" bIns="0" anchor="ctr"/>
          <a:lstStyle>
            <a:defPPr algn="ctr">
              <a:defRPr sz="1350" b="1">
                <a:solidFill>
                  <a:srgbClr val="660874"/>
                </a:solidFill>
                <a:latin typeface="Arial"/>
                <a:ea typeface="Arial"/>
                <a:cs typeface="Arial"/>
              </a:defRPr>
            </a:defPPr>
            <a:lvl1pPr algn="ctr">
              <a:defRPr sz="1350" b="1">
                <a:solidFill>
                  <a:srgbClr val="660874"/>
                </a:solidFill>
                <a:latin typeface="Arial"/>
                <a:ea typeface="Arial"/>
                <a:cs typeface="Arial"/>
              </a:defRPr>
            </a:lvl1pPr>
            <a:lvl2pPr algn="ctr">
              <a:defRPr sz="1350" b="1">
                <a:solidFill>
                  <a:srgbClr val="660874"/>
                </a:solidFill>
                <a:latin typeface="Arial"/>
                <a:ea typeface="Arial"/>
                <a:cs typeface="Arial"/>
              </a:defRPr>
            </a:lvl2pPr>
            <a:lvl3pPr algn="ctr">
              <a:defRPr sz="1350" b="1">
                <a:solidFill>
                  <a:srgbClr val="660874"/>
                </a:solidFill>
                <a:latin typeface="Arial"/>
                <a:ea typeface="Arial"/>
                <a:cs typeface="Arial"/>
              </a:defRPr>
            </a:lvl3pPr>
            <a:lvl4pPr algn="ctr">
              <a:defRPr sz="1350" b="1">
                <a:solidFill>
                  <a:srgbClr val="660874"/>
                </a:solidFill>
                <a:latin typeface="Arial"/>
                <a:ea typeface="Arial"/>
                <a:cs typeface="Arial"/>
              </a:defRPr>
            </a:lvl4pPr>
            <a:lvl5pPr algn="ctr">
              <a:defRPr sz="1350" b="1">
                <a:solidFill>
                  <a:srgbClr val="660874"/>
                </a:solidFill>
                <a:latin typeface="Arial"/>
                <a:ea typeface="Arial"/>
                <a:cs typeface="Arial"/>
              </a:defRPr>
            </a:lvl5pPr>
            <a:lvl6pPr algn="ctr">
              <a:defRPr sz="1350" b="1">
                <a:solidFill>
                  <a:srgbClr val="660874"/>
                </a:solidFill>
                <a:latin typeface="Arial"/>
                <a:ea typeface="Arial"/>
                <a:cs typeface="Arial"/>
              </a:defRPr>
            </a:lvl6pPr>
            <a:lvl7pPr algn="ctr">
              <a:defRPr sz="1350" b="1">
                <a:solidFill>
                  <a:srgbClr val="660874"/>
                </a:solidFill>
                <a:latin typeface="Arial"/>
                <a:ea typeface="Arial"/>
                <a:cs typeface="Arial"/>
              </a:defRPr>
            </a:lvl7pPr>
            <a:lvl8pPr algn="ctr">
              <a:defRPr sz="1350" b="1">
                <a:solidFill>
                  <a:srgbClr val="660874"/>
                </a:solidFill>
                <a:latin typeface="Arial"/>
                <a:ea typeface="Arial"/>
                <a:cs typeface="Arial"/>
              </a:defRPr>
            </a:lvl8pPr>
            <a:lvl9pPr algn="ctr">
              <a:defRPr sz="1350" b="1">
                <a:solidFill>
                  <a:srgbClr val="660874"/>
                </a:solidFill>
                <a:latin typeface="Arial"/>
                <a:ea typeface="Arial"/>
                <a:cs typeface="Arial"/>
              </a:defRPr>
            </a:lvl9pPr>
          </a:lstStyle>
          <a:p>
            <a:pPr algn="ctr">
              <a:defRPr sz="1350" b="1">
                <a:solidFill>
                  <a:srgbClr val="660874"/>
                </a:solidFill>
                <a:latin typeface="Arial"/>
                <a:ea typeface="Arial"/>
                <a:cs typeface="Arial"/>
              </a:defRPr>
            </a:pPr>
            <a:r>
              <a:rPr sz="1350" b="1">
                <a:solidFill>
                  <a:srgbClr val="660874"/>
                </a:solidFill>
                <a:latin typeface="Arial"/>
                <a:ea typeface="Arial"/>
                <a:cs typeface="Arial"/>
              </a:rPr>
              <a:t>Walk</a:t>
            </a:r>
          </a:p>
        </p:txBody>
      </p:sp>
      <p:sp>
        <p:nvSpPr>
          <p:cNvPr id="11" name="Slow down">
            <a:extLst>
              <a:ext uri="{FF2B5EF4-FFF2-40B4-BE49-F238E27FC236}">
                <a16:creationId xmlns:a16="http://schemas.microsoft.com/office/drawing/2014/main" id="{DABC0C52-AD14-4C25-B2A9-576EDA81D98C}"/>
              </a:ext>
            </a:extLst>
          </p:cNvPr>
          <p:cNvSpPr>
            <a:spLocks noGrp="1"/>
          </p:cNvSpPr>
          <p:nvPr/>
        </p:nvSpPr>
        <p:spPr>
          <a:xfrm>
            <a:off x="4118059" y="899922"/>
            <a:ext cx="914400" cy="333375"/>
          </a:xfrm>
          <a:prstGeom prst="rect">
            <a:avLst/>
          </a:prstGeom>
          <a:noFill/>
          <a:ln w="0">
            <a:noFill/>
          </a:ln>
        </p:spPr>
        <p:txBody>
          <a:bodyPr wrap="square" lIns="0" tIns="0" rIns="0" bIns="0" anchor="ctr"/>
          <a:lstStyle>
            <a:defPPr algn="ctr">
              <a:defRPr sz="1350" b="1">
                <a:solidFill>
                  <a:srgbClr val="660874"/>
                </a:solidFill>
                <a:latin typeface="Arial"/>
                <a:ea typeface="Arial"/>
                <a:cs typeface="Arial"/>
              </a:defRPr>
            </a:defPPr>
            <a:lvl1pPr algn="ctr">
              <a:defRPr sz="1350" b="1">
                <a:solidFill>
                  <a:srgbClr val="660874"/>
                </a:solidFill>
                <a:latin typeface="Arial"/>
                <a:ea typeface="Arial"/>
                <a:cs typeface="Arial"/>
              </a:defRPr>
            </a:lvl1pPr>
            <a:lvl2pPr algn="ctr">
              <a:defRPr sz="1350" b="1">
                <a:solidFill>
                  <a:srgbClr val="660874"/>
                </a:solidFill>
                <a:latin typeface="Arial"/>
                <a:ea typeface="Arial"/>
                <a:cs typeface="Arial"/>
              </a:defRPr>
            </a:lvl2pPr>
            <a:lvl3pPr algn="ctr">
              <a:defRPr sz="1350" b="1">
                <a:solidFill>
                  <a:srgbClr val="660874"/>
                </a:solidFill>
                <a:latin typeface="Arial"/>
                <a:ea typeface="Arial"/>
                <a:cs typeface="Arial"/>
              </a:defRPr>
            </a:lvl3pPr>
            <a:lvl4pPr algn="ctr">
              <a:defRPr sz="1350" b="1">
                <a:solidFill>
                  <a:srgbClr val="660874"/>
                </a:solidFill>
                <a:latin typeface="Arial"/>
                <a:ea typeface="Arial"/>
                <a:cs typeface="Arial"/>
              </a:defRPr>
            </a:lvl4pPr>
            <a:lvl5pPr algn="ctr">
              <a:defRPr sz="1350" b="1">
                <a:solidFill>
                  <a:srgbClr val="660874"/>
                </a:solidFill>
                <a:latin typeface="Arial"/>
                <a:ea typeface="Arial"/>
                <a:cs typeface="Arial"/>
              </a:defRPr>
            </a:lvl5pPr>
            <a:lvl6pPr algn="ctr">
              <a:defRPr sz="1350" b="1">
                <a:solidFill>
                  <a:srgbClr val="660874"/>
                </a:solidFill>
                <a:latin typeface="Arial"/>
                <a:ea typeface="Arial"/>
                <a:cs typeface="Arial"/>
              </a:defRPr>
            </a:lvl6pPr>
            <a:lvl7pPr algn="ctr">
              <a:defRPr sz="1350" b="1">
                <a:solidFill>
                  <a:srgbClr val="660874"/>
                </a:solidFill>
                <a:latin typeface="Arial"/>
                <a:ea typeface="Arial"/>
                <a:cs typeface="Arial"/>
              </a:defRPr>
            </a:lvl7pPr>
            <a:lvl8pPr algn="ctr">
              <a:defRPr sz="1350" b="1">
                <a:solidFill>
                  <a:srgbClr val="660874"/>
                </a:solidFill>
                <a:latin typeface="Arial"/>
                <a:ea typeface="Arial"/>
                <a:cs typeface="Arial"/>
              </a:defRPr>
            </a:lvl8pPr>
            <a:lvl9pPr algn="ctr">
              <a:defRPr sz="1350" b="1">
                <a:solidFill>
                  <a:srgbClr val="660874"/>
                </a:solidFill>
                <a:latin typeface="Arial"/>
                <a:ea typeface="Arial"/>
                <a:cs typeface="Arial"/>
              </a:defRPr>
            </a:lvl9pPr>
          </a:lstStyle>
          <a:p>
            <a:pPr algn="ctr">
              <a:defRPr sz="1350" b="1">
                <a:solidFill>
                  <a:srgbClr val="660874"/>
                </a:solidFill>
                <a:latin typeface="Arial"/>
                <a:ea typeface="Arial"/>
                <a:cs typeface="Arial"/>
              </a:defRPr>
            </a:pPr>
            <a:r>
              <a:rPr sz="1350" b="1">
                <a:solidFill>
                  <a:srgbClr val="660874"/>
                </a:solidFill>
                <a:latin typeface="Arial"/>
                <a:ea typeface="Arial"/>
                <a:cs typeface="Arial"/>
              </a:rPr>
              <a:t>Slow down</a:t>
            </a:r>
          </a:p>
        </p:txBody>
      </p:sp>
      <p:sp>
        <p:nvSpPr>
          <p:cNvPr id="12" name="Pause">
            <a:extLst>
              <a:ext uri="{FF2B5EF4-FFF2-40B4-BE49-F238E27FC236}">
                <a16:creationId xmlns:a16="http://schemas.microsoft.com/office/drawing/2014/main" id="{D5061060-EF2E-48EF-AA39-083A73D12CAE}"/>
              </a:ext>
            </a:extLst>
          </p:cNvPr>
          <p:cNvSpPr>
            <a:spLocks noGrp="1"/>
          </p:cNvSpPr>
          <p:nvPr/>
        </p:nvSpPr>
        <p:spPr>
          <a:xfrm>
            <a:off x="4932697" y="899922"/>
            <a:ext cx="914400" cy="333375"/>
          </a:xfrm>
          <a:prstGeom prst="rect">
            <a:avLst/>
          </a:prstGeom>
          <a:noFill/>
          <a:ln w="0">
            <a:noFill/>
          </a:ln>
        </p:spPr>
        <p:txBody>
          <a:bodyPr wrap="square" lIns="0" tIns="0" rIns="0" bIns="0" anchor="ctr"/>
          <a:lstStyle>
            <a:defPPr algn="ctr">
              <a:defRPr sz="1350" b="1">
                <a:solidFill>
                  <a:srgbClr val="660874"/>
                </a:solidFill>
                <a:latin typeface="Arial"/>
                <a:ea typeface="Arial"/>
                <a:cs typeface="Arial"/>
              </a:defRPr>
            </a:defPPr>
            <a:lvl1pPr algn="ctr">
              <a:defRPr sz="1350" b="1">
                <a:solidFill>
                  <a:srgbClr val="660874"/>
                </a:solidFill>
                <a:latin typeface="Arial"/>
                <a:ea typeface="Arial"/>
                <a:cs typeface="Arial"/>
              </a:defRPr>
            </a:lvl1pPr>
            <a:lvl2pPr algn="ctr">
              <a:defRPr sz="1350" b="1">
                <a:solidFill>
                  <a:srgbClr val="660874"/>
                </a:solidFill>
                <a:latin typeface="Arial"/>
                <a:ea typeface="Arial"/>
                <a:cs typeface="Arial"/>
              </a:defRPr>
            </a:lvl2pPr>
            <a:lvl3pPr algn="ctr">
              <a:defRPr sz="1350" b="1">
                <a:solidFill>
                  <a:srgbClr val="660874"/>
                </a:solidFill>
                <a:latin typeface="Arial"/>
                <a:ea typeface="Arial"/>
                <a:cs typeface="Arial"/>
              </a:defRPr>
            </a:lvl3pPr>
            <a:lvl4pPr algn="ctr">
              <a:defRPr sz="1350" b="1">
                <a:solidFill>
                  <a:srgbClr val="660874"/>
                </a:solidFill>
                <a:latin typeface="Arial"/>
                <a:ea typeface="Arial"/>
                <a:cs typeface="Arial"/>
              </a:defRPr>
            </a:lvl4pPr>
            <a:lvl5pPr algn="ctr">
              <a:defRPr sz="1350" b="1">
                <a:solidFill>
                  <a:srgbClr val="660874"/>
                </a:solidFill>
                <a:latin typeface="Arial"/>
                <a:ea typeface="Arial"/>
                <a:cs typeface="Arial"/>
              </a:defRPr>
            </a:lvl5pPr>
            <a:lvl6pPr algn="ctr">
              <a:defRPr sz="1350" b="1">
                <a:solidFill>
                  <a:srgbClr val="660874"/>
                </a:solidFill>
                <a:latin typeface="Arial"/>
                <a:ea typeface="Arial"/>
                <a:cs typeface="Arial"/>
              </a:defRPr>
            </a:lvl6pPr>
            <a:lvl7pPr algn="ctr">
              <a:defRPr sz="1350" b="1">
                <a:solidFill>
                  <a:srgbClr val="660874"/>
                </a:solidFill>
                <a:latin typeface="Arial"/>
                <a:ea typeface="Arial"/>
                <a:cs typeface="Arial"/>
              </a:defRPr>
            </a:lvl7pPr>
            <a:lvl8pPr algn="ctr">
              <a:defRPr sz="1350" b="1">
                <a:solidFill>
                  <a:srgbClr val="660874"/>
                </a:solidFill>
                <a:latin typeface="Arial"/>
                <a:ea typeface="Arial"/>
                <a:cs typeface="Arial"/>
              </a:defRPr>
            </a:lvl8pPr>
            <a:lvl9pPr algn="ctr">
              <a:defRPr sz="1350" b="1">
                <a:solidFill>
                  <a:srgbClr val="660874"/>
                </a:solidFill>
                <a:latin typeface="Arial"/>
                <a:ea typeface="Arial"/>
                <a:cs typeface="Arial"/>
              </a:defRPr>
            </a:lvl9pPr>
          </a:lstStyle>
          <a:p>
            <a:pPr algn="ctr">
              <a:defRPr sz="1350" b="1">
                <a:solidFill>
                  <a:srgbClr val="660874"/>
                </a:solidFill>
                <a:latin typeface="Arial"/>
                <a:ea typeface="Arial"/>
                <a:cs typeface="Arial"/>
              </a:defRPr>
            </a:pPr>
            <a:r>
              <a:rPr sz="1350" b="1">
                <a:solidFill>
                  <a:srgbClr val="660874"/>
                </a:solidFill>
                <a:latin typeface="Arial"/>
                <a:ea typeface="Arial"/>
                <a:cs typeface="Arial"/>
              </a:rPr>
              <a:t>Pause</a:t>
            </a:r>
          </a:p>
        </p:txBody>
      </p:sp>
      <p:sp>
        <p:nvSpPr>
          <p:cNvPr id="13" name="Speed up">
            <a:extLst>
              <a:ext uri="{FF2B5EF4-FFF2-40B4-BE49-F238E27FC236}">
                <a16:creationId xmlns:a16="http://schemas.microsoft.com/office/drawing/2014/main" id="{8E30B785-03CD-4BDE-A8C5-29D659D21BB1}"/>
              </a:ext>
            </a:extLst>
          </p:cNvPr>
          <p:cNvSpPr>
            <a:spLocks noGrp="1"/>
          </p:cNvSpPr>
          <p:nvPr/>
        </p:nvSpPr>
        <p:spPr>
          <a:xfrm>
            <a:off x="5747335" y="899922"/>
            <a:ext cx="914400" cy="333375"/>
          </a:xfrm>
          <a:prstGeom prst="rect">
            <a:avLst/>
          </a:prstGeom>
          <a:noFill/>
          <a:ln w="0">
            <a:noFill/>
          </a:ln>
        </p:spPr>
        <p:txBody>
          <a:bodyPr wrap="square" lIns="0" tIns="0" rIns="0" bIns="0" anchor="ctr"/>
          <a:lstStyle>
            <a:defPPr algn="ctr">
              <a:defRPr sz="1350" b="1">
                <a:solidFill>
                  <a:srgbClr val="660874"/>
                </a:solidFill>
                <a:latin typeface="Arial"/>
                <a:ea typeface="Arial"/>
                <a:cs typeface="Arial"/>
              </a:defRPr>
            </a:defPPr>
            <a:lvl1pPr algn="ctr">
              <a:defRPr sz="1350" b="1">
                <a:solidFill>
                  <a:srgbClr val="660874"/>
                </a:solidFill>
                <a:latin typeface="Arial"/>
                <a:ea typeface="Arial"/>
                <a:cs typeface="Arial"/>
              </a:defRPr>
            </a:lvl1pPr>
            <a:lvl2pPr algn="ctr">
              <a:defRPr sz="1350" b="1">
                <a:solidFill>
                  <a:srgbClr val="660874"/>
                </a:solidFill>
                <a:latin typeface="Arial"/>
                <a:ea typeface="Arial"/>
                <a:cs typeface="Arial"/>
              </a:defRPr>
            </a:lvl2pPr>
            <a:lvl3pPr algn="ctr">
              <a:defRPr sz="1350" b="1">
                <a:solidFill>
                  <a:srgbClr val="660874"/>
                </a:solidFill>
                <a:latin typeface="Arial"/>
                <a:ea typeface="Arial"/>
                <a:cs typeface="Arial"/>
              </a:defRPr>
            </a:lvl3pPr>
            <a:lvl4pPr algn="ctr">
              <a:defRPr sz="1350" b="1">
                <a:solidFill>
                  <a:srgbClr val="660874"/>
                </a:solidFill>
                <a:latin typeface="Arial"/>
                <a:ea typeface="Arial"/>
                <a:cs typeface="Arial"/>
              </a:defRPr>
            </a:lvl4pPr>
            <a:lvl5pPr algn="ctr">
              <a:defRPr sz="1350" b="1">
                <a:solidFill>
                  <a:srgbClr val="660874"/>
                </a:solidFill>
                <a:latin typeface="Arial"/>
                <a:ea typeface="Arial"/>
                <a:cs typeface="Arial"/>
              </a:defRPr>
            </a:lvl5pPr>
            <a:lvl6pPr algn="ctr">
              <a:defRPr sz="1350" b="1">
                <a:solidFill>
                  <a:srgbClr val="660874"/>
                </a:solidFill>
                <a:latin typeface="Arial"/>
                <a:ea typeface="Arial"/>
                <a:cs typeface="Arial"/>
              </a:defRPr>
            </a:lvl6pPr>
            <a:lvl7pPr algn="ctr">
              <a:defRPr sz="1350" b="1">
                <a:solidFill>
                  <a:srgbClr val="660874"/>
                </a:solidFill>
                <a:latin typeface="Arial"/>
                <a:ea typeface="Arial"/>
                <a:cs typeface="Arial"/>
              </a:defRPr>
            </a:lvl7pPr>
            <a:lvl8pPr algn="ctr">
              <a:defRPr sz="1350" b="1">
                <a:solidFill>
                  <a:srgbClr val="660874"/>
                </a:solidFill>
                <a:latin typeface="Arial"/>
                <a:ea typeface="Arial"/>
                <a:cs typeface="Arial"/>
              </a:defRPr>
            </a:lvl8pPr>
            <a:lvl9pPr algn="ctr">
              <a:defRPr sz="1350" b="1">
                <a:solidFill>
                  <a:srgbClr val="660874"/>
                </a:solidFill>
                <a:latin typeface="Arial"/>
                <a:ea typeface="Arial"/>
                <a:cs typeface="Arial"/>
              </a:defRPr>
            </a:lvl9pPr>
          </a:lstStyle>
          <a:p>
            <a:pPr algn="ctr">
              <a:defRPr sz="1350" b="1">
                <a:solidFill>
                  <a:srgbClr val="660874"/>
                </a:solidFill>
                <a:latin typeface="Arial"/>
                <a:ea typeface="Arial"/>
                <a:cs typeface="Arial"/>
              </a:defRPr>
            </a:pPr>
            <a:r>
              <a:rPr sz="1350" b="1">
                <a:solidFill>
                  <a:srgbClr val="660874"/>
                </a:solidFill>
                <a:latin typeface="Arial"/>
                <a:ea typeface="Arial"/>
                <a:cs typeface="Arial"/>
              </a:rPr>
              <a:t>Speed up</a:t>
            </a:r>
          </a:p>
        </p:txBody>
      </p:sp>
      <p:sp>
        <p:nvSpPr>
          <p:cNvPr id="14" name="Turn">
            <a:extLst>
              <a:ext uri="{FF2B5EF4-FFF2-40B4-BE49-F238E27FC236}">
                <a16:creationId xmlns:a16="http://schemas.microsoft.com/office/drawing/2014/main" id="{BEB0DDE6-AFBA-417C-8861-59F710B3FE23}"/>
              </a:ext>
            </a:extLst>
          </p:cNvPr>
          <p:cNvSpPr>
            <a:spLocks noGrp="1"/>
          </p:cNvSpPr>
          <p:nvPr/>
        </p:nvSpPr>
        <p:spPr>
          <a:xfrm>
            <a:off x="6806364" y="899922"/>
            <a:ext cx="914400" cy="333375"/>
          </a:xfrm>
          <a:prstGeom prst="rect">
            <a:avLst/>
          </a:prstGeom>
          <a:noFill/>
          <a:ln w="0">
            <a:noFill/>
          </a:ln>
        </p:spPr>
        <p:txBody>
          <a:bodyPr wrap="square" lIns="0" tIns="0" rIns="0" bIns="0" anchor="ctr"/>
          <a:lstStyle>
            <a:defPPr algn="ctr">
              <a:defRPr sz="1350" b="1">
                <a:solidFill>
                  <a:srgbClr val="660874"/>
                </a:solidFill>
                <a:latin typeface="Arial"/>
                <a:ea typeface="Arial"/>
                <a:cs typeface="Arial"/>
              </a:defRPr>
            </a:defPPr>
            <a:lvl1pPr algn="ctr">
              <a:defRPr sz="1350" b="1">
                <a:solidFill>
                  <a:srgbClr val="660874"/>
                </a:solidFill>
                <a:latin typeface="Arial"/>
                <a:ea typeface="Arial"/>
                <a:cs typeface="Arial"/>
              </a:defRPr>
            </a:lvl1pPr>
            <a:lvl2pPr algn="ctr">
              <a:defRPr sz="1350" b="1">
                <a:solidFill>
                  <a:srgbClr val="660874"/>
                </a:solidFill>
                <a:latin typeface="Arial"/>
                <a:ea typeface="Arial"/>
                <a:cs typeface="Arial"/>
              </a:defRPr>
            </a:lvl2pPr>
            <a:lvl3pPr algn="ctr">
              <a:defRPr sz="1350" b="1">
                <a:solidFill>
                  <a:srgbClr val="660874"/>
                </a:solidFill>
                <a:latin typeface="Arial"/>
                <a:ea typeface="Arial"/>
                <a:cs typeface="Arial"/>
              </a:defRPr>
            </a:lvl3pPr>
            <a:lvl4pPr algn="ctr">
              <a:defRPr sz="1350" b="1">
                <a:solidFill>
                  <a:srgbClr val="660874"/>
                </a:solidFill>
                <a:latin typeface="Arial"/>
                <a:ea typeface="Arial"/>
                <a:cs typeface="Arial"/>
              </a:defRPr>
            </a:lvl4pPr>
            <a:lvl5pPr algn="ctr">
              <a:defRPr sz="1350" b="1">
                <a:solidFill>
                  <a:srgbClr val="660874"/>
                </a:solidFill>
                <a:latin typeface="Arial"/>
                <a:ea typeface="Arial"/>
                <a:cs typeface="Arial"/>
              </a:defRPr>
            </a:lvl5pPr>
            <a:lvl6pPr algn="ctr">
              <a:defRPr sz="1350" b="1">
                <a:solidFill>
                  <a:srgbClr val="660874"/>
                </a:solidFill>
                <a:latin typeface="Arial"/>
                <a:ea typeface="Arial"/>
                <a:cs typeface="Arial"/>
              </a:defRPr>
            </a:lvl6pPr>
            <a:lvl7pPr algn="ctr">
              <a:defRPr sz="1350" b="1">
                <a:solidFill>
                  <a:srgbClr val="660874"/>
                </a:solidFill>
                <a:latin typeface="Arial"/>
                <a:ea typeface="Arial"/>
                <a:cs typeface="Arial"/>
              </a:defRPr>
            </a:lvl7pPr>
            <a:lvl8pPr algn="ctr">
              <a:defRPr sz="1350" b="1">
                <a:solidFill>
                  <a:srgbClr val="660874"/>
                </a:solidFill>
                <a:latin typeface="Arial"/>
                <a:ea typeface="Arial"/>
                <a:cs typeface="Arial"/>
              </a:defRPr>
            </a:lvl8pPr>
            <a:lvl9pPr algn="ctr">
              <a:defRPr sz="1350" b="1">
                <a:solidFill>
                  <a:srgbClr val="660874"/>
                </a:solidFill>
                <a:latin typeface="Arial"/>
                <a:ea typeface="Arial"/>
                <a:cs typeface="Arial"/>
              </a:defRPr>
            </a:lvl9pPr>
          </a:lstStyle>
          <a:p>
            <a:pPr algn="ctr">
              <a:defRPr sz="1350" b="1">
                <a:solidFill>
                  <a:srgbClr val="660874"/>
                </a:solidFill>
                <a:latin typeface="Arial"/>
                <a:ea typeface="Arial"/>
                <a:cs typeface="Arial"/>
              </a:defRPr>
            </a:pPr>
            <a:r>
              <a:rPr sz="1350" b="1">
                <a:solidFill>
                  <a:srgbClr val="660874"/>
                </a:solidFill>
                <a:latin typeface="Arial"/>
                <a:ea typeface="Arial"/>
                <a:cs typeface="Arial"/>
              </a:rPr>
              <a:t>Turn</a:t>
            </a:r>
          </a:p>
        </p:txBody>
      </p:sp>
      <p:sp>
        <p:nvSpPr>
          <p:cNvPr id="15" name="0">
            <a:extLst>
              <a:ext uri="{FF2B5EF4-FFF2-40B4-BE49-F238E27FC236}">
                <a16:creationId xmlns:a16="http://schemas.microsoft.com/office/drawing/2014/main" id="{5CE80AD6-CEF4-463E-BB0F-D92C37FC5187}"/>
              </a:ext>
            </a:extLst>
          </p:cNvPr>
          <p:cNvSpPr>
            <a:spLocks noGrp="1"/>
          </p:cNvSpPr>
          <p:nvPr/>
        </p:nvSpPr>
        <p:spPr>
          <a:xfrm>
            <a:off x="1485900" y="4119372"/>
            <a:ext cx="476250" cy="228600"/>
          </a:xfrm>
          <a:prstGeom prst="rect">
            <a:avLst/>
          </a:prstGeom>
          <a:noFill/>
          <a:ln w="0">
            <a:noFill/>
          </a:ln>
        </p:spPr>
        <p:txBody>
          <a:bodyPr wrap="square" lIns="0" tIns="0" rIns="0" bIns="0" anchor="ctr"/>
          <a:lstStyle>
            <a:defPPr algn="ctr">
              <a:defRPr sz="1275" b="0">
                <a:solidFill>
                  <a:srgbClr val="555555"/>
                </a:solidFill>
                <a:latin typeface="Arial"/>
                <a:ea typeface="Arial"/>
                <a:cs typeface="Arial"/>
              </a:defRPr>
            </a:defPPr>
            <a:lvl1pPr algn="ctr">
              <a:defRPr sz="1275" b="0">
                <a:solidFill>
                  <a:srgbClr val="555555"/>
                </a:solidFill>
                <a:latin typeface="Arial"/>
                <a:ea typeface="Arial"/>
                <a:cs typeface="Arial"/>
              </a:defRPr>
            </a:lvl1pPr>
            <a:lvl2pPr algn="ctr">
              <a:defRPr sz="1275" b="0">
                <a:solidFill>
                  <a:srgbClr val="555555"/>
                </a:solidFill>
                <a:latin typeface="Arial"/>
                <a:ea typeface="Arial"/>
                <a:cs typeface="Arial"/>
              </a:defRPr>
            </a:lvl2pPr>
            <a:lvl3pPr algn="ctr">
              <a:defRPr sz="1275" b="0">
                <a:solidFill>
                  <a:srgbClr val="555555"/>
                </a:solidFill>
                <a:latin typeface="Arial"/>
                <a:ea typeface="Arial"/>
                <a:cs typeface="Arial"/>
              </a:defRPr>
            </a:lvl3pPr>
            <a:lvl4pPr algn="ctr">
              <a:defRPr sz="1275" b="0">
                <a:solidFill>
                  <a:srgbClr val="555555"/>
                </a:solidFill>
                <a:latin typeface="Arial"/>
                <a:ea typeface="Arial"/>
                <a:cs typeface="Arial"/>
              </a:defRPr>
            </a:lvl4pPr>
            <a:lvl5pPr algn="ctr">
              <a:defRPr sz="1275" b="0">
                <a:solidFill>
                  <a:srgbClr val="555555"/>
                </a:solidFill>
                <a:latin typeface="Arial"/>
                <a:ea typeface="Arial"/>
                <a:cs typeface="Arial"/>
              </a:defRPr>
            </a:lvl5pPr>
            <a:lvl6pPr algn="ctr">
              <a:defRPr sz="1275" b="0">
                <a:solidFill>
                  <a:srgbClr val="555555"/>
                </a:solidFill>
                <a:latin typeface="Arial"/>
                <a:ea typeface="Arial"/>
                <a:cs typeface="Arial"/>
              </a:defRPr>
            </a:lvl6pPr>
            <a:lvl7pPr algn="ctr">
              <a:defRPr sz="1275" b="0">
                <a:solidFill>
                  <a:srgbClr val="555555"/>
                </a:solidFill>
                <a:latin typeface="Arial"/>
                <a:ea typeface="Arial"/>
                <a:cs typeface="Arial"/>
              </a:defRPr>
            </a:lvl7pPr>
            <a:lvl8pPr algn="ctr">
              <a:defRPr sz="1275" b="0">
                <a:solidFill>
                  <a:srgbClr val="555555"/>
                </a:solidFill>
                <a:latin typeface="Arial"/>
                <a:ea typeface="Arial"/>
                <a:cs typeface="Arial"/>
              </a:defRPr>
            </a:lvl8pPr>
            <a:lvl9pPr algn="ctr">
              <a:defRPr sz="1275" b="0">
                <a:solidFill>
                  <a:srgbClr val="555555"/>
                </a:solidFill>
                <a:latin typeface="Arial"/>
                <a:ea typeface="Arial"/>
                <a:cs typeface="Arial"/>
              </a:defRPr>
            </a:lvl9pPr>
          </a:lstStyle>
          <a:p>
            <a:pPr algn="ctr">
              <a:defRPr sz="1275" b="0">
                <a:solidFill>
                  <a:srgbClr val="555555"/>
                </a:solidFill>
                <a:latin typeface="Arial"/>
                <a:ea typeface="Arial"/>
                <a:cs typeface="Arial"/>
              </a:defRPr>
            </a:pPr>
            <a:r>
              <a:rPr sz="1275" b="0">
                <a:solidFill>
                  <a:srgbClr val="555555"/>
                </a:solidFill>
                <a:latin typeface="Arial"/>
                <a:ea typeface="Arial"/>
                <a:cs typeface="Arial"/>
              </a:rPr>
              <a:t>0</a:t>
            </a:r>
          </a:p>
        </p:txBody>
      </p:sp>
      <p:sp>
        <p:nvSpPr>
          <p:cNvPr id="16" name="150">
            <a:extLst>
              <a:ext uri="{FF2B5EF4-FFF2-40B4-BE49-F238E27FC236}">
                <a16:creationId xmlns:a16="http://schemas.microsoft.com/office/drawing/2014/main" id="{90770169-AC92-4F13-AE26-1D2AA9D5E813}"/>
              </a:ext>
            </a:extLst>
          </p:cNvPr>
          <p:cNvSpPr>
            <a:spLocks noGrp="1"/>
          </p:cNvSpPr>
          <p:nvPr/>
        </p:nvSpPr>
        <p:spPr>
          <a:xfrm>
            <a:off x="2707857" y="4119372"/>
            <a:ext cx="476250" cy="228600"/>
          </a:xfrm>
          <a:prstGeom prst="rect">
            <a:avLst/>
          </a:prstGeom>
          <a:noFill/>
          <a:ln w="0">
            <a:noFill/>
          </a:ln>
        </p:spPr>
        <p:txBody>
          <a:bodyPr wrap="square" lIns="0" tIns="0" rIns="0" bIns="0" anchor="ctr"/>
          <a:lstStyle>
            <a:defPPr algn="ctr">
              <a:defRPr sz="1275" b="0">
                <a:solidFill>
                  <a:srgbClr val="555555"/>
                </a:solidFill>
                <a:latin typeface="Arial"/>
                <a:ea typeface="Arial"/>
                <a:cs typeface="Arial"/>
              </a:defRPr>
            </a:defPPr>
            <a:lvl1pPr algn="ctr">
              <a:defRPr sz="1275" b="0">
                <a:solidFill>
                  <a:srgbClr val="555555"/>
                </a:solidFill>
                <a:latin typeface="Arial"/>
                <a:ea typeface="Arial"/>
                <a:cs typeface="Arial"/>
              </a:defRPr>
            </a:lvl1pPr>
            <a:lvl2pPr algn="ctr">
              <a:defRPr sz="1275" b="0">
                <a:solidFill>
                  <a:srgbClr val="555555"/>
                </a:solidFill>
                <a:latin typeface="Arial"/>
                <a:ea typeface="Arial"/>
                <a:cs typeface="Arial"/>
              </a:defRPr>
            </a:lvl2pPr>
            <a:lvl3pPr algn="ctr">
              <a:defRPr sz="1275" b="0">
                <a:solidFill>
                  <a:srgbClr val="555555"/>
                </a:solidFill>
                <a:latin typeface="Arial"/>
                <a:ea typeface="Arial"/>
                <a:cs typeface="Arial"/>
              </a:defRPr>
            </a:lvl3pPr>
            <a:lvl4pPr algn="ctr">
              <a:defRPr sz="1275" b="0">
                <a:solidFill>
                  <a:srgbClr val="555555"/>
                </a:solidFill>
                <a:latin typeface="Arial"/>
                <a:ea typeface="Arial"/>
                <a:cs typeface="Arial"/>
              </a:defRPr>
            </a:lvl4pPr>
            <a:lvl5pPr algn="ctr">
              <a:defRPr sz="1275" b="0">
                <a:solidFill>
                  <a:srgbClr val="555555"/>
                </a:solidFill>
                <a:latin typeface="Arial"/>
                <a:ea typeface="Arial"/>
                <a:cs typeface="Arial"/>
              </a:defRPr>
            </a:lvl5pPr>
            <a:lvl6pPr algn="ctr">
              <a:defRPr sz="1275" b="0">
                <a:solidFill>
                  <a:srgbClr val="555555"/>
                </a:solidFill>
                <a:latin typeface="Arial"/>
                <a:ea typeface="Arial"/>
                <a:cs typeface="Arial"/>
              </a:defRPr>
            </a:lvl6pPr>
            <a:lvl7pPr algn="ctr">
              <a:defRPr sz="1275" b="0">
                <a:solidFill>
                  <a:srgbClr val="555555"/>
                </a:solidFill>
                <a:latin typeface="Arial"/>
                <a:ea typeface="Arial"/>
                <a:cs typeface="Arial"/>
              </a:defRPr>
            </a:lvl7pPr>
            <a:lvl8pPr algn="ctr">
              <a:defRPr sz="1275" b="0">
                <a:solidFill>
                  <a:srgbClr val="555555"/>
                </a:solidFill>
                <a:latin typeface="Arial"/>
                <a:ea typeface="Arial"/>
                <a:cs typeface="Arial"/>
              </a:defRPr>
            </a:lvl8pPr>
            <a:lvl9pPr algn="ctr">
              <a:defRPr sz="1275" b="0">
                <a:solidFill>
                  <a:srgbClr val="555555"/>
                </a:solidFill>
                <a:latin typeface="Arial"/>
                <a:ea typeface="Arial"/>
                <a:cs typeface="Arial"/>
              </a:defRPr>
            </a:lvl9pPr>
          </a:lstStyle>
          <a:p>
            <a:pPr algn="ctr">
              <a:defRPr sz="1275" b="0">
                <a:solidFill>
                  <a:srgbClr val="555555"/>
                </a:solidFill>
                <a:latin typeface="Arial"/>
                <a:ea typeface="Arial"/>
                <a:cs typeface="Arial"/>
              </a:defRPr>
            </a:pPr>
            <a:r>
              <a:rPr sz="1275" b="0">
                <a:solidFill>
                  <a:srgbClr val="555555"/>
                </a:solidFill>
                <a:latin typeface="Arial"/>
                <a:ea typeface="Arial"/>
                <a:cs typeface="Arial"/>
              </a:rPr>
              <a:t>150</a:t>
            </a:r>
          </a:p>
        </p:txBody>
      </p:sp>
      <p:sp>
        <p:nvSpPr>
          <p:cNvPr id="17" name="300">
            <a:extLst>
              <a:ext uri="{FF2B5EF4-FFF2-40B4-BE49-F238E27FC236}">
                <a16:creationId xmlns:a16="http://schemas.microsoft.com/office/drawing/2014/main" id="{1E036B90-0C74-4C41-89ED-73EF1A5054E4}"/>
              </a:ext>
            </a:extLst>
          </p:cNvPr>
          <p:cNvSpPr>
            <a:spLocks noGrp="1"/>
          </p:cNvSpPr>
          <p:nvPr/>
        </p:nvSpPr>
        <p:spPr>
          <a:xfrm>
            <a:off x="3929814" y="4119372"/>
            <a:ext cx="476250" cy="228600"/>
          </a:xfrm>
          <a:prstGeom prst="rect">
            <a:avLst/>
          </a:prstGeom>
          <a:noFill/>
          <a:ln w="0">
            <a:noFill/>
          </a:ln>
        </p:spPr>
        <p:txBody>
          <a:bodyPr wrap="square" lIns="0" tIns="0" rIns="0" bIns="0" anchor="ctr"/>
          <a:lstStyle>
            <a:defPPr algn="ctr">
              <a:defRPr sz="1275" b="0">
                <a:solidFill>
                  <a:srgbClr val="555555"/>
                </a:solidFill>
                <a:latin typeface="Arial"/>
                <a:ea typeface="Arial"/>
                <a:cs typeface="Arial"/>
              </a:defRPr>
            </a:defPPr>
            <a:lvl1pPr algn="ctr">
              <a:defRPr sz="1275" b="0">
                <a:solidFill>
                  <a:srgbClr val="555555"/>
                </a:solidFill>
                <a:latin typeface="Arial"/>
                <a:ea typeface="Arial"/>
                <a:cs typeface="Arial"/>
              </a:defRPr>
            </a:lvl1pPr>
            <a:lvl2pPr algn="ctr">
              <a:defRPr sz="1275" b="0">
                <a:solidFill>
                  <a:srgbClr val="555555"/>
                </a:solidFill>
                <a:latin typeface="Arial"/>
                <a:ea typeface="Arial"/>
                <a:cs typeface="Arial"/>
              </a:defRPr>
            </a:lvl2pPr>
            <a:lvl3pPr algn="ctr">
              <a:defRPr sz="1275" b="0">
                <a:solidFill>
                  <a:srgbClr val="555555"/>
                </a:solidFill>
                <a:latin typeface="Arial"/>
                <a:ea typeface="Arial"/>
                <a:cs typeface="Arial"/>
              </a:defRPr>
            </a:lvl3pPr>
            <a:lvl4pPr algn="ctr">
              <a:defRPr sz="1275" b="0">
                <a:solidFill>
                  <a:srgbClr val="555555"/>
                </a:solidFill>
                <a:latin typeface="Arial"/>
                <a:ea typeface="Arial"/>
                <a:cs typeface="Arial"/>
              </a:defRPr>
            </a:lvl4pPr>
            <a:lvl5pPr algn="ctr">
              <a:defRPr sz="1275" b="0">
                <a:solidFill>
                  <a:srgbClr val="555555"/>
                </a:solidFill>
                <a:latin typeface="Arial"/>
                <a:ea typeface="Arial"/>
                <a:cs typeface="Arial"/>
              </a:defRPr>
            </a:lvl5pPr>
            <a:lvl6pPr algn="ctr">
              <a:defRPr sz="1275" b="0">
                <a:solidFill>
                  <a:srgbClr val="555555"/>
                </a:solidFill>
                <a:latin typeface="Arial"/>
                <a:ea typeface="Arial"/>
                <a:cs typeface="Arial"/>
              </a:defRPr>
            </a:lvl6pPr>
            <a:lvl7pPr algn="ctr">
              <a:defRPr sz="1275" b="0">
                <a:solidFill>
                  <a:srgbClr val="555555"/>
                </a:solidFill>
                <a:latin typeface="Arial"/>
                <a:ea typeface="Arial"/>
                <a:cs typeface="Arial"/>
              </a:defRPr>
            </a:lvl7pPr>
            <a:lvl8pPr algn="ctr">
              <a:defRPr sz="1275" b="0">
                <a:solidFill>
                  <a:srgbClr val="555555"/>
                </a:solidFill>
                <a:latin typeface="Arial"/>
                <a:ea typeface="Arial"/>
                <a:cs typeface="Arial"/>
              </a:defRPr>
            </a:lvl8pPr>
            <a:lvl9pPr algn="ctr">
              <a:defRPr sz="1275" b="0">
                <a:solidFill>
                  <a:srgbClr val="555555"/>
                </a:solidFill>
                <a:latin typeface="Arial"/>
                <a:ea typeface="Arial"/>
                <a:cs typeface="Arial"/>
              </a:defRPr>
            </a:lvl9pPr>
          </a:lstStyle>
          <a:p>
            <a:pPr algn="ctr">
              <a:defRPr sz="1275" b="0">
                <a:solidFill>
                  <a:srgbClr val="555555"/>
                </a:solidFill>
                <a:latin typeface="Arial"/>
                <a:ea typeface="Arial"/>
                <a:cs typeface="Arial"/>
              </a:defRPr>
            </a:pPr>
            <a:r>
              <a:rPr sz="1275" b="0">
                <a:solidFill>
                  <a:srgbClr val="555555"/>
                </a:solidFill>
                <a:latin typeface="Arial"/>
                <a:ea typeface="Arial"/>
                <a:cs typeface="Arial"/>
              </a:rPr>
              <a:t>300</a:t>
            </a:r>
          </a:p>
        </p:txBody>
      </p:sp>
      <p:sp>
        <p:nvSpPr>
          <p:cNvPr id="18" name="450">
            <a:extLst>
              <a:ext uri="{FF2B5EF4-FFF2-40B4-BE49-F238E27FC236}">
                <a16:creationId xmlns:a16="http://schemas.microsoft.com/office/drawing/2014/main" id="{517DDC12-75C0-405B-82A6-5668B98CA029}"/>
              </a:ext>
            </a:extLst>
          </p:cNvPr>
          <p:cNvSpPr>
            <a:spLocks noGrp="1"/>
          </p:cNvSpPr>
          <p:nvPr/>
        </p:nvSpPr>
        <p:spPr>
          <a:xfrm>
            <a:off x="5151772" y="4119372"/>
            <a:ext cx="476250" cy="228600"/>
          </a:xfrm>
          <a:prstGeom prst="rect">
            <a:avLst/>
          </a:prstGeom>
          <a:noFill/>
          <a:ln w="0">
            <a:noFill/>
          </a:ln>
        </p:spPr>
        <p:txBody>
          <a:bodyPr wrap="square" lIns="0" tIns="0" rIns="0" bIns="0" anchor="ctr"/>
          <a:lstStyle>
            <a:defPPr algn="ctr">
              <a:defRPr sz="1275" b="0">
                <a:solidFill>
                  <a:srgbClr val="555555"/>
                </a:solidFill>
                <a:latin typeface="Arial"/>
                <a:ea typeface="Arial"/>
                <a:cs typeface="Arial"/>
              </a:defRPr>
            </a:defPPr>
            <a:lvl1pPr algn="ctr">
              <a:defRPr sz="1275" b="0">
                <a:solidFill>
                  <a:srgbClr val="555555"/>
                </a:solidFill>
                <a:latin typeface="Arial"/>
                <a:ea typeface="Arial"/>
                <a:cs typeface="Arial"/>
              </a:defRPr>
            </a:lvl1pPr>
            <a:lvl2pPr algn="ctr">
              <a:defRPr sz="1275" b="0">
                <a:solidFill>
                  <a:srgbClr val="555555"/>
                </a:solidFill>
                <a:latin typeface="Arial"/>
                <a:ea typeface="Arial"/>
                <a:cs typeface="Arial"/>
              </a:defRPr>
            </a:lvl2pPr>
            <a:lvl3pPr algn="ctr">
              <a:defRPr sz="1275" b="0">
                <a:solidFill>
                  <a:srgbClr val="555555"/>
                </a:solidFill>
                <a:latin typeface="Arial"/>
                <a:ea typeface="Arial"/>
                <a:cs typeface="Arial"/>
              </a:defRPr>
            </a:lvl3pPr>
            <a:lvl4pPr algn="ctr">
              <a:defRPr sz="1275" b="0">
                <a:solidFill>
                  <a:srgbClr val="555555"/>
                </a:solidFill>
                <a:latin typeface="Arial"/>
                <a:ea typeface="Arial"/>
                <a:cs typeface="Arial"/>
              </a:defRPr>
            </a:lvl4pPr>
            <a:lvl5pPr algn="ctr">
              <a:defRPr sz="1275" b="0">
                <a:solidFill>
                  <a:srgbClr val="555555"/>
                </a:solidFill>
                <a:latin typeface="Arial"/>
                <a:ea typeface="Arial"/>
                <a:cs typeface="Arial"/>
              </a:defRPr>
            </a:lvl5pPr>
            <a:lvl6pPr algn="ctr">
              <a:defRPr sz="1275" b="0">
                <a:solidFill>
                  <a:srgbClr val="555555"/>
                </a:solidFill>
                <a:latin typeface="Arial"/>
                <a:ea typeface="Arial"/>
                <a:cs typeface="Arial"/>
              </a:defRPr>
            </a:lvl6pPr>
            <a:lvl7pPr algn="ctr">
              <a:defRPr sz="1275" b="0">
                <a:solidFill>
                  <a:srgbClr val="555555"/>
                </a:solidFill>
                <a:latin typeface="Arial"/>
                <a:ea typeface="Arial"/>
                <a:cs typeface="Arial"/>
              </a:defRPr>
            </a:lvl7pPr>
            <a:lvl8pPr algn="ctr">
              <a:defRPr sz="1275" b="0">
                <a:solidFill>
                  <a:srgbClr val="555555"/>
                </a:solidFill>
                <a:latin typeface="Arial"/>
                <a:ea typeface="Arial"/>
                <a:cs typeface="Arial"/>
              </a:defRPr>
            </a:lvl8pPr>
            <a:lvl9pPr algn="ctr">
              <a:defRPr sz="1275" b="0">
                <a:solidFill>
                  <a:srgbClr val="555555"/>
                </a:solidFill>
                <a:latin typeface="Arial"/>
                <a:ea typeface="Arial"/>
                <a:cs typeface="Arial"/>
              </a:defRPr>
            </a:lvl9pPr>
          </a:lstStyle>
          <a:p>
            <a:pPr algn="ctr">
              <a:defRPr sz="1275" b="0">
                <a:solidFill>
                  <a:srgbClr val="555555"/>
                </a:solidFill>
                <a:latin typeface="Arial"/>
                <a:ea typeface="Arial"/>
                <a:cs typeface="Arial"/>
              </a:defRPr>
            </a:pPr>
            <a:r>
              <a:rPr sz="1275" b="0">
                <a:solidFill>
                  <a:srgbClr val="555555"/>
                </a:solidFill>
                <a:latin typeface="Arial"/>
                <a:ea typeface="Arial"/>
                <a:cs typeface="Arial"/>
              </a:rPr>
              <a:t>450</a:t>
            </a:r>
          </a:p>
        </p:txBody>
      </p:sp>
      <p:sp>
        <p:nvSpPr>
          <p:cNvPr id="19" name="600">
            <a:extLst>
              <a:ext uri="{FF2B5EF4-FFF2-40B4-BE49-F238E27FC236}">
                <a16:creationId xmlns:a16="http://schemas.microsoft.com/office/drawing/2014/main" id="{888963D5-BA15-43A4-B43F-0D7F11838834}"/>
              </a:ext>
            </a:extLst>
          </p:cNvPr>
          <p:cNvSpPr>
            <a:spLocks noGrp="1"/>
          </p:cNvSpPr>
          <p:nvPr/>
        </p:nvSpPr>
        <p:spPr>
          <a:xfrm>
            <a:off x="6373729" y="4119372"/>
            <a:ext cx="476250" cy="228600"/>
          </a:xfrm>
          <a:prstGeom prst="rect">
            <a:avLst/>
          </a:prstGeom>
          <a:noFill/>
          <a:ln w="0">
            <a:noFill/>
          </a:ln>
        </p:spPr>
        <p:txBody>
          <a:bodyPr wrap="square" lIns="0" tIns="0" rIns="0" bIns="0" anchor="ctr"/>
          <a:lstStyle>
            <a:defPPr algn="ctr">
              <a:defRPr sz="1275" b="0">
                <a:solidFill>
                  <a:srgbClr val="555555"/>
                </a:solidFill>
                <a:latin typeface="Arial"/>
                <a:ea typeface="Arial"/>
                <a:cs typeface="Arial"/>
              </a:defRPr>
            </a:defPPr>
            <a:lvl1pPr algn="ctr">
              <a:defRPr sz="1275" b="0">
                <a:solidFill>
                  <a:srgbClr val="555555"/>
                </a:solidFill>
                <a:latin typeface="Arial"/>
                <a:ea typeface="Arial"/>
                <a:cs typeface="Arial"/>
              </a:defRPr>
            </a:lvl1pPr>
            <a:lvl2pPr algn="ctr">
              <a:defRPr sz="1275" b="0">
                <a:solidFill>
                  <a:srgbClr val="555555"/>
                </a:solidFill>
                <a:latin typeface="Arial"/>
                <a:ea typeface="Arial"/>
                <a:cs typeface="Arial"/>
              </a:defRPr>
            </a:lvl2pPr>
            <a:lvl3pPr algn="ctr">
              <a:defRPr sz="1275" b="0">
                <a:solidFill>
                  <a:srgbClr val="555555"/>
                </a:solidFill>
                <a:latin typeface="Arial"/>
                <a:ea typeface="Arial"/>
                <a:cs typeface="Arial"/>
              </a:defRPr>
            </a:lvl3pPr>
            <a:lvl4pPr algn="ctr">
              <a:defRPr sz="1275" b="0">
                <a:solidFill>
                  <a:srgbClr val="555555"/>
                </a:solidFill>
                <a:latin typeface="Arial"/>
                <a:ea typeface="Arial"/>
                <a:cs typeface="Arial"/>
              </a:defRPr>
            </a:lvl4pPr>
            <a:lvl5pPr algn="ctr">
              <a:defRPr sz="1275" b="0">
                <a:solidFill>
                  <a:srgbClr val="555555"/>
                </a:solidFill>
                <a:latin typeface="Arial"/>
                <a:ea typeface="Arial"/>
                <a:cs typeface="Arial"/>
              </a:defRPr>
            </a:lvl5pPr>
            <a:lvl6pPr algn="ctr">
              <a:defRPr sz="1275" b="0">
                <a:solidFill>
                  <a:srgbClr val="555555"/>
                </a:solidFill>
                <a:latin typeface="Arial"/>
                <a:ea typeface="Arial"/>
                <a:cs typeface="Arial"/>
              </a:defRPr>
            </a:lvl6pPr>
            <a:lvl7pPr algn="ctr">
              <a:defRPr sz="1275" b="0">
                <a:solidFill>
                  <a:srgbClr val="555555"/>
                </a:solidFill>
                <a:latin typeface="Arial"/>
                <a:ea typeface="Arial"/>
                <a:cs typeface="Arial"/>
              </a:defRPr>
            </a:lvl7pPr>
            <a:lvl8pPr algn="ctr">
              <a:defRPr sz="1275" b="0">
                <a:solidFill>
                  <a:srgbClr val="555555"/>
                </a:solidFill>
                <a:latin typeface="Arial"/>
                <a:ea typeface="Arial"/>
                <a:cs typeface="Arial"/>
              </a:defRPr>
            </a:lvl8pPr>
            <a:lvl9pPr algn="ctr">
              <a:defRPr sz="1275" b="0">
                <a:solidFill>
                  <a:srgbClr val="555555"/>
                </a:solidFill>
                <a:latin typeface="Arial"/>
                <a:ea typeface="Arial"/>
                <a:cs typeface="Arial"/>
              </a:defRPr>
            </a:lvl9pPr>
          </a:lstStyle>
          <a:p>
            <a:pPr algn="ctr">
              <a:defRPr sz="1275" b="0">
                <a:solidFill>
                  <a:srgbClr val="555555"/>
                </a:solidFill>
                <a:latin typeface="Arial"/>
                <a:ea typeface="Arial"/>
                <a:cs typeface="Arial"/>
              </a:defRPr>
            </a:pPr>
            <a:r>
              <a:rPr sz="1275" b="0">
                <a:solidFill>
                  <a:srgbClr val="555555"/>
                </a:solidFill>
                <a:latin typeface="Arial"/>
                <a:ea typeface="Arial"/>
                <a:cs typeface="Arial"/>
              </a:rPr>
              <a:t>600</a:t>
            </a:r>
          </a:p>
        </p:txBody>
      </p:sp>
      <p:sp>
        <p:nvSpPr>
          <p:cNvPr id="20" name="750">
            <a:extLst>
              <a:ext uri="{FF2B5EF4-FFF2-40B4-BE49-F238E27FC236}">
                <a16:creationId xmlns:a16="http://schemas.microsoft.com/office/drawing/2014/main" id="{4F0BE353-1709-4B4C-A635-7FACC8C16BBE}"/>
              </a:ext>
            </a:extLst>
          </p:cNvPr>
          <p:cNvSpPr>
            <a:spLocks noGrp="1"/>
          </p:cNvSpPr>
          <p:nvPr/>
        </p:nvSpPr>
        <p:spPr>
          <a:xfrm>
            <a:off x="7595686" y="4119372"/>
            <a:ext cx="476250" cy="228600"/>
          </a:xfrm>
          <a:prstGeom prst="rect">
            <a:avLst/>
          </a:prstGeom>
          <a:noFill/>
          <a:ln w="0">
            <a:noFill/>
          </a:ln>
        </p:spPr>
        <p:txBody>
          <a:bodyPr wrap="square" lIns="0" tIns="0" rIns="0" bIns="0" anchor="ctr"/>
          <a:lstStyle>
            <a:defPPr algn="ctr">
              <a:defRPr sz="1275" b="0">
                <a:solidFill>
                  <a:srgbClr val="555555"/>
                </a:solidFill>
                <a:latin typeface="Arial"/>
                <a:ea typeface="Arial"/>
                <a:cs typeface="Arial"/>
              </a:defRPr>
            </a:defPPr>
            <a:lvl1pPr algn="ctr">
              <a:defRPr sz="1275" b="0">
                <a:solidFill>
                  <a:srgbClr val="555555"/>
                </a:solidFill>
                <a:latin typeface="Arial"/>
                <a:ea typeface="Arial"/>
                <a:cs typeface="Arial"/>
              </a:defRPr>
            </a:lvl1pPr>
            <a:lvl2pPr algn="ctr">
              <a:defRPr sz="1275" b="0">
                <a:solidFill>
                  <a:srgbClr val="555555"/>
                </a:solidFill>
                <a:latin typeface="Arial"/>
                <a:ea typeface="Arial"/>
                <a:cs typeface="Arial"/>
              </a:defRPr>
            </a:lvl2pPr>
            <a:lvl3pPr algn="ctr">
              <a:defRPr sz="1275" b="0">
                <a:solidFill>
                  <a:srgbClr val="555555"/>
                </a:solidFill>
                <a:latin typeface="Arial"/>
                <a:ea typeface="Arial"/>
                <a:cs typeface="Arial"/>
              </a:defRPr>
            </a:lvl3pPr>
            <a:lvl4pPr algn="ctr">
              <a:defRPr sz="1275" b="0">
                <a:solidFill>
                  <a:srgbClr val="555555"/>
                </a:solidFill>
                <a:latin typeface="Arial"/>
                <a:ea typeface="Arial"/>
                <a:cs typeface="Arial"/>
              </a:defRPr>
            </a:lvl4pPr>
            <a:lvl5pPr algn="ctr">
              <a:defRPr sz="1275" b="0">
                <a:solidFill>
                  <a:srgbClr val="555555"/>
                </a:solidFill>
                <a:latin typeface="Arial"/>
                <a:ea typeface="Arial"/>
                <a:cs typeface="Arial"/>
              </a:defRPr>
            </a:lvl5pPr>
            <a:lvl6pPr algn="ctr">
              <a:defRPr sz="1275" b="0">
                <a:solidFill>
                  <a:srgbClr val="555555"/>
                </a:solidFill>
                <a:latin typeface="Arial"/>
                <a:ea typeface="Arial"/>
                <a:cs typeface="Arial"/>
              </a:defRPr>
            </a:lvl6pPr>
            <a:lvl7pPr algn="ctr">
              <a:defRPr sz="1275" b="0">
                <a:solidFill>
                  <a:srgbClr val="555555"/>
                </a:solidFill>
                <a:latin typeface="Arial"/>
                <a:ea typeface="Arial"/>
                <a:cs typeface="Arial"/>
              </a:defRPr>
            </a:lvl7pPr>
            <a:lvl8pPr algn="ctr">
              <a:defRPr sz="1275" b="0">
                <a:solidFill>
                  <a:srgbClr val="555555"/>
                </a:solidFill>
                <a:latin typeface="Arial"/>
                <a:ea typeface="Arial"/>
                <a:cs typeface="Arial"/>
              </a:defRPr>
            </a:lvl8pPr>
            <a:lvl9pPr algn="ctr">
              <a:defRPr sz="1275" b="0">
                <a:solidFill>
                  <a:srgbClr val="555555"/>
                </a:solidFill>
                <a:latin typeface="Arial"/>
                <a:ea typeface="Arial"/>
                <a:cs typeface="Arial"/>
              </a:defRPr>
            </a:lvl9pPr>
          </a:lstStyle>
          <a:p>
            <a:pPr algn="ctr">
              <a:defRPr sz="1275" b="0">
                <a:solidFill>
                  <a:srgbClr val="555555"/>
                </a:solidFill>
                <a:latin typeface="Arial"/>
                <a:ea typeface="Arial"/>
                <a:cs typeface="Arial"/>
              </a:defRPr>
            </a:pPr>
            <a:r>
              <a:rPr sz="1275" b="0">
                <a:solidFill>
                  <a:srgbClr val="555555"/>
                </a:solidFill>
                <a:latin typeface="Arial"/>
                <a:ea typeface="Arial"/>
                <a:cs typeface="Arial"/>
              </a:rPr>
              <a:t>750</a:t>
            </a:r>
          </a:p>
        </p:txBody>
      </p:sp>
      <p:sp>
        <p:nvSpPr>
          <p:cNvPr id="21" name="ms">
            <a:extLst>
              <a:ext uri="{FF2B5EF4-FFF2-40B4-BE49-F238E27FC236}">
                <a16:creationId xmlns:a16="http://schemas.microsoft.com/office/drawing/2014/main" id="{EEEC2444-7F23-4B00-8DB9-F1F247992013}"/>
              </a:ext>
            </a:extLst>
          </p:cNvPr>
          <p:cNvSpPr>
            <a:spLocks noGrp="1"/>
          </p:cNvSpPr>
          <p:nvPr/>
        </p:nvSpPr>
        <p:spPr>
          <a:xfrm>
            <a:off x="8143875" y="4119372"/>
            <a:ext cx="381000" cy="228600"/>
          </a:xfrm>
          <a:prstGeom prst="rect">
            <a:avLst/>
          </a:prstGeom>
          <a:noFill/>
          <a:ln w="0">
            <a:noFill/>
          </a:ln>
        </p:spPr>
        <p:txBody>
          <a:bodyPr wrap="square" lIns="0" tIns="0" rIns="0" bIns="0" anchor="ctr"/>
          <a:lstStyle>
            <a:defPPr algn="l">
              <a:defRPr sz="1275" b="0">
                <a:solidFill>
                  <a:srgbClr val="555555"/>
                </a:solidFill>
                <a:latin typeface="Arial"/>
                <a:ea typeface="Arial"/>
                <a:cs typeface="Arial"/>
              </a:defRPr>
            </a:defPPr>
            <a:lvl1pPr algn="l">
              <a:defRPr sz="1275" b="0">
                <a:solidFill>
                  <a:srgbClr val="555555"/>
                </a:solidFill>
                <a:latin typeface="Arial"/>
                <a:ea typeface="Arial"/>
                <a:cs typeface="Arial"/>
              </a:defRPr>
            </a:lvl1pPr>
            <a:lvl2pPr algn="l">
              <a:defRPr sz="1275" b="0">
                <a:solidFill>
                  <a:srgbClr val="555555"/>
                </a:solidFill>
                <a:latin typeface="Arial"/>
                <a:ea typeface="Arial"/>
                <a:cs typeface="Arial"/>
              </a:defRPr>
            </a:lvl2pPr>
            <a:lvl3pPr algn="l">
              <a:defRPr sz="1275" b="0">
                <a:solidFill>
                  <a:srgbClr val="555555"/>
                </a:solidFill>
                <a:latin typeface="Arial"/>
                <a:ea typeface="Arial"/>
                <a:cs typeface="Arial"/>
              </a:defRPr>
            </a:lvl3pPr>
            <a:lvl4pPr algn="l">
              <a:defRPr sz="1275" b="0">
                <a:solidFill>
                  <a:srgbClr val="555555"/>
                </a:solidFill>
                <a:latin typeface="Arial"/>
                <a:ea typeface="Arial"/>
                <a:cs typeface="Arial"/>
              </a:defRPr>
            </a:lvl4pPr>
            <a:lvl5pPr algn="l">
              <a:defRPr sz="1275" b="0">
                <a:solidFill>
                  <a:srgbClr val="555555"/>
                </a:solidFill>
                <a:latin typeface="Arial"/>
                <a:ea typeface="Arial"/>
                <a:cs typeface="Arial"/>
              </a:defRPr>
            </a:lvl5pPr>
            <a:lvl6pPr algn="l">
              <a:defRPr sz="1275" b="0">
                <a:solidFill>
                  <a:srgbClr val="555555"/>
                </a:solidFill>
                <a:latin typeface="Arial"/>
                <a:ea typeface="Arial"/>
                <a:cs typeface="Arial"/>
              </a:defRPr>
            </a:lvl6pPr>
            <a:lvl7pPr algn="l">
              <a:defRPr sz="1275" b="0">
                <a:solidFill>
                  <a:srgbClr val="555555"/>
                </a:solidFill>
                <a:latin typeface="Arial"/>
                <a:ea typeface="Arial"/>
                <a:cs typeface="Arial"/>
              </a:defRPr>
            </a:lvl7pPr>
            <a:lvl8pPr algn="l">
              <a:defRPr sz="1275" b="0">
                <a:solidFill>
                  <a:srgbClr val="555555"/>
                </a:solidFill>
                <a:latin typeface="Arial"/>
                <a:ea typeface="Arial"/>
                <a:cs typeface="Arial"/>
              </a:defRPr>
            </a:lvl8pPr>
            <a:lvl9pPr algn="l">
              <a:defRPr sz="1275" b="0">
                <a:solidFill>
                  <a:srgbClr val="555555"/>
                </a:solidFill>
                <a:latin typeface="Arial"/>
                <a:ea typeface="Arial"/>
                <a:cs typeface="Arial"/>
              </a:defRPr>
            </a:lvl9pPr>
          </a:lstStyle>
          <a:p>
            <a:pPr algn="l">
              <a:defRPr sz="1275" b="0">
                <a:solidFill>
                  <a:srgbClr val="555555"/>
                </a:solidFill>
                <a:latin typeface="Arial"/>
                <a:ea typeface="Arial"/>
                <a:cs typeface="Arial"/>
              </a:defRPr>
            </a:pPr>
            <a:r>
              <a:rPr sz="1275" b="0">
                <a:solidFill>
                  <a:srgbClr val="555555"/>
                </a:solidFill>
                <a:latin typeface="Arial"/>
                <a:ea typeface="Arial"/>
                <a:cs typeface="Arial"/>
              </a:rPr>
              <a:t>ms</a:t>
            </a:r>
          </a:p>
        </p:txBody>
      </p:sp>
      <p:pic>
        <p:nvPicPr>
          <p:cNvPr id="22" name="Picture 21">
            <a:extLst>
              <a:ext uri="{FF2B5EF4-FFF2-40B4-BE49-F238E27FC236}">
                <a16:creationId xmlns:a16="http://schemas.microsoft.com/office/drawing/2014/main" id="{6E6BB6C6-9CE0-467C-BFF3-5117461406D7}"/>
              </a:ext>
            </a:extLst>
          </p:cNvPr>
          <p:cNvPicPr>
            <a:picLocks noChangeAspect="1"/>
          </p:cNvPicPr>
          <p:nvPr/>
        </p:nvPicPr>
        <p:blipFill>
          <a:blip r:embed="rId4"/>
          <a:stretch/>
        </p:blipFill>
        <p:spPr>
          <a:xfrm>
            <a:off x="8186959" y="2214372"/>
            <a:ext cx="56707" cy="1524000"/>
          </a:xfrm>
          <a:prstGeom prst="rect">
            <a:avLst/>
          </a:prstGeom>
        </p:spPr>
      </p:pic>
      <p:sp>
        <p:nvSpPr>
          <p:cNvPr id="23" name="1">
            <a:extLst>
              <a:ext uri="{FF2B5EF4-FFF2-40B4-BE49-F238E27FC236}">
                <a16:creationId xmlns:a16="http://schemas.microsoft.com/office/drawing/2014/main" id="{92C6EA7E-3ED4-4998-A1C4-421E955D2205}"/>
              </a:ext>
            </a:extLst>
          </p:cNvPr>
          <p:cNvSpPr>
            <a:spLocks noGrp="1"/>
          </p:cNvSpPr>
          <p:nvPr/>
        </p:nvSpPr>
        <p:spPr>
          <a:xfrm>
            <a:off x="8372475" y="2119122"/>
            <a:ext cx="238125" cy="238125"/>
          </a:xfrm>
          <a:prstGeom prst="rect">
            <a:avLst/>
          </a:prstGeom>
          <a:noFill/>
          <a:ln w="0">
            <a:noFill/>
          </a:ln>
        </p:spPr>
        <p:txBody>
          <a:bodyPr wrap="square" lIns="0" tIns="0" rIns="0" bIns="0" anchor="ctr"/>
          <a:lstStyle>
            <a:defPPr algn="l">
              <a:defRPr sz="1275" b="0">
                <a:solidFill>
                  <a:srgbClr val="555555"/>
                </a:solidFill>
                <a:latin typeface="Arial"/>
                <a:ea typeface="Arial"/>
                <a:cs typeface="Arial"/>
              </a:defRPr>
            </a:defPPr>
            <a:lvl1pPr algn="l">
              <a:defRPr sz="1275" b="0">
                <a:solidFill>
                  <a:srgbClr val="555555"/>
                </a:solidFill>
                <a:latin typeface="Arial"/>
                <a:ea typeface="Arial"/>
                <a:cs typeface="Arial"/>
              </a:defRPr>
            </a:lvl1pPr>
            <a:lvl2pPr algn="l">
              <a:defRPr sz="1275" b="0">
                <a:solidFill>
                  <a:srgbClr val="555555"/>
                </a:solidFill>
                <a:latin typeface="Arial"/>
                <a:ea typeface="Arial"/>
                <a:cs typeface="Arial"/>
              </a:defRPr>
            </a:lvl2pPr>
            <a:lvl3pPr algn="l">
              <a:defRPr sz="1275" b="0">
                <a:solidFill>
                  <a:srgbClr val="555555"/>
                </a:solidFill>
                <a:latin typeface="Arial"/>
                <a:ea typeface="Arial"/>
                <a:cs typeface="Arial"/>
              </a:defRPr>
            </a:lvl3pPr>
            <a:lvl4pPr algn="l">
              <a:defRPr sz="1275" b="0">
                <a:solidFill>
                  <a:srgbClr val="555555"/>
                </a:solidFill>
                <a:latin typeface="Arial"/>
                <a:ea typeface="Arial"/>
                <a:cs typeface="Arial"/>
              </a:defRPr>
            </a:lvl4pPr>
            <a:lvl5pPr algn="l">
              <a:defRPr sz="1275" b="0">
                <a:solidFill>
                  <a:srgbClr val="555555"/>
                </a:solidFill>
                <a:latin typeface="Arial"/>
                <a:ea typeface="Arial"/>
                <a:cs typeface="Arial"/>
              </a:defRPr>
            </a:lvl5pPr>
            <a:lvl6pPr algn="l">
              <a:defRPr sz="1275" b="0">
                <a:solidFill>
                  <a:srgbClr val="555555"/>
                </a:solidFill>
                <a:latin typeface="Arial"/>
                <a:ea typeface="Arial"/>
                <a:cs typeface="Arial"/>
              </a:defRPr>
            </a:lvl6pPr>
            <a:lvl7pPr algn="l">
              <a:defRPr sz="1275" b="0">
                <a:solidFill>
                  <a:srgbClr val="555555"/>
                </a:solidFill>
                <a:latin typeface="Arial"/>
                <a:ea typeface="Arial"/>
                <a:cs typeface="Arial"/>
              </a:defRPr>
            </a:lvl7pPr>
            <a:lvl8pPr algn="l">
              <a:defRPr sz="1275" b="0">
                <a:solidFill>
                  <a:srgbClr val="555555"/>
                </a:solidFill>
                <a:latin typeface="Arial"/>
                <a:ea typeface="Arial"/>
                <a:cs typeface="Arial"/>
              </a:defRPr>
            </a:lvl8pPr>
            <a:lvl9pPr algn="l">
              <a:defRPr sz="1275" b="0">
                <a:solidFill>
                  <a:srgbClr val="555555"/>
                </a:solidFill>
                <a:latin typeface="Arial"/>
                <a:ea typeface="Arial"/>
                <a:cs typeface="Arial"/>
              </a:defRPr>
            </a:lvl9pPr>
          </a:lstStyle>
          <a:p>
            <a:pPr algn="l">
              <a:defRPr sz="1275" b="0">
                <a:solidFill>
                  <a:srgbClr val="555555"/>
                </a:solidFill>
                <a:latin typeface="Arial"/>
                <a:ea typeface="Arial"/>
                <a:cs typeface="Arial"/>
              </a:defRPr>
            </a:pPr>
            <a:r>
              <a:rPr sz="1275" b="0">
                <a:solidFill>
                  <a:srgbClr val="555555"/>
                </a:solidFill>
                <a:latin typeface="Arial"/>
                <a:ea typeface="Arial"/>
                <a:cs typeface="Arial"/>
              </a:rPr>
              <a:t>1</a:t>
            </a:r>
          </a:p>
        </p:txBody>
      </p:sp>
      <p:sp>
        <p:nvSpPr>
          <p:cNvPr id="24" name="0">
            <a:extLst>
              <a:ext uri="{FF2B5EF4-FFF2-40B4-BE49-F238E27FC236}">
                <a16:creationId xmlns:a16="http://schemas.microsoft.com/office/drawing/2014/main" id="{9D07160D-475F-4200-A795-2A3445C8E42A}"/>
              </a:ext>
            </a:extLst>
          </p:cNvPr>
          <p:cNvSpPr>
            <a:spLocks noGrp="1"/>
          </p:cNvSpPr>
          <p:nvPr/>
        </p:nvSpPr>
        <p:spPr>
          <a:xfrm>
            <a:off x="8372475" y="3595497"/>
            <a:ext cx="238125" cy="238125"/>
          </a:xfrm>
          <a:prstGeom prst="rect">
            <a:avLst/>
          </a:prstGeom>
          <a:noFill/>
          <a:ln w="0">
            <a:noFill/>
          </a:ln>
        </p:spPr>
        <p:txBody>
          <a:bodyPr wrap="square" lIns="0" tIns="0" rIns="0" bIns="0" anchor="ctr"/>
          <a:lstStyle>
            <a:defPPr algn="l">
              <a:defRPr sz="1275" b="0">
                <a:solidFill>
                  <a:srgbClr val="555555"/>
                </a:solidFill>
                <a:latin typeface="Arial"/>
                <a:ea typeface="Arial"/>
                <a:cs typeface="Arial"/>
              </a:defRPr>
            </a:defPPr>
            <a:lvl1pPr algn="l">
              <a:defRPr sz="1275" b="0">
                <a:solidFill>
                  <a:srgbClr val="555555"/>
                </a:solidFill>
                <a:latin typeface="Arial"/>
                <a:ea typeface="Arial"/>
                <a:cs typeface="Arial"/>
              </a:defRPr>
            </a:lvl1pPr>
            <a:lvl2pPr algn="l">
              <a:defRPr sz="1275" b="0">
                <a:solidFill>
                  <a:srgbClr val="555555"/>
                </a:solidFill>
                <a:latin typeface="Arial"/>
                <a:ea typeface="Arial"/>
                <a:cs typeface="Arial"/>
              </a:defRPr>
            </a:lvl2pPr>
            <a:lvl3pPr algn="l">
              <a:defRPr sz="1275" b="0">
                <a:solidFill>
                  <a:srgbClr val="555555"/>
                </a:solidFill>
                <a:latin typeface="Arial"/>
                <a:ea typeface="Arial"/>
                <a:cs typeface="Arial"/>
              </a:defRPr>
            </a:lvl3pPr>
            <a:lvl4pPr algn="l">
              <a:defRPr sz="1275" b="0">
                <a:solidFill>
                  <a:srgbClr val="555555"/>
                </a:solidFill>
                <a:latin typeface="Arial"/>
                <a:ea typeface="Arial"/>
                <a:cs typeface="Arial"/>
              </a:defRPr>
            </a:lvl4pPr>
            <a:lvl5pPr algn="l">
              <a:defRPr sz="1275" b="0">
                <a:solidFill>
                  <a:srgbClr val="555555"/>
                </a:solidFill>
                <a:latin typeface="Arial"/>
                <a:ea typeface="Arial"/>
                <a:cs typeface="Arial"/>
              </a:defRPr>
            </a:lvl5pPr>
            <a:lvl6pPr algn="l">
              <a:defRPr sz="1275" b="0">
                <a:solidFill>
                  <a:srgbClr val="555555"/>
                </a:solidFill>
                <a:latin typeface="Arial"/>
                <a:ea typeface="Arial"/>
                <a:cs typeface="Arial"/>
              </a:defRPr>
            </a:lvl6pPr>
            <a:lvl7pPr algn="l">
              <a:defRPr sz="1275" b="0">
                <a:solidFill>
                  <a:srgbClr val="555555"/>
                </a:solidFill>
                <a:latin typeface="Arial"/>
                <a:ea typeface="Arial"/>
                <a:cs typeface="Arial"/>
              </a:defRPr>
            </a:lvl7pPr>
            <a:lvl8pPr algn="l">
              <a:defRPr sz="1275" b="0">
                <a:solidFill>
                  <a:srgbClr val="555555"/>
                </a:solidFill>
                <a:latin typeface="Arial"/>
                <a:ea typeface="Arial"/>
                <a:cs typeface="Arial"/>
              </a:defRPr>
            </a:lvl8pPr>
            <a:lvl9pPr algn="l">
              <a:defRPr sz="1275" b="0">
                <a:solidFill>
                  <a:srgbClr val="555555"/>
                </a:solidFill>
                <a:latin typeface="Arial"/>
                <a:ea typeface="Arial"/>
                <a:cs typeface="Arial"/>
              </a:defRPr>
            </a:lvl9pPr>
          </a:lstStyle>
          <a:p>
            <a:pPr algn="l">
              <a:defRPr sz="1275" b="0">
                <a:solidFill>
                  <a:srgbClr val="555555"/>
                </a:solidFill>
                <a:latin typeface="Arial"/>
                <a:ea typeface="Arial"/>
                <a:cs typeface="Arial"/>
              </a:defRPr>
            </a:pPr>
            <a:r>
              <a:rPr sz="1275" b="0">
                <a:solidFill>
                  <a:srgbClr val="555555"/>
                </a:solidFill>
                <a:latin typeface="Arial"/>
                <a:ea typeface="Arial"/>
                <a:cs typeface="Arial"/>
              </a:rPr>
              <a:t>0</a:t>
            </a:r>
          </a:p>
        </p:txBody>
      </p:sp>
      <p:sp>
        <p:nvSpPr>
          <p:cNvPr id="25" name="PCA&#10;intensity">
            <a:extLst>
              <a:ext uri="{FF2B5EF4-FFF2-40B4-BE49-F238E27FC236}">
                <a16:creationId xmlns:a16="http://schemas.microsoft.com/office/drawing/2014/main" id="{FCFC4F4D-7747-46BA-A4C4-592D73BB2100}"/>
              </a:ext>
            </a:extLst>
          </p:cNvPr>
          <p:cNvSpPr>
            <a:spLocks noGrp="1"/>
          </p:cNvSpPr>
          <p:nvPr/>
        </p:nvSpPr>
        <p:spPr>
          <a:xfrm>
            <a:off x="8001000" y="1499997"/>
            <a:ext cx="952500" cy="619125"/>
          </a:xfrm>
          <a:prstGeom prst="rect">
            <a:avLst/>
          </a:prstGeom>
          <a:noFill/>
          <a:ln w="0">
            <a:noFill/>
          </a:ln>
        </p:spPr>
        <p:txBody>
          <a:bodyPr wrap="square" lIns="0" tIns="0" rIns="0" bIns="0" anchor="ctr"/>
          <a:lstStyle>
            <a:defPPr algn="l">
              <a:defRPr sz="1275" b="0">
                <a:solidFill>
                  <a:srgbClr val="555555"/>
                </a:solidFill>
                <a:latin typeface="Arial"/>
                <a:ea typeface="Arial"/>
                <a:cs typeface="Arial"/>
              </a:defRPr>
            </a:defPPr>
            <a:lvl1pPr algn="l">
              <a:defRPr sz="1275" b="0">
                <a:solidFill>
                  <a:srgbClr val="555555"/>
                </a:solidFill>
                <a:latin typeface="Arial"/>
                <a:ea typeface="Arial"/>
                <a:cs typeface="Arial"/>
              </a:defRPr>
            </a:lvl1pPr>
            <a:lvl2pPr algn="l">
              <a:defRPr sz="1275" b="0">
                <a:solidFill>
                  <a:srgbClr val="555555"/>
                </a:solidFill>
                <a:latin typeface="Arial"/>
                <a:ea typeface="Arial"/>
                <a:cs typeface="Arial"/>
              </a:defRPr>
            </a:lvl2pPr>
            <a:lvl3pPr algn="l">
              <a:defRPr sz="1275" b="0">
                <a:solidFill>
                  <a:srgbClr val="555555"/>
                </a:solidFill>
                <a:latin typeface="Arial"/>
                <a:ea typeface="Arial"/>
                <a:cs typeface="Arial"/>
              </a:defRPr>
            </a:lvl3pPr>
            <a:lvl4pPr algn="l">
              <a:defRPr sz="1275" b="0">
                <a:solidFill>
                  <a:srgbClr val="555555"/>
                </a:solidFill>
                <a:latin typeface="Arial"/>
                <a:ea typeface="Arial"/>
                <a:cs typeface="Arial"/>
              </a:defRPr>
            </a:lvl4pPr>
            <a:lvl5pPr algn="l">
              <a:defRPr sz="1275" b="0">
                <a:solidFill>
                  <a:srgbClr val="555555"/>
                </a:solidFill>
                <a:latin typeface="Arial"/>
                <a:ea typeface="Arial"/>
                <a:cs typeface="Arial"/>
              </a:defRPr>
            </a:lvl5pPr>
            <a:lvl6pPr algn="l">
              <a:defRPr sz="1275" b="0">
                <a:solidFill>
                  <a:srgbClr val="555555"/>
                </a:solidFill>
                <a:latin typeface="Arial"/>
                <a:ea typeface="Arial"/>
                <a:cs typeface="Arial"/>
              </a:defRPr>
            </a:lvl6pPr>
            <a:lvl7pPr algn="l">
              <a:defRPr sz="1275" b="0">
                <a:solidFill>
                  <a:srgbClr val="555555"/>
                </a:solidFill>
                <a:latin typeface="Arial"/>
                <a:ea typeface="Arial"/>
                <a:cs typeface="Arial"/>
              </a:defRPr>
            </a:lvl7pPr>
            <a:lvl8pPr algn="l">
              <a:defRPr sz="1275" b="0">
                <a:solidFill>
                  <a:srgbClr val="555555"/>
                </a:solidFill>
                <a:latin typeface="Arial"/>
                <a:ea typeface="Arial"/>
                <a:cs typeface="Arial"/>
              </a:defRPr>
            </a:lvl8pPr>
            <a:lvl9pPr algn="l">
              <a:defRPr sz="1275" b="0">
                <a:solidFill>
                  <a:srgbClr val="555555"/>
                </a:solidFill>
                <a:latin typeface="Arial"/>
                <a:ea typeface="Arial"/>
                <a:cs typeface="Arial"/>
              </a:defRPr>
            </a:lvl9pPr>
          </a:lstStyle>
          <a:p>
            <a:pPr algn="l">
              <a:defRPr sz="1275" b="0">
                <a:solidFill>
                  <a:srgbClr val="555555"/>
                </a:solidFill>
                <a:latin typeface="Arial"/>
                <a:ea typeface="Arial"/>
                <a:cs typeface="Arial"/>
              </a:defRPr>
            </a:pPr>
            <a:r>
              <a:rPr sz="1275" b="0">
                <a:solidFill>
                  <a:srgbClr val="555555"/>
                </a:solidFill>
                <a:latin typeface="Arial"/>
                <a:ea typeface="Arial"/>
                <a:cs typeface="Arial"/>
              </a:rPr>
              <a:t>PCA</a:t>
            </a:r>
          </a:p>
          <a:p>
            <a:pPr algn="l">
              <a:defRPr sz="1275" b="0">
                <a:solidFill>
                  <a:srgbClr val="555555"/>
                </a:solidFill>
                <a:latin typeface="Arial"/>
                <a:ea typeface="Arial"/>
                <a:cs typeface="Arial"/>
              </a:defRPr>
            </a:pPr>
            <a:r>
              <a:rPr sz="1275" b="0">
                <a:solidFill>
                  <a:srgbClr val="555555"/>
                </a:solidFill>
                <a:latin typeface="Arial"/>
                <a:ea typeface="Arial"/>
                <a:cs typeface="Arial"/>
              </a:rPr>
              <a:t>intensity</a:t>
            </a:r>
          </a:p>
        </p:txBody>
      </p:sp>
      <p:sp>
        <p:nvSpPr>
          <p:cNvPr id="26" name="Qualitative latent structure; physiological c">
            <a:extLst>
              <a:ext uri="{FF2B5EF4-FFF2-40B4-BE49-F238E27FC236}">
                <a16:creationId xmlns:a16="http://schemas.microsoft.com/office/drawing/2014/main" id="{1CB3A4E9-2059-412B-A471-D27024844D08}"/>
              </a:ext>
            </a:extLst>
          </p:cNvPr>
          <p:cNvSpPr>
            <a:spLocks noGrp="1"/>
          </p:cNvSpPr>
          <p:nvPr/>
        </p:nvSpPr>
        <p:spPr>
          <a:xfrm>
            <a:off x="457200" y="4481322"/>
            <a:ext cx="8229600" cy="285750"/>
          </a:xfrm>
          <a:prstGeom prst="rect">
            <a:avLst/>
          </a:prstGeom>
          <a:noFill/>
          <a:ln w="0">
            <a:noFill/>
          </a:ln>
        </p:spPr>
        <p:txBody>
          <a:bodyPr wrap="square" lIns="0" tIns="0" rIns="0" bIns="0" anchor="ctr"/>
          <a:lstStyle>
            <a:defPPr algn="ctr">
              <a:defRPr sz="1650" b="1">
                <a:solidFill>
                  <a:srgbClr val="660874"/>
                </a:solidFill>
                <a:latin typeface="Arial"/>
                <a:ea typeface="Arial"/>
                <a:cs typeface="Arial"/>
              </a:defRPr>
            </a:defPPr>
            <a:lvl1pPr algn="ctr">
              <a:defRPr sz="1650" b="1">
                <a:solidFill>
                  <a:srgbClr val="660874"/>
                </a:solidFill>
                <a:latin typeface="Arial"/>
                <a:ea typeface="Arial"/>
                <a:cs typeface="Arial"/>
              </a:defRPr>
            </a:lvl1pPr>
            <a:lvl2pPr algn="ctr">
              <a:defRPr sz="1650" b="1">
                <a:solidFill>
                  <a:srgbClr val="660874"/>
                </a:solidFill>
                <a:latin typeface="Arial"/>
                <a:ea typeface="Arial"/>
                <a:cs typeface="Arial"/>
              </a:defRPr>
            </a:lvl2pPr>
            <a:lvl3pPr algn="ctr">
              <a:defRPr sz="1650" b="1">
                <a:solidFill>
                  <a:srgbClr val="660874"/>
                </a:solidFill>
                <a:latin typeface="Arial"/>
                <a:ea typeface="Arial"/>
                <a:cs typeface="Arial"/>
              </a:defRPr>
            </a:lvl3pPr>
            <a:lvl4pPr algn="ctr">
              <a:defRPr sz="1650" b="1">
                <a:solidFill>
                  <a:srgbClr val="660874"/>
                </a:solidFill>
                <a:latin typeface="Arial"/>
                <a:ea typeface="Arial"/>
                <a:cs typeface="Arial"/>
              </a:defRPr>
            </a:lvl4pPr>
            <a:lvl5pPr algn="ctr">
              <a:defRPr sz="1650" b="1">
                <a:solidFill>
                  <a:srgbClr val="660874"/>
                </a:solidFill>
                <a:latin typeface="Arial"/>
                <a:ea typeface="Arial"/>
                <a:cs typeface="Arial"/>
              </a:defRPr>
            </a:lvl5pPr>
            <a:lvl6pPr algn="ctr">
              <a:defRPr sz="1650" b="1">
                <a:solidFill>
                  <a:srgbClr val="660874"/>
                </a:solidFill>
                <a:latin typeface="Arial"/>
                <a:ea typeface="Arial"/>
                <a:cs typeface="Arial"/>
              </a:defRPr>
            </a:lvl6pPr>
            <a:lvl7pPr algn="ctr">
              <a:defRPr sz="1650" b="1">
                <a:solidFill>
                  <a:srgbClr val="660874"/>
                </a:solidFill>
                <a:latin typeface="Arial"/>
                <a:ea typeface="Arial"/>
                <a:cs typeface="Arial"/>
              </a:defRPr>
            </a:lvl7pPr>
            <a:lvl8pPr algn="ctr">
              <a:defRPr sz="1650" b="1">
                <a:solidFill>
                  <a:srgbClr val="660874"/>
                </a:solidFill>
                <a:latin typeface="Arial"/>
                <a:ea typeface="Arial"/>
                <a:cs typeface="Arial"/>
              </a:defRPr>
            </a:lvl8pPr>
            <a:lvl9pPr algn="ctr">
              <a:defRPr sz="1650" b="1">
                <a:solidFill>
                  <a:srgbClr val="660874"/>
                </a:solidFill>
                <a:latin typeface="Arial"/>
                <a:ea typeface="Arial"/>
                <a:cs typeface="Arial"/>
              </a:defRPr>
            </a:lvl9pPr>
          </a:lstStyle>
          <a:p>
            <a:pPr algn="ctr">
              <a:defRPr sz="1650" b="1">
                <a:solidFill>
                  <a:srgbClr val="660874"/>
                </a:solidFill>
                <a:latin typeface="Arial"/>
                <a:ea typeface="Arial"/>
                <a:cs typeface="Arial"/>
              </a:defRPr>
            </a:pPr>
            <a:r>
              <a:rPr sz="1650" b="1">
                <a:solidFill>
                  <a:srgbClr val="660874"/>
                </a:solidFill>
                <a:latin typeface="Arial"/>
                <a:ea typeface="Arial"/>
                <a:cs typeface="Arial"/>
              </a:rPr>
              <a:t>Qualitative latent structure; physiological correspondence remains untested</a:t>
            </a:r>
          </a:p>
        </p:txBody>
      </p:sp>
      <p:sp>
        <p:nvSpPr>
          <p:cNvPr id="27" name="Kicker dot"/>
          <p:cNvSpPr/>
          <p:nvPr/>
        </p:nvSpPr>
        <p:spPr>
          <a:xfrm>
            <a:off x="457200" y="278892"/>
            <a:ext cx="77724" cy="77724"/>
          </a:xfrm>
          <a:prstGeom prst="ellipse">
            <a:avLst/>
          </a:prstGeom>
          <a:solidFill>
            <a:srgbClr val="D55E00"/>
          </a:solidFill>
          <a:ln>
            <a:noFill/>
          </a:ln>
        </p:spPr>
        <p:txBody>
          <a:bodyPr rtlCol="0" anchor="ctr"/>
          <a:lstStyle/>
          <a:p>
            <a:pPr algn="ctr"/>
          </a:p>
        </p:txBody>
      </p:sp>
      <p:sp>
        <p:nvSpPr>
          <p:cNvPr id="28" name="Kicker"/>
          <p:cNvSpPr txBox="1"/>
          <p:nvPr/>
        </p:nvSpPr>
        <p:spPr>
          <a:xfrm>
            <a:off x="594360" y="233172"/>
            <a:ext cx="5943600" cy="182880"/>
          </a:xfrm>
          <a:prstGeom prst="rect">
            <a:avLst/>
          </a:prstGeom>
          <a:noFill/>
        </p:spPr>
        <p:txBody>
          <a:bodyPr wrap="square" lIns="0" rIns="0" tIns="0" bIns="0" anchor="ctr">
            <a:noAutofit/>
          </a:bodyPr>
          <a:lstStyle/>
          <a:p>
            <a:pPr algn="l">
              <a:lnSpc>
                <a:spcPct val="108000"/>
              </a:lnSpc>
            </a:pPr>
            <a:r>
              <a:rPr sz="950" b="1" i="0" spc="120">
                <a:solidFill>
                  <a:srgbClr val="660874"/>
                </a:solidFill>
                <a:latin typeface="Arial"/>
              </a:rPr>
              <a:t>INSIDE THE MODEL</a:t>
            </a:r>
          </a:p>
        </p:txBody>
      </p:sp>
      <p:sp>
        <p:nvSpPr>
          <p:cNvPr id="29" name="Title 28"/>
          <p:cNvSpPr>
            <a:spLocks noGrp="1"/>
          </p:cNvSpPr>
          <p:nvPr>
            <p:ph type="title"/>
          </p:nvPr>
        </p:nvSpPr>
        <p:spPr>
          <a:xfrm>
            <a:off x="457200" y="429768"/>
            <a:ext cx="8229600" cy="457200"/>
          </a:xfrm>
        </p:spPr>
        <p:txBody>
          <a:bodyPr wrap="square" anchor="t" lIns="0" rIns="0" tIns="0" bIns="0"/>
          <a:lstStyle/>
          <a:p>
            <a:pPr algn="l">
              <a:lnSpc>
                <a:spcPct val="100000"/>
              </a:lnSpc>
            </a:pPr>
            <a:r>
              <a:rPr sz="2400" b="1">
                <a:solidFill>
                  <a:srgbClr val="1F1A2E"/>
                </a:solidFill>
                <a:latin typeface="Arial"/>
              </a:rPr>
              <a:t>Latent responses differ across neuron classes</a:t>
            </a:r>
          </a:p>
        </p:txBody>
      </p:sp>
      <p:sp>
        <p:nvSpPr>
          <p:cNvPr id="30" name="Source"/>
          <p:cNvSpPr txBox="1"/>
          <p:nvPr/>
        </p:nvSpPr>
        <p:spPr>
          <a:xfrm>
            <a:off x="457200" y="4791456"/>
            <a:ext cx="7589520" cy="201168"/>
          </a:xfrm>
          <a:prstGeom prst="rect">
            <a:avLst/>
          </a:prstGeom>
          <a:noFill/>
        </p:spPr>
        <p:txBody>
          <a:bodyPr wrap="square" lIns="0" rIns="0" tIns="0" bIns="0" anchor="ctr">
            <a:noAutofit/>
          </a:bodyPr>
          <a:lstStyle/>
          <a:p>
            <a:pPr algn="l">
              <a:lnSpc>
                <a:spcPct val="108000"/>
              </a:lnSpc>
            </a:pPr>
            <a:r>
              <a:rPr sz="850" b="0" i="0">
                <a:solidFill>
                  <a:srgbClr val="7A7387"/>
                </a:solidFill>
                <a:latin typeface="Arial"/>
              </a:rPr>
              <a:t>FlyGM [1]: Fig. 5 and Appendix F (PCA, class grouping, within-class ordering); random-graph control in Fig. 8. Cf. [21, 22].</a:t>
            </a:r>
          </a:p>
        </p:txBody>
      </p:sp>
      <p:sp>
        <p:nvSpPr>
          <p:cNvPr id="31" name="Slide number"/>
          <p:cNvSpPr txBox="1"/>
          <p:nvPr/>
        </p:nvSpPr>
        <p:spPr>
          <a:xfrm>
            <a:off x="8229600" y="4791456"/>
            <a:ext cx="457200" cy="201168"/>
          </a:xfrm>
          <a:prstGeom prst="rect">
            <a:avLst/>
          </a:prstGeom>
          <a:noFill/>
        </p:spPr>
        <p:txBody>
          <a:bodyPr wrap="none" lIns="0" rIns="0" tIns="0" bIns="0" anchor="ctr">
            <a:spAutoFit/>
          </a:bodyPr>
          <a:lstStyle/>
          <a:p>
            <a:pPr algn="r"/>
            <a:fld id="{5C1D9F7E-2B47-4C0B-9E55-6B0D1A3E1F01}" type="slidenum">
              <a:rPr lang="en-US" sz="900">
                <a:solidFill>
                  <a:srgbClr val="7A7387"/>
                </a:solidFill>
                <a:latin typeface="Arial"/>
              </a:rPr>
              <a:t>#</a:t>
            </a:fld>
          </a:p>
        </p:txBody>
      </p:sp>
    </p:spTree>
    <p:extLst>
      <p:ext uri="{BB962C8B-B14F-4D97-AF65-F5344CB8AC3E}">
        <p14:creationId xmlns:p14="http://schemas.microsoft.com/office/powerpoint/2010/main" val="1526145807"/>
      </p:ext>
    </p:extLst>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111F"/>
        </a:solidFill>
        <a:effectLst/>
      </p:bgPr>
    </p:bg>
    <p:spTree>
      <p:nvGrpSpPr>
        <p:cNvPr id="1" name=""/>
        <p:cNvGrpSpPr/>
        <p:nvPr/>
      </p:nvGrpSpPr>
      <p:grpSpPr/>
      <p:sp>
        <p:nvSpPr>
          <p:cNvPr id="3" name="Title 2"/>
          <p:cNvSpPr>
            <a:spLocks noGrp="1"/>
          </p:cNvSpPr>
          <p:nvPr>
            <p:ph type="title"/>
          </p:nvPr>
        </p:nvSpPr>
        <p:spPr>
          <a:xfrm>
            <a:off x="548640" y="896112"/>
            <a:ext cx="4572000" cy="914400"/>
          </a:xfrm>
        </p:spPr>
        <p:txBody>
          <a:bodyPr wrap="square" anchor="t" lIns="0" rIns="0" tIns="0" bIns="0"/>
          <a:lstStyle/>
          <a:p>
            <a:pPr algn="l">
              <a:lnSpc>
                <a:spcPct val="100000"/>
              </a:lnSpc>
            </a:pPr>
            <a:r>
              <a:rPr sz="6000" b="1">
                <a:solidFill>
                  <a:srgbClr val="FFFFFF"/>
                </a:solidFill>
                <a:latin typeface="Arial"/>
              </a:rPr>
              <a:t>FlyGM</a:t>
            </a:r>
          </a:p>
        </p:txBody>
      </p:sp>
      <p:pic>
        <p:nvPicPr>
          <p:cNvPr id="4" name="Connectome graph layout" descr="connectome_layout_alpha.png"/>
          <p:cNvPicPr>
            <a:picLocks noChangeAspect="1"/>
          </p:cNvPicPr>
          <p:nvPr/>
        </p:nvPicPr>
        <p:blipFill>
          <a:blip r:embed="rId2"/>
          <a:stretch>
            <a:fillRect/>
          </a:stretch>
        </p:blipFill>
        <p:spPr>
          <a:xfrm>
            <a:off x="4617720" y="-320040"/>
            <a:ext cx="5120640" cy="5120640"/>
          </a:xfrm>
          <a:prstGeom prst="rect">
            <a:avLst/>
          </a:prstGeom>
        </p:spPr>
      </p:pic>
      <p:sp>
        <p:nvSpPr>
          <p:cNvPr id="5" name="TextBox 4"/>
          <p:cNvSpPr txBox="1"/>
          <p:nvPr/>
        </p:nvSpPr>
        <p:spPr>
          <a:xfrm>
            <a:off x="548640" y="566928"/>
            <a:ext cx="4572000" cy="228600"/>
          </a:xfrm>
          <a:prstGeom prst="rect">
            <a:avLst/>
          </a:prstGeom>
          <a:noFill/>
        </p:spPr>
        <p:txBody>
          <a:bodyPr wrap="square" lIns="0" rIns="0" tIns="0" bIns="0" anchor="t">
            <a:noAutofit/>
          </a:bodyPr>
          <a:lstStyle/>
          <a:p>
            <a:pPr algn="l">
              <a:lnSpc>
                <a:spcPct val="108000"/>
              </a:lnSpc>
            </a:pPr>
            <a:r>
              <a:rPr sz="1000" b="1" i="0" spc="150">
                <a:solidFill>
                  <a:srgbClr val="F0A46B"/>
                </a:solidFill>
                <a:latin typeface="Arial"/>
              </a:rPr>
              <a:t>AIAS+ 2026  ·  ORAL PRESENTATION</a:t>
            </a:r>
          </a:p>
        </p:txBody>
      </p:sp>
      <p:sp>
        <p:nvSpPr>
          <p:cNvPr id="6" name="TextBox 5"/>
          <p:cNvSpPr txBox="1"/>
          <p:nvPr/>
        </p:nvSpPr>
        <p:spPr>
          <a:xfrm>
            <a:off x="548640" y="1847088"/>
            <a:ext cx="4846320" cy="685800"/>
          </a:xfrm>
          <a:prstGeom prst="rect">
            <a:avLst/>
          </a:prstGeom>
          <a:noFill/>
        </p:spPr>
        <p:txBody>
          <a:bodyPr wrap="square" lIns="0" rIns="0" tIns="0" bIns="0" anchor="t">
            <a:noAutofit/>
          </a:bodyPr>
          <a:lstStyle/>
          <a:p>
            <a:pPr algn="l">
              <a:lnSpc>
                <a:spcPct val="105000"/>
              </a:lnSpc>
            </a:pPr>
            <a:r>
              <a:rPr sz="1900" b="0" i="0">
                <a:solidFill>
                  <a:srgbClr val="E6DEF3"/>
                </a:solidFill>
                <a:latin typeface="Arial"/>
              </a:rPr>
              <a:t>Whole-Brain Connectomic Graph Model for Whole-Body Locomotion Control</a:t>
            </a:r>
          </a:p>
        </p:txBody>
      </p:sp>
      <p:sp>
        <p:nvSpPr>
          <p:cNvPr id="7" name="TextBox 6"/>
          <p:cNvSpPr txBox="1"/>
          <p:nvPr/>
        </p:nvSpPr>
        <p:spPr>
          <a:xfrm>
            <a:off x="548640" y="2852928"/>
            <a:ext cx="4480560" cy="274320"/>
          </a:xfrm>
          <a:prstGeom prst="rect">
            <a:avLst/>
          </a:prstGeom>
          <a:noFill/>
        </p:spPr>
        <p:txBody>
          <a:bodyPr wrap="square" lIns="0" rIns="0" tIns="0" bIns="0" anchor="t">
            <a:noAutofit/>
          </a:bodyPr>
          <a:lstStyle/>
          <a:p>
            <a:pPr algn="l">
              <a:lnSpc>
                <a:spcPct val="108000"/>
              </a:lnSpc>
            </a:pPr>
            <a:r>
              <a:rPr sz="1300" b="1" i="0">
                <a:solidFill>
                  <a:srgbClr val="FFFFFF"/>
                </a:solidFill>
                <a:latin typeface="Arial"/>
              </a:rPr>
              <a:t>Zehao Jin, Yaoye Zhu, Chen Zhang, Yanan Sui</a:t>
            </a:r>
          </a:p>
        </p:txBody>
      </p:sp>
      <p:sp>
        <p:nvSpPr>
          <p:cNvPr id="8" name="TextBox 7"/>
          <p:cNvSpPr txBox="1"/>
          <p:nvPr/>
        </p:nvSpPr>
        <p:spPr>
          <a:xfrm>
            <a:off x="548640" y="3127248"/>
            <a:ext cx="4480560" cy="274320"/>
          </a:xfrm>
          <a:prstGeom prst="rect">
            <a:avLst/>
          </a:prstGeom>
          <a:noFill/>
        </p:spPr>
        <p:txBody>
          <a:bodyPr wrap="square" lIns="0" rIns="0" tIns="0" bIns="0" anchor="t">
            <a:noAutofit/>
          </a:bodyPr>
          <a:lstStyle/>
          <a:p>
            <a:pPr algn="l">
              <a:lnSpc>
                <a:spcPct val="108000"/>
              </a:lnSpc>
            </a:pPr>
            <a:r>
              <a:rPr sz="1100" b="0" i="0">
                <a:solidFill>
                  <a:srgbClr val="B9AECB"/>
                </a:solidFill>
                <a:latin typeface="Arial"/>
              </a:rPr>
              <a:t>Tsinghua University  ·  LNS Group</a:t>
            </a:r>
          </a:p>
        </p:txBody>
      </p:sp>
      <p:sp>
        <p:nvSpPr>
          <p:cNvPr id="9" name="Logo card"/>
          <p:cNvSpPr/>
          <p:nvPr/>
        </p:nvSpPr>
        <p:spPr>
          <a:xfrm>
            <a:off x="548640" y="3822191"/>
            <a:ext cx="3611880" cy="841248"/>
          </a:xfrm>
          <a:prstGeom prst="roundRect">
            <a:avLst>
              <a:gd name="adj" fmla="val 14000"/>
            </a:avLst>
          </a:prstGeom>
          <a:solidFill>
            <a:srgbClr val="FFFFFF"/>
          </a:solidFill>
          <a:ln>
            <a:noFill/>
          </a:ln>
        </p:spPr>
        <p:txBody>
          <a:bodyPr rtlCol="0" anchor="ctr"/>
          <a:lstStyle/>
          <a:p>
            <a:pPr algn="ctr"/>
          </a:p>
        </p:txBody>
      </p:sp>
      <p:pic>
        <p:nvPicPr>
          <p:cNvPr id="10" name="Tsinghua University logo" descr="image.png"/>
          <p:cNvPicPr>
            <a:picLocks noChangeAspect="1"/>
          </p:cNvPicPr>
          <p:nvPr/>
        </p:nvPicPr>
        <p:blipFill>
          <a:blip r:embed="rId3"/>
          <a:stretch>
            <a:fillRect/>
          </a:stretch>
        </p:blipFill>
        <p:spPr>
          <a:xfrm>
            <a:off x="676656" y="3904487"/>
            <a:ext cx="676656" cy="676656"/>
          </a:xfrm>
          <a:prstGeom prst="rect">
            <a:avLst/>
          </a:prstGeom>
        </p:spPr>
      </p:pic>
      <p:pic>
        <p:nvPicPr>
          <p:cNvPr id="11" name="LNS Group logo" descr="image.png"/>
          <p:cNvPicPr>
            <a:picLocks noChangeAspect="1"/>
          </p:cNvPicPr>
          <p:nvPr/>
        </p:nvPicPr>
        <p:blipFill>
          <a:blip r:embed="rId4"/>
          <a:stretch>
            <a:fillRect/>
          </a:stretch>
        </p:blipFill>
        <p:spPr>
          <a:xfrm>
            <a:off x="1481328" y="4078224"/>
            <a:ext cx="1325880" cy="329184"/>
          </a:xfrm>
          <a:prstGeom prst="rect">
            <a:avLst/>
          </a:prstGeom>
        </p:spPr>
      </p:pic>
      <p:pic>
        <p:nvPicPr>
          <p:cNvPr id="12" name="QR code: lnsgroup.cc/research/FlyGM" descr="qr_flygm.png">
            <a:hlinkClick r:id="rId6"/>
          </p:cNvPr>
          <p:cNvPicPr>
            <a:picLocks noChangeAspect="1"/>
          </p:cNvPicPr>
          <p:nvPr/>
        </p:nvPicPr>
        <p:blipFill>
          <a:blip r:embed="rId5"/>
          <a:stretch>
            <a:fillRect/>
          </a:stretch>
        </p:blipFill>
        <p:spPr>
          <a:xfrm>
            <a:off x="3310128" y="3886200"/>
            <a:ext cx="713232" cy="713232"/>
          </a:xfrm>
          <a:prstGeom prst="rect">
            <a:avLst/>
          </a:prstGeom>
        </p:spPr>
      </p:pic>
      <p:sp>
        <p:nvSpPr>
          <p:cNvPr id="13" name="TextBox 12"/>
          <p:cNvSpPr txBox="1"/>
          <p:nvPr/>
        </p:nvSpPr>
        <p:spPr>
          <a:xfrm>
            <a:off x="2770632" y="3986784"/>
            <a:ext cx="502920" cy="548640"/>
          </a:xfrm>
          <a:prstGeom prst="rect">
            <a:avLst/>
          </a:prstGeom>
          <a:noFill/>
        </p:spPr>
        <p:txBody>
          <a:bodyPr wrap="square" lIns="0" rIns="0" tIns="0" bIns="0" anchor="ctr">
            <a:noAutofit/>
          </a:bodyPr>
          <a:lstStyle/>
          <a:p>
            <a:pPr algn="r">
              <a:lnSpc>
                <a:spcPct val="108000"/>
              </a:lnSpc>
            </a:pPr>
            <a:r>
              <a:rPr sz="850" b="1" i="0">
                <a:solidFill>
                  <a:srgbClr val="3A3447"/>
                </a:solidFill>
                <a:latin typeface="Arial"/>
              </a:rPr>
              <a:t>Demo</a:t>
            </a:r>
          </a:p>
          <a:p>
            <a:pPr algn="r">
              <a:lnSpc>
                <a:spcPct val="108000"/>
              </a:lnSpc>
            </a:pPr>
            <a:r>
              <a:rPr sz="850" b="0" i="0">
                <a:solidFill>
                  <a:srgbClr val="3A3447"/>
                </a:solidFill>
                <a:latin typeface="Arial"/>
              </a:rPr>
              <a:t>page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457200" y="429768"/>
            <a:ext cx="8229600" cy="457200"/>
          </a:xfrm>
        </p:spPr>
        <p:txBody>
          <a:bodyPr wrap="square" anchor="t" lIns="0" rIns="0" tIns="0" bIns="0"/>
          <a:lstStyle/>
          <a:p>
            <a:pPr algn="l">
              <a:lnSpc>
                <a:spcPct val="100000"/>
              </a:lnSpc>
            </a:pPr>
            <a:r>
              <a:rPr sz="2400" b="1">
                <a:solidFill>
                  <a:srgbClr val="1F1A2E"/>
                </a:solidFill>
                <a:latin typeface="Arial"/>
              </a:rPr>
              <a:t>The fly brain and the fly body are now both digital</a:t>
            </a:r>
          </a:p>
        </p:txBody>
      </p:sp>
      <p:sp>
        <p:nvSpPr>
          <p:cNvPr id="4" name="Kicker dot"/>
          <p:cNvSpPr/>
          <p:nvPr/>
        </p:nvSpPr>
        <p:spPr>
          <a:xfrm>
            <a:off x="457200" y="278892"/>
            <a:ext cx="77724" cy="77724"/>
          </a:xfrm>
          <a:prstGeom prst="ellipse">
            <a:avLst/>
          </a:prstGeom>
          <a:solidFill>
            <a:srgbClr val="D55E00"/>
          </a:solidFill>
          <a:ln>
            <a:noFill/>
          </a:ln>
        </p:spPr>
        <p:txBody>
          <a:bodyPr rtlCol="0" anchor="ctr"/>
          <a:lstStyle/>
          <a:p>
            <a:pPr algn="ctr"/>
          </a:p>
        </p:txBody>
      </p:sp>
      <p:sp>
        <p:nvSpPr>
          <p:cNvPr id="5" name="Kicker"/>
          <p:cNvSpPr txBox="1"/>
          <p:nvPr/>
        </p:nvSpPr>
        <p:spPr>
          <a:xfrm>
            <a:off x="594360" y="233172"/>
            <a:ext cx="5943600" cy="182880"/>
          </a:xfrm>
          <a:prstGeom prst="rect">
            <a:avLst/>
          </a:prstGeom>
          <a:noFill/>
        </p:spPr>
        <p:txBody>
          <a:bodyPr wrap="square" lIns="0" rIns="0" tIns="0" bIns="0" anchor="ctr">
            <a:noAutofit/>
          </a:bodyPr>
          <a:lstStyle/>
          <a:p>
            <a:pPr algn="l">
              <a:lnSpc>
                <a:spcPct val="108000"/>
              </a:lnSpc>
            </a:pPr>
            <a:r>
              <a:rPr sz="950" b="1" i="0" spc="120">
                <a:solidFill>
                  <a:srgbClr val="660874"/>
                </a:solidFill>
                <a:latin typeface="Arial"/>
              </a:rPr>
              <a:t>WHY NOW</a:t>
            </a:r>
          </a:p>
        </p:txBody>
      </p:sp>
      <p:pic>
        <p:nvPicPr>
          <p:cNvPr id="6" name="FlyWire whole-brain rendering" descr="image.png"/>
          <p:cNvPicPr>
            <a:picLocks noChangeAspect="1"/>
          </p:cNvPicPr>
          <p:nvPr/>
        </p:nvPicPr>
        <p:blipFill>
          <a:blip r:embed="rId2"/>
          <a:stretch>
            <a:fillRect/>
          </a:stretch>
        </p:blipFill>
        <p:spPr>
          <a:xfrm>
            <a:off x="411480" y="1024128"/>
            <a:ext cx="3749039" cy="2926080"/>
          </a:xfrm>
          <a:prstGeom prst="rect">
            <a:avLst/>
          </a:prstGeom>
        </p:spPr>
      </p:pic>
      <p:sp>
        <p:nvSpPr>
          <p:cNvPr id="7" name="TextBox 6"/>
          <p:cNvSpPr txBox="1"/>
          <p:nvPr/>
        </p:nvSpPr>
        <p:spPr>
          <a:xfrm>
            <a:off x="457200" y="3931920"/>
            <a:ext cx="1234440" cy="384048"/>
          </a:xfrm>
          <a:prstGeom prst="rect">
            <a:avLst/>
          </a:prstGeom>
          <a:noFill/>
        </p:spPr>
        <p:txBody>
          <a:bodyPr wrap="square" lIns="0" rIns="0" tIns="0" bIns="0" anchor="t">
            <a:noAutofit/>
          </a:bodyPr>
          <a:lstStyle/>
          <a:p>
            <a:pPr algn="l">
              <a:lnSpc>
                <a:spcPct val="108000"/>
              </a:lnSpc>
            </a:pPr>
            <a:r>
              <a:rPr sz="2200" b="1" i="0">
                <a:solidFill>
                  <a:srgbClr val="660874"/>
                </a:solidFill>
                <a:latin typeface="Arial"/>
              </a:rPr>
              <a:t>139,255</a:t>
            </a:r>
          </a:p>
        </p:txBody>
      </p:sp>
      <p:sp>
        <p:nvSpPr>
          <p:cNvPr id="8" name="TextBox 7"/>
          <p:cNvSpPr txBox="1"/>
          <p:nvPr/>
        </p:nvSpPr>
        <p:spPr>
          <a:xfrm>
            <a:off x="457200" y="4297680"/>
            <a:ext cx="1234440" cy="228600"/>
          </a:xfrm>
          <a:prstGeom prst="rect">
            <a:avLst/>
          </a:prstGeom>
          <a:noFill/>
        </p:spPr>
        <p:txBody>
          <a:bodyPr wrap="square" lIns="0" rIns="0" tIns="0" bIns="0" anchor="t">
            <a:noAutofit/>
          </a:bodyPr>
          <a:lstStyle/>
          <a:p>
            <a:pPr algn="l">
              <a:lnSpc>
                <a:spcPct val="108000"/>
              </a:lnSpc>
            </a:pPr>
            <a:r>
              <a:rPr sz="1100" b="0" i="0">
                <a:solidFill>
                  <a:srgbClr val="7A7387"/>
                </a:solidFill>
                <a:latin typeface="Arial"/>
              </a:rPr>
              <a:t>neurons</a:t>
            </a:r>
          </a:p>
        </p:txBody>
      </p:sp>
      <p:sp>
        <p:nvSpPr>
          <p:cNvPr id="9" name="TextBox 8"/>
          <p:cNvSpPr txBox="1"/>
          <p:nvPr/>
        </p:nvSpPr>
        <p:spPr>
          <a:xfrm>
            <a:off x="1719072" y="3931920"/>
            <a:ext cx="1234440" cy="384048"/>
          </a:xfrm>
          <a:prstGeom prst="rect">
            <a:avLst/>
          </a:prstGeom>
          <a:noFill/>
        </p:spPr>
        <p:txBody>
          <a:bodyPr wrap="square" lIns="0" rIns="0" tIns="0" bIns="0" anchor="t">
            <a:noAutofit/>
          </a:bodyPr>
          <a:lstStyle/>
          <a:p>
            <a:pPr algn="l">
              <a:lnSpc>
                <a:spcPct val="108000"/>
              </a:lnSpc>
            </a:pPr>
            <a:r>
              <a:rPr sz="2200" b="1" i="0">
                <a:solidFill>
                  <a:srgbClr val="660874"/>
                </a:solidFill>
                <a:latin typeface="Arial"/>
              </a:rPr>
              <a:t>54.5 M</a:t>
            </a:r>
          </a:p>
        </p:txBody>
      </p:sp>
      <p:sp>
        <p:nvSpPr>
          <p:cNvPr id="10" name="TextBox 9"/>
          <p:cNvSpPr txBox="1"/>
          <p:nvPr/>
        </p:nvSpPr>
        <p:spPr>
          <a:xfrm>
            <a:off x="1719072" y="4297680"/>
            <a:ext cx="1234440" cy="228600"/>
          </a:xfrm>
          <a:prstGeom prst="rect">
            <a:avLst/>
          </a:prstGeom>
          <a:noFill/>
        </p:spPr>
        <p:txBody>
          <a:bodyPr wrap="square" lIns="0" rIns="0" tIns="0" bIns="0" anchor="t">
            <a:noAutofit/>
          </a:bodyPr>
          <a:lstStyle/>
          <a:p>
            <a:pPr algn="l">
              <a:lnSpc>
                <a:spcPct val="108000"/>
              </a:lnSpc>
            </a:pPr>
            <a:r>
              <a:rPr sz="1100" b="0" i="0">
                <a:solidFill>
                  <a:srgbClr val="7A7387"/>
                </a:solidFill>
                <a:latin typeface="Arial"/>
              </a:rPr>
              <a:t>synapses</a:t>
            </a:r>
          </a:p>
        </p:txBody>
      </p:sp>
      <p:sp>
        <p:nvSpPr>
          <p:cNvPr id="11" name="TextBox 10"/>
          <p:cNvSpPr txBox="1"/>
          <p:nvPr/>
        </p:nvSpPr>
        <p:spPr>
          <a:xfrm>
            <a:off x="2980944" y="3931920"/>
            <a:ext cx="1234440" cy="384048"/>
          </a:xfrm>
          <a:prstGeom prst="rect">
            <a:avLst/>
          </a:prstGeom>
          <a:noFill/>
        </p:spPr>
        <p:txBody>
          <a:bodyPr wrap="square" lIns="0" rIns="0" tIns="0" bIns="0" anchor="t">
            <a:noAutofit/>
          </a:bodyPr>
          <a:lstStyle/>
          <a:p>
            <a:pPr algn="l">
              <a:lnSpc>
                <a:spcPct val="108000"/>
              </a:lnSpc>
            </a:pPr>
            <a:r>
              <a:rPr sz="2200" b="1" i="0">
                <a:solidFill>
                  <a:srgbClr val="660874"/>
                </a:solidFill>
                <a:latin typeface="Arial"/>
              </a:rPr>
              <a:t>8,453</a:t>
            </a:r>
          </a:p>
        </p:txBody>
      </p:sp>
      <p:sp>
        <p:nvSpPr>
          <p:cNvPr id="12" name="TextBox 11"/>
          <p:cNvSpPr txBox="1"/>
          <p:nvPr/>
        </p:nvSpPr>
        <p:spPr>
          <a:xfrm>
            <a:off x="2980944" y="4297680"/>
            <a:ext cx="1234440" cy="228600"/>
          </a:xfrm>
          <a:prstGeom prst="rect">
            <a:avLst/>
          </a:prstGeom>
          <a:noFill/>
        </p:spPr>
        <p:txBody>
          <a:bodyPr wrap="square" lIns="0" rIns="0" tIns="0" bIns="0" anchor="t">
            <a:noAutofit/>
          </a:bodyPr>
          <a:lstStyle/>
          <a:p>
            <a:pPr algn="l">
              <a:lnSpc>
                <a:spcPct val="108000"/>
              </a:lnSpc>
            </a:pPr>
            <a:r>
              <a:rPr sz="1100" b="0" i="0">
                <a:solidFill>
                  <a:srgbClr val="7A7387"/>
                </a:solidFill>
                <a:latin typeface="Arial"/>
              </a:rPr>
              <a:t>cell types</a:t>
            </a:r>
          </a:p>
        </p:txBody>
      </p:sp>
      <p:cxnSp>
        <p:nvCxnSpPr>
          <p:cNvPr id="13" name="Connector 12"/>
          <p:cNvCxnSpPr/>
          <p:nvPr/>
        </p:nvCxnSpPr>
        <p:spPr>
          <a:xfrm>
            <a:off x="4919472" y="1225295"/>
            <a:ext cx="0" cy="2523745"/>
          </a:xfrm>
          <a:prstGeom prst="line">
            <a:avLst/>
          </a:prstGeom>
          <a:ln w="25400">
            <a:solidFill>
              <a:srgbClr val="E2DCEA"/>
            </a:solidFill>
          </a:ln>
        </p:spPr>
      </p:cxnSp>
      <p:sp>
        <p:nvSpPr>
          <p:cNvPr id="14" name="Rounded Rectangle 13"/>
          <p:cNvSpPr/>
          <p:nvPr/>
        </p:nvSpPr>
        <p:spPr>
          <a:xfrm>
            <a:off x="4617720" y="1097280"/>
            <a:ext cx="603504" cy="256032"/>
          </a:xfrm>
          <a:prstGeom prst="roundRect">
            <a:avLst>
              <a:gd name="adj" fmla="val 50000"/>
            </a:avLst>
          </a:prstGeom>
          <a:solidFill>
            <a:srgbClr val="660874"/>
          </a:solidFill>
          <a:ln>
            <a:noFill/>
          </a:ln>
        </p:spPr>
        <p:txBody>
          <a:bodyPr rtlCol="0" anchor="ctr"/>
          <a:lstStyle/>
          <a:p>
            <a:pPr algn="ctr"/>
          </a:p>
        </p:txBody>
      </p:sp>
      <p:sp>
        <p:nvSpPr>
          <p:cNvPr id="15" name="TextBox 14"/>
          <p:cNvSpPr txBox="1"/>
          <p:nvPr/>
        </p:nvSpPr>
        <p:spPr>
          <a:xfrm>
            <a:off x="4617720" y="1097280"/>
            <a:ext cx="603504" cy="256032"/>
          </a:xfrm>
          <a:prstGeom prst="rect">
            <a:avLst/>
          </a:prstGeom>
          <a:noFill/>
        </p:spPr>
        <p:txBody>
          <a:bodyPr wrap="square" lIns="0" rIns="0" tIns="0" bIns="0" anchor="ctr">
            <a:noAutofit/>
          </a:bodyPr>
          <a:lstStyle/>
          <a:p>
            <a:pPr algn="ctr">
              <a:lnSpc>
                <a:spcPct val="108000"/>
              </a:lnSpc>
            </a:pPr>
            <a:r>
              <a:rPr sz="1050" b="1" i="0">
                <a:solidFill>
                  <a:srgbClr val="FFFFFF"/>
                </a:solidFill>
                <a:latin typeface="Arial"/>
              </a:rPr>
              <a:t>2024</a:t>
            </a:r>
          </a:p>
        </p:txBody>
      </p:sp>
      <p:sp>
        <p:nvSpPr>
          <p:cNvPr id="16" name="TextBox 15"/>
          <p:cNvSpPr txBox="1"/>
          <p:nvPr/>
        </p:nvSpPr>
        <p:spPr>
          <a:xfrm>
            <a:off x="5394959" y="1042415"/>
            <a:ext cx="3337560" cy="274320"/>
          </a:xfrm>
          <a:prstGeom prst="rect">
            <a:avLst/>
          </a:prstGeom>
          <a:noFill/>
        </p:spPr>
        <p:txBody>
          <a:bodyPr wrap="square" lIns="0" rIns="0" tIns="0" bIns="0" anchor="t">
            <a:noAutofit/>
          </a:bodyPr>
          <a:lstStyle/>
          <a:p>
            <a:pPr algn="l">
              <a:lnSpc>
                <a:spcPct val="108000"/>
              </a:lnSpc>
            </a:pPr>
            <a:r>
              <a:rPr sz="1300" b="1" i="0">
                <a:solidFill>
                  <a:srgbClr val="1F1A2E"/>
                </a:solidFill>
                <a:latin typeface="Arial"/>
              </a:rPr>
              <a:t>FlyWire: a complete adult brain</a:t>
            </a:r>
          </a:p>
        </p:txBody>
      </p:sp>
      <p:sp>
        <p:nvSpPr>
          <p:cNvPr id="17" name="TextBox 16"/>
          <p:cNvSpPr txBox="1"/>
          <p:nvPr/>
        </p:nvSpPr>
        <p:spPr>
          <a:xfrm>
            <a:off x="5394959" y="1316736"/>
            <a:ext cx="3337560" cy="502920"/>
          </a:xfrm>
          <a:prstGeom prst="rect">
            <a:avLst/>
          </a:prstGeom>
          <a:noFill/>
        </p:spPr>
        <p:txBody>
          <a:bodyPr wrap="square" lIns="0" rIns="0" tIns="0" bIns="0" anchor="t">
            <a:noAutofit/>
          </a:bodyPr>
          <a:lstStyle/>
          <a:p>
            <a:pPr algn="l">
              <a:lnSpc>
                <a:spcPct val="105000"/>
              </a:lnSpc>
            </a:pPr>
            <a:r>
              <a:rPr sz="1050" b="0" i="0">
                <a:solidFill>
                  <a:srgbClr val="3A3447"/>
                </a:solidFill>
                <a:latin typeface="Arial"/>
              </a:rPr>
              <a:t>Synapse-resolution wiring diagram of one female fly, proofread by a global community [2, 3]</a:t>
            </a:r>
          </a:p>
        </p:txBody>
      </p:sp>
      <p:sp>
        <p:nvSpPr>
          <p:cNvPr id="18" name="Rounded Rectangle 17"/>
          <p:cNvSpPr/>
          <p:nvPr/>
        </p:nvSpPr>
        <p:spPr>
          <a:xfrm>
            <a:off x="4617720" y="1938528"/>
            <a:ext cx="603504" cy="256032"/>
          </a:xfrm>
          <a:prstGeom prst="roundRect">
            <a:avLst>
              <a:gd name="adj" fmla="val 50000"/>
            </a:avLst>
          </a:prstGeom>
          <a:solidFill>
            <a:srgbClr val="660874"/>
          </a:solidFill>
          <a:ln>
            <a:noFill/>
          </a:ln>
        </p:spPr>
        <p:txBody>
          <a:bodyPr rtlCol="0" anchor="ctr"/>
          <a:lstStyle/>
          <a:p>
            <a:pPr algn="ctr"/>
          </a:p>
        </p:txBody>
      </p:sp>
      <p:sp>
        <p:nvSpPr>
          <p:cNvPr id="19" name="TextBox 18"/>
          <p:cNvSpPr txBox="1"/>
          <p:nvPr/>
        </p:nvSpPr>
        <p:spPr>
          <a:xfrm>
            <a:off x="4617720" y="1938528"/>
            <a:ext cx="603504" cy="256032"/>
          </a:xfrm>
          <a:prstGeom prst="rect">
            <a:avLst/>
          </a:prstGeom>
          <a:noFill/>
        </p:spPr>
        <p:txBody>
          <a:bodyPr wrap="square" lIns="0" rIns="0" tIns="0" bIns="0" anchor="ctr">
            <a:noAutofit/>
          </a:bodyPr>
          <a:lstStyle/>
          <a:p>
            <a:pPr algn="ctr">
              <a:lnSpc>
                <a:spcPct val="108000"/>
              </a:lnSpc>
            </a:pPr>
            <a:r>
              <a:rPr sz="1050" b="1" i="0">
                <a:solidFill>
                  <a:srgbClr val="FFFFFF"/>
                </a:solidFill>
                <a:latin typeface="Arial"/>
              </a:rPr>
              <a:t>2024</a:t>
            </a:r>
          </a:p>
        </p:txBody>
      </p:sp>
      <p:sp>
        <p:nvSpPr>
          <p:cNvPr id="20" name="TextBox 19"/>
          <p:cNvSpPr txBox="1"/>
          <p:nvPr/>
        </p:nvSpPr>
        <p:spPr>
          <a:xfrm>
            <a:off x="5394959" y="1883664"/>
            <a:ext cx="3337560" cy="274320"/>
          </a:xfrm>
          <a:prstGeom prst="rect">
            <a:avLst/>
          </a:prstGeom>
          <a:noFill/>
        </p:spPr>
        <p:txBody>
          <a:bodyPr wrap="square" lIns="0" rIns="0" tIns="0" bIns="0" anchor="t">
            <a:noAutofit/>
          </a:bodyPr>
          <a:lstStyle/>
          <a:p>
            <a:pPr algn="l">
              <a:lnSpc>
                <a:spcPct val="108000"/>
              </a:lnSpc>
            </a:pPr>
            <a:r>
              <a:rPr sz="1300" b="1" i="0">
                <a:solidFill>
                  <a:srgbClr val="1F1A2E"/>
                </a:solidFill>
                <a:latin typeface="Arial"/>
              </a:rPr>
              <a:t>Connectome-constrained models</a:t>
            </a:r>
          </a:p>
        </p:txBody>
      </p:sp>
      <p:sp>
        <p:nvSpPr>
          <p:cNvPr id="21" name="TextBox 20"/>
          <p:cNvSpPr txBox="1"/>
          <p:nvPr/>
        </p:nvSpPr>
        <p:spPr>
          <a:xfrm>
            <a:off x="5394959" y="2157984"/>
            <a:ext cx="3337560" cy="502920"/>
          </a:xfrm>
          <a:prstGeom prst="rect">
            <a:avLst/>
          </a:prstGeom>
          <a:noFill/>
        </p:spPr>
        <p:txBody>
          <a:bodyPr wrap="square" lIns="0" rIns="0" tIns="0" bIns="0" anchor="t">
            <a:noAutofit/>
          </a:bodyPr>
          <a:lstStyle/>
          <a:p>
            <a:pPr algn="l">
              <a:lnSpc>
                <a:spcPct val="105000"/>
              </a:lnSpc>
            </a:pPr>
            <a:r>
              <a:rPr sz="1050" b="0" i="0">
                <a:solidFill>
                  <a:srgbClr val="3A3447"/>
                </a:solidFill>
                <a:latin typeface="Arial"/>
              </a:rPr>
              <a:t>Predict visual-system activity [5] and whole-brain sensorimotor responses [4]</a:t>
            </a:r>
          </a:p>
        </p:txBody>
      </p:sp>
      <p:sp>
        <p:nvSpPr>
          <p:cNvPr id="22" name="Rounded Rectangle 21"/>
          <p:cNvSpPr/>
          <p:nvPr/>
        </p:nvSpPr>
        <p:spPr>
          <a:xfrm>
            <a:off x="4617720" y="2779776"/>
            <a:ext cx="603504" cy="256032"/>
          </a:xfrm>
          <a:prstGeom prst="roundRect">
            <a:avLst>
              <a:gd name="adj" fmla="val 50000"/>
            </a:avLst>
          </a:prstGeom>
          <a:solidFill>
            <a:srgbClr val="D55E00"/>
          </a:solidFill>
          <a:ln>
            <a:noFill/>
          </a:ln>
        </p:spPr>
        <p:txBody>
          <a:bodyPr rtlCol="0" anchor="ctr"/>
          <a:lstStyle/>
          <a:p>
            <a:pPr algn="ctr"/>
          </a:p>
        </p:txBody>
      </p:sp>
      <p:sp>
        <p:nvSpPr>
          <p:cNvPr id="23" name="TextBox 22"/>
          <p:cNvSpPr txBox="1"/>
          <p:nvPr/>
        </p:nvSpPr>
        <p:spPr>
          <a:xfrm>
            <a:off x="4617720" y="2779776"/>
            <a:ext cx="603504" cy="256032"/>
          </a:xfrm>
          <a:prstGeom prst="rect">
            <a:avLst/>
          </a:prstGeom>
          <a:noFill/>
        </p:spPr>
        <p:txBody>
          <a:bodyPr wrap="square" lIns="0" rIns="0" tIns="0" bIns="0" anchor="ctr">
            <a:noAutofit/>
          </a:bodyPr>
          <a:lstStyle/>
          <a:p>
            <a:pPr algn="ctr">
              <a:lnSpc>
                <a:spcPct val="108000"/>
              </a:lnSpc>
            </a:pPr>
            <a:r>
              <a:rPr sz="1050" b="1" i="0">
                <a:solidFill>
                  <a:srgbClr val="FFFFFF"/>
                </a:solidFill>
                <a:latin typeface="Arial"/>
              </a:rPr>
              <a:t>2025</a:t>
            </a:r>
          </a:p>
        </p:txBody>
      </p:sp>
      <p:sp>
        <p:nvSpPr>
          <p:cNvPr id="24" name="TextBox 23"/>
          <p:cNvSpPr txBox="1"/>
          <p:nvPr/>
        </p:nvSpPr>
        <p:spPr>
          <a:xfrm>
            <a:off x="5394959" y="2724912"/>
            <a:ext cx="3337560" cy="274320"/>
          </a:xfrm>
          <a:prstGeom prst="rect">
            <a:avLst/>
          </a:prstGeom>
          <a:noFill/>
        </p:spPr>
        <p:txBody>
          <a:bodyPr wrap="square" lIns="0" rIns="0" tIns="0" bIns="0" anchor="t">
            <a:noAutofit/>
          </a:bodyPr>
          <a:lstStyle/>
          <a:p>
            <a:pPr algn="l">
              <a:lnSpc>
                <a:spcPct val="108000"/>
              </a:lnSpc>
            </a:pPr>
            <a:r>
              <a:rPr sz="1300" b="1" i="0">
                <a:solidFill>
                  <a:srgbClr val="1F1A2E"/>
                </a:solidFill>
                <a:latin typeface="Arial"/>
              </a:rPr>
              <a:t>flybody: a whole-body fly in physics</a:t>
            </a:r>
          </a:p>
        </p:txBody>
      </p:sp>
      <p:sp>
        <p:nvSpPr>
          <p:cNvPr id="25" name="TextBox 24"/>
          <p:cNvSpPr txBox="1"/>
          <p:nvPr/>
        </p:nvSpPr>
        <p:spPr>
          <a:xfrm>
            <a:off x="5394959" y="2999232"/>
            <a:ext cx="3337560" cy="502920"/>
          </a:xfrm>
          <a:prstGeom prst="rect">
            <a:avLst/>
          </a:prstGeom>
          <a:noFill/>
        </p:spPr>
        <p:txBody>
          <a:bodyPr wrap="square" lIns="0" rIns="0" tIns="0" bIns="0" anchor="t">
            <a:noAutofit/>
          </a:bodyPr>
          <a:lstStyle/>
          <a:p>
            <a:pPr algn="l">
              <a:lnSpc>
                <a:spcPct val="105000"/>
              </a:lnSpc>
            </a:pPr>
            <a:r>
              <a:rPr sz="1050" b="0" i="0">
                <a:solidFill>
                  <a:srgbClr val="3A3447"/>
                </a:solidFill>
                <a:latin typeface="Arial"/>
              </a:rPr>
              <a:t>Anatomically detailed MuJoCo body; learned controllers walk and fly [7]; see also NeuroMechFly v2 [6]</a:t>
            </a:r>
          </a:p>
        </p:txBody>
      </p:sp>
      <p:sp>
        <p:nvSpPr>
          <p:cNvPr id="26" name="Rounded Rectangle 25"/>
          <p:cNvSpPr/>
          <p:nvPr/>
        </p:nvSpPr>
        <p:spPr>
          <a:xfrm>
            <a:off x="4617720" y="3621024"/>
            <a:ext cx="603504" cy="256032"/>
          </a:xfrm>
          <a:prstGeom prst="roundRect">
            <a:avLst>
              <a:gd name="adj" fmla="val 50000"/>
            </a:avLst>
          </a:prstGeom>
          <a:solidFill>
            <a:srgbClr val="D55E00"/>
          </a:solidFill>
          <a:ln>
            <a:noFill/>
          </a:ln>
        </p:spPr>
        <p:txBody>
          <a:bodyPr rtlCol="0" anchor="ctr"/>
          <a:lstStyle/>
          <a:p>
            <a:pPr algn="ctr"/>
          </a:p>
        </p:txBody>
      </p:sp>
      <p:sp>
        <p:nvSpPr>
          <p:cNvPr id="27" name="TextBox 26"/>
          <p:cNvSpPr txBox="1"/>
          <p:nvPr/>
        </p:nvSpPr>
        <p:spPr>
          <a:xfrm>
            <a:off x="4617720" y="3621024"/>
            <a:ext cx="603504" cy="256032"/>
          </a:xfrm>
          <a:prstGeom prst="rect">
            <a:avLst/>
          </a:prstGeom>
          <a:noFill/>
        </p:spPr>
        <p:txBody>
          <a:bodyPr wrap="square" lIns="0" rIns="0" tIns="0" bIns="0" anchor="ctr">
            <a:noAutofit/>
          </a:bodyPr>
          <a:lstStyle/>
          <a:p>
            <a:pPr algn="ctr">
              <a:lnSpc>
                <a:spcPct val="108000"/>
              </a:lnSpc>
            </a:pPr>
            <a:r>
              <a:rPr sz="1050" b="1" i="0">
                <a:solidFill>
                  <a:srgbClr val="FFFFFF"/>
                </a:solidFill>
                <a:latin typeface="Arial"/>
              </a:rPr>
              <a:t>2026</a:t>
            </a:r>
          </a:p>
        </p:txBody>
      </p:sp>
      <p:sp>
        <p:nvSpPr>
          <p:cNvPr id="28" name="TextBox 27"/>
          <p:cNvSpPr txBox="1"/>
          <p:nvPr/>
        </p:nvSpPr>
        <p:spPr>
          <a:xfrm>
            <a:off x="5394959" y="3566160"/>
            <a:ext cx="3337560" cy="274320"/>
          </a:xfrm>
          <a:prstGeom prst="rect">
            <a:avLst/>
          </a:prstGeom>
          <a:noFill/>
        </p:spPr>
        <p:txBody>
          <a:bodyPr wrap="square" lIns="0" rIns="0" tIns="0" bIns="0" anchor="t">
            <a:noAutofit/>
          </a:bodyPr>
          <a:lstStyle/>
          <a:p>
            <a:pPr algn="l">
              <a:lnSpc>
                <a:spcPct val="108000"/>
              </a:lnSpc>
            </a:pPr>
            <a:r>
              <a:rPr sz="1300" b="1" i="0">
                <a:solidFill>
                  <a:srgbClr val="1F1A2E"/>
                </a:solidFill>
                <a:latin typeface="Arial"/>
              </a:rPr>
              <a:t>Male CNS: brain + nerve cord</a:t>
            </a:r>
          </a:p>
        </p:txBody>
      </p:sp>
      <p:sp>
        <p:nvSpPr>
          <p:cNvPr id="29" name="TextBox 28"/>
          <p:cNvSpPr txBox="1"/>
          <p:nvPr/>
        </p:nvSpPr>
        <p:spPr>
          <a:xfrm>
            <a:off x="5394959" y="3840480"/>
            <a:ext cx="3337560" cy="502920"/>
          </a:xfrm>
          <a:prstGeom prst="rect">
            <a:avLst/>
          </a:prstGeom>
          <a:noFill/>
        </p:spPr>
        <p:txBody>
          <a:bodyPr wrap="square" lIns="0" rIns="0" tIns="0" bIns="0" anchor="t">
            <a:noAutofit/>
          </a:bodyPr>
          <a:lstStyle/>
          <a:p>
            <a:pPr algn="l">
              <a:lnSpc>
                <a:spcPct val="105000"/>
              </a:lnSpc>
            </a:pPr>
            <a:r>
              <a:rPr sz="1050" b="0" i="0">
                <a:solidFill>
                  <a:srgbClr val="3A3447"/>
                </a:solidFill>
                <a:latin typeface="Arial"/>
              </a:rPr>
              <a:t>166,700 neurons, brain and ventral nerve cord joined at the neck [8]</a:t>
            </a:r>
          </a:p>
        </p:txBody>
      </p:sp>
      <p:sp>
        <p:nvSpPr>
          <p:cNvPr id="30" name="Source"/>
          <p:cNvSpPr txBox="1"/>
          <p:nvPr/>
        </p:nvSpPr>
        <p:spPr>
          <a:xfrm>
            <a:off x="457200" y="4791456"/>
            <a:ext cx="7589520" cy="201168"/>
          </a:xfrm>
          <a:prstGeom prst="rect">
            <a:avLst/>
          </a:prstGeom>
          <a:noFill/>
        </p:spPr>
        <p:txBody>
          <a:bodyPr wrap="square" lIns="0" rIns="0" tIns="0" bIns="0" anchor="ctr">
            <a:noAutofit/>
          </a:bodyPr>
          <a:lstStyle/>
          <a:p>
            <a:pPr algn="l">
              <a:lnSpc>
                <a:spcPct val="108000"/>
              </a:lnSpc>
            </a:pPr>
            <a:r>
              <a:rPr sz="850" b="0" i="0">
                <a:solidFill>
                  <a:srgbClr val="7A7387"/>
                </a:solidFill>
                <a:latin typeface="Arial"/>
              </a:rPr>
              <a:t>Brain rendering: FlyWire [2]. Statistics: FlyWire v783 [2, 3]; male CNS v1.0 release [8].</a:t>
            </a:r>
          </a:p>
        </p:txBody>
      </p:sp>
      <p:sp>
        <p:nvSpPr>
          <p:cNvPr id="31" name="Slide number"/>
          <p:cNvSpPr txBox="1"/>
          <p:nvPr/>
        </p:nvSpPr>
        <p:spPr>
          <a:xfrm>
            <a:off x="8229600" y="4791456"/>
            <a:ext cx="457200" cy="201168"/>
          </a:xfrm>
          <a:prstGeom prst="rect">
            <a:avLst/>
          </a:prstGeom>
          <a:noFill/>
        </p:spPr>
        <p:txBody>
          <a:bodyPr wrap="none" lIns="0" rIns="0" tIns="0" bIns="0" anchor="ctr">
            <a:spAutoFit/>
          </a:bodyPr>
          <a:lstStyle/>
          <a:p>
            <a:pPr algn="r"/>
            <a:fld id="{5C1D9F7E-2B47-4C0B-9E55-6B0D1A3E1F01}" type="slidenum">
              <a:rPr lang="en-US" sz="900">
                <a:solidFill>
                  <a:srgbClr val="7A7387"/>
                </a:solidFill>
                <a:latin typeface="Arial"/>
              </a:rPr>
              <a:t>#</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457200" y="429768"/>
            <a:ext cx="8229600" cy="457200"/>
          </a:xfrm>
        </p:spPr>
        <p:txBody>
          <a:bodyPr wrap="square" anchor="t" lIns="0" rIns="0" tIns="0" bIns="0"/>
          <a:lstStyle/>
          <a:p>
            <a:pPr algn="l">
              <a:lnSpc>
                <a:spcPct val="100000"/>
              </a:lnSpc>
            </a:pPr>
            <a:r>
              <a:rPr sz="2400" b="1">
                <a:solidFill>
                  <a:srgbClr val="1F1A2E"/>
                </a:solidFill>
                <a:latin typeface="Arial"/>
              </a:rPr>
              <a:t>Can a wiring diagram, by itself, drive a body?</a:t>
            </a:r>
          </a:p>
        </p:txBody>
      </p:sp>
      <p:sp>
        <p:nvSpPr>
          <p:cNvPr id="4" name="Kicker dot"/>
          <p:cNvSpPr/>
          <p:nvPr/>
        </p:nvSpPr>
        <p:spPr>
          <a:xfrm>
            <a:off x="457200" y="278892"/>
            <a:ext cx="77724" cy="77724"/>
          </a:xfrm>
          <a:prstGeom prst="ellipse">
            <a:avLst/>
          </a:prstGeom>
          <a:solidFill>
            <a:srgbClr val="D55E00"/>
          </a:solidFill>
          <a:ln>
            <a:noFill/>
          </a:ln>
        </p:spPr>
        <p:txBody>
          <a:bodyPr rtlCol="0" anchor="ctr"/>
          <a:lstStyle/>
          <a:p>
            <a:pPr algn="ctr"/>
          </a:p>
        </p:txBody>
      </p:sp>
      <p:sp>
        <p:nvSpPr>
          <p:cNvPr id="5" name="Kicker"/>
          <p:cNvSpPr txBox="1"/>
          <p:nvPr/>
        </p:nvSpPr>
        <p:spPr>
          <a:xfrm>
            <a:off x="594360" y="233172"/>
            <a:ext cx="5943600" cy="182880"/>
          </a:xfrm>
          <a:prstGeom prst="rect">
            <a:avLst/>
          </a:prstGeom>
          <a:noFill/>
        </p:spPr>
        <p:txBody>
          <a:bodyPr wrap="square" lIns="0" rIns="0" tIns="0" bIns="0" anchor="ctr">
            <a:noAutofit/>
          </a:bodyPr>
          <a:lstStyle/>
          <a:p>
            <a:pPr algn="l">
              <a:lnSpc>
                <a:spcPct val="108000"/>
              </a:lnSpc>
            </a:pPr>
            <a:r>
              <a:rPr sz="950" b="1" i="0" spc="120">
                <a:solidFill>
                  <a:srgbClr val="660874"/>
                </a:solidFill>
                <a:latin typeface="Arial"/>
              </a:rPr>
              <a:t>THE 2026 DEBATE</a:t>
            </a:r>
          </a:p>
        </p:txBody>
      </p:sp>
      <p:sp>
        <p:nvSpPr>
          <p:cNvPr id="6" name="TextBox 5"/>
          <p:cNvSpPr txBox="1"/>
          <p:nvPr/>
        </p:nvSpPr>
        <p:spPr>
          <a:xfrm>
            <a:off x="457200" y="1024128"/>
            <a:ext cx="4023360" cy="228600"/>
          </a:xfrm>
          <a:prstGeom prst="rect">
            <a:avLst/>
          </a:prstGeom>
          <a:noFill/>
        </p:spPr>
        <p:txBody>
          <a:bodyPr wrap="square" lIns="0" rIns="0" tIns="0" bIns="0" anchor="t">
            <a:noAutofit/>
          </a:bodyPr>
          <a:lstStyle/>
          <a:p>
            <a:pPr algn="l">
              <a:lnSpc>
                <a:spcPct val="108000"/>
              </a:lnSpc>
            </a:pPr>
            <a:r>
              <a:rPr sz="900" b="1" i="0" spc="100">
                <a:solidFill>
                  <a:srgbClr val="7A7387"/>
                </a:solidFill>
                <a:latin typeface="Arial"/>
              </a:rPr>
              <a:t>WHAT WENT VIRAL</a:t>
            </a:r>
          </a:p>
        </p:txBody>
      </p:sp>
      <p:sp>
        <p:nvSpPr>
          <p:cNvPr id="7" name="Rounded Rectangle 6"/>
          <p:cNvSpPr/>
          <p:nvPr/>
        </p:nvSpPr>
        <p:spPr>
          <a:xfrm>
            <a:off x="457200" y="1298448"/>
            <a:ext cx="4023360" cy="987552"/>
          </a:xfrm>
          <a:prstGeom prst="roundRect">
            <a:avLst>
              <a:gd name="adj" fmla="val 8000"/>
            </a:avLst>
          </a:prstGeom>
          <a:solidFill>
            <a:srgbClr val="FBEDE3"/>
          </a:solidFill>
          <a:ln>
            <a:noFill/>
          </a:ln>
        </p:spPr>
        <p:txBody>
          <a:bodyPr rtlCol="0" anchor="ctr"/>
          <a:lstStyle/>
          <a:p>
            <a:pPr algn="ctr"/>
          </a:p>
        </p:txBody>
      </p:sp>
      <p:sp>
        <p:nvSpPr>
          <p:cNvPr id="8" name="TextBox 7"/>
          <p:cNvSpPr txBox="1"/>
          <p:nvPr/>
        </p:nvSpPr>
        <p:spPr>
          <a:xfrm>
            <a:off x="621792" y="1389888"/>
            <a:ext cx="3749039" cy="274320"/>
          </a:xfrm>
          <a:prstGeom prst="rect">
            <a:avLst/>
          </a:prstGeom>
          <a:noFill/>
        </p:spPr>
        <p:txBody>
          <a:bodyPr wrap="square" lIns="0" rIns="0" tIns="0" bIns="0" anchor="t">
            <a:noAutofit/>
          </a:bodyPr>
          <a:lstStyle/>
          <a:p>
            <a:pPr algn="l">
              <a:lnSpc>
                <a:spcPct val="108000"/>
              </a:lnSpc>
            </a:pPr>
            <a:r>
              <a:rPr sz="1400" b="1" i="0">
                <a:solidFill>
                  <a:srgbClr val="1F1A2E"/>
                </a:solidFill>
                <a:latin typeface="Arial"/>
              </a:rPr>
              <a:t>“We’ve uploaded a fruit fly.”</a:t>
            </a:r>
          </a:p>
        </p:txBody>
      </p:sp>
      <p:sp>
        <p:nvSpPr>
          <p:cNvPr id="9" name="TextBox 8"/>
          <p:cNvSpPr txBox="1"/>
          <p:nvPr/>
        </p:nvSpPr>
        <p:spPr>
          <a:xfrm>
            <a:off x="621792" y="1664207"/>
            <a:ext cx="3749039" cy="201168"/>
          </a:xfrm>
          <a:prstGeom prst="rect">
            <a:avLst/>
          </a:prstGeom>
          <a:noFill/>
        </p:spPr>
        <p:txBody>
          <a:bodyPr wrap="square" lIns="0" rIns="0" tIns="0" bIns="0" anchor="t">
            <a:noAutofit/>
          </a:bodyPr>
          <a:lstStyle/>
          <a:p>
            <a:pPr algn="l">
              <a:lnSpc>
                <a:spcPct val="108000"/>
              </a:lnSpc>
            </a:pPr>
            <a:r>
              <a:rPr sz="950" b="1" i="0">
                <a:solidFill>
                  <a:srgbClr val="D55E00"/>
                </a:solidFill>
                <a:latin typeface="Arial"/>
              </a:rPr>
              <a:t>Eon Systems, March 2026 [9]</a:t>
            </a:r>
          </a:p>
        </p:txBody>
      </p:sp>
      <p:sp>
        <p:nvSpPr>
          <p:cNvPr id="10" name="TextBox 9"/>
          <p:cNvSpPr txBox="1"/>
          <p:nvPr/>
        </p:nvSpPr>
        <p:spPr>
          <a:xfrm>
            <a:off x="621792" y="1874519"/>
            <a:ext cx="3749039" cy="384048"/>
          </a:xfrm>
          <a:prstGeom prst="rect">
            <a:avLst/>
          </a:prstGeom>
          <a:noFill/>
        </p:spPr>
        <p:txBody>
          <a:bodyPr wrap="square" lIns="0" rIns="0" tIns="0" bIns="0" anchor="t">
            <a:noAutofit/>
          </a:bodyPr>
          <a:lstStyle/>
          <a:p>
            <a:pPr algn="l">
              <a:lnSpc>
                <a:spcPct val="102000"/>
              </a:lnSpc>
            </a:pPr>
            <a:r>
              <a:rPr sz="1050" b="0" i="0">
                <a:solidFill>
                  <a:srgbClr val="3A3447"/>
                </a:solidFill>
                <a:latin typeface="Arial"/>
              </a:rPr>
              <a:t>A connectome-based LIF brain model [4] coupled to a NeuroMechFly body [6]: it walks, grooms and feeds.</a:t>
            </a:r>
          </a:p>
        </p:txBody>
      </p:sp>
      <p:sp>
        <p:nvSpPr>
          <p:cNvPr id="11" name="Rounded Rectangle 10"/>
          <p:cNvSpPr/>
          <p:nvPr/>
        </p:nvSpPr>
        <p:spPr>
          <a:xfrm>
            <a:off x="457200" y="2395728"/>
            <a:ext cx="4023360" cy="987552"/>
          </a:xfrm>
          <a:prstGeom prst="roundRect">
            <a:avLst>
              <a:gd name="adj" fmla="val 8000"/>
            </a:avLst>
          </a:prstGeom>
          <a:solidFill>
            <a:srgbClr val="F4F1F8"/>
          </a:solidFill>
          <a:ln>
            <a:noFill/>
          </a:ln>
        </p:spPr>
        <p:txBody>
          <a:bodyPr rtlCol="0" anchor="ctr"/>
          <a:lstStyle/>
          <a:p>
            <a:pPr algn="ctr"/>
          </a:p>
        </p:txBody>
      </p:sp>
      <p:sp>
        <p:nvSpPr>
          <p:cNvPr id="12" name="TextBox 11"/>
          <p:cNvSpPr txBox="1"/>
          <p:nvPr/>
        </p:nvSpPr>
        <p:spPr>
          <a:xfrm>
            <a:off x="621792" y="2487168"/>
            <a:ext cx="3749039" cy="274320"/>
          </a:xfrm>
          <a:prstGeom prst="rect">
            <a:avLst/>
          </a:prstGeom>
          <a:noFill/>
        </p:spPr>
        <p:txBody>
          <a:bodyPr wrap="square" lIns="0" rIns="0" tIns="0" bIns="0" anchor="t">
            <a:noAutofit/>
          </a:bodyPr>
          <a:lstStyle/>
          <a:p>
            <a:pPr algn="l">
              <a:lnSpc>
                <a:spcPct val="108000"/>
              </a:lnSpc>
            </a:pPr>
            <a:r>
              <a:rPr sz="1400" b="1" i="0">
                <a:solidFill>
                  <a:srgbClr val="1F1A2E"/>
                </a:solidFill>
                <a:latin typeface="Arial"/>
              </a:rPr>
              <a:t>“No, we haven’t uploaded a fly yet.”</a:t>
            </a:r>
          </a:p>
        </p:txBody>
      </p:sp>
      <p:sp>
        <p:nvSpPr>
          <p:cNvPr id="13" name="TextBox 12"/>
          <p:cNvSpPr txBox="1"/>
          <p:nvPr/>
        </p:nvSpPr>
        <p:spPr>
          <a:xfrm>
            <a:off x="621792" y="2761488"/>
            <a:ext cx="3749039" cy="201168"/>
          </a:xfrm>
          <a:prstGeom prst="rect">
            <a:avLst/>
          </a:prstGeom>
          <a:noFill/>
        </p:spPr>
        <p:txBody>
          <a:bodyPr wrap="square" lIns="0" rIns="0" tIns="0" bIns="0" anchor="t">
            <a:noAutofit/>
          </a:bodyPr>
          <a:lstStyle/>
          <a:p>
            <a:pPr algn="l">
              <a:lnSpc>
                <a:spcPct val="108000"/>
              </a:lnSpc>
            </a:pPr>
            <a:r>
              <a:rPr sz="950" b="1" i="0">
                <a:solidFill>
                  <a:srgbClr val="660874"/>
                </a:solidFill>
                <a:latin typeface="Arial"/>
              </a:rPr>
              <a:t>A. Zeleznikow-Johnston, LessWrong, March 2026 [10]</a:t>
            </a:r>
          </a:p>
        </p:txBody>
      </p:sp>
      <p:sp>
        <p:nvSpPr>
          <p:cNvPr id="14" name="TextBox 13"/>
          <p:cNvSpPr txBox="1"/>
          <p:nvPr/>
        </p:nvSpPr>
        <p:spPr>
          <a:xfrm>
            <a:off x="621792" y="2971800"/>
            <a:ext cx="3749039" cy="384048"/>
          </a:xfrm>
          <a:prstGeom prst="rect">
            <a:avLst/>
          </a:prstGeom>
          <a:noFill/>
        </p:spPr>
        <p:txBody>
          <a:bodyPr wrap="square" lIns="0" rIns="0" tIns="0" bIns="0" anchor="t">
            <a:noAutofit/>
          </a:bodyPr>
          <a:lstStyle/>
          <a:p>
            <a:pPr algn="l">
              <a:lnSpc>
                <a:spcPct val="102000"/>
              </a:lnSpc>
            </a:pPr>
            <a:r>
              <a:rPr sz="1050" b="0" i="0">
                <a:solidFill>
                  <a:srgbClr val="3A3447"/>
                </a:solidFill>
                <a:latin typeface="Arial"/>
              </a:rPr>
              <a:t>Asks for evidence beyond a video: data, a write-up, known neural signatures.</a:t>
            </a:r>
          </a:p>
        </p:txBody>
      </p:sp>
      <p:sp>
        <p:nvSpPr>
          <p:cNvPr id="15" name="Rounded Rectangle 14"/>
          <p:cNvSpPr/>
          <p:nvPr/>
        </p:nvSpPr>
        <p:spPr>
          <a:xfrm>
            <a:off x="457200" y="3493008"/>
            <a:ext cx="4023360" cy="987552"/>
          </a:xfrm>
          <a:prstGeom prst="roundRect">
            <a:avLst>
              <a:gd name="adj" fmla="val 8000"/>
            </a:avLst>
          </a:prstGeom>
          <a:solidFill>
            <a:srgbClr val="F4F1F8"/>
          </a:solidFill>
          <a:ln>
            <a:noFill/>
          </a:ln>
        </p:spPr>
        <p:txBody>
          <a:bodyPr rtlCol="0" anchor="ctr"/>
          <a:lstStyle/>
          <a:p>
            <a:pPr algn="ctr"/>
          </a:p>
        </p:txBody>
      </p:sp>
      <p:sp>
        <p:nvSpPr>
          <p:cNvPr id="16" name="TextBox 15"/>
          <p:cNvSpPr txBox="1"/>
          <p:nvPr/>
        </p:nvSpPr>
        <p:spPr>
          <a:xfrm>
            <a:off x="621792" y="3584448"/>
            <a:ext cx="3749039" cy="274320"/>
          </a:xfrm>
          <a:prstGeom prst="rect">
            <a:avLst/>
          </a:prstGeom>
          <a:noFill/>
        </p:spPr>
        <p:txBody>
          <a:bodyPr wrap="square" lIns="0" rIns="0" tIns="0" bIns="0" anchor="t">
            <a:noAutofit/>
          </a:bodyPr>
          <a:lstStyle/>
          <a:p>
            <a:pPr algn="l">
              <a:lnSpc>
                <a:spcPct val="108000"/>
              </a:lnSpc>
            </a:pPr>
            <a:r>
              <a:rPr sz="1400" b="1" i="0">
                <a:solidFill>
                  <a:srgbClr val="1F1A2E"/>
                </a:solidFill>
                <a:latin typeface="Arial"/>
              </a:rPr>
              <a:t>“Deconstructing viral fly sims”</a:t>
            </a:r>
          </a:p>
        </p:txBody>
      </p:sp>
      <p:sp>
        <p:nvSpPr>
          <p:cNvPr id="17" name="TextBox 16"/>
          <p:cNvSpPr txBox="1"/>
          <p:nvPr/>
        </p:nvSpPr>
        <p:spPr>
          <a:xfrm>
            <a:off x="621792" y="3858768"/>
            <a:ext cx="3749039" cy="201168"/>
          </a:xfrm>
          <a:prstGeom prst="rect">
            <a:avLst/>
          </a:prstGeom>
          <a:noFill/>
        </p:spPr>
        <p:txBody>
          <a:bodyPr wrap="square" lIns="0" rIns="0" tIns="0" bIns="0" anchor="t">
            <a:noAutofit/>
          </a:bodyPr>
          <a:lstStyle/>
          <a:p>
            <a:pPr algn="l">
              <a:lnSpc>
                <a:spcPct val="108000"/>
              </a:lnSpc>
            </a:pPr>
            <a:r>
              <a:rPr sz="950" b="1" i="0">
                <a:solidFill>
                  <a:srgbClr val="660874"/>
                </a:solidFill>
                <a:latin typeface="Arial"/>
              </a:rPr>
              <a:t>P. Mineault, NeuroAI, 2026 [11]</a:t>
            </a:r>
          </a:p>
        </p:txBody>
      </p:sp>
      <p:sp>
        <p:nvSpPr>
          <p:cNvPr id="18" name="TextBox 17"/>
          <p:cNvSpPr txBox="1"/>
          <p:nvPr/>
        </p:nvSpPr>
        <p:spPr>
          <a:xfrm>
            <a:off x="621792" y="4069080"/>
            <a:ext cx="3749039" cy="384048"/>
          </a:xfrm>
          <a:prstGeom prst="rect">
            <a:avLst/>
          </a:prstGeom>
          <a:noFill/>
        </p:spPr>
        <p:txBody>
          <a:bodyPr wrap="square" lIns="0" rIns="0" tIns="0" bIns="0" anchor="t">
            <a:noAutofit/>
          </a:bodyPr>
          <a:lstStyle/>
          <a:p>
            <a:pPr algn="l">
              <a:lnSpc>
                <a:spcPct val="102000"/>
              </a:lnSpc>
            </a:pPr>
            <a:r>
              <a:rPr sz="1050" b="0" i="0">
                <a:solidFill>
                  <a:srgbClr val="3A3447"/>
                </a:solidFill>
                <a:latin typeface="Arial"/>
              </a:rPr>
              <a:t>Most of the behavior comes from the body model's built-in controllers, not the connectome.</a:t>
            </a:r>
          </a:p>
        </p:txBody>
      </p:sp>
      <p:sp>
        <p:nvSpPr>
          <p:cNvPr id="19" name="TextBox 18"/>
          <p:cNvSpPr txBox="1"/>
          <p:nvPr/>
        </p:nvSpPr>
        <p:spPr>
          <a:xfrm>
            <a:off x="4846320" y="1024128"/>
            <a:ext cx="3840480" cy="228600"/>
          </a:xfrm>
          <a:prstGeom prst="rect">
            <a:avLst/>
          </a:prstGeom>
          <a:noFill/>
        </p:spPr>
        <p:txBody>
          <a:bodyPr wrap="square" lIns="0" rIns="0" tIns="0" bIns="0" anchor="t">
            <a:noAutofit/>
          </a:bodyPr>
          <a:lstStyle/>
          <a:p>
            <a:pPr algn="l">
              <a:lnSpc>
                <a:spcPct val="108000"/>
              </a:lnSpc>
            </a:pPr>
            <a:r>
              <a:rPr sz="900" b="1" i="0" spc="100">
                <a:solidFill>
                  <a:srgbClr val="7A7387"/>
                </a:solidFill>
                <a:latin typeface="Arial"/>
              </a:rPr>
              <a:t>WHAT THE WIRING DIAGRAM LEAVES OUT</a:t>
            </a:r>
          </a:p>
        </p:txBody>
      </p:sp>
      <p:sp>
        <p:nvSpPr>
          <p:cNvPr id="20" name="Icon circle"/>
          <p:cNvSpPr/>
          <p:nvPr/>
        </p:nvSpPr>
        <p:spPr>
          <a:xfrm>
            <a:off x="4846320" y="1344168"/>
            <a:ext cx="457200" cy="457200"/>
          </a:xfrm>
          <a:prstGeom prst="ellipse">
            <a:avLst/>
          </a:prstGeom>
          <a:solidFill>
            <a:srgbClr val="660874"/>
          </a:solidFill>
          <a:ln>
            <a:noFill/>
          </a:ln>
        </p:spPr>
        <p:txBody>
          <a:bodyPr rtlCol="0" anchor="ctr"/>
          <a:lstStyle/>
          <a:p>
            <a:pPr algn="ctr"/>
          </a:p>
        </p:txBody>
      </p:sp>
      <p:pic>
        <p:nvPicPr>
          <p:cNvPr id="21" name="Icon" descr="tune_w.png"/>
          <p:cNvPicPr>
            <a:picLocks noChangeAspect="1"/>
          </p:cNvPicPr>
          <p:nvPr/>
        </p:nvPicPr>
        <p:blipFill>
          <a:blip r:embed="rId2"/>
          <a:stretch>
            <a:fillRect/>
          </a:stretch>
        </p:blipFill>
        <p:spPr>
          <a:xfrm>
            <a:off x="4937759" y="1435608"/>
            <a:ext cx="274320" cy="274320"/>
          </a:xfrm>
          <a:prstGeom prst="rect">
            <a:avLst/>
          </a:prstGeom>
        </p:spPr>
      </p:pic>
      <p:sp>
        <p:nvSpPr>
          <p:cNvPr id="22" name="TextBox 21"/>
          <p:cNvSpPr txBox="1"/>
          <p:nvPr/>
        </p:nvSpPr>
        <p:spPr>
          <a:xfrm>
            <a:off x="5468112" y="1325880"/>
            <a:ext cx="3246120" cy="256032"/>
          </a:xfrm>
          <a:prstGeom prst="rect">
            <a:avLst/>
          </a:prstGeom>
          <a:noFill/>
        </p:spPr>
        <p:txBody>
          <a:bodyPr wrap="square" lIns="0" rIns="0" tIns="0" bIns="0" anchor="t">
            <a:noAutofit/>
          </a:bodyPr>
          <a:lstStyle/>
          <a:p>
            <a:pPr algn="l">
              <a:lnSpc>
                <a:spcPct val="108000"/>
              </a:lnSpc>
            </a:pPr>
            <a:r>
              <a:rPr sz="1300" b="1" i="0">
                <a:solidFill>
                  <a:srgbClr val="1F1A2E"/>
                </a:solidFill>
                <a:latin typeface="Arial"/>
              </a:rPr>
              <a:t>Synaptic strength and sign in vivo</a:t>
            </a:r>
          </a:p>
        </p:txBody>
      </p:sp>
      <p:sp>
        <p:nvSpPr>
          <p:cNvPr id="23" name="TextBox 22"/>
          <p:cNvSpPr txBox="1"/>
          <p:nvPr/>
        </p:nvSpPr>
        <p:spPr>
          <a:xfrm>
            <a:off x="5468112" y="1591056"/>
            <a:ext cx="3246120" cy="640080"/>
          </a:xfrm>
          <a:prstGeom prst="rect">
            <a:avLst/>
          </a:prstGeom>
          <a:noFill/>
        </p:spPr>
        <p:txBody>
          <a:bodyPr wrap="square" lIns="0" rIns="0" tIns="0" bIns="0" anchor="t">
            <a:noAutofit/>
          </a:bodyPr>
          <a:lstStyle/>
          <a:p>
            <a:pPr algn="l">
              <a:lnSpc>
                <a:spcPct val="103000"/>
              </a:lnSpc>
            </a:pPr>
            <a:r>
              <a:rPr sz="1050" b="0" i="0">
                <a:solidFill>
                  <a:srgbClr val="3A3447"/>
                </a:solidFill>
                <a:latin typeface="Arial"/>
              </a:rPr>
              <a:t>The connectome gives possible paths, not how strongly neurons actually influence each other [12].</a:t>
            </a:r>
          </a:p>
        </p:txBody>
      </p:sp>
      <p:sp>
        <p:nvSpPr>
          <p:cNvPr id="24" name="Icon circle"/>
          <p:cNvSpPr/>
          <p:nvPr/>
        </p:nvSpPr>
        <p:spPr>
          <a:xfrm>
            <a:off x="4846320" y="2331720"/>
            <a:ext cx="457200" cy="457200"/>
          </a:xfrm>
          <a:prstGeom prst="ellipse">
            <a:avLst/>
          </a:prstGeom>
          <a:solidFill>
            <a:srgbClr val="660874"/>
          </a:solidFill>
          <a:ln>
            <a:noFill/>
          </a:ln>
        </p:spPr>
        <p:txBody>
          <a:bodyPr rtlCol="0" anchor="ctr"/>
          <a:lstStyle/>
          <a:p>
            <a:pPr algn="ctr"/>
          </a:p>
        </p:txBody>
      </p:sp>
      <p:pic>
        <p:nvPicPr>
          <p:cNvPr id="25" name="Icon" descr="chart_w.png"/>
          <p:cNvPicPr>
            <a:picLocks noChangeAspect="1"/>
          </p:cNvPicPr>
          <p:nvPr/>
        </p:nvPicPr>
        <p:blipFill>
          <a:blip r:embed="rId3"/>
          <a:stretch>
            <a:fillRect/>
          </a:stretch>
        </p:blipFill>
        <p:spPr>
          <a:xfrm>
            <a:off x="4937759" y="2423160"/>
            <a:ext cx="274320" cy="274320"/>
          </a:xfrm>
          <a:prstGeom prst="rect">
            <a:avLst/>
          </a:prstGeom>
        </p:spPr>
      </p:pic>
      <p:sp>
        <p:nvSpPr>
          <p:cNvPr id="26" name="TextBox 25"/>
          <p:cNvSpPr txBox="1"/>
          <p:nvPr/>
        </p:nvSpPr>
        <p:spPr>
          <a:xfrm>
            <a:off x="5468112" y="2313432"/>
            <a:ext cx="3246120" cy="256032"/>
          </a:xfrm>
          <a:prstGeom prst="rect">
            <a:avLst/>
          </a:prstGeom>
          <a:noFill/>
        </p:spPr>
        <p:txBody>
          <a:bodyPr wrap="square" lIns="0" rIns="0" tIns="0" bIns="0" anchor="t">
            <a:noAutofit/>
          </a:bodyPr>
          <a:lstStyle/>
          <a:p>
            <a:pPr algn="l">
              <a:lnSpc>
                <a:spcPct val="108000"/>
              </a:lnSpc>
            </a:pPr>
            <a:r>
              <a:rPr sz="1300" b="1" i="0">
                <a:solidFill>
                  <a:srgbClr val="1F1A2E"/>
                </a:solidFill>
                <a:latin typeface="Arial"/>
              </a:rPr>
              <a:t>Neuron dynamics</a:t>
            </a:r>
          </a:p>
        </p:txBody>
      </p:sp>
      <p:sp>
        <p:nvSpPr>
          <p:cNvPr id="27" name="TextBox 26"/>
          <p:cNvSpPr txBox="1"/>
          <p:nvPr/>
        </p:nvSpPr>
        <p:spPr>
          <a:xfrm>
            <a:off x="5468112" y="2578608"/>
            <a:ext cx="3246120" cy="640080"/>
          </a:xfrm>
          <a:prstGeom prst="rect">
            <a:avLst/>
          </a:prstGeom>
          <a:noFill/>
        </p:spPr>
        <p:txBody>
          <a:bodyPr wrap="square" lIns="0" rIns="0" tIns="0" bIns="0" anchor="t">
            <a:noAutofit/>
          </a:bodyPr>
          <a:lstStyle/>
          <a:p>
            <a:pPr algn="l">
              <a:lnSpc>
                <a:spcPct val="103000"/>
              </a:lnSpc>
            </a:pPr>
            <a:r>
              <a:rPr sz="1050" b="0" i="0">
                <a:solidFill>
                  <a:srgbClr val="3A3447"/>
                </a:solidFill>
                <a:latin typeface="Arial"/>
              </a:rPr>
              <a:t>Emulations assume simplified, largely uniform neuron models for very different cell types [4].</a:t>
            </a:r>
          </a:p>
        </p:txBody>
      </p:sp>
      <p:sp>
        <p:nvSpPr>
          <p:cNvPr id="28" name="Icon circle"/>
          <p:cNvSpPr/>
          <p:nvPr/>
        </p:nvSpPr>
        <p:spPr>
          <a:xfrm>
            <a:off x="4846320" y="3319272"/>
            <a:ext cx="457200" cy="457200"/>
          </a:xfrm>
          <a:prstGeom prst="ellipse">
            <a:avLst/>
          </a:prstGeom>
          <a:solidFill>
            <a:srgbClr val="660874"/>
          </a:solidFill>
          <a:ln>
            <a:noFill/>
          </a:ln>
        </p:spPr>
        <p:txBody>
          <a:bodyPr rtlCol="0" anchor="ctr"/>
          <a:lstStyle/>
          <a:p>
            <a:pPr algn="ctr"/>
          </a:p>
        </p:txBody>
      </p:sp>
      <p:pic>
        <p:nvPicPr>
          <p:cNvPr id="29" name="Icon" descr="cable_w.png"/>
          <p:cNvPicPr>
            <a:picLocks noChangeAspect="1"/>
          </p:cNvPicPr>
          <p:nvPr/>
        </p:nvPicPr>
        <p:blipFill>
          <a:blip r:embed="rId4"/>
          <a:stretch>
            <a:fillRect/>
          </a:stretch>
        </p:blipFill>
        <p:spPr>
          <a:xfrm>
            <a:off x="4937759" y="3410712"/>
            <a:ext cx="274320" cy="274320"/>
          </a:xfrm>
          <a:prstGeom prst="rect">
            <a:avLst/>
          </a:prstGeom>
        </p:spPr>
      </p:pic>
      <p:sp>
        <p:nvSpPr>
          <p:cNvPr id="30" name="TextBox 29"/>
          <p:cNvSpPr txBox="1"/>
          <p:nvPr/>
        </p:nvSpPr>
        <p:spPr>
          <a:xfrm>
            <a:off x="5468112" y="3300984"/>
            <a:ext cx="3246120" cy="256032"/>
          </a:xfrm>
          <a:prstGeom prst="rect">
            <a:avLst/>
          </a:prstGeom>
          <a:noFill/>
        </p:spPr>
        <p:txBody>
          <a:bodyPr wrap="square" lIns="0" rIns="0" tIns="0" bIns="0" anchor="t">
            <a:noAutofit/>
          </a:bodyPr>
          <a:lstStyle/>
          <a:p>
            <a:pPr algn="l">
              <a:lnSpc>
                <a:spcPct val="108000"/>
              </a:lnSpc>
            </a:pPr>
            <a:r>
              <a:rPr sz="1300" b="1" i="0">
                <a:solidFill>
                  <a:srgbClr val="1F1A2E"/>
                </a:solidFill>
                <a:latin typeface="Arial"/>
              </a:rPr>
              <a:t>The interface to the body</a:t>
            </a:r>
          </a:p>
        </p:txBody>
      </p:sp>
      <p:sp>
        <p:nvSpPr>
          <p:cNvPr id="31" name="TextBox 30"/>
          <p:cNvSpPr txBox="1"/>
          <p:nvPr/>
        </p:nvSpPr>
        <p:spPr>
          <a:xfrm>
            <a:off x="5468112" y="3566160"/>
            <a:ext cx="3246120" cy="640080"/>
          </a:xfrm>
          <a:prstGeom prst="rect">
            <a:avLst/>
          </a:prstGeom>
          <a:noFill/>
        </p:spPr>
        <p:txBody>
          <a:bodyPr wrap="square" lIns="0" rIns="0" tIns="0" bIns="0" anchor="t">
            <a:noAutofit/>
          </a:bodyPr>
          <a:lstStyle/>
          <a:p>
            <a:pPr algn="l">
              <a:lnSpc>
                <a:spcPct val="103000"/>
              </a:lnSpc>
            </a:pPr>
            <a:r>
              <a:rPr sz="1050" b="0" i="0">
                <a:solidFill>
                  <a:srgbClr val="3A3447"/>
                </a:solidFill>
                <a:latin typeface="Arial"/>
              </a:rPr>
              <a:t>In the demo, a few hand-picked neurons drive the body model's built-in locomotion and feeding controllers [9, 11].</a:t>
            </a:r>
          </a:p>
        </p:txBody>
      </p:sp>
      <p:sp>
        <p:nvSpPr>
          <p:cNvPr id="32" name="Rounded Rectangle 31"/>
          <p:cNvSpPr/>
          <p:nvPr/>
        </p:nvSpPr>
        <p:spPr>
          <a:xfrm>
            <a:off x="4846320" y="4169663"/>
            <a:ext cx="3840480" cy="530352"/>
          </a:xfrm>
          <a:prstGeom prst="roundRect">
            <a:avLst>
              <a:gd name="adj" fmla="val 16000"/>
            </a:avLst>
          </a:prstGeom>
          <a:solidFill>
            <a:srgbClr val="1F1A2E"/>
          </a:solidFill>
          <a:ln>
            <a:noFill/>
          </a:ln>
        </p:spPr>
        <p:txBody>
          <a:bodyPr rtlCol="0" anchor="ctr"/>
          <a:lstStyle/>
          <a:p>
            <a:pPr algn="ctr"/>
          </a:p>
        </p:txBody>
      </p:sp>
      <p:sp>
        <p:nvSpPr>
          <p:cNvPr id="33" name="TextBox 32"/>
          <p:cNvSpPr txBox="1"/>
          <p:nvPr/>
        </p:nvSpPr>
        <p:spPr>
          <a:xfrm>
            <a:off x="4992624" y="4169663"/>
            <a:ext cx="3611880" cy="530352"/>
          </a:xfrm>
          <a:prstGeom prst="rect">
            <a:avLst/>
          </a:prstGeom>
          <a:noFill/>
        </p:spPr>
        <p:txBody>
          <a:bodyPr wrap="square" lIns="0" rIns="0" tIns="0" bIns="0" anchor="ctr">
            <a:noAutofit/>
          </a:bodyPr>
          <a:lstStyle/>
          <a:p>
            <a:pPr algn="l">
              <a:lnSpc>
                <a:spcPct val="105000"/>
              </a:lnSpc>
            </a:pPr>
            <a:r>
              <a:rPr sz="850" b="1" i="0" spc="100">
                <a:solidFill>
                  <a:srgbClr val="F0A46B"/>
                </a:solidFill>
                <a:latin typeface="Arial"/>
              </a:rPr>
              <a:t>OPEN QUESTION</a:t>
            </a:r>
          </a:p>
          <a:p>
            <a:pPr algn="l">
              <a:lnSpc>
                <a:spcPct val="105000"/>
              </a:lnSpc>
            </a:pPr>
            <a:r>
              <a:rPr sz="1200" b="1" i="0">
                <a:solidFill>
                  <a:srgbClr val="FFFFFF"/>
                </a:solidFill>
                <a:latin typeface="Arial"/>
              </a:rPr>
              <a:t>How should a connectome control a whole body?</a:t>
            </a:r>
          </a:p>
        </p:txBody>
      </p:sp>
      <p:sp>
        <p:nvSpPr>
          <p:cNvPr id="34" name="Source"/>
          <p:cNvSpPr txBox="1"/>
          <p:nvPr/>
        </p:nvSpPr>
        <p:spPr>
          <a:xfrm>
            <a:off x="457200" y="4791456"/>
            <a:ext cx="7589520" cy="201168"/>
          </a:xfrm>
          <a:prstGeom prst="rect">
            <a:avLst/>
          </a:prstGeom>
          <a:noFill/>
        </p:spPr>
        <p:txBody>
          <a:bodyPr wrap="square" lIns="0" rIns="0" tIns="0" bIns="0" anchor="ctr">
            <a:noAutofit/>
          </a:bodyPr>
          <a:lstStyle/>
          <a:p>
            <a:pPr algn="l">
              <a:lnSpc>
                <a:spcPct val="108000"/>
              </a:lnSpc>
            </a:pPr>
            <a:r>
              <a:rPr sz="850" b="0" i="0">
                <a:solidFill>
                  <a:srgbClr val="7A7387"/>
                </a:solidFill>
                <a:latin typeface="Arial"/>
              </a:rPr>
              <a:t>Public discussion summarized from the sources cited; quotes are headlines of [9–11].</a:t>
            </a:r>
          </a:p>
        </p:txBody>
      </p:sp>
      <p:sp>
        <p:nvSpPr>
          <p:cNvPr id="35" name="Slide number"/>
          <p:cNvSpPr txBox="1"/>
          <p:nvPr/>
        </p:nvSpPr>
        <p:spPr>
          <a:xfrm>
            <a:off x="8229600" y="4791456"/>
            <a:ext cx="457200" cy="201168"/>
          </a:xfrm>
          <a:prstGeom prst="rect">
            <a:avLst/>
          </a:prstGeom>
          <a:noFill/>
        </p:spPr>
        <p:txBody>
          <a:bodyPr wrap="none" lIns="0" rIns="0" tIns="0" bIns="0" anchor="ctr">
            <a:spAutoFit/>
          </a:bodyPr>
          <a:lstStyle/>
          <a:p>
            <a:pPr algn="r"/>
            <a:fld id="{5C1D9F7E-2B47-4C0B-9E55-6B0D1A3E1F01}" type="slidenum">
              <a:rPr lang="en-US" sz="900">
                <a:solidFill>
                  <a:srgbClr val="7A7387"/>
                </a:solidFill>
                <a:latin typeface="Arial"/>
              </a:rPr>
              <a:t>#</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457200" y="429768"/>
            <a:ext cx="8229600" cy="457200"/>
          </a:xfrm>
        </p:spPr>
        <p:txBody>
          <a:bodyPr wrap="square" anchor="t" lIns="0" rIns="0" tIns="0" bIns="0"/>
          <a:lstStyle/>
          <a:p>
            <a:pPr algn="l">
              <a:lnSpc>
                <a:spcPct val="100000"/>
              </a:lnSpc>
            </a:pPr>
            <a:r>
              <a:rPr sz="2400" b="1">
                <a:solidFill>
                  <a:srgbClr val="1F1A2E"/>
                </a:solidFill>
                <a:latin typeface="Arial"/>
              </a:rPr>
              <a:t>FlyGM: use the wiring as the controller's architecture</a:t>
            </a:r>
          </a:p>
        </p:txBody>
      </p:sp>
      <p:sp>
        <p:nvSpPr>
          <p:cNvPr id="4" name="Kicker dot"/>
          <p:cNvSpPr/>
          <p:nvPr/>
        </p:nvSpPr>
        <p:spPr>
          <a:xfrm>
            <a:off x="457200" y="278892"/>
            <a:ext cx="77724" cy="77724"/>
          </a:xfrm>
          <a:prstGeom prst="ellipse">
            <a:avLst/>
          </a:prstGeom>
          <a:solidFill>
            <a:srgbClr val="D55E00"/>
          </a:solidFill>
          <a:ln>
            <a:noFill/>
          </a:ln>
        </p:spPr>
        <p:txBody>
          <a:bodyPr rtlCol="0" anchor="ctr"/>
          <a:lstStyle/>
          <a:p>
            <a:pPr algn="ctr"/>
          </a:p>
        </p:txBody>
      </p:sp>
      <p:sp>
        <p:nvSpPr>
          <p:cNvPr id="5" name="Kicker"/>
          <p:cNvSpPr txBox="1"/>
          <p:nvPr/>
        </p:nvSpPr>
        <p:spPr>
          <a:xfrm>
            <a:off x="594360" y="233172"/>
            <a:ext cx="5943600" cy="182880"/>
          </a:xfrm>
          <a:prstGeom prst="rect">
            <a:avLst/>
          </a:prstGeom>
          <a:noFill/>
        </p:spPr>
        <p:txBody>
          <a:bodyPr wrap="square" lIns="0" rIns="0" tIns="0" bIns="0" anchor="ctr">
            <a:noAutofit/>
          </a:bodyPr>
          <a:lstStyle/>
          <a:p>
            <a:pPr algn="l">
              <a:lnSpc>
                <a:spcPct val="108000"/>
              </a:lnSpc>
            </a:pPr>
            <a:r>
              <a:rPr sz="950" b="1" i="0" spc="120">
                <a:solidFill>
                  <a:srgbClr val="660874"/>
                </a:solidFill>
                <a:latin typeface="Arial"/>
              </a:rPr>
              <a:t>OUR APPROACH</a:t>
            </a:r>
          </a:p>
        </p:txBody>
      </p:sp>
      <p:sp>
        <p:nvSpPr>
          <p:cNvPr id="6" name="Rounded Rectangle 5"/>
          <p:cNvSpPr/>
          <p:nvPr/>
        </p:nvSpPr>
        <p:spPr>
          <a:xfrm>
            <a:off x="457200" y="1005840"/>
            <a:ext cx="2615184" cy="2852928"/>
          </a:xfrm>
          <a:prstGeom prst="roundRect">
            <a:avLst>
              <a:gd name="adj" fmla="val 6000"/>
            </a:avLst>
          </a:prstGeom>
          <a:solidFill>
            <a:srgbClr val="F4F1F8"/>
          </a:solidFill>
          <a:ln>
            <a:noFill/>
          </a:ln>
        </p:spPr>
        <p:txBody>
          <a:bodyPr rtlCol="0" anchor="ctr"/>
          <a:lstStyle/>
          <a:p>
            <a:pPr algn="ctr"/>
          </a:p>
        </p:txBody>
      </p:sp>
      <p:pic>
        <p:nvPicPr>
          <p:cNvPr id="7" name="Picture 6" descr="image.png"/>
          <p:cNvPicPr>
            <a:picLocks noChangeAspect="1"/>
          </p:cNvPicPr>
          <p:nvPr/>
        </p:nvPicPr>
        <p:blipFill>
          <a:blip r:embed="rId2"/>
          <a:stretch>
            <a:fillRect/>
          </a:stretch>
        </p:blipFill>
        <p:spPr>
          <a:xfrm>
            <a:off x="1005840" y="1097280"/>
            <a:ext cx="1517904" cy="1188720"/>
          </a:xfrm>
          <a:prstGeom prst="rect">
            <a:avLst/>
          </a:prstGeom>
        </p:spPr>
      </p:pic>
      <p:sp>
        <p:nvSpPr>
          <p:cNvPr id="8" name="Icon circle"/>
          <p:cNvSpPr/>
          <p:nvPr/>
        </p:nvSpPr>
        <p:spPr>
          <a:xfrm>
            <a:off x="603504" y="2377440"/>
            <a:ext cx="329184" cy="329184"/>
          </a:xfrm>
          <a:prstGeom prst="ellipse">
            <a:avLst/>
          </a:prstGeom>
          <a:solidFill>
            <a:srgbClr val="8E86A0"/>
          </a:solidFill>
          <a:ln>
            <a:noFill/>
          </a:ln>
        </p:spPr>
        <p:txBody>
          <a:bodyPr rtlCol="0" anchor="ctr"/>
          <a:lstStyle/>
          <a:p>
            <a:pPr algn="ctr"/>
          </a:p>
        </p:txBody>
      </p:sp>
      <p:pic>
        <p:nvPicPr>
          <p:cNvPr id="9" name="Icon" descr="biotech_w.png"/>
          <p:cNvPicPr>
            <a:picLocks noChangeAspect="1"/>
          </p:cNvPicPr>
          <p:nvPr/>
        </p:nvPicPr>
        <p:blipFill>
          <a:blip r:embed="rId3"/>
          <a:stretch>
            <a:fillRect/>
          </a:stretch>
        </p:blipFill>
        <p:spPr>
          <a:xfrm>
            <a:off x="669340" y="2443276"/>
            <a:ext cx="197510" cy="197510"/>
          </a:xfrm>
          <a:prstGeom prst="rect">
            <a:avLst/>
          </a:prstGeom>
        </p:spPr>
      </p:pic>
      <p:sp>
        <p:nvSpPr>
          <p:cNvPr id="10" name="TextBox 9"/>
          <p:cNvSpPr txBox="1"/>
          <p:nvPr/>
        </p:nvSpPr>
        <p:spPr>
          <a:xfrm>
            <a:off x="1005840" y="2377440"/>
            <a:ext cx="1975104" cy="329184"/>
          </a:xfrm>
          <a:prstGeom prst="rect">
            <a:avLst/>
          </a:prstGeom>
          <a:noFill/>
        </p:spPr>
        <p:txBody>
          <a:bodyPr wrap="square" lIns="0" rIns="0" tIns="0" bIns="0" anchor="ctr">
            <a:noAutofit/>
          </a:bodyPr>
          <a:lstStyle/>
          <a:p>
            <a:pPr algn="l">
              <a:lnSpc>
                <a:spcPct val="108000"/>
              </a:lnSpc>
            </a:pPr>
            <a:r>
              <a:rPr sz="1350" b="1" i="0">
                <a:solidFill>
                  <a:srgbClr val="1F1A2E"/>
                </a:solidFill>
                <a:latin typeface="Arial"/>
              </a:rPr>
              <a:t>Emulate the wiring</a:t>
            </a:r>
          </a:p>
        </p:txBody>
      </p:sp>
      <p:sp>
        <p:nvSpPr>
          <p:cNvPr id="11" name="TextBox 10"/>
          <p:cNvSpPr txBox="1"/>
          <p:nvPr/>
        </p:nvSpPr>
        <p:spPr>
          <a:xfrm>
            <a:off x="621792" y="2798064"/>
            <a:ext cx="2322576" cy="822960"/>
          </a:xfrm>
          <a:prstGeom prst="rect">
            <a:avLst/>
          </a:prstGeom>
          <a:noFill/>
        </p:spPr>
        <p:txBody>
          <a:bodyPr wrap="square" lIns="0" rIns="0" tIns="0" bIns="0" anchor="t">
            <a:noAutofit/>
          </a:bodyPr>
          <a:lstStyle/>
          <a:p>
            <a:pPr algn="l">
              <a:lnSpc>
                <a:spcPct val="102000"/>
              </a:lnSpc>
              <a:spcAft>
                <a:spcPts val="300"/>
              </a:spcAft>
            </a:pPr>
            <a:r>
              <a:rPr sz="1050" b="1" i="0">
                <a:solidFill>
                  <a:srgbClr val="2E8B57"/>
                </a:solidFill>
                <a:latin typeface="Arial"/>
              </a:rPr>
              <a:t>+  </a:t>
            </a:r>
            <a:r>
              <a:rPr sz="1050" b="0" i="0">
                <a:solidFill>
                  <a:srgbClr val="3A3447"/>
                </a:solidFill>
                <a:latin typeface="Arial"/>
              </a:rPr>
              <a:t>Biological connectome, no training</a:t>
            </a:r>
          </a:p>
          <a:p>
            <a:pPr algn="l">
              <a:lnSpc>
                <a:spcPct val="102000"/>
              </a:lnSpc>
              <a:spcAft>
                <a:spcPts val="300"/>
              </a:spcAft>
            </a:pPr>
            <a:r>
              <a:rPr sz="1050" b="1" i="0">
                <a:solidFill>
                  <a:srgbClr val="B03A2E"/>
                </a:solidFill>
                <a:latin typeface="Arial"/>
              </a:rPr>
              <a:t>−  </a:t>
            </a:r>
            <a:r>
              <a:rPr sz="1050" b="0" i="0">
                <a:solidFill>
                  <a:srgbClr val="3A3447"/>
                </a:solidFill>
                <a:latin typeface="Arial"/>
              </a:rPr>
              <a:t>Generic neuron models</a:t>
            </a:r>
          </a:p>
          <a:p>
            <a:pPr algn="l">
              <a:lnSpc>
                <a:spcPct val="102000"/>
              </a:lnSpc>
              <a:spcAft>
                <a:spcPts val="300"/>
              </a:spcAft>
            </a:pPr>
            <a:r>
              <a:rPr sz="1050" b="1" i="0">
                <a:solidFill>
                  <a:srgbClr val="B03A2E"/>
                </a:solidFill>
                <a:latin typeface="Arial"/>
              </a:rPr>
              <a:t>−  </a:t>
            </a:r>
            <a:r>
              <a:rPr sz="1050" b="0" i="0">
                <a:solidFill>
                  <a:srgbClr val="3A3447"/>
                </a:solidFill>
                <a:latin typeface="Arial"/>
              </a:rPr>
              <a:t>Body control handed to built-in controllers</a:t>
            </a:r>
          </a:p>
        </p:txBody>
      </p:sp>
      <p:sp>
        <p:nvSpPr>
          <p:cNvPr id="12" name="TextBox 11"/>
          <p:cNvSpPr txBox="1"/>
          <p:nvPr/>
        </p:nvSpPr>
        <p:spPr>
          <a:xfrm>
            <a:off x="621792" y="3621024"/>
            <a:ext cx="2322576" cy="182880"/>
          </a:xfrm>
          <a:prstGeom prst="rect">
            <a:avLst/>
          </a:prstGeom>
          <a:noFill/>
        </p:spPr>
        <p:txBody>
          <a:bodyPr wrap="square" lIns="0" rIns="0" tIns="0" bIns="0" anchor="t">
            <a:noAutofit/>
          </a:bodyPr>
          <a:lstStyle/>
          <a:p>
            <a:pPr algn="l">
              <a:lnSpc>
                <a:spcPct val="108000"/>
              </a:lnSpc>
            </a:pPr>
            <a:r>
              <a:rPr sz="900" b="0" i="1">
                <a:solidFill>
                  <a:srgbClr val="7A7387"/>
                </a:solidFill>
                <a:latin typeface="Arial"/>
              </a:rPr>
              <a:t>e.g. [4, 9]</a:t>
            </a:r>
          </a:p>
        </p:txBody>
      </p:sp>
      <p:sp>
        <p:nvSpPr>
          <p:cNvPr id="13" name="Rounded Rectangle 12"/>
          <p:cNvSpPr/>
          <p:nvPr/>
        </p:nvSpPr>
        <p:spPr>
          <a:xfrm>
            <a:off x="3264408" y="1005840"/>
            <a:ext cx="2615184" cy="2852928"/>
          </a:xfrm>
          <a:prstGeom prst="roundRect">
            <a:avLst>
              <a:gd name="adj" fmla="val 6000"/>
            </a:avLst>
          </a:prstGeom>
          <a:solidFill>
            <a:srgbClr val="F4F1F8"/>
          </a:solidFill>
          <a:ln>
            <a:noFill/>
          </a:ln>
        </p:spPr>
        <p:txBody>
          <a:bodyPr rtlCol="0" anchor="ctr"/>
          <a:lstStyle/>
          <a:p>
            <a:pPr algn="ctr"/>
          </a:p>
        </p:txBody>
      </p:sp>
      <p:pic>
        <p:nvPicPr>
          <p:cNvPr id="14" name="Picture 13" descr="image.png"/>
          <p:cNvPicPr>
            <a:picLocks noChangeAspect="1"/>
          </p:cNvPicPr>
          <p:nvPr/>
        </p:nvPicPr>
        <p:blipFill>
          <a:blip r:embed="rId4"/>
          <a:stretch>
            <a:fillRect/>
          </a:stretch>
        </p:blipFill>
        <p:spPr>
          <a:xfrm>
            <a:off x="3694176" y="1097280"/>
            <a:ext cx="1764792" cy="1188720"/>
          </a:xfrm>
          <a:prstGeom prst="rect">
            <a:avLst/>
          </a:prstGeom>
        </p:spPr>
      </p:pic>
      <p:sp>
        <p:nvSpPr>
          <p:cNvPr id="15" name="Icon circle"/>
          <p:cNvSpPr/>
          <p:nvPr/>
        </p:nvSpPr>
        <p:spPr>
          <a:xfrm>
            <a:off x="3410712" y="2377440"/>
            <a:ext cx="329184" cy="329184"/>
          </a:xfrm>
          <a:prstGeom prst="ellipse">
            <a:avLst/>
          </a:prstGeom>
          <a:solidFill>
            <a:srgbClr val="8E86A0"/>
          </a:solidFill>
          <a:ln>
            <a:noFill/>
          </a:ln>
        </p:spPr>
        <p:txBody>
          <a:bodyPr rtlCol="0" anchor="ctr"/>
          <a:lstStyle/>
          <a:p>
            <a:pPr algn="ctr"/>
          </a:p>
        </p:txBody>
      </p:sp>
      <p:pic>
        <p:nvPicPr>
          <p:cNvPr id="16" name="Icon" descr="robot_w.png"/>
          <p:cNvPicPr>
            <a:picLocks noChangeAspect="1"/>
          </p:cNvPicPr>
          <p:nvPr/>
        </p:nvPicPr>
        <p:blipFill>
          <a:blip r:embed="rId5"/>
          <a:stretch>
            <a:fillRect/>
          </a:stretch>
        </p:blipFill>
        <p:spPr>
          <a:xfrm>
            <a:off x="3476548" y="2443276"/>
            <a:ext cx="197510" cy="197510"/>
          </a:xfrm>
          <a:prstGeom prst="rect">
            <a:avLst/>
          </a:prstGeom>
        </p:spPr>
      </p:pic>
      <p:sp>
        <p:nvSpPr>
          <p:cNvPr id="17" name="TextBox 16"/>
          <p:cNvSpPr txBox="1"/>
          <p:nvPr/>
        </p:nvSpPr>
        <p:spPr>
          <a:xfrm>
            <a:off x="3813048" y="2377440"/>
            <a:ext cx="1975104" cy="329184"/>
          </a:xfrm>
          <a:prstGeom prst="rect">
            <a:avLst/>
          </a:prstGeom>
          <a:noFill/>
        </p:spPr>
        <p:txBody>
          <a:bodyPr wrap="square" lIns="0" rIns="0" tIns="0" bIns="0" anchor="ctr">
            <a:noAutofit/>
          </a:bodyPr>
          <a:lstStyle/>
          <a:p>
            <a:pPr algn="l">
              <a:lnSpc>
                <a:spcPct val="108000"/>
              </a:lnSpc>
            </a:pPr>
            <a:r>
              <a:rPr sz="1350" b="1" i="0">
                <a:solidFill>
                  <a:srgbClr val="1F1A2E"/>
                </a:solidFill>
                <a:latin typeface="Arial"/>
              </a:rPr>
              <a:t>Learn a generic network</a:t>
            </a:r>
          </a:p>
        </p:txBody>
      </p:sp>
      <p:sp>
        <p:nvSpPr>
          <p:cNvPr id="18" name="TextBox 17"/>
          <p:cNvSpPr txBox="1"/>
          <p:nvPr/>
        </p:nvSpPr>
        <p:spPr>
          <a:xfrm>
            <a:off x="3429000" y="2798064"/>
            <a:ext cx="2322576" cy="822960"/>
          </a:xfrm>
          <a:prstGeom prst="rect">
            <a:avLst/>
          </a:prstGeom>
          <a:noFill/>
        </p:spPr>
        <p:txBody>
          <a:bodyPr wrap="square" lIns="0" rIns="0" tIns="0" bIns="0" anchor="t">
            <a:noAutofit/>
          </a:bodyPr>
          <a:lstStyle/>
          <a:p>
            <a:pPr algn="l">
              <a:lnSpc>
                <a:spcPct val="102000"/>
              </a:lnSpc>
              <a:spcAft>
                <a:spcPts val="300"/>
              </a:spcAft>
            </a:pPr>
            <a:r>
              <a:rPr sz="1050" b="1" i="0">
                <a:solidFill>
                  <a:srgbClr val="2E8B57"/>
                </a:solidFill>
                <a:latin typeface="Arial"/>
              </a:rPr>
              <a:t>+  </a:t>
            </a:r>
            <a:r>
              <a:rPr sz="1050" b="0" i="0">
                <a:solidFill>
                  <a:srgbClr val="3A3447"/>
                </a:solidFill>
                <a:latin typeface="Arial"/>
              </a:rPr>
              <a:t>Realistic whole-body walking and flight</a:t>
            </a:r>
          </a:p>
          <a:p>
            <a:pPr algn="l">
              <a:lnSpc>
                <a:spcPct val="102000"/>
              </a:lnSpc>
              <a:spcAft>
                <a:spcPts val="300"/>
              </a:spcAft>
            </a:pPr>
            <a:r>
              <a:rPr sz="1050" b="1" i="0">
                <a:solidFill>
                  <a:srgbClr val="B03A2E"/>
                </a:solidFill>
                <a:latin typeface="Arial"/>
              </a:rPr>
              <a:t>−  </a:t>
            </a:r>
            <a:r>
              <a:rPr sz="1050" b="0" i="0">
                <a:solidFill>
                  <a:srgbClr val="3A3447"/>
                </a:solidFill>
                <a:latin typeface="Arial"/>
              </a:rPr>
              <a:t>Architecture unrelated to the brain</a:t>
            </a:r>
          </a:p>
          <a:p>
            <a:pPr algn="l">
              <a:lnSpc>
                <a:spcPct val="102000"/>
              </a:lnSpc>
              <a:spcAft>
                <a:spcPts val="300"/>
              </a:spcAft>
            </a:pPr>
            <a:r>
              <a:rPr sz="1050" b="1" i="0">
                <a:solidFill>
                  <a:srgbClr val="B03A2E"/>
                </a:solidFill>
                <a:latin typeface="Arial"/>
              </a:rPr>
              <a:t>−  </a:t>
            </a:r>
            <a:r>
              <a:rPr sz="1050" b="0" i="0">
                <a:solidFill>
                  <a:srgbClr val="3A3447"/>
                </a:solidFill>
                <a:latin typeface="Arial"/>
              </a:rPr>
              <a:t>Hard to relate to biological circuits</a:t>
            </a:r>
          </a:p>
        </p:txBody>
      </p:sp>
      <p:sp>
        <p:nvSpPr>
          <p:cNvPr id="19" name="TextBox 18"/>
          <p:cNvSpPr txBox="1"/>
          <p:nvPr/>
        </p:nvSpPr>
        <p:spPr>
          <a:xfrm>
            <a:off x="3429000" y="3621024"/>
            <a:ext cx="2322576" cy="182880"/>
          </a:xfrm>
          <a:prstGeom prst="rect">
            <a:avLst/>
          </a:prstGeom>
          <a:noFill/>
        </p:spPr>
        <p:txBody>
          <a:bodyPr wrap="square" lIns="0" rIns="0" tIns="0" bIns="0" anchor="t">
            <a:noAutofit/>
          </a:bodyPr>
          <a:lstStyle/>
          <a:p>
            <a:pPr algn="l">
              <a:lnSpc>
                <a:spcPct val="108000"/>
              </a:lnSpc>
            </a:pPr>
            <a:r>
              <a:rPr sz="900" b="0" i="1">
                <a:solidFill>
                  <a:srgbClr val="7A7387"/>
                </a:solidFill>
                <a:latin typeface="Arial"/>
              </a:rPr>
              <a:t>e.g. flybody [7]</a:t>
            </a:r>
          </a:p>
        </p:txBody>
      </p:sp>
      <p:sp>
        <p:nvSpPr>
          <p:cNvPr id="20" name="Rounded Rectangle 19"/>
          <p:cNvSpPr/>
          <p:nvPr/>
        </p:nvSpPr>
        <p:spPr>
          <a:xfrm>
            <a:off x="6071616" y="1005840"/>
            <a:ext cx="2615184" cy="2852928"/>
          </a:xfrm>
          <a:prstGeom prst="roundRect">
            <a:avLst>
              <a:gd name="adj" fmla="val 6000"/>
            </a:avLst>
          </a:prstGeom>
          <a:solidFill>
            <a:srgbClr val="FBEDE3"/>
          </a:solidFill>
          <a:ln w="19050">
            <a:solidFill>
              <a:srgbClr val="D55E00"/>
            </a:solidFill>
          </a:ln>
        </p:spPr>
        <p:txBody>
          <a:bodyPr rtlCol="0" anchor="ctr"/>
          <a:lstStyle/>
          <a:p>
            <a:pPr algn="ctr"/>
          </a:p>
        </p:txBody>
      </p:sp>
      <p:pic>
        <p:nvPicPr>
          <p:cNvPr id="21" name="Picture 20" descr="connectome_layout_alpha_light.png"/>
          <p:cNvPicPr>
            <a:picLocks noChangeAspect="1"/>
          </p:cNvPicPr>
          <p:nvPr/>
        </p:nvPicPr>
        <p:blipFill>
          <a:blip r:embed="rId6"/>
          <a:stretch>
            <a:fillRect/>
          </a:stretch>
        </p:blipFill>
        <p:spPr>
          <a:xfrm>
            <a:off x="6784848" y="1069848"/>
            <a:ext cx="1207008" cy="1207008"/>
          </a:xfrm>
          <a:prstGeom prst="rect">
            <a:avLst/>
          </a:prstGeom>
        </p:spPr>
      </p:pic>
      <p:sp>
        <p:nvSpPr>
          <p:cNvPr id="22" name="Icon circle"/>
          <p:cNvSpPr/>
          <p:nvPr/>
        </p:nvSpPr>
        <p:spPr>
          <a:xfrm>
            <a:off x="6217920" y="2377440"/>
            <a:ext cx="329184" cy="329184"/>
          </a:xfrm>
          <a:prstGeom prst="ellipse">
            <a:avLst/>
          </a:prstGeom>
          <a:solidFill>
            <a:srgbClr val="D55E00"/>
          </a:solidFill>
          <a:ln>
            <a:noFill/>
          </a:ln>
        </p:spPr>
        <p:txBody>
          <a:bodyPr rtlCol="0" anchor="ctr"/>
          <a:lstStyle/>
          <a:p>
            <a:pPr algn="ctr"/>
          </a:p>
        </p:txBody>
      </p:sp>
      <p:pic>
        <p:nvPicPr>
          <p:cNvPr id="23" name="Icon" descr="hub_w.png"/>
          <p:cNvPicPr>
            <a:picLocks noChangeAspect="1"/>
          </p:cNvPicPr>
          <p:nvPr/>
        </p:nvPicPr>
        <p:blipFill>
          <a:blip r:embed="rId7"/>
          <a:stretch>
            <a:fillRect/>
          </a:stretch>
        </p:blipFill>
        <p:spPr>
          <a:xfrm>
            <a:off x="6283756" y="2443276"/>
            <a:ext cx="197510" cy="197510"/>
          </a:xfrm>
          <a:prstGeom prst="rect">
            <a:avLst/>
          </a:prstGeom>
        </p:spPr>
      </p:pic>
      <p:sp>
        <p:nvSpPr>
          <p:cNvPr id="24" name="TextBox 23"/>
          <p:cNvSpPr txBox="1"/>
          <p:nvPr/>
        </p:nvSpPr>
        <p:spPr>
          <a:xfrm>
            <a:off x="6620255" y="2377440"/>
            <a:ext cx="1975104" cy="329184"/>
          </a:xfrm>
          <a:prstGeom prst="rect">
            <a:avLst/>
          </a:prstGeom>
          <a:noFill/>
        </p:spPr>
        <p:txBody>
          <a:bodyPr wrap="square" lIns="0" rIns="0" tIns="0" bIns="0" anchor="ctr">
            <a:noAutofit/>
          </a:bodyPr>
          <a:lstStyle/>
          <a:p>
            <a:pPr algn="l">
              <a:lnSpc>
                <a:spcPct val="108000"/>
              </a:lnSpc>
            </a:pPr>
            <a:r>
              <a:rPr sz="1350" b="1" i="0">
                <a:solidFill>
                  <a:srgbClr val="D55E00"/>
                </a:solidFill>
                <a:latin typeface="Arial"/>
              </a:rPr>
              <a:t>FlyGM (ours)</a:t>
            </a:r>
          </a:p>
        </p:txBody>
      </p:sp>
      <p:sp>
        <p:nvSpPr>
          <p:cNvPr id="25" name="TextBox 24"/>
          <p:cNvSpPr txBox="1"/>
          <p:nvPr/>
        </p:nvSpPr>
        <p:spPr>
          <a:xfrm>
            <a:off x="6236207" y="2798064"/>
            <a:ext cx="2322576" cy="822960"/>
          </a:xfrm>
          <a:prstGeom prst="rect">
            <a:avLst/>
          </a:prstGeom>
          <a:noFill/>
        </p:spPr>
        <p:txBody>
          <a:bodyPr wrap="square" lIns="0" rIns="0" tIns="0" bIns="0" anchor="t">
            <a:noAutofit/>
          </a:bodyPr>
          <a:lstStyle/>
          <a:p>
            <a:pPr algn="l">
              <a:lnSpc>
                <a:spcPct val="102000"/>
              </a:lnSpc>
              <a:spcAft>
                <a:spcPts val="300"/>
              </a:spcAft>
            </a:pPr>
            <a:r>
              <a:rPr sz="1050" b="1" i="0">
                <a:solidFill>
                  <a:srgbClr val="2E8B57"/>
                </a:solidFill>
                <a:latin typeface="Arial"/>
              </a:rPr>
              <a:t>+  </a:t>
            </a:r>
            <a:r>
              <a:rPr sz="1050" b="0" i="0">
                <a:solidFill>
                  <a:srgbClr val="3A3447"/>
                </a:solidFill>
                <a:latin typeface="Arial"/>
              </a:rPr>
              <a:t>Motor commands pass through the 139k-neuron connectome</a:t>
            </a:r>
          </a:p>
          <a:p>
            <a:pPr algn="l">
              <a:lnSpc>
                <a:spcPct val="102000"/>
              </a:lnSpc>
              <a:spcAft>
                <a:spcPts val="300"/>
              </a:spcAft>
            </a:pPr>
            <a:r>
              <a:rPr sz="1050" b="1" i="0">
                <a:solidFill>
                  <a:srgbClr val="2E8B57"/>
                </a:solidFill>
                <a:latin typeface="Arial"/>
              </a:rPr>
              <a:t>+  </a:t>
            </a:r>
            <a:r>
              <a:rPr sz="1050" b="0" i="0">
                <a:solidFill>
                  <a:srgbClr val="3A3447"/>
                </a:solidFill>
                <a:latin typeface="Arial"/>
              </a:rPr>
              <a:t>Trained end-to-end on whole-body tasks</a:t>
            </a:r>
          </a:p>
          <a:p>
            <a:pPr algn="l">
              <a:lnSpc>
                <a:spcPct val="102000"/>
              </a:lnSpc>
              <a:spcAft>
                <a:spcPts val="300"/>
              </a:spcAft>
            </a:pPr>
            <a:r>
              <a:rPr sz="1050" b="1" i="0">
                <a:solidFill>
                  <a:srgbClr val="D55E00"/>
                </a:solidFill>
                <a:latin typeface="Arial"/>
              </a:rPr>
              <a:t>→  </a:t>
            </a:r>
            <a:r>
              <a:rPr sz="1050" b="0" i="0">
                <a:solidFill>
                  <a:srgbClr val="3A3447"/>
                </a:solidFill>
                <a:latin typeface="Arial"/>
              </a:rPr>
              <a:t>Tests whether real wiring helps</a:t>
            </a:r>
          </a:p>
        </p:txBody>
      </p:sp>
      <p:sp>
        <p:nvSpPr>
          <p:cNvPr id="26" name="Rounded Rectangle 25"/>
          <p:cNvSpPr/>
          <p:nvPr/>
        </p:nvSpPr>
        <p:spPr>
          <a:xfrm>
            <a:off x="457200" y="3986784"/>
            <a:ext cx="8229600" cy="658368"/>
          </a:xfrm>
          <a:prstGeom prst="roundRect">
            <a:avLst>
              <a:gd name="adj" fmla="val 12000"/>
            </a:avLst>
          </a:prstGeom>
          <a:solidFill>
            <a:srgbClr val="1F1A2E"/>
          </a:solidFill>
          <a:ln>
            <a:noFill/>
          </a:ln>
        </p:spPr>
        <p:txBody>
          <a:bodyPr rtlCol="0" anchor="ctr"/>
          <a:lstStyle/>
          <a:p>
            <a:pPr algn="ctr"/>
          </a:p>
        </p:txBody>
      </p:sp>
      <p:sp>
        <p:nvSpPr>
          <p:cNvPr id="27" name="TextBox 26"/>
          <p:cNvSpPr txBox="1"/>
          <p:nvPr/>
        </p:nvSpPr>
        <p:spPr>
          <a:xfrm>
            <a:off x="658368" y="3986784"/>
            <a:ext cx="7863840" cy="658368"/>
          </a:xfrm>
          <a:prstGeom prst="rect">
            <a:avLst/>
          </a:prstGeom>
          <a:noFill/>
        </p:spPr>
        <p:txBody>
          <a:bodyPr wrap="square" lIns="0" rIns="0" tIns="0" bIns="0" anchor="ctr">
            <a:noAutofit/>
          </a:bodyPr>
          <a:lstStyle/>
          <a:p>
            <a:pPr algn="l">
              <a:lnSpc>
                <a:spcPct val="105000"/>
              </a:lnSpc>
            </a:pPr>
            <a:r>
              <a:rPr sz="850" b="1" i="0" spc="120">
                <a:solidFill>
                  <a:srgbClr val="F0A46B"/>
                </a:solidFill>
                <a:latin typeface="Arial"/>
              </a:rPr>
              <a:t>RESEARCH QUESTION</a:t>
            </a:r>
          </a:p>
          <a:p>
            <a:pPr algn="l">
              <a:lnSpc>
                <a:spcPct val="105000"/>
              </a:lnSpc>
            </a:pPr>
            <a:r>
              <a:rPr sz="1500" b="1" i="0">
                <a:solidFill>
                  <a:srgbClr val="FFFFFF"/>
                </a:solidFill>
                <a:latin typeface="Arial"/>
              </a:rPr>
              <a:t>Can whole-brain wiring serve as a useful structural prior for whole-body control?</a:t>
            </a:r>
          </a:p>
        </p:txBody>
      </p:sp>
      <p:sp>
        <p:nvSpPr>
          <p:cNvPr id="28" name="Source"/>
          <p:cNvSpPr txBox="1"/>
          <p:nvPr/>
        </p:nvSpPr>
        <p:spPr>
          <a:xfrm>
            <a:off x="457200" y="4791456"/>
            <a:ext cx="7589520" cy="201168"/>
          </a:xfrm>
          <a:prstGeom prst="rect">
            <a:avLst/>
          </a:prstGeom>
          <a:noFill/>
        </p:spPr>
        <p:txBody>
          <a:bodyPr wrap="square" lIns="0" rIns="0" tIns="0" bIns="0" anchor="ctr">
            <a:noAutofit/>
          </a:bodyPr>
          <a:lstStyle/>
          <a:p>
            <a:pPr algn="l">
              <a:lnSpc>
                <a:spcPct val="108000"/>
              </a:lnSpc>
            </a:pPr>
            <a:r>
              <a:rPr sz="850" b="0" i="0">
                <a:solidFill>
                  <a:srgbClr val="7A7387"/>
                </a:solidFill>
                <a:latin typeface="Arial"/>
              </a:rPr>
              <a:t>Images: FlyWire brain [2]; flybody fly model [7]; FlyGM force-directed connectome layout [1].</a:t>
            </a:r>
          </a:p>
        </p:txBody>
      </p:sp>
      <p:sp>
        <p:nvSpPr>
          <p:cNvPr id="29" name="Slide number"/>
          <p:cNvSpPr txBox="1"/>
          <p:nvPr/>
        </p:nvSpPr>
        <p:spPr>
          <a:xfrm>
            <a:off x="8229600" y="4791456"/>
            <a:ext cx="457200" cy="201168"/>
          </a:xfrm>
          <a:prstGeom prst="rect">
            <a:avLst/>
          </a:prstGeom>
          <a:noFill/>
        </p:spPr>
        <p:txBody>
          <a:bodyPr wrap="none" lIns="0" rIns="0" tIns="0" bIns="0" anchor="ctr">
            <a:spAutoFit/>
          </a:bodyPr>
          <a:lstStyle/>
          <a:p>
            <a:pPr algn="r"/>
            <a:fld id="{5C1D9F7E-2B47-4C0B-9E55-6B0D1A3E1F01}" type="slidenum">
              <a:rPr lang="en-US" sz="900">
                <a:solidFill>
                  <a:srgbClr val="7A7387"/>
                </a:solidFill>
                <a:latin typeface="Arial"/>
              </a:rPr>
              <a:t>#</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457200" y="429768"/>
            <a:ext cx="8229600" cy="457200"/>
          </a:xfrm>
        </p:spPr>
        <p:txBody>
          <a:bodyPr wrap="square" anchor="t" lIns="0" rIns="0" tIns="0" bIns="0"/>
          <a:lstStyle/>
          <a:p>
            <a:pPr algn="l">
              <a:lnSpc>
                <a:spcPct val="100000"/>
              </a:lnSpc>
            </a:pPr>
            <a:r>
              <a:rPr sz="2400" b="1">
                <a:solidFill>
                  <a:srgbClr val="1F1A2E"/>
                </a:solidFill>
                <a:latin typeface="Arial"/>
              </a:rPr>
              <a:t>FlyGM closes the sensorimotor loop</a:t>
            </a:r>
          </a:p>
        </p:txBody>
      </p:sp>
      <p:sp>
        <p:nvSpPr>
          <p:cNvPr id="4" name="Kicker dot"/>
          <p:cNvSpPr/>
          <p:nvPr/>
        </p:nvSpPr>
        <p:spPr>
          <a:xfrm>
            <a:off x="457200" y="278892"/>
            <a:ext cx="77724" cy="77724"/>
          </a:xfrm>
          <a:prstGeom prst="ellipse">
            <a:avLst/>
          </a:prstGeom>
          <a:solidFill>
            <a:srgbClr val="D55E00"/>
          </a:solidFill>
          <a:ln>
            <a:noFill/>
          </a:ln>
        </p:spPr>
        <p:txBody>
          <a:bodyPr rtlCol="0" anchor="ctr"/>
          <a:lstStyle/>
          <a:p>
            <a:pPr algn="ctr"/>
          </a:p>
        </p:txBody>
      </p:sp>
      <p:sp>
        <p:nvSpPr>
          <p:cNvPr id="5" name="Kicker"/>
          <p:cNvSpPr txBox="1"/>
          <p:nvPr/>
        </p:nvSpPr>
        <p:spPr>
          <a:xfrm>
            <a:off x="594360" y="233172"/>
            <a:ext cx="5943600" cy="182880"/>
          </a:xfrm>
          <a:prstGeom prst="rect">
            <a:avLst/>
          </a:prstGeom>
          <a:noFill/>
        </p:spPr>
        <p:txBody>
          <a:bodyPr wrap="square" lIns="0" rIns="0" tIns="0" bIns="0" anchor="ctr">
            <a:noAutofit/>
          </a:bodyPr>
          <a:lstStyle/>
          <a:p>
            <a:pPr algn="l">
              <a:lnSpc>
                <a:spcPct val="108000"/>
              </a:lnSpc>
            </a:pPr>
            <a:r>
              <a:rPr sz="950" b="1" i="0" spc="120">
                <a:solidFill>
                  <a:srgbClr val="660874"/>
                </a:solidFill>
                <a:latin typeface="Arial"/>
              </a:rPr>
              <a:t>METHOD</a:t>
            </a:r>
          </a:p>
        </p:txBody>
      </p:sp>
      <p:pic>
        <p:nvPicPr>
          <p:cNvPr id="6" name="FlyGM framework (paper Fig. 1)" descr="image.png"/>
          <p:cNvPicPr>
            <a:picLocks noChangeAspect="1"/>
          </p:cNvPicPr>
          <p:nvPr/>
        </p:nvPicPr>
        <p:blipFill>
          <a:blip r:embed="rId2"/>
          <a:stretch>
            <a:fillRect/>
          </a:stretch>
        </p:blipFill>
        <p:spPr>
          <a:xfrm>
            <a:off x="457200" y="1005840"/>
            <a:ext cx="8229600" cy="2106679"/>
          </a:xfrm>
          <a:prstGeom prst="rect">
            <a:avLst/>
          </a:prstGeom>
        </p:spPr>
      </p:pic>
      <p:sp>
        <p:nvSpPr>
          <p:cNvPr id="7" name="Rounded Rectangle 6"/>
          <p:cNvSpPr/>
          <p:nvPr/>
        </p:nvSpPr>
        <p:spPr>
          <a:xfrm>
            <a:off x="457200" y="3291840"/>
            <a:ext cx="2615184" cy="1298448"/>
          </a:xfrm>
          <a:prstGeom prst="roundRect">
            <a:avLst>
              <a:gd name="adj" fmla="val 7000"/>
            </a:avLst>
          </a:prstGeom>
          <a:solidFill>
            <a:srgbClr val="F4F1F8"/>
          </a:solidFill>
          <a:ln>
            <a:noFill/>
          </a:ln>
        </p:spPr>
        <p:txBody>
          <a:bodyPr rtlCol="0" anchor="ctr"/>
          <a:lstStyle/>
          <a:p>
            <a:pPr algn="ctr"/>
          </a:p>
        </p:txBody>
      </p:sp>
      <p:sp>
        <p:nvSpPr>
          <p:cNvPr id="8" name="Oval 7"/>
          <p:cNvSpPr/>
          <p:nvPr/>
        </p:nvSpPr>
        <p:spPr>
          <a:xfrm>
            <a:off x="603504" y="3419856"/>
            <a:ext cx="347472" cy="347472"/>
          </a:xfrm>
          <a:prstGeom prst="ellipse">
            <a:avLst/>
          </a:prstGeom>
          <a:solidFill>
            <a:srgbClr val="2E75B6"/>
          </a:solidFill>
          <a:ln>
            <a:noFill/>
          </a:ln>
        </p:spPr>
        <p:txBody>
          <a:bodyPr rtlCol="0" anchor="ctr"/>
          <a:lstStyle/>
          <a:p>
            <a:pPr algn="ctr"/>
          </a:p>
        </p:txBody>
      </p:sp>
      <p:sp>
        <p:nvSpPr>
          <p:cNvPr id="9" name="TextBox 8"/>
          <p:cNvSpPr txBox="1"/>
          <p:nvPr/>
        </p:nvSpPr>
        <p:spPr>
          <a:xfrm>
            <a:off x="603504" y="3419856"/>
            <a:ext cx="347472" cy="347472"/>
          </a:xfrm>
          <a:prstGeom prst="rect">
            <a:avLst/>
          </a:prstGeom>
          <a:noFill/>
        </p:spPr>
        <p:txBody>
          <a:bodyPr wrap="square" lIns="0" rIns="0" tIns="0" bIns="0" anchor="ctr">
            <a:noAutofit/>
          </a:bodyPr>
          <a:lstStyle/>
          <a:p>
            <a:pPr algn="ctr">
              <a:lnSpc>
                <a:spcPct val="108000"/>
              </a:lnSpc>
            </a:pPr>
            <a:r>
              <a:rPr sz="1300" b="1" i="0">
                <a:solidFill>
                  <a:srgbClr val="FFFFFF"/>
                </a:solidFill>
                <a:latin typeface="Arial"/>
              </a:rPr>
              <a:t>1</a:t>
            </a:r>
          </a:p>
        </p:txBody>
      </p:sp>
      <p:sp>
        <p:nvSpPr>
          <p:cNvPr id="10" name="TextBox 9"/>
          <p:cNvSpPr txBox="1"/>
          <p:nvPr/>
        </p:nvSpPr>
        <p:spPr>
          <a:xfrm>
            <a:off x="1060704" y="3419856"/>
            <a:ext cx="1929384" cy="347472"/>
          </a:xfrm>
          <a:prstGeom prst="rect">
            <a:avLst/>
          </a:prstGeom>
          <a:noFill/>
        </p:spPr>
        <p:txBody>
          <a:bodyPr wrap="square" lIns="0" rIns="0" tIns="0" bIns="0" anchor="ctr">
            <a:noAutofit/>
          </a:bodyPr>
          <a:lstStyle/>
          <a:p>
            <a:pPr algn="l">
              <a:lnSpc>
                <a:spcPct val="108000"/>
              </a:lnSpc>
            </a:pPr>
            <a:r>
              <a:rPr sz="1350" b="1" i="0">
                <a:solidFill>
                  <a:srgbClr val="1F1A2E"/>
                </a:solidFill>
                <a:latin typeface="Arial"/>
              </a:rPr>
              <a:t>Observe</a:t>
            </a:r>
          </a:p>
        </p:txBody>
      </p:sp>
      <p:sp>
        <p:nvSpPr>
          <p:cNvPr id="11" name="TextBox 10"/>
          <p:cNvSpPr txBox="1"/>
          <p:nvPr/>
        </p:nvSpPr>
        <p:spPr>
          <a:xfrm>
            <a:off x="621792" y="3840480"/>
            <a:ext cx="2322576" cy="731520"/>
          </a:xfrm>
          <a:prstGeom prst="rect">
            <a:avLst/>
          </a:prstGeom>
          <a:noFill/>
        </p:spPr>
        <p:txBody>
          <a:bodyPr wrap="square" lIns="0" rIns="0" tIns="0" bIns="0" anchor="t">
            <a:noAutofit/>
          </a:bodyPr>
          <a:lstStyle/>
          <a:p>
            <a:pPr algn="l">
              <a:lnSpc>
                <a:spcPct val="104000"/>
              </a:lnSpc>
            </a:pPr>
            <a:r>
              <a:rPr sz="1050" b="0" i="0">
                <a:solidFill>
                  <a:srgbClr val="3A3447"/>
                </a:solidFill>
                <a:latin typeface="Arial"/>
              </a:rPr>
              <a:t>Proprioception, touch and binocular vision (1,253-D) are encoded and injected into afferent neurons.</a:t>
            </a:r>
          </a:p>
        </p:txBody>
      </p:sp>
      <p:sp>
        <p:nvSpPr>
          <p:cNvPr id="12" name="Rounded Rectangle 11"/>
          <p:cNvSpPr/>
          <p:nvPr/>
        </p:nvSpPr>
        <p:spPr>
          <a:xfrm>
            <a:off x="3264408" y="3291840"/>
            <a:ext cx="2615184" cy="1298448"/>
          </a:xfrm>
          <a:prstGeom prst="roundRect">
            <a:avLst>
              <a:gd name="adj" fmla="val 7000"/>
            </a:avLst>
          </a:prstGeom>
          <a:solidFill>
            <a:srgbClr val="F4F1F8"/>
          </a:solidFill>
          <a:ln>
            <a:noFill/>
          </a:ln>
        </p:spPr>
        <p:txBody>
          <a:bodyPr rtlCol="0" anchor="ctr"/>
          <a:lstStyle/>
          <a:p>
            <a:pPr algn="ctr"/>
          </a:p>
        </p:txBody>
      </p:sp>
      <p:sp>
        <p:nvSpPr>
          <p:cNvPr id="13" name="Oval 12"/>
          <p:cNvSpPr/>
          <p:nvPr/>
        </p:nvSpPr>
        <p:spPr>
          <a:xfrm>
            <a:off x="3410712" y="3419856"/>
            <a:ext cx="347472" cy="347472"/>
          </a:xfrm>
          <a:prstGeom prst="ellipse">
            <a:avLst/>
          </a:prstGeom>
          <a:solidFill>
            <a:srgbClr val="4E9F5A"/>
          </a:solidFill>
          <a:ln>
            <a:noFill/>
          </a:ln>
        </p:spPr>
        <p:txBody>
          <a:bodyPr rtlCol="0" anchor="ctr"/>
          <a:lstStyle/>
          <a:p>
            <a:pPr algn="ctr"/>
          </a:p>
        </p:txBody>
      </p:sp>
      <p:sp>
        <p:nvSpPr>
          <p:cNvPr id="14" name="TextBox 13"/>
          <p:cNvSpPr txBox="1"/>
          <p:nvPr/>
        </p:nvSpPr>
        <p:spPr>
          <a:xfrm>
            <a:off x="3410712" y="3419856"/>
            <a:ext cx="347472" cy="347472"/>
          </a:xfrm>
          <a:prstGeom prst="rect">
            <a:avLst/>
          </a:prstGeom>
          <a:noFill/>
        </p:spPr>
        <p:txBody>
          <a:bodyPr wrap="square" lIns="0" rIns="0" tIns="0" bIns="0" anchor="ctr">
            <a:noAutofit/>
          </a:bodyPr>
          <a:lstStyle/>
          <a:p>
            <a:pPr algn="ctr">
              <a:lnSpc>
                <a:spcPct val="108000"/>
              </a:lnSpc>
            </a:pPr>
            <a:r>
              <a:rPr sz="1300" b="1" i="0">
                <a:solidFill>
                  <a:srgbClr val="FFFFFF"/>
                </a:solidFill>
                <a:latin typeface="Arial"/>
              </a:rPr>
              <a:t>2</a:t>
            </a:r>
          </a:p>
        </p:txBody>
      </p:sp>
      <p:sp>
        <p:nvSpPr>
          <p:cNvPr id="15" name="TextBox 14"/>
          <p:cNvSpPr txBox="1"/>
          <p:nvPr/>
        </p:nvSpPr>
        <p:spPr>
          <a:xfrm>
            <a:off x="3867911" y="3419856"/>
            <a:ext cx="1929384" cy="347472"/>
          </a:xfrm>
          <a:prstGeom prst="rect">
            <a:avLst/>
          </a:prstGeom>
          <a:noFill/>
        </p:spPr>
        <p:txBody>
          <a:bodyPr wrap="square" lIns="0" rIns="0" tIns="0" bIns="0" anchor="ctr">
            <a:noAutofit/>
          </a:bodyPr>
          <a:lstStyle/>
          <a:p>
            <a:pPr algn="l">
              <a:lnSpc>
                <a:spcPct val="108000"/>
              </a:lnSpc>
            </a:pPr>
            <a:r>
              <a:rPr sz="1350" b="1" i="0">
                <a:solidFill>
                  <a:srgbClr val="1F1A2E"/>
                </a:solidFill>
                <a:latin typeface="Arial"/>
              </a:rPr>
              <a:t>Propagate and update</a:t>
            </a:r>
          </a:p>
        </p:txBody>
      </p:sp>
      <p:sp>
        <p:nvSpPr>
          <p:cNvPr id="16" name="TextBox 15"/>
          <p:cNvSpPr txBox="1"/>
          <p:nvPr/>
        </p:nvSpPr>
        <p:spPr>
          <a:xfrm>
            <a:off x="3429000" y="3840480"/>
            <a:ext cx="2322576" cy="731520"/>
          </a:xfrm>
          <a:prstGeom prst="rect">
            <a:avLst/>
          </a:prstGeom>
          <a:noFill/>
        </p:spPr>
        <p:txBody>
          <a:bodyPr wrap="square" lIns="0" rIns="0" tIns="0" bIns="0" anchor="t">
            <a:noAutofit/>
          </a:bodyPr>
          <a:lstStyle/>
          <a:p>
            <a:pPr algn="l">
              <a:lnSpc>
                <a:spcPct val="104000"/>
              </a:lnSpc>
            </a:pPr>
            <a:r>
              <a:rPr sz="1050" b="0" i="0">
                <a:solidFill>
                  <a:srgbClr val="3A3447"/>
                </a:solidFill>
                <a:latin typeface="Arial"/>
              </a:rPr>
              <a:t>Messages flow along the synapses of ~139k neurons, M = WH; a shared MLP updates each neuron with its own descriptor.</a:t>
            </a:r>
          </a:p>
        </p:txBody>
      </p:sp>
      <p:sp>
        <p:nvSpPr>
          <p:cNvPr id="17" name="Rounded Rectangle 16"/>
          <p:cNvSpPr/>
          <p:nvPr/>
        </p:nvSpPr>
        <p:spPr>
          <a:xfrm>
            <a:off x="6071616" y="3291840"/>
            <a:ext cx="2615184" cy="1298448"/>
          </a:xfrm>
          <a:prstGeom prst="roundRect">
            <a:avLst>
              <a:gd name="adj" fmla="val 7000"/>
            </a:avLst>
          </a:prstGeom>
          <a:solidFill>
            <a:srgbClr val="F4F1F8"/>
          </a:solidFill>
          <a:ln>
            <a:noFill/>
          </a:ln>
        </p:spPr>
        <p:txBody>
          <a:bodyPr rtlCol="0" anchor="ctr"/>
          <a:lstStyle/>
          <a:p>
            <a:pPr algn="ctr"/>
          </a:p>
        </p:txBody>
      </p:sp>
      <p:sp>
        <p:nvSpPr>
          <p:cNvPr id="18" name="Oval 17"/>
          <p:cNvSpPr/>
          <p:nvPr/>
        </p:nvSpPr>
        <p:spPr>
          <a:xfrm>
            <a:off x="6217920" y="3419856"/>
            <a:ext cx="347472" cy="347472"/>
          </a:xfrm>
          <a:prstGeom prst="ellipse">
            <a:avLst/>
          </a:prstGeom>
          <a:solidFill>
            <a:srgbClr val="E07B39"/>
          </a:solidFill>
          <a:ln>
            <a:noFill/>
          </a:ln>
        </p:spPr>
        <p:txBody>
          <a:bodyPr rtlCol="0" anchor="ctr"/>
          <a:lstStyle/>
          <a:p>
            <a:pPr algn="ctr"/>
          </a:p>
        </p:txBody>
      </p:sp>
      <p:sp>
        <p:nvSpPr>
          <p:cNvPr id="19" name="TextBox 18"/>
          <p:cNvSpPr txBox="1"/>
          <p:nvPr/>
        </p:nvSpPr>
        <p:spPr>
          <a:xfrm>
            <a:off x="6217920" y="3419856"/>
            <a:ext cx="347472" cy="347472"/>
          </a:xfrm>
          <a:prstGeom prst="rect">
            <a:avLst/>
          </a:prstGeom>
          <a:noFill/>
        </p:spPr>
        <p:txBody>
          <a:bodyPr wrap="square" lIns="0" rIns="0" tIns="0" bIns="0" anchor="ctr">
            <a:noAutofit/>
          </a:bodyPr>
          <a:lstStyle/>
          <a:p>
            <a:pPr algn="ctr">
              <a:lnSpc>
                <a:spcPct val="108000"/>
              </a:lnSpc>
            </a:pPr>
            <a:r>
              <a:rPr sz="1300" b="1" i="0">
                <a:solidFill>
                  <a:srgbClr val="FFFFFF"/>
                </a:solidFill>
                <a:latin typeface="Arial"/>
              </a:rPr>
              <a:t>3</a:t>
            </a:r>
          </a:p>
        </p:txBody>
      </p:sp>
      <p:sp>
        <p:nvSpPr>
          <p:cNvPr id="20" name="TextBox 19"/>
          <p:cNvSpPr txBox="1"/>
          <p:nvPr/>
        </p:nvSpPr>
        <p:spPr>
          <a:xfrm>
            <a:off x="6675120" y="3419856"/>
            <a:ext cx="1929384" cy="347472"/>
          </a:xfrm>
          <a:prstGeom prst="rect">
            <a:avLst/>
          </a:prstGeom>
          <a:noFill/>
        </p:spPr>
        <p:txBody>
          <a:bodyPr wrap="square" lIns="0" rIns="0" tIns="0" bIns="0" anchor="ctr">
            <a:noAutofit/>
          </a:bodyPr>
          <a:lstStyle/>
          <a:p>
            <a:pPr algn="l">
              <a:lnSpc>
                <a:spcPct val="108000"/>
              </a:lnSpc>
            </a:pPr>
            <a:r>
              <a:rPr sz="1350" b="1" i="0">
                <a:solidFill>
                  <a:srgbClr val="1F1A2E"/>
                </a:solidFill>
                <a:latin typeface="Arial"/>
              </a:rPr>
              <a:t>Act</a:t>
            </a:r>
          </a:p>
        </p:txBody>
      </p:sp>
      <p:sp>
        <p:nvSpPr>
          <p:cNvPr id="21" name="TextBox 20"/>
          <p:cNvSpPr txBox="1"/>
          <p:nvPr/>
        </p:nvSpPr>
        <p:spPr>
          <a:xfrm>
            <a:off x="6236207" y="3840480"/>
            <a:ext cx="2322576" cy="731520"/>
          </a:xfrm>
          <a:prstGeom prst="rect">
            <a:avLst/>
          </a:prstGeom>
          <a:noFill/>
        </p:spPr>
        <p:txBody>
          <a:bodyPr wrap="square" lIns="0" rIns="0" tIns="0" bIns="0" anchor="t">
            <a:noAutofit/>
          </a:bodyPr>
          <a:lstStyle/>
          <a:p>
            <a:pPr algn="l">
              <a:lnSpc>
                <a:spcPct val="104000"/>
              </a:lnSpc>
            </a:pPr>
            <a:r>
              <a:rPr sz="1050" b="0" i="0">
                <a:solidFill>
                  <a:srgbClr val="3A3447"/>
                </a:solidFill>
                <a:latin typeface="Arial"/>
              </a:rPr>
              <a:t>Efferent states are decoded into 59 actuator commands for legs, adhesion, head and abdomen in MuJoCo.</a:t>
            </a:r>
          </a:p>
        </p:txBody>
      </p:sp>
      <p:sp>
        <p:nvSpPr>
          <p:cNvPr id="22" name="Source"/>
          <p:cNvSpPr txBox="1"/>
          <p:nvPr/>
        </p:nvSpPr>
        <p:spPr>
          <a:xfrm>
            <a:off x="457200" y="4791456"/>
            <a:ext cx="7589520" cy="201168"/>
          </a:xfrm>
          <a:prstGeom prst="rect">
            <a:avLst/>
          </a:prstGeom>
          <a:noFill/>
        </p:spPr>
        <p:txBody>
          <a:bodyPr wrap="square" lIns="0" rIns="0" tIns="0" bIns="0" anchor="ctr">
            <a:noAutofit/>
          </a:bodyPr>
          <a:lstStyle/>
          <a:p>
            <a:pPr algn="l">
              <a:lnSpc>
                <a:spcPct val="108000"/>
              </a:lnSpc>
            </a:pPr>
            <a:r>
              <a:rPr sz="850" b="0" i="0">
                <a:solidFill>
                  <a:srgbClr val="7A7387"/>
                </a:solidFill>
                <a:latin typeface="Arial"/>
              </a:rPr>
              <a:t>FlyGM [1]: Fig. 1 and §2.1. Walking configuration shown; flight uses a 104-D input and 12 actions. Simulator: flybody [7] in MuJoCo [14].</a:t>
            </a:r>
          </a:p>
        </p:txBody>
      </p:sp>
      <p:sp>
        <p:nvSpPr>
          <p:cNvPr id="23" name="Slide number"/>
          <p:cNvSpPr txBox="1"/>
          <p:nvPr/>
        </p:nvSpPr>
        <p:spPr>
          <a:xfrm>
            <a:off x="8229600" y="4791456"/>
            <a:ext cx="457200" cy="201168"/>
          </a:xfrm>
          <a:prstGeom prst="rect">
            <a:avLst/>
          </a:prstGeom>
          <a:noFill/>
        </p:spPr>
        <p:txBody>
          <a:bodyPr wrap="none" lIns="0" rIns="0" tIns="0" bIns="0" anchor="ctr">
            <a:spAutoFit/>
          </a:bodyPr>
          <a:lstStyle/>
          <a:p>
            <a:pPr algn="r"/>
            <a:fld id="{5C1D9F7E-2B47-4C0B-9E55-6B0D1A3E1F01}" type="slidenum">
              <a:rPr lang="en-US" sz="900">
                <a:solidFill>
                  <a:srgbClr val="7A7387"/>
                </a:solidFill>
                <a:latin typeface="Arial"/>
              </a:rPr>
              <a:t>#</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457200" y="429768"/>
            <a:ext cx="8229600" cy="457200"/>
          </a:xfrm>
        </p:spPr>
        <p:txBody>
          <a:bodyPr wrap="square" anchor="t" lIns="0" rIns="0" tIns="0" bIns="0"/>
          <a:lstStyle/>
          <a:p>
            <a:pPr algn="l">
              <a:lnSpc>
                <a:spcPct val="100000"/>
              </a:lnSpc>
            </a:pPr>
            <a:r>
              <a:rPr sz="2400" b="1">
                <a:solidFill>
                  <a:srgbClr val="1F1A2E"/>
                </a:solidFill>
                <a:latin typeface="Arial"/>
              </a:rPr>
              <a:t>The wiring is fixed; the computation is learned</a:t>
            </a:r>
          </a:p>
        </p:txBody>
      </p:sp>
      <p:sp>
        <p:nvSpPr>
          <p:cNvPr id="4" name="Kicker dot"/>
          <p:cNvSpPr/>
          <p:nvPr/>
        </p:nvSpPr>
        <p:spPr>
          <a:xfrm>
            <a:off x="457200" y="278892"/>
            <a:ext cx="77724" cy="77724"/>
          </a:xfrm>
          <a:prstGeom prst="ellipse">
            <a:avLst/>
          </a:prstGeom>
          <a:solidFill>
            <a:srgbClr val="D55E00"/>
          </a:solidFill>
          <a:ln>
            <a:noFill/>
          </a:ln>
        </p:spPr>
        <p:txBody>
          <a:bodyPr rtlCol="0" anchor="ctr"/>
          <a:lstStyle/>
          <a:p>
            <a:pPr algn="ctr"/>
          </a:p>
        </p:txBody>
      </p:sp>
      <p:sp>
        <p:nvSpPr>
          <p:cNvPr id="5" name="Kicker"/>
          <p:cNvSpPr txBox="1"/>
          <p:nvPr/>
        </p:nvSpPr>
        <p:spPr>
          <a:xfrm>
            <a:off x="594360" y="233172"/>
            <a:ext cx="5943600" cy="182880"/>
          </a:xfrm>
          <a:prstGeom prst="rect">
            <a:avLst/>
          </a:prstGeom>
          <a:noFill/>
        </p:spPr>
        <p:txBody>
          <a:bodyPr wrap="square" lIns="0" rIns="0" tIns="0" bIns="0" anchor="ctr">
            <a:noAutofit/>
          </a:bodyPr>
          <a:lstStyle/>
          <a:p>
            <a:pPr algn="l">
              <a:lnSpc>
                <a:spcPct val="108000"/>
              </a:lnSpc>
            </a:pPr>
            <a:r>
              <a:rPr sz="950" b="1" i="0" spc="120">
                <a:solidFill>
                  <a:srgbClr val="660874"/>
                </a:solidFill>
                <a:latin typeface="Arial"/>
              </a:rPr>
              <a:t>METHOD</a:t>
            </a:r>
          </a:p>
        </p:txBody>
      </p:sp>
      <p:pic>
        <p:nvPicPr>
          <p:cNvPr id="6" name="Aggregated synapse graph (paper Fig. 7a)" descr="network_panel_a.png"/>
          <p:cNvPicPr>
            <a:picLocks noChangeAspect="1"/>
          </p:cNvPicPr>
          <p:nvPr/>
        </p:nvPicPr>
        <p:blipFill>
          <a:blip r:embed="rId2"/>
          <a:stretch>
            <a:fillRect/>
          </a:stretch>
        </p:blipFill>
        <p:spPr>
          <a:xfrm>
            <a:off x="457200" y="1024128"/>
            <a:ext cx="3912317" cy="3017520"/>
          </a:xfrm>
          <a:prstGeom prst="rect">
            <a:avLst/>
          </a:prstGeom>
        </p:spPr>
      </p:pic>
      <p:sp>
        <p:nvSpPr>
          <p:cNvPr id="7" name="TextBox 6"/>
          <p:cNvSpPr txBox="1"/>
          <p:nvPr/>
        </p:nvSpPr>
        <p:spPr>
          <a:xfrm>
            <a:off x="457200" y="4114800"/>
            <a:ext cx="4023360" cy="411480"/>
          </a:xfrm>
          <a:prstGeom prst="rect">
            <a:avLst/>
          </a:prstGeom>
          <a:noFill/>
        </p:spPr>
        <p:txBody>
          <a:bodyPr wrap="square" lIns="0" rIns="0" tIns="0" bIns="0" anchor="t">
            <a:noAutofit/>
          </a:bodyPr>
          <a:lstStyle/>
          <a:p>
            <a:pPr algn="l">
              <a:lnSpc>
                <a:spcPct val="108000"/>
              </a:lnSpc>
            </a:pPr>
            <a:r>
              <a:rPr sz="950" b="0" i="1">
                <a:solidFill>
                  <a:srgbClr val="7A7387"/>
                </a:solidFill>
                <a:latin typeface="Arial"/>
              </a:rPr>
              <a:t>FlyWire neurons grouped by superclass and flow type; edges show aggregated synapse counts.</a:t>
            </a:r>
          </a:p>
        </p:txBody>
      </p:sp>
      <p:sp>
        <p:nvSpPr>
          <p:cNvPr id="8" name="Rounded Rectangle 7"/>
          <p:cNvSpPr/>
          <p:nvPr/>
        </p:nvSpPr>
        <p:spPr>
          <a:xfrm>
            <a:off x="4800600" y="1024128"/>
            <a:ext cx="3886200" cy="1627632"/>
          </a:xfrm>
          <a:prstGeom prst="roundRect">
            <a:avLst>
              <a:gd name="adj" fmla="val 6000"/>
            </a:avLst>
          </a:prstGeom>
          <a:solidFill>
            <a:srgbClr val="F4F1F8"/>
          </a:solidFill>
          <a:ln>
            <a:noFill/>
          </a:ln>
        </p:spPr>
        <p:txBody>
          <a:bodyPr rtlCol="0" anchor="ctr"/>
          <a:lstStyle/>
          <a:p>
            <a:pPr algn="ctr"/>
          </a:p>
        </p:txBody>
      </p:sp>
      <p:sp>
        <p:nvSpPr>
          <p:cNvPr id="9" name="TextBox 8"/>
          <p:cNvSpPr txBox="1"/>
          <p:nvPr/>
        </p:nvSpPr>
        <p:spPr>
          <a:xfrm>
            <a:off x="4983480" y="1115568"/>
            <a:ext cx="3566160" cy="274320"/>
          </a:xfrm>
          <a:prstGeom prst="rect">
            <a:avLst/>
          </a:prstGeom>
          <a:noFill/>
        </p:spPr>
        <p:txBody>
          <a:bodyPr wrap="square" lIns="0" rIns="0" tIns="0" bIns="0" anchor="t">
            <a:noAutofit/>
          </a:bodyPr>
          <a:lstStyle/>
          <a:p>
            <a:pPr algn="l">
              <a:lnSpc>
                <a:spcPct val="108000"/>
              </a:lnSpc>
            </a:pPr>
            <a:r>
              <a:rPr sz="1000" b="1" i="0" spc="100">
                <a:solidFill>
                  <a:srgbClr val="660874"/>
                </a:solidFill>
                <a:latin typeface="Arial"/>
              </a:rPr>
              <a:t>FIXED  </a:t>
            </a:r>
            <a:r>
              <a:rPr sz="1300" b="1" i="0">
                <a:solidFill>
                  <a:srgbClr val="1F1A2E"/>
                </a:solidFill>
                <a:latin typeface="Arial"/>
              </a:rPr>
              <a:t>from the connectome</a:t>
            </a:r>
          </a:p>
        </p:txBody>
      </p:sp>
      <p:sp>
        <p:nvSpPr>
          <p:cNvPr id="10" name="TextBox 9"/>
          <p:cNvSpPr txBox="1"/>
          <p:nvPr/>
        </p:nvSpPr>
        <p:spPr>
          <a:xfrm>
            <a:off x="4983480" y="1435608"/>
            <a:ext cx="3611880" cy="1188720"/>
          </a:xfrm>
          <a:prstGeom prst="rect">
            <a:avLst/>
          </a:prstGeom>
          <a:noFill/>
        </p:spPr>
        <p:txBody>
          <a:bodyPr wrap="square" lIns="0" rIns="0" tIns="0" bIns="0" anchor="t">
            <a:noAutofit/>
          </a:bodyPr>
          <a:lstStyle/>
          <a:p>
            <a:pPr algn="l" marL="146304" indent="-146304">
              <a:lnSpc>
                <a:spcPct val="104000"/>
              </a:lnSpc>
              <a:spcAft>
                <a:spcPts val="300"/>
              </a:spcAft>
              <a:buClr>
                <a:srgbClr val="660874"/>
              </a:buClr>
              <a:buFont typeface="Arial"/>
              <a:buChar char="•"/>
            </a:pPr>
            <a:r>
              <a:rPr sz="1050" b="1" i="0">
                <a:solidFill>
                  <a:srgbClr val="3A3447"/>
                </a:solidFill>
                <a:latin typeface="Arial"/>
              </a:rPr>
              <a:t>Directed topology: </a:t>
            </a:r>
            <a:r>
              <a:rPr sz="1050" b="0" i="0">
                <a:solidFill>
                  <a:srgbClr val="3A3447"/>
                </a:solidFill>
                <a:latin typeface="Arial"/>
              </a:rPr>
              <a:t>who can talk to whom</a:t>
            </a:r>
          </a:p>
          <a:p>
            <a:pPr algn="l" marL="146304" indent="-146304">
              <a:lnSpc>
                <a:spcPct val="104000"/>
              </a:lnSpc>
              <a:spcAft>
                <a:spcPts val="300"/>
              </a:spcAft>
              <a:buClr>
                <a:srgbClr val="660874"/>
              </a:buClr>
              <a:buFont typeface="Arial"/>
              <a:buChar char="•"/>
            </a:pPr>
            <a:r>
              <a:rPr sz="1050" b="1" i="0">
                <a:solidFill>
                  <a:srgbClr val="3A3447"/>
                </a:solidFill>
                <a:latin typeface="Arial"/>
              </a:rPr>
              <a:t>Signed weights: </a:t>
            </a:r>
            <a:r>
              <a:rPr sz="1050" b="0" i="0">
                <a:solidFill>
                  <a:srgbClr val="3A3447"/>
                </a:solidFill>
                <a:latin typeface="Arial"/>
              </a:rPr>
              <a:t>W</a:t>
            </a:r>
            <a:r>
              <a:rPr sz="1050" b="0" i="0" baseline="-25000">
                <a:solidFill>
                  <a:srgbClr val="3A3447"/>
                </a:solidFill>
                <a:latin typeface="Arial"/>
              </a:rPr>
              <a:t>vu</a:t>
            </a:r>
            <a:r>
              <a:rPr sz="1050" b="0" i="0">
                <a:solidFill>
                  <a:srgbClr val="3A3447"/>
                </a:solidFill>
                <a:latin typeface="Arial"/>
              </a:rPr>
              <a:t> = N</a:t>
            </a:r>
            <a:r>
              <a:rPr sz="1050" b="0" i="0" baseline="-25000">
                <a:solidFill>
                  <a:srgbClr val="3A3447"/>
                </a:solidFill>
                <a:latin typeface="Arial"/>
              </a:rPr>
              <a:t>exc</a:t>
            </a:r>
            <a:r>
              <a:rPr sz="1050" b="0" i="0">
                <a:solidFill>
                  <a:srgbClr val="3A3447"/>
                </a:solidFill>
                <a:latin typeface="Arial"/>
              </a:rPr>
              <a:t> − N</a:t>
            </a:r>
            <a:r>
              <a:rPr sz="1050" b="0" i="0" baseline="-25000">
                <a:solidFill>
                  <a:srgbClr val="3A3447"/>
                </a:solidFill>
                <a:latin typeface="Arial"/>
              </a:rPr>
              <a:t>inh</a:t>
            </a:r>
            <a:r>
              <a:rPr sz="1050" b="0" i="0">
                <a:solidFill>
                  <a:srgbClr val="3A3447"/>
                </a:solidFill>
                <a:latin typeface="Arial"/>
              </a:rPr>
              <a:t>  (ACh, DA +;  GABA, Glu, 5-HT, OA −) [12, 13]</a:t>
            </a:r>
          </a:p>
          <a:p>
            <a:pPr algn="l" marL="146304" indent="-146304">
              <a:lnSpc>
                <a:spcPct val="104000"/>
              </a:lnSpc>
              <a:buClr>
                <a:srgbClr val="660874"/>
              </a:buClr>
              <a:buFont typeface="Arial"/>
              <a:buChar char="•"/>
            </a:pPr>
            <a:r>
              <a:rPr sz="1050" b="1" i="0">
                <a:solidFill>
                  <a:srgbClr val="3A3447"/>
                </a:solidFill>
                <a:latin typeface="Arial"/>
              </a:rPr>
              <a:t>Flow types: </a:t>
            </a:r>
            <a:r>
              <a:rPr sz="1050" b="0" i="0">
                <a:solidFill>
                  <a:srgbClr val="3A3447"/>
                </a:solidFill>
                <a:latin typeface="Arial"/>
              </a:rPr>
              <a:t>afferent → intrinsic → efferent</a:t>
            </a:r>
          </a:p>
        </p:txBody>
      </p:sp>
      <p:sp>
        <p:nvSpPr>
          <p:cNvPr id="11" name="Rounded Rectangle 10"/>
          <p:cNvSpPr/>
          <p:nvPr/>
        </p:nvSpPr>
        <p:spPr>
          <a:xfrm>
            <a:off x="4800600" y="2761488"/>
            <a:ext cx="3886200" cy="1298448"/>
          </a:xfrm>
          <a:prstGeom prst="roundRect">
            <a:avLst>
              <a:gd name="adj" fmla="val 6000"/>
            </a:avLst>
          </a:prstGeom>
          <a:solidFill>
            <a:srgbClr val="FBEDE3"/>
          </a:solidFill>
          <a:ln>
            <a:noFill/>
          </a:ln>
        </p:spPr>
        <p:txBody>
          <a:bodyPr rtlCol="0" anchor="ctr"/>
          <a:lstStyle/>
          <a:p>
            <a:pPr algn="ctr"/>
          </a:p>
        </p:txBody>
      </p:sp>
      <p:sp>
        <p:nvSpPr>
          <p:cNvPr id="12" name="TextBox 11"/>
          <p:cNvSpPr txBox="1"/>
          <p:nvPr/>
        </p:nvSpPr>
        <p:spPr>
          <a:xfrm>
            <a:off x="4983480" y="2852928"/>
            <a:ext cx="3566160" cy="274320"/>
          </a:xfrm>
          <a:prstGeom prst="rect">
            <a:avLst/>
          </a:prstGeom>
          <a:noFill/>
        </p:spPr>
        <p:txBody>
          <a:bodyPr wrap="square" lIns="0" rIns="0" tIns="0" bIns="0" anchor="t">
            <a:noAutofit/>
          </a:bodyPr>
          <a:lstStyle/>
          <a:p>
            <a:pPr algn="l">
              <a:lnSpc>
                <a:spcPct val="108000"/>
              </a:lnSpc>
            </a:pPr>
            <a:r>
              <a:rPr sz="1000" b="1" i="0" spc="100">
                <a:solidFill>
                  <a:srgbClr val="D55E00"/>
                </a:solidFill>
                <a:latin typeface="Arial"/>
              </a:rPr>
              <a:t>LEARNED  </a:t>
            </a:r>
            <a:r>
              <a:rPr sz="1300" b="1" i="0">
                <a:solidFill>
                  <a:srgbClr val="1F1A2E"/>
                </a:solidFill>
                <a:latin typeface="Arial"/>
              </a:rPr>
              <a:t>by training</a:t>
            </a:r>
          </a:p>
        </p:txBody>
      </p:sp>
      <p:sp>
        <p:nvSpPr>
          <p:cNvPr id="13" name="TextBox 12"/>
          <p:cNvSpPr txBox="1"/>
          <p:nvPr/>
        </p:nvSpPr>
        <p:spPr>
          <a:xfrm>
            <a:off x="4983480" y="3172968"/>
            <a:ext cx="3611880" cy="868680"/>
          </a:xfrm>
          <a:prstGeom prst="rect">
            <a:avLst/>
          </a:prstGeom>
          <a:noFill/>
        </p:spPr>
        <p:txBody>
          <a:bodyPr wrap="square" lIns="0" rIns="0" tIns="0" bIns="0" anchor="t">
            <a:noAutofit/>
          </a:bodyPr>
          <a:lstStyle/>
          <a:p>
            <a:pPr algn="l" marL="146304" indent="-146304">
              <a:lnSpc>
                <a:spcPct val="104000"/>
              </a:lnSpc>
              <a:spcAft>
                <a:spcPts val="300"/>
              </a:spcAft>
              <a:buClr>
                <a:srgbClr val="D55E00"/>
              </a:buClr>
              <a:buFont typeface="Arial"/>
              <a:buChar char="•"/>
            </a:pPr>
            <a:r>
              <a:rPr sz="1050" b="0" i="0">
                <a:solidFill>
                  <a:srgbClr val="3A3447"/>
                </a:solidFill>
                <a:latin typeface="Arial"/>
              </a:rPr>
              <a:t>Observation encoder and action decoder</a:t>
            </a:r>
          </a:p>
          <a:p>
            <a:pPr algn="l" marL="146304" indent="-146304">
              <a:lnSpc>
                <a:spcPct val="104000"/>
              </a:lnSpc>
              <a:spcAft>
                <a:spcPts val="300"/>
              </a:spcAft>
              <a:buClr>
                <a:srgbClr val="D55E00"/>
              </a:buClr>
              <a:buFont typeface="Arial"/>
              <a:buChar char="•"/>
            </a:pPr>
            <a:r>
              <a:rPr sz="1050" b="0" i="0">
                <a:solidFill>
                  <a:srgbClr val="3A3447"/>
                </a:solidFill>
                <a:latin typeface="Arial"/>
              </a:rPr>
              <a:t>Per-neuron descriptor η</a:t>
            </a:r>
            <a:r>
              <a:rPr sz="1050" b="0" i="0" baseline="-25000">
                <a:solidFill>
                  <a:srgbClr val="3A3447"/>
                </a:solidFill>
                <a:latin typeface="Arial"/>
              </a:rPr>
              <a:t>v</a:t>
            </a:r>
            <a:r>
              <a:rPr sz="1050" b="0" i="0">
                <a:solidFill>
                  <a:srgbClr val="3A3447"/>
                </a:solidFill>
                <a:latin typeface="Arial"/>
              </a:rPr>
              <a:t> (e.g. excitability, gain)</a:t>
            </a:r>
          </a:p>
          <a:p>
            <a:pPr algn="l" marL="146304" indent="-146304">
              <a:lnSpc>
                <a:spcPct val="104000"/>
              </a:lnSpc>
              <a:buClr>
                <a:srgbClr val="D55E00"/>
              </a:buClr>
              <a:buFont typeface="Arial"/>
              <a:buChar char="•"/>
            </a:pPr>
            <a:r>
              <a:rPr sz="1050" b="0" i="0">
                <a:solidFill>
                  <a:srgbClr val="3A3447"/>
                </a:solidFill>
                <a:latin typeface="Arial"/>
              </a:rPr>
              <a:t>Shared state-update network f</a:t>
            </a:r>
            <a:r>
              <a:rPr sz="1050" b="0" i="0" baseline="-25000">
                <a:solidFill>
                  <a:srgbClr val="3A3447"/>
                </a:solidFill>
                <a:latin typeface="Arial"/>
              </a:rPr>
              <a:t>ψ</a:t>
            </a:r>
          </a:p>
        </p:txBody>
      </p:sp>
      <p:sp>
        <p:nvSpPr>
          <p:cNvPr id="14" name="Rounded Rectangle 13"/>
          <p:cNvSpPr/>
          <p:nvPr/>
        </p:nvSpPr>
        <p:spPr>
          <a:xfrm>
            <a:off x="4800600" y="4169663"/>
            <a:ext cx="3886200" cy="457200"/>
          </a:xfrm>
          <a:prstGeom prst="roundRect">
            <a:avLst>
              <a:gd name="adj" fmla="val 20000"/>
            </a:avLst>
          </a:prstGeom>
          <a:noFill/>
          <a:ln w="12700">
            <a:solidFill>
              <a:srgbClr val="E2DCEA"/>
            </a:solidFill>
          </a:ln>
        </p:spPr>
        <p:txBody>
          <a:bodyPr rtlCol="0" anchor="ctr"/>
          <a:lstStyle/>
          <a:p>
            <a:pPr algn="ctr"/>
          </a:p>
        </p:txBody>
      </p:sp>
      <p:sp>
        <p:nvSpPr>
          <p:cNvPr id="15" name="TextBox 14"/>
          <p:cNvSpPr txBox="1"/>
          <p:nvPr/>
        </p:nvSpPr>
        <p:spPr>
          <a:xfrm>
            <a:off x="4846320" y="4169663"/>
            <a:ext cx="3794760" cy="457200"/>
          </a:xfrm>
          <a:prstGeom prst="rect">
            <a:avLst/>
          </a:prstGeom>
          <a:noFill/>
        </p:spPr>
        <p:txBody>
          <a:bodyPr wrap="square" lIns="0" rIns="0" tIns="0" bIns="0" anchor="ctr">
            <a:noAutofit/>
          </a:bodyPr>
          <a:lstStyle/>
          <a:p>
            <a:pPr algn="ctr">
              <a:lnSpc>
                <a:spcPct val="108000"/>
              </a:lnSpc>
            </a:pPr>
            <a:r>
              <a:rPr sz="1400" b="0" i="1">
                <a:solidFill>
                  <a:srgbClr val="1F1A2E"/>
                </a:solidFill>
                <a:latin typeface="Arial"/>
              </a:rPr>
              <a:t>M</a:t>
            </a:r>
            <a:r>
              <a:rPr sz="1400" b="0" i="0" baseline="-25000">
                <a:solidFill>
                  <a:srgbClr val="1F1A2E"/>
                </a:solidFill>
                <a:latin typeface="Arial"/>
              </a:rPr>
              <a:t>t</a:t>
            </a:r>
            <a:r>
              <a:rPr sz="1400" b="0" i="1">
                <a:solidFill>
                  <a:srgbClr val="1F1A2E"/>
                </a:solidFill>
                <a:latin typeface="Arial"/>
              </a:rPr>
              <a:t> = W H</a:t>
            </a:r>
            <a:r>
              <a:rPr sz="1400" b="0" i="0" baseline="-25000">
                <a:solidFill>
                  <a:srgbClr val="1F1A2E"/>
                </a:solidFill>
                <a:latin typeface="Arial"/>
              </a:rPr>
              <a:t>t</a:t>
            </a:r>
            <a:r>
              <a:rPr sz="1400" b="0" i="1">
                <a:solidFill>
                  <a:srgbClr val="1F1A2E"/>
                </a:solidFill>
                <a:latin typeface="Arial"/>
              </a:rPr>
              <a:t>        H</a:t>
            </a:r>
            <a:r>
              <a:rPr sz="1400" b="0" i="0" baseline="-25000">
                <a:solidFill>
                  <a:srgbClr val="1F1A2E"/>
                </a:solidFill>
                <a:latin typeface="Arial"/>
              </a:rPr>
              <a:t>t+1</a:t>
            </a:r>
            <a:r>
              <a:rPr sz="1400" b="0" i="1">
                <a:solidFill>
                  <a:srgbClr val="1F1A2E"/>
                </a:solidFill>
                <a:latin typeface="Arial"/>
              </a:rPr>
              <a:t> [v] = f</a:t>
            </a:r>
            <a:r>
              <a:rPr sz="1400" b="0" i="0" baseline="-25000">
                <a:solidFill>
                  <a:srgbClr val="1F1A2E"/>
                </a:solidFill>
                <a:latin typeface="Arial"/>
              </a:rPr>
              <a:t>ψ</a:t>
            </a:r>
            <a:r>
              <a:rPr sz="1400" b="0" i="1">
                <a:solidFill>
                  <a:srgbClr val="1F1A2E"/>
                </a:solidFill>
                <a:latin typeface="Arial"/>
              </a:rPr>
              <a:t>( M</a:t>
            </a:r>
            <a:r>
              <a:rPr sz="1400" b="0" i="0" baseline="-25000">
                <a:solidFill>
                  <a:srgbClr val="1F1A2E"/>
                </a:solidFill>
                <a:latin typeface="Arial"/>
              </a:rPr>
              <a:t>t</a:t>
            </a:r>
            <a:r>
              <a:rPr sz="1400" b="0" i="1">
                <a:solidFill>
                  <a:srgbClr val="1F1A2E"/>
                </a:solidFill>
                <a:latin typeface="Arial"/>
              </a:rPr>
              <a:t> [v] ‖ η</a:t>
            </a:r>
            <a:r>
              <a:rPr sz="1400" b="0" i="0" baseline="-25000">
                <a:solidFill>
                  <a:srgbClr val="1F1A2E"/>
                </a:solidFill>
                <a:latin typeface="Arial"/>
              </a:rPr>
              <a:t>v</a:t>
            </a:r>
            <a:r>
              <a:rPr sz="1400" b="0" i="1">
                <a:solidFill>
                  <a:srgbClr val="1F1A2E"/>
                </a:solidFill>
                <a:latin typeface="Arial"/>
              </a:rPr>
              <a:t> )</a:t>
            </a:r>
          </a:p>
        </p:txBody>
      </p:sp>
      <p:sp>
        <p:nvSpPr>
          <p:cNvPr id="16" name="Source"/>
          <p:cNvSpPr txBox="1"/>
          <p:nvPr/>
        </p:nvSpPr>
        <p:spPr>
          <a:xfrm>
            <a:off x="457200" y="4791456"/>
            <a:ext cx="7589520" cy="201168"/>
          </a:xfrm>
          <a:prstGeom prst="rect">
            <a:avLst/>
          </a:prstGeom>
          <a:noFill/>
        </p:spPr>
        <p:txBody>
          <a:bodyPr wrap="square" lIns="0" rIns="0" tIns="0" bIns="0" anchor="ctr">
            <a:noAutofit/>
          </a:bodyPr>
          <a:lstStyle/>
          <a:p>
            <a:pPr algn="l">
              <a:lnSpc>
                <a:spcPct val="108000"/>
              </a:lnSpc>
            </a:pPr>
            <a:r>
              <a:rPr sz="850" b="0" i="0">
                <a:solidFill>
                  <a:srgbClr val="7A7387"/>
                </a:solidFill>
                <a:latin typeface="Arial"/>
              </a:rPr>
              <a:t>FlyGM [1]: §2.1 and Appendix E. Latent states are learned vectors, not firing rates; signed weights are a modeling convention.</a:t>
            </a:r>
          </a:p>
        </p:txBody>
      </p:sp>
      <p:sp>
        <p:nvSpPr>
          <p:cNvPr id="17" name="Slide number"/>
          <p:cNvSpPr txBox="1"/>
          <p:nvPr/>
        </p:nvSpPr>
        <p:spPr>
          <a:xfrm>
            <a:off x="8229600" y="4791456"/>
            <a:ext cx="457200" cy="201168"/>
          </a:xfrm>
          <a:prstGeom prst="rect">
            <a:avLst/>
          </a:prstGeom>
          <a:noFill/>
        </p:spPr>
        <p:txBody>
          <a:bodyPr wrap="none" lIns="0" rIns="0" tIns="0" bIns="0" anchor="ctr">
            <a:spAutoFit/>
          </a:bodyPr>
          <a:lstStyle/>
          <a:p>
            <a:pPr algn="r"/>
            <a:fld id="{5C1D9F7E-2B47-4C0B-9E55-6B0D1A3E1F01}" type="slidenum">
              <a:rPr lang="en-US" sz="900">
                <a:solidFill>
                  <a:srgbClr val="7A7387"/>
                </a:solidFill>
                <a:latin typeface="Arial"/>
              </a:rPr>
              <a:t>#</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457200" y="429768"/>
            <a:ext cx="8229600" cy="457200"/>
          </a:xfrm>
        </p:spPr>
        <p:txBody>
          <a:bodyPr wrap="square" anchor="t" lIns="0" rIns="0" tIns="0" bIns="0"/>
          <a:lstStyle/>
          <a:p>
            <a:pPr algn="l">
              <a:lnSpc>
                <a:spcPct val="100000"/>
              </a:lnSpc>
            </a:pPr>
            <a:r>
              <a:rPr sz="2400" b="1">
                <a:solidFill>
                  <a:srgbClr val="1F1A2E"/>
                </a:solidFill>
                <a:latin typeface="Arial"/>
              </a:rPr>
              <a:t>Imitation gives a head start; PPO refines it</a:t>
            </a:r>
          </a:p>
        </p:txBody>
      </p:sp>
      <p:sp>
        <p:nvSpPr>
          <p:cNvPr id="4" name="Kicker dot"/>
          <p:cNvSpPr/>
          <p:nvPr/>
        </p:nvSpPr>
        <p:spPr>
          <a:xfrm>
            <a:off x="457200" y="278892"/>
            <a:ext cx="77724" cy="77724"/>
          </a:xfrm>
          <a:prstGeom prst="ellipse">
            <a:avLst/>
          </a:prstGeom>
          <a:solidFill>
            <a:srgbClr val="D55E00"/>
          </a:solidFill>
          <a:ln>
            <a:noFill/>
          </a:ln>
        </p:spPr>
        <p:txBody>
          <a:bodyPr rtlCol="0" anchor="ctr"/>
          <a:lstStyle/>
          <a:p>
            <a:pPr algn="ctr"/>
          </a:p>
        </p:txBody>
      </p:sp>
      <p:sp>
        <p:nvSpPr>
          <p:cNvPr id="5" name="Kicker"/>
          <p:cNvSpPr txBox="1"/>
          <p:nvPr/>
        </p:nvSpPr>
        <p:spPr>
          <a:xfrm>
            <a:off x="594360" y="233172"/>
            <a:ext cx="5943600" cy="182880"/>
          </a:xfrm>
          <a:prstGeom prst="rect">
            <a:avLst/>
          </a:prstGeom>
          <a:noFill/>
        </p:spPr>
        <p:txBody>
          <a:bodyPr wrap="square" lIns="0" rIns="0" tIns="0" bIns="0" anchor="ctr">
            <a:noAutofit/>
          </a:bodyPr>
          <a:lstStyle/>
          <a:p>
            <a:pPr algn="l">
              <a:lnSpc>
                <a:spcPct val="108000"/>
              </a:lnSpc>
            </a:pPr>
            <a:r>
              <a:rPr sz="950" b="1" i="0" spc="120">
                <a:solidFill>
                  <a:srgbClr val="660874"/>
                </a:solidFill>
                <a:latin typeface="Arial"/>
              </a:rPr>
              <a:t>TRAINING</a:t>
            </a:r>
          </a:p>
        </p:txBody>
      </p:sp>
      <p:pic>
        <p:nvPicPr>
          <p:cNvPr id="6" name="Picture 5" descr="image.png"/>
          <p:cNvPicPr>
            <a:picLocks noChangeAspect="1"/>
          </p:cNvPicPr>
          <p:nvPr/>
        </p:nvPicPr>
        <p:blipFill>
          <a:blip r:embed="rId2"/>
          <a:stretch>
            <a:fillRect/>
          </a:stretch>
        </p:blipFill>
        <p:spPr>
          <a:xfrm>
            <a:off x="411480" y="1261872"/>
            <a:ext cx="1517904" cy="1017318"/>
          </a:xfrm>
          <a:prstGeom prst="rect">
            <a:avLst/>
          </a:prstGeom>
        </p:spPr>
      </p:pic>
      <p:sp>
        <p:nvSpPr>
          <p:cNvPr id="7" name="TextBox 6"/>
          <p:cNvSpPr txBox="1"/>
          <p:nvPr/>
        </p:nvSpPr>
        <p:spPr>
          <a:xfrm>
            <a:off x="384048" y="2670048"/>
            <a:ext cx="1572768" cy="274320"/>
          </a:xfrm>
          <a:prstGeom prst="rect">
            <a:avLst/>
          </a:prstGeom>
          <a:noFill/>
        </p:spPr>
        <p:txBody>
          <a:bodyPr wrap="square" lIns="0" rIns="0" tIns="0" bIns="0" anchor="t">
            <a:noAutofit/>
          </a:bodyPr>
          <a:lstStyle/>
          <a:p>
            <a:pPr algn="ctr">
              <a:lnSpc>
                <a:spcPct val="108000"/>
              </a:lnSpc>
            </a:pPr>
            <a:r>
              <a:rPr sz="1250" b="1" i="0">
                <a:solidFill>
                  <a:srgbClr val="1F1A2E"/>
                </a:solidFill>
                <a:latin typeface="Arial"/>
              </a:rPr>
              <a:t>Expert behavior</a:t>
            </a:r>
          </a:p>
        </p:txBody>
      </p:sp>
      <p:sp>
        <p:nvSpPr>
          <p:cNvPr id="8" name="TextBox 7"/>
          <p:cNvSpPr txBox="1"/>
          <p:nvPr/>
        </p:nvSpPr>
        <p:spPr>
          <a:xfrm>
            <a:off x="384048" y="2944368"/>
            <a:ext cx="1572768" cy="685800"/>
          </a:xfrm>
          <a:prstGeom prst="rect">
            <a:avLst/>
          </a:prstGeom>
          <a:noFill/>
        </p:spPr>
        <p:txBody>
          <a:bodyPr wrap="square" lIns="0" rIns="0" tIns="0" bIns="0" anchor="t">
            <a:noAutofit/>
          </a:bodyPr>
          <a:lstStyle/>
          <a:p>
            <a:pPr algn="ctr">
              <a:lnSpc>
                <a:spcPct val="103000"/>
              </a:lnSpc>
            </a:pPr>
            <a:r>
              <a:rPr sz="1000" b="0" i="0">
                <a:solidFill>
                  <a:srgbClr val="3A3447"/>
                </a:solidFill>
                <a:latin typeface="Arial"/>
              </a:rPr>
              <a:t>flybody MLP policy [7]; rollouts kept if &gt; 100 steps</a:t>
            </a:r>
          </a:p>
        </p:txBody>
      </p:sp>
      <p:cxnSp>
        <p:nvCxnSpPr>
          <p:cNvPr id="9" name="Connector 8"/>
          <p:cNvCxnSpPr/>
          <p:nvPr/>
        </p:nvCxnSpPr>
        <p:spPr>
          <a:xfrm>
            <a:off x="1938528" y="1819656"/>
            <a:ext cx="164592" cy="0"/>
          </a:xfrm>
          <a:prstGeom prst="line">
            <a:avLst/>
          </a:prstGeom>
          <a:ln w="25400">
            <a:solidFill>
              <a:srgbClr val="B9B1C6"/>
            </a:solidFill>
            <a:tailEnd type="triangle" w="med" len="med"/>
          </a:ln>
        </p:spPr>
      </p:cxnSp>
      <p:sp>
        <p:nvSpPr>
          <p:cNvPr id="10" name="Rounded Rectangle 9"/>
          <p:cNvSpPr/>
          <p:nvPr/>
        </p:nvSpPr>
        <p:spPr>
          <a:xfrm>
            <a:off x="2157984" y="1188719"/>
            <a:ext cx="1426464" cy="1261872"/>
          </a:xfrm>
          <a:prstGeom prst="roundRect">
            <a:avLst>
              <a:gd name="adj" fmla="val 10000"/>
            </a:avLst>
          </a:prstGeom>
          <a:solidFill>
            <a:srgbClr val="F4F1F8"/>
          </a:solidFill>
          <a:ln>
            <a:noFill/>
          </a:ln>
        </p:spPr>
        <p:txBody>
          <a:bodyPr rtlCol="0" anchor="ctr"/>
          <a:lstStyle/>
          <a:p>
            <a:pPr algn="ctr"/>
          </a:p>
        </p:txBody>
      </p:sp>
      <p:sp>
        <p:nvSpPr>
          <p:cNvPr id="11" name="Oval 10"/>
          <p:cNvSpPr/>
          <p:nvPr/>
        </p:nvSpPr>
        <p:spPr>
          <a:xfrm>
            <a:off x="2615184" y="1563624"/>
            <a:ext cx="512064" cy="512064"/>
          </a:xfrm>
          <a:prstGeom prst="ellipse">
            <a:avLst/>
          </a:prstGeom>
          <a:solidFill>
            <a:srgbClr val="660874"/>
          </a:solidFill>
          <a:ln>
            <a:noFill/>
          </a:ln>
        </p:spPr>
        <p:txBody>
          <a:bodyPr rtlCol="0" anchor="ctr"/>
          <a:lstStyle/>
          <a:p>
            <a:pPr algn="ctr"/>
          </a:p>
        </p:txBody>
      </p:sp>
      <p:sp>
        <p:nvSpPr>
          <p:cNvPr id="12" name="TextBox 11"/>
          <p:cNvSpPr txBox="1"/>
          <p:nvPr/>
        </p:nvSpPr>
        <p:spPr>
          <a:xfrm>
            <a:off x="2615184" y="1563624"/>
            <a:ext cx="512064" cy="512064"/>
          </a:xfrm>
          <a:prstGeom prst="rect">
            <a:avLst/>
          </a:prstGeom>
          <a:noFill/>
        </p:spPr>
        <p:txBody>
          <a:bodyPr wrap="square" lIns="0" rIns="0" tIns="0" bIns="0" anchor="ctr">
            <a:noAutofit/>
          </a:bodyPr>
          <a:lstStyle/>
          <a:p>
            <a:pPr algn="ctr">
              <a:lnSpc>
                <a:spcPct val="108000"/>
              </a:lnSpc>
            </a:pPr>
            <a:r>
              <a:rPr sz="2000" b="1" i="0">
                <a:solidFill>
                  <a:srgbClr val="FFFFFF"/>
                </a:solidFill>
                <a:latin typeface="Arial"/>
              </a:rPr>
              <a:t>1</a:t>
            </a:r>
          </a:p>
        </p:txBody>
      </p:sp>
      <p:sp>
        <p:nvSpPr>
          <p:cNvPr id="13" name="TextBox 12"/>
          <p:cNvSpPr txBox="1"/>
          <p:nvPr/>
        </p:nvSpPr>
        <p:spPr>
          <a:xfrm>
            <a:off x="2084832" y="2670048"/>
            <a:ext cx="1572768" cy="274320"/>
          </a:xfrm>
          <a:prstGeom prst="rect">
            <a:avLst/>
          </a:prstGeom>
          <a:noFill/>
        </p:spPr>
        <p:txBody>
          <a:bodyPr wrap="square" lIns="0" rIns="0" tIns="0" bIns="0" anchor="t">
            <a:noAutofit/>
          </a:bodyPr>
          <a:lstStyle/>
          <a:p>
            <a:pPr algn="ctr">
              <a:lnSpc>
                <a:spcPct val="108000"/>
              </a:lnSpc>
            </a:pPr>
            <a:r>
              <a:rPr sz="1250" b="1" i="0">
                <a:solidFill>
                  <a:srgbClr val="660874"/>
                </a:solidFill>
                <a:latin typeface="Arial"/>
              </a:rPr>
              <a:t>Imitation learning</a:t>
            </a:r>
          </a:p>
        </p:txBody>
      </p:sp>
      <p:sp>
        <p:nvSpPr>
          <p:cNvPr id="14" name="TextBox 13"/>
          <p:cNvSpPr txBox="1"/>
          <p:nvPr/>
        </p:nvSpPr>
        <p:spPr>
          <a:xfrm>
            <a:off x="2084832" y="2944368"/>
            <a:ext cx="1572768" cy="685800"/>
          </a:xfrm>
          <a:prstGeom prst="rect">
            <a:avLst/>
          </a:prstGeom>
          <a:noFill/>
        </p:spPr>
        <p:txBody>
          <a:bodyPr wrap="square" lIns="0" rIns="0" tIns="0" bIns="0" anchor="t">
            <a:noAutofit/>
          </a:bodyPr>
          <a:lstStyle/>
          <a:p>
            <a:pPr algn="ctr">
              <a:lnSpc>
                <a:spcPct val="103000"/>
              </a:lnSpc>
            </a:pPr>
            <a:r>
              <a:rPr sz="1000" b="0" i="0">
                <a:solidFill>
                  <a:srgbClr val="3A3447"/>
                </a:solidFill>
                <a:latin typeface="Arial"/>
              </a:rPr>
              <a:t>Match the expert's action distribution: KL + annealed MSE</a:t>
            </a:r>
          </a:p>
        </p:txBody>
      </p:sp>
      <p:cxnSp>
        <p:nvCxnSpPr>
          <p:cNvPr id="15" name="Connector 14"/>
          <p:cNvCxnSpPr/>
          <p:nvPr/>
        </p:nvCxnSpPr>
        <p:spPr>
          <a:xfrm>
            <a:off x="3639312" y="1819656"/>
            <a:ext cx="164592" cy="0"/>
          </a:xfrm>
          <a:prstGeom prst="line">
            <a:avLst/>
          </a:prstGeom>
          <a:ln w="25400">
            <a:solidFill>
              <a:srgbClr val="B9B1C6"/>
            </a:solidFill>
            <a:tailEnd type="triangle" w="med" len="med"/>
          </a:ln>
        </p:spPr>
      </p:cxnSp>
      <p:pic>
        <p:nvPicPr>
          <p:cNvPr id="16" name="Picture 15" descr="connectome_layout_alpha_light.png"/>
          <p:cNvPicPr>
            <a:picLocks noChangeAspect="1"/>
          </p:cNvPicPr>
          <p:nvPr/>
        </p:nvPicPr>
        <p:blipFill>
          <a:blip r:embed="rId3"/>
          <a:stretch>
            <a:fillRect/>
          </a:stretch>
        </p:blipFill>
        <p:spPr>
          <a:xfrm>
            <a:off x="3831336" y="1078992"/>
            <a:ext cx="1481328" cy="1481328"/>
          </a:xfrm>
          <a:prstGeom prst="rect">
            <a:avLst/>
          </a:prstGeom>
        </p:spPr>
      </p:pic>
      <p:sp>
        <p:nvSpPr>
          <p:cNvPr id="17" name="TextBox 16"/>
          <p:cNvSpPr txBox="1"/>
          <p:nvPr/>
        </p:nvSpPr>
        <p:spPr>
          <a:xfrm>
            <a:off x="3785616" y="2670048"/>
            <a:ext cx="1572768" cy="274320"/>
          </a:xfrm>
          <a:prstGeom prst="rect">
            <a:avLst/>
          </a:prstGeom>
          <a:noFill/>
        </p:spPr>
        <p:txBody>
          <a:bodyPr wrap="square" lIns="0" rIns="0" tIns="0" bIns="0" anchor="t">
            <a:noAutofit/>
          </a:bodyPr>
          <a:lstStyle/>
          <a:p>
            <a:pPr algn="ctr">
              <a:lnSpc>
                <a:spcPct val="108000"/>
              </a:lnSpc>
            </a:pPr>
            <a:r>
              <a:rPr sz="1250" b="1" i="0">
                <a:solidFill>
                  <a:srgbClr val="1F1A2E"/>
                </a:solidFill>
                <a:latin typeface="Arial"/>
              </a:rPr>
              <a:t>FlyGM policy</a:t>
            </a:r>
          </a:p>
        </p:txBody>
      </p:sp>
      <p:sp>
        <p:nvSpPr>
          <p:cNvPr id="18" name="TextBox 17"/>
          <p:cNvSpPr txBox="1"/>
          <p:nvPr/>
        </p:nvSpPr>
        <p:spPr>
          <a:xfrm>
            <a:off x="3785616" y="2944368"/>
            <a:ext cx="1572768" cy="685800"/>
          </a:xfrm>
          <a:prstGeom prst="rect">
            <a:avLst/>
          </a:prstGeom>
          <a:noFill/>
        </p:spPr>
        <p:txBody>
          <a:bodyPr wrap="square" lIns="0" rIns="0" tIns="0" bIns="0" anchor="t">
            <a:noAutofit/>
          </a:bodyPr>
          <a:lstStyle/>
          <a:p>
            <a:pPr algn="ctr">
              <a:lnSpc>
                <a:spcPct val="103000"/>
              </a:lnSpc>
            </a:pPr>
            <a:r>
              <a:rPr sz="1000" b="0" i="0">
                <a:solidFill>
                  <a:srgbClr val="3A3447"/>
                </a:solidFill>
                <a:latin typeface="Arial"/>
              </a:rPr>
              <a:t>Connectome-structured controller, initialized</a:t>
            </a:r>
          </a:p>
        </p:txBody>
      </p:sp>
      <p:cxnSp>
        <p:nvCxnSpPr>
          <p:cNvPr id="19" name="Connector 18"/>
          <p:cNvCxnSpPr/>
          <p:nvPr/>
        </p:nvCxnSpPr>
        <p:spPr>
          <a:xfrm>
            <a:off x="5340096" y="1819656"/>
            <a:ext cx="164592" cy="0"/>
          </a:xfrm>
          <a:prstGeom prst="line">
            <a:avLst/>
          </a:prstGeom>
          <a:ln w="25400">
            <a:solidFill>
              <a:srgbClr val="B9B1C6"/>
            </a:solidFill>
            <a:tailEnd type="triangle" w="med" len="med"/>
          </a:ln>
        </p:spPr>
      </p:cxnSp>
      <p:sp>
        <p:nvSpPr>
          <p:cNvPr id="20" name="Rounded Rectangle 19"/>
          <p:cNvSpPr/>
          <p:nvPr/>
        </p:nvSpPr>
        <p:spPr>
          <a:xfrm>
            <a:off x="5559552" y="1188719"/>
            <a:ext cx="1426464" cy="1261872"/>
          </a:xfrm>
          <a:prstGeom prst="roundRect">
            <a:avLst>
              <a:gd name="adj" fmla="val 10000"/>
            </a:avLst>
          </a:prstGeom>
          <a:solidFill>
            <a:srgbClr val="FBEDE3"/>
          </a:solidFill>
          <a:ln>
            <a:noFill/>
          </a:ln>
        </p:spPr>
        <p:txBody>
          <a:bodyPr rtlCol="0" anchor="ctr"/>
          <a:lstStyle/>
          <a:p>
            <a:pPr algn="ctr"/>
          </a:p>
        </p:txBody>
      </p:sp>
      <p:sp>
        <p:nvSpPr>
          <p:cNvPr id="21" name="Oval 20"/>
          <p:cNvSpPr/>
          <p:nvPr/>
        </p:nvSpPr>
        <p:spPr>
          <a:xfrm>
            <a:off x="6016752" y="1563624"/>
            <a:ext cx="512064" cy="512064"/>
          </a:xfrm>
          <a:prstGeom prst="ellipse">
            <a:avLst/>
          </a:prstGeom>
          <a:solidFill>
            <a:srgbClr val="D55E00"/>
          </a:solidFill>
          <a:ln>
            <a:noFill/>
          </a:ln>
        </p:spPr>
        <p:txBody>
          <a:bodyPr rtlCol="0" anchor="ctr"/>
          <a:lstStyle/>
          <a:p>
            <a:pPr algn="ctr"/>
          </a:p>
        </p:txBody>
      </p:sp>
      <p:sp>
        <p:nvSpPr>
          <p:cNvPr id="22" name="TextBox 21"/>
          <p:cNvSpPr txBox="1"/>
          <p:nvPr/>
        </p:nvSpPr>
        <p:spPr>
          <a:xfrm>
            <a:off x="6016752" y="1563624"/>
            <a:ext cx="512064" cy="512064"/>
          </a:xfrm>
          <a:prstGeom prst="rect">
            <a:avLst/>
          </a:prstGeom>
          <a:noFill/>
        </p:spPr>
        <p:txBody>
          <a:bodyPr wrap="square" lIns="0" rIns="0" tIns="0" bIns="0" anchor="ctr">
            <a:noAutofit/>
          </a:bodyPr>
          <a:lstStyle/>
          <a:p>
            <a:pPr algn="ctr">
              <a:lnSpc>
                <a:spcPct val="108000"/>
              </a:lnSpc>
            </a:pPr>
            <a:r>
              <a:rPr sz="2000" b="1" i="0">
                <a:solidFill>
                  <a:srgbClr val="FFFFFF"/>
                </a:solidFill>
                <a:latin typeface="Arial"/>
              </a:rPr>
              <a:t>2</a:t>
            </a:r>
          </a:p>
        </p:txBody>
      </p:sp>
      <p:sp>
        <p:nvSpPr>
          <p:cNvPr id="23" name="TextBox 22"/>
          <p:cNvSpPr txBox="1"/>
          <p:nvPr/>
        </p:nvSpPr>
        <p:spPr>
          <a:xfrm>
            <a:off x="5486400" y="2670048"/>
            <a:ext cx="1572768" cy="274320"/>
          </a:xfrm>
          <a:prstGeom prst="rect">
            <a:avLst/>
          </a:prstGeom>
          <a:noFill/>
        </p:spPr>
        <p:txBody>
          <a:bodyPr wrap="square" lIns="0" rIns="0" tIns="0" bIns="0" anchor="t">
            <a:noAutofit/>
          </a:bodyPr>
          <a:lstStyle/>
          <a:p>
            <a:pPr algn="ctr">
              <a:lnSpc>
                <a:spcPct val="108000"/>
              </a:lnSpc>
            </a:pPr>
            <a:r>
              <a:rPr sz="1250" b="1" i="0">
                <a:solidFill>
                  <a:srgbClr val="D55E00"/>
                </a:solidFill>
                <a:latin typeface="Arial"/>
              </a:rPr>
              <a:t>PPO refinement</a:t>
            </a:r>
          </a:p>
        </p:txBody>
      </p:sp>
      <p:sp>
        <p:nvSpPr>
          <p:cNvPr id="24" name="TextBox 23"/>
          <p:cNvSpPr txBox="1"/>
          <p:nvPr/>
        </p:nvSpPr>
        <p:spPr>
          <a:xfrm>
            <a:off x="5486400" y="2944368"/>
            <a:ext cx="1572768" cy="685800"/>
          </a:xfrm>
          <a:prstGeom prst="rect">
            <a:avLst/>
          </a:prstGeom>
          <a:noFill/>
        </p:spPr>
        <p:txBody>
          <a:bodyPr wrap="square" lIns="0" rIns="0" tIns="0" bIns="0" anchor="t">
            <a:noAutofit/>
          </a:bodyPr>
          <a:lstStyle/>
          <a:p>
            <a:pPr algn="ctr">
              <a:lnSpc>
                <a:spcPct val="103000"/>
              </a:lnSpc>
            </a:pPr>
            <a:r>
              <a:rPr sz="1000" b="0" i="0">
                <a:solidFill>
                  <a:srgbClr val="3A3447"/>
                </a:solidFill>
                <a:latin typeface="Arial"/>
              </a:rPr>
              <a:t>Optimize task reward in MuJoCo [15]; MLP value network, parallel rollouts</a:t>
            </a:r>
          </a:p>
        </p:txBody>
      </p:sp>
      <p:cxnSp>
        <p:nvCxnSpPr>
          <p:cNvPr id="25" name="Connector 24"/>
          <p:cNvCxnSpPr/>
          <p:nvPr/>
        </p:nvCxnSpPr>
        <p:spPr>
          <a:xfrm>
            <a:off x="7040880" y="1819656"/>
            <a:ext cx="164592" cy="0"/>
          </a:xfrm>
          <a:prstGeom prst="line">
            <a:avLst/>
          </a:prstGeom>
          <a:ln w="25400">
            <a:solidFill>
              <a:srgbClr val="B9B1C6"/>
            </a:solidFill>
            <a:tailEnd type="triangle" w="med" len="med"/>
          </a:ln>
        </p:spPr>
      </p:cxnSp>
      <p:pic>
        <p:nvPicPr>
          <p:cNvPr id="26" name="Picture 25" descr="image.jpeg"/>
          <p:cNvPicPr>
            <a:picLocks noChangeAspect="1"/>
          </p:cNvPicPr>
          <p:nvPr/>
        </p:nvPicPr>
        <p:blipFill>
          <a:blip r:embed="rId4"/>
          <a:stretch>
            <a:fillRect/>
          </a:stretch>
        </p:blipFill>
        <p:spPr>
          <a:xfrm>
            <a:off x="7277343" y="1078992"/>
            <a:ext cx="1392448" cy="1481328"/>
          </a:xfrm>
          <a:prstGeom prst="rect">
            <a:avLst/>
          </a:prstGeom>
        </p:spPr>
      </p:pic>
      <p:sp>
        <p:nvSpPr>
          <p:cNvPr id="27" name="TextBox 26"/>
          <p:cNvSpPr txBox="1"/>
          <p:nvPr/>
        </p:nvSpPr>
        <p:spPr>
          <a:xfrm>
            <a:off x="7187184" y="2670048"/>
            <a:ext cx="1572768" cy="274320"/>
          </a:xfrm>
          <a:prstGeom prst="rect">
            <a:avLst/>
          </a:prstGeom>
          <a:noFill/>
        </p:spPr>
        <p:txBody>
          <a:bodyPr wrap="square" lIns="0" rIns="0" tIns="0" bIns="0" anchor="t">
            <a:noAutofit/>
          </a:bodyPr>
          <a:lstStyle/>
          <a:p>
            <a:pPr algn="ctr">
              <a:lnSpc>
                <a:spcPct val="108000"/>
              </a:lnSpc>
            </a:pPr>
            <a:r>
              <a:rPr sz="1250" b="1" i="0">
                <a:solidFill>
                  <a:srgbClr val="1F1A2E"/>
                </a:solidFill>
                <a:latin typeface="Arial"/>
              </a:rPr>
              <a:t>Task interaction</a:t>
            </a:r>
          </a:p>
        </p:txBody>
      </p:sp>
      <p:sp>
        <p:nvSpPr>
          <p:cNvPr id="28" name="TextBox 27"/>
          <p:cNvSpPr txBox="1"/>
          <p:nvPr/>
        </p:nvSpPr>
        <p:spPr>
          <a:xfrm>
            <a:off x="7187184" y="2944368"/>
            <a:ext cx="1572768" cy="685800"/>
          </a:xfrm>
          <a:prstGeom prst="rect">
            <a:avLst/>
          </a:prstGeom>
          <a:noFill/>
        </p:spPr>
        <p:txBody>
          <a:bodyPr wrap="square" lIns="0" rIns="0" tIns="0" bIns="0" anchor="t">
            <a:noAutofit/>
          </a:bodyPr>
          <a:lstStyle/>
          <a:p>
            <a:pPr algn="ctr">
              <a:lnSpc>
                <a:spcPct val="103000"/>
              </a:lnSpc>
            </a:pPr>
            <a:r>
              <a:rPr sz="1000" b="0" i="0">
                <a:solidFill>
                  <a:srgbClr val="3A3447"/>
                </a:solidFill>
                <a:latin typeface="Arial"/>
              </a:rPr>
              <a:t>Walking, turning and flight tasks</a:t>
            </a:r>
          </a:p>
        </p:txBody>
      </p:sp>
      <p:sp>
        <p:nvSpPr>
          <p:cNvPr id="29" name="Rounded Rectangle 28"/>
          <p:cNvSpPr/>
          <p:nvPr/>
        </p:nvSpPr>
        <p:spPr>
          <a:xfrm>
            <a:off x="457200" y="4041648"/>
            <a:ext cx="4023359" cy="384048"/>
          </a:xfrm>
          <a:prstGeom prst="roundRect">
            <a:avLst>
              <a:gd name="adj" fmla="val 50000"/>
            </a:avLst>
          </a:prstGeom>
          <a:noFill/>
          <a:ln w="15875">
            <a:solidFill>
              <a:srgbClr val="660874"/>
            </a:solidFill>
          </a:ln>
        </p:spPr>
        <p:txBody>
          <a:bodyPr rtlCol="0" anchor="ctr"/>
          <a:lstStyle/>
          <a:p>
            <a:pPr algn="ctr"/>
          </a:p>
        </p:txBody>
      </p:sp>
      <p:sp>
        <p:nvSpPr>
          <p:cNvPr id="30" name="TextBox 29"/>
          <p:cNvSpPr txBox="1"/>
          <p:nvPr/>
        </p:nvSpPr>
        <p:spPr>
          <a:xfrm>
            <a:off x="457200" y="4041648"/>
            <a:ext cx="4023359" cy="384048"/>
          </a:xfrm>
          <a:prstGeom prst="rect">
            <a:avLst/>
          </a:prstGeom>
          <a:noFill/>
        </p:spPr>
        <p:txBody>
          <a:bodyPr wrap="square" lIns="0" rIns="0" tIns="0" bIns="0" anchor="ctr">
            <a:noAutofit/>
          </a:bodyPr>
          <a:lstStyle/>
          <a:p>
            <a:pPr algn="ctr">
              <a:lnSpc>
                <a:spcPct val="108000"/>
              </a:lnSpc>
            </a:pPr>
            <a:r>
              <a:rPr sz="1100" b="1" i="0">
                <a:solidFill>
                  <a:srgbClr val="660874"/>
                </a:solidFill>
                <a:latin typeface="Arial"/>
              </a:rPr>
              <a:t>Same IL + PPO pipeline for every controller we compare</a:t>
            </a:r>
          </a:p>
        </p:txBody>
      </p:sp>
      <p:sp>
        <p:nvSpPr>
          <p:cNvPr id="31" name="Rounded Rectangle 30"/>
          <p:cNvSpPr/>
          <p:nvPr/>
        </p:nvSpPr>
        <p:spPr>
          <a:xfrm>
            <a:off x="4709159" y="4041648"/>
            <a:ext cx="3749039" cy="384048"/>
          </a:xfrm>
          <a:prstGeom prst="roundRect">
            <a:avLst>
              <a:gd name="adj" fmla="val 50000"/>
            </a:avLst>
          </a:prstGeom>
          <a:noFill/>
          <a:ln w="15875">
            <a:solidFill>
              <a:srgbClr val="7A7387"/>
            </a:solidFill>
          </a:ln>
        </p:spPr>
        <p:txBody>
          <a:bodyPr rtlCol="0" anchor="ctr"/>
          <a:lstStyle/>
          <a:p>
            <a:pPr algn="ctr"/>
          </a:p>
        </p:txBody>
      </p:sp>
      <p:sp>
        <p:nvSpPr>
          <p:cNvPr id="32" name="TextBox 31"/>
          <p:cNvSpPr txBox="1"/>
          <p:nvPr/>
        </p:nvSpPr>
        <p:spPr>
          <a:xfrm>
            <a:off x="4709159" y="4041648"/>
            <a:ext cx="3749039" cy="384048"/>
          </a:xfrm>
          <a:prstGeom prst="rect">
            <a:avLst/>
          </a:prstGeom>
          <a:noFill/>
        </p:spPr>
        <p:txBody>
          <a:bodyPr wrap="square" lIns="0" rIns="0" tIns="0" bIns="0" anchor="ctr">
            <a:noAutofit/>
          </a:bodyPr>
          <a:lstStyle/>
          <a:p>
            <a:pPr algn="ctr">
              <a:lnSpc>
                <a:spcPct val="108000"/>
              </a:lnSpc>
            </a:pPr>
            <a:r>
              <a:rPr sz="1100" b="1" i="0">
                <a:solidFill>
                  <a:srgbClr val="7A7387"/>
                </a:solidFill>
                <a:latin typeface="Arial"/>
              </a:rPr>
              <a:t>Walking and flight use separately trained policies</a:t>
            </a:r>
          </a:p>
        </p:txBody>
      </p:sp>
      <p:sp>
        <p:nvSpPr>
          <p:cNvPr id="33" name="Source"/>
          <p:cNvSpPr txBox="1"/>
          <p:nvPr/>
        </p:nvSpPr>
        <p:spPr>
          <a:xfrm>
            <a:off x="457200" y="4791456"/>
            <a:ext cx="7589520" cy="201168"/>
          </a:xfrm>
          <a:prstGeom prst="rect">
            <a:avLst/>
          </a:prstGeom>
          <a:noFill/>
        </p:spPr>
        <p:txBody>
          <a:bodyPr wrap="square" lIns="0" rIns="0" tIns="0" bIns="0" anchor="ctr">
            <a:noAutofit/>
          </a:bodyPr>
          <a:lstStyle/>
          <a:p>
            <a:pPr algn="l">
              <a:lnSpc>
                <a:spcPct val="108000"/>
              </a:lnSpc>
            </a:pPr>
            <a:r>
              <a:rPr sz="850" b="0" i="0">
                <a:solidFill>
                  <a:srgbClr val="7A7387"/>
                </a:solidFill>
                <a:latin typeface="Arial"/>
              </a:rPr>
              <a:t>FlyGM [1]: §2.2 and Appendix B. Expert policies and environments from flybody [7].</a:t>
            </a:r>
          </a:p>
        </p:txBody>
      </p:sp>
      <p:sp>
        <p:nvSpPr>
          <p:cNvPr id="34" name="Slide number"/>
          <p:cNvSpPr txBox="1"/>
          <p:nvPr/>
        </p:nvSpPr>
        <p:spPr>
          <a:xfrm>
            <a:off x="8229600" y="4791456"/>
            <a:ext cx="457200" cy="201168"/>
          </a:xfrm>
          <a:prstGeom prst="rect">
            <a:avLst/>
          </a:prstGeom>
          <a:noFill/>
        </p:spPr>
        <p:txBody>
          <a:bodyPr wrap="none" lIns="0" rIns="0" tIns="0" bIns="0" anchor="ctr">
            <a:spAutoFit/>
          </a:bodyPr>
          <a:lstStyle/>
          <a:p>
            <a:pPr algn="r"/>
            <a:fld id="{5C1D9F7E-2B47-4C0B-9E55-6B0D1A3E1F01}" type="slidenum">
              <a:rPr lang="en-US" sz="900">
                <a:solidFill>
                  <a:srgbClr val="7A7387"/>
                </a:solidFill>
                <a:latin typeface="Arial"/>
              </a:rPr>
              <a:t>#</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457200" y="429768"/>
            <a:ext cx="8229600" cy="457200"/>
          </a:xfrm>
        </p:spPr>
        <p:txBody>
          <a:bodyPr wrap="square" anchor="t" lIns="0" rIns="0" tIns="0" bIns="0"/>
          <a:lstStyle/>
          <a:p>
            <a:pPr algn="l">
              <a:lnSpc>
                <a:spcPct val="100000"/>
              </a:lnSpc>
            </a:pPr>
            <a:r>
              <a:rPr sz="2400" b="1">
                <a:solidFill>
                  <a:srgbClr val="1F1A2E"/>
                </a:solidFill>
                <a:latin typeface="Arial"/>
              </a:rPr>
              <a:t>The real wiring learns faster and steers more accurately</a:t>
            </a:r>
          </a:p>
        </p:txBody>
      </p:sp>
      <p:sp>
        <p:nvSpPr>
          <p:cNvPr id="4" name="Kicker dot"/>
          <p:cNvSpPr/>
          <p:nvPr/>
        </p:nvSpPr>
        <p:spPr>
          <a:xfrm>
            <a:off x="457200" y="278892"/>
            <a:ext cx="77724" cy="77724"/>
          </a:xfrm>
          <a:prstGeom prst="ellipse">
            <a:avLst/>
          </a:prstGeom>
          <a:solidFill>
            <a:srgbClr val="D55E00"/>
          </a:solidFill>
          <a:ln>
            <a:noFill/>
          </a:ln>
        </p:spPr>
        <p:txBody>
          <a:bodyPr rtlCol="0" anchor="ctr"/>
          <a:lstStyle/>
          <a:p>
            <a:pPr algn="ctr"/>
          </a:p>
        </p:txBody>
      </p:sp>
      <p:sp>
        <p:nvSpPr>
          <p:cNvPr id="5" name="Kicker"/>
          <p:cNvSpPr txBox="1"/>
          <p:nvPr/>
        </p:nvSpPr>
        <p:spPr>
          <a:xfrm>
            <a:off x="594360" y="233172"/>
            <a:ext cx="5943600" cy="182880"/>
          </a:xfrm>
          <a:prstGeom prst="rect">
            <a:avLst/>
          </a:prstGeom>
          <a:noFill/>
        </p:spPr>
        <p:txBody>
          <a:bodyPr wrap="square" lIns="0" rIns="0" tIns="0" bIns="0" anchor="ctr">
            <a:noAutofit/>
          </a:bodyPr>
          <a:lstStyle/>
          <a:p>
            <a:pPr algn="l">
              <a:lnSpc>
                <a:spcPct val="108000"/>
              </a:lnSpc>
            </a:pPr>
            <a:r>
              <a:rPr sz="950" b="1" i="0" spc="120">
                <a:solidFill>
                  <a:srgbClr val="660874"/>
                </a:solidFill>
                <a:latin typeface="Arial"/>
              </a:rPr>
              <a:t>RESULTS · DOES THE WIRING MATTER?</a:t>
            </a:r>
          </a:p>
        </p:txBody>
      </p:sp>
      <p:sp>
        <p:nvSpPr>
          <p:cNvPr id="6" name="Rounded Rectangle 5"/>
          <p:cNvSpPr/>
          <p:nvPr/>
        </p:nvSpPr>
        <p:spPr>
          <a:xfrm>
            <a:off x="457200" y="1005840"/>
            <a:ext cx="1947672" cy="768096"/>
          </a:xfrm>
          <a:prstGeom prst="roundRect">
            <a:avLst>
              <a:gd name="adj" fmla="val 10000"/>
            </a:avLst>
          </a:prstGeom>
          <a:solidFill>
            <a:srgbClr val="FBEDE3"/>
          </a:solidFill>
          <a:ln>
            <a:noFill/>
          </a:ln>
        </p:spPr>
        <p:txBody>
          <a:bodyPr rtlCol="0" anchor="ctr"/>
          <a:lstStyle/>
          <a:p>
            <a:pPr algn="ctr"/>
          </a:p>
        </p:txBody>
      </p:sp>
      <p:pic>
        <p:nvPicPr>
          <p:cNvPr id="7" name="Picture 6" descr="glyph_flygm.png"/>
          <p:cNvPicPr>
            <a:picLocks noChangeAspect="1"/>
          </p:cNvPicPr>
          <p:nvPr/>
        </p:nvPicPr>
        <p:blipFill>
          <a:blip r:embed="rId2"/>
          <a:stretch>
            <a:fillRect/>
          </a:stretch>
        </p:blipFill>
        <p:spPr>
          <a:xfrm>
            <a:off x="512064" y="1069848"/>
            <a:ext cx="804672" cy="640080"/>
          </a:xfrm>
          <a:prstGeom prst="rect">
            <a:avLst/>
          </a:prstGeom>
        </p:spPr>
      </p:pic>
      <p:sp>
        <p:nvSpPr>
          <p:cNvPr id="8" name="TextBox 7"/>
          <p:cNvSpPr txBox="1"/>
          <p:nvPr/>
        </p:nvSpPr>
        <p:spPr>
          <a:xfrm>
            <a:off x="1353312" y="1060704"/>
            <a:ext cx="996695" cy="237744"/>
          </a:xfrm>
          <a:prstGeom prst="rect">
            <a:avLst/>
          </a:prstGeom>
          <a:noFill/>
        </p:spPr>
        <p:txBody>
          <a:bodyPr wrap="square" lIns="0" rIns="0" tIns="0" bIns="0" anchor="t">
            <a:noAutofit/>
          </a:bodyPr>
          <a:lstStyle/>
          <a:p>
            <a:pPr algn="l">
              <a:lnSpc>
                <a:spcPct val="108000"/>
              </a:lnSpc>
            </a:pPr>
            <a:r>
              <a:rPr sz="1250" b="1" i="0">
                <a:solidFill>
                  <a:srgbClr val="D55E00"/>
                </a:solidFill>
                <a:latin typeface="Arial"/>
              </a:rPr>
              <a:t>FlyGM</a:t>
            </a:r>
          </a:p>
        </p:txBody>
      </p:sp>
      <p:sp>
        <p:nvSpPr>
          <p:cNvPr id="9" name="TextBox 8"/>
          <p:cNvSpPr txBox="1"/>
          <p:nvPr/>
        </p:nvSpPr>
        <p:spPr>
          <a:xfrm>
            <a:off x="1353312" y="1307592"/>
            <a:ext cx="978407" cy="438912"/>
          </a:xfrm>
          <a:prstGeom prst="rect">
            <a:avLst/>
          </a:prstGeom>
          <a:noFill/>
        </p:spPr>
        <p:txBody>
          <a:bodyPr wrap="square" lIns="0" rIns="0" tIns="0" bIns="0" anchor="t">
            <a:noAutofit/>
          </a:bodyPr>
          <a:lstStyle/>
          <a:p>
            <a:pPr algn="l">
              <a:lnSpc>
                <a:spcPct val="100000"/>
              </a:lnSpc>
            </a:pPr>
            <a:r>
              <a:rPr sz="900" b="0" i="0">
                <a:solidFill>
                  <a:srgbClr val="3A3447"/>
                </a:solidFill>
                <a:latin typeface="Arial"/>
              </a:rPr>
              <a:t>Real FlyWire wiring with signed weights</a:t>
            </a:r>
          </a:p>
        </p:txBody>
      </p:sp>
      <p:sp>
        <p:nvSpPr>
          <p:cNvPr id="10" name="Rounded Rectangle 9"/>
          <p:cNvSpPr/>
          <p:nvPr/>
        </p:nvSpPr>
        <p:spPr>
          <a:xfrm>
            <a:off x="2551176" y="1005840"/>
            <a:ext cx="1947672" cy="768096"/>
          </a:xfrm>
          <a:prstGeom prst="roundRect">
            <a:avLst>
              <a:gd name="adj" fmla="val 10000"/>
            </a:avLst>
          </a:prstGeom>
          <a:solidFill>
            <a:srgbClr val="F4F1F8"/>
          </a:solidFill>
          <a:ln>
            <a:noFill/>
          </a:ln>
        </p:spPr>
        <p:txBody>
          <a:bodyPr rtlCol="0" anchor="ctr"/>
          <a:lstStyle/>
          <a:p>
            <a:pPr algn="ctr"/>
          </a:p>
        </p:txBody>
      </p:sp>
      <p:pic>
        <p:nvPicPr>
          <p:cNvPr id="11" name="Picture 10" descr="glyph_rewired.png"/>
          <p:cNvPicPr>
            <a:picLocks noChangeAspect="1"/>
          </p:cNvPicPr>
          <p:nvPr/>
        </p:nvPicPr>
        <p:blipFill>
          <a:blip r:embed="rId3"/>
          <a:stretch>
            <a:fillRect/>
          </a:stretch>
        </p:blipFill>
        <p:spPr>
          <a:xfrm>
            <a:off x="2606040" y="1069848"/>
            <a:ext cx="804672" cy="640080"/>
          </a:xfrm>
          <a:prstGeom prst="rect">
            <a:avLst/>
          </a:prstGeom>
        </p:spPr>
      </p:pic>
      <p:sp>
        <p:nvSpPr>
          <p:cNvPr id="12" name="TextBox 11"/>
          <p:cNvSpPr txBox="1"/>
          <p:nvPr/>
        </p:nvSpPr>
        <p:spPr>
          <a:xfrm>
            <a:off x="3447288" y="1060704"/>
            <a:ext cx="996695" cy="237744"/>
          </a:xfrm>
          <a:prstGeom prst="rect">
            <a:avLst/>
          </a:prstGeom>
          <a:noFill/>
        </p:spPr>
        <p:txBody>
          <a:bodyPr wrap="square" lIns="0" rIns="0" tIns="0" bIns="0" anchor="t">
            <a:noAutofit/>
          </a:bodyPr>
          <a:lstStyle/>
          <a:p>
            <a:pPr algn="l">
              <a:lnSpc>
                <a:spcPct val="108000"/>
              </a:lnSpc>
            </a:pPr>
            <a:r>
              <a:rPr sz="1250" b="1" i="0">
                <a:solidFill>
                  <a:srgbClr val="009E73"/>
                </a:solidFill>
                <a:latin typeface="Arial"/>
              </a:rPr>
              <a:t>DP-Rewired</a:t>
            </a:r>
          </a:p>
        </p:txBody>
      </p:sp>
      <p:sp>
        <p:nvSpPr>
          <p:cNvPr id="13" name="TextBox 12"/>
          <p:cNvSpPr txBox="1"/>
          <p:nvPr/>
        </p:nvSpPr>
        <p:spPr>
          <a:xfrm>
            <a:off x="3447288" y="1307592"/>
            <a:ext cx="978407" cy="438912"/>
          </a:xfrm>
          <a:prstGeom prst="rect">
            <a:avLst/>
          </a:prstGeom>
          <a:noFill/>
        </p:spPr>
        <p:txBody>
          <a:bodyPr wrap="square" lIns="0" rIns="0" tIns="0" bIns="0" anchor="t">
            <a:noAutofit/>
          </a:bodyPr>
          <a:lstStyle/>
          <a:p>
            <a:pPr algn="l">
              <a:lnSpc>
                <a:spcPct val="100000"/>
              </a:lnSpc>
            </a:pPr>
            <a:r>
              <a:rPr sz="900" b="0" i="0">
                <a:solidFill>
                  <a:srgbClr val="3A3447"/>
                </a:solidFill>
                <a:latin typeface="Arial"/>
              </a:rPr>
              <a:t>Same in/out-degree per neuron, shuffled partners</a:t>
            </a:r>
          </a:p>
        </p:txBody>
      </p:sp>
      <p:sp>
        <p:nvSpPr>
          <p:cNvPr id="14" name="Rounded Rectangle 13"/>
          <p:cNvSpPr/>
          <p:nvPr/>
        </p:nvSpPr>
        <p:spPr>
          <a:xfrm>
            <a:off x="4645152" y="1005840"/>
            <a:ext cx="1947672" cy="768096"/>
          </a:xfrm>
          <a:prstGeom prst="roundRect">
            <a:avLst>
              <a:gd name="adj" fmla="val 10000"/>
            </a:avLst>
          </a:prstGeom>
          <a:solidFill>
            <a:srgbClr val="F4F1F8"/>
          </a:solidFill>
          <a:ln>
            <a:noFill/>
          </a:ln>
        </p:spPr>
        <p:txBody>
          <a:bodyPr rtlCol="0" anchor="ctr"/>
          <a:lstStyle/>
          <a:p>
            <a:pPr algn="ctr"/>
          </a:p>
        </p:txBody>
      </p:sp>
      <p:pic>
        <p:nvPicPr>
          <p:cNvPr id="15" name="Picture 14" descr="glyph_random.png"/>
          <p:cNvPicPr>
            <a:picLocks noChangeAspect="1"/>
          </p:cNvPicPr>
          <p:nvPr/>
        </p:nvPicPr>
        <p:blipFill>
          <a:blip r:embed="rId4"/>
          <a:stretch>
            <a:fillRect/>
          </a:stretch>
        </p:blipFill>
        <p:spPr>
          <a:xfrm>
            <a:off x="4700016" y="1069848"/>
            <a:ext cx="804672" cy="640080"/>
          </a:xfrm>
          <a:prstGeom prst="rect">
            <a:avLst/>
          </a:prstGeom>
        </p:spPr>
      </p:pic>
      <p:sp>
        <p:nvSpPr>
          <p:cNvPr id="16" name="TextBox 15"/>
          <p:cNvSpPr txBox="1"/>
          <p:nvPr/>
        </p:nvSpPr>
        <p:spPr>
          <a:xfrm>
            <a:off x="5541264" y="1060704"/>
            <a:ext cx="996695" cy="237744"/>
          </a:xfrm>
          <a:prstGeom prst="rect">
            <a:avLst/>
          </a:prstGeom>
          <a:noFill/>
        </p:spPr>
        <p:txBody>
          <a:bodyPr wrap="square" lIns="0" rIns="0" tIns="0" bIns="0" anchor="t">
            <a:noAutofit/>
          </a:bodyPr>
          <a:lstStyle/>
          <a:p>
            <a:pPr algn="l">
              <a:lnSpc>
                <a:spcPct val="108000"/>
              </a:lnSpc>
            </a:pPr>
            <a:r>
              <a:rPr sz="1250" b="1" i="0">
                <a:solidFill>
                  <a:srgbClr val="666666"/>
                </a:solidFill>
                <a:latin typeface="Arial"/>
              </a:rPr>
              <a:t>ER-Random</a:t>
            </a:r>
          </a:p>
        </p:txBody>
      </p:sp>
      <p:sp>
        <p:nvSpPr>
          <p:cNvPr id="17" name="TextBox 16"/>
          <p:cNvSpPr txBox="1"/>
          <p:nvPr/>
        </p:nvSpPr>
        <p:spPr>
          <a:xfrm>
            <a:off x="5541264" y="1307592"/>
            <a:ext cx="978407" cy="438912"/>
          </a:xfrm>
          <a:prstGeom prst="rect">
            <a:avLst/>
          </a:prstGeom>
          <a:noFill/>
        </p:spPr>
        <p:txBody>
          <a:bodyPr wrap="square" lIns="0" rIns="0" tIns="0" bIns="0" anchor="t">
            <a:noAutofit/>
          </a:bodyPr>
          <a:lstStyle/>
          <a:p>
            <a:pPr algn="l">
              <a:lnSpc>
                <a:spcPct val="100000"/>
              </a:lnSpc>
            </a:pPr>
            <a:r>
              <a:rPr sz="900" b="0" i="0">
                <a:solidFill>
                  <a:srgbClr val="3A3447"/>
                </a:solidFill>
                <a:latin typeface="Arial"/>
              </a:rPr>
              <a:t>Same numbers of neurons and edges</a:t>
            </a:r>
          </a:p>
        </p:txBody>
      </p:sp>
      <p:sp>
        <p:nvSpPr>
          <p:cNvPr id="18" name="Rounded Rectangle 17"/>
          <p:cNvSpPr/>
          <p:nvPr/>
        </p:nvSpPr>
        <p:spPr>
          <a:xfrm>
            <a:off x="6739128" y="1005840"/>
            <a:ext cx="1947672" cy="768096"/>
          </a:xfrm>
          <a:prstGeom prst="roundRect">
            <a:avLst>
              <a:gd name="adj" fmla="val 10000"/>
            </a:avLst>
          </a:prstGeom>
          <a:solidFill>
            <a:srgbClr val="F4F1F8"/>
          </a:solidFill>
          <a:ln>
            <a:noFill/>
          </a:ln>
        </p:spPr>
        <p:txBody>
          <a:bodyPr rtlCol="0" anchor="ctr"/>
          <a:lstStyle/>
          <a:p>
            <a:pPr algn="ctr"/>
          </a:p>
        </p:txBody>
      </p:sp>
      <p:pic>
        <p:nvPicPr>
          <p:cNvPr id="19" name="Picture 18" descr="glyph_mlp.png"/>
          <p:cNvPicPr>
            <a:picLocks noChangeAspect="1"/>
          </p:cNvPicPr>
          <p:nvPr/>
        </p:nvPicPr>
        <p:blipFill>
          <a:blip r:embed="rId5"/>
          <a:stretch>
            <a:fillRect/>
          </a:stretch>
        </p:blipFill>
        <p:spPr>
          <a:xfrm>
            <a:off x="6793992" y="1069848"/>
            <a:ext cx="804672" cy="640080"/>
          </a:xfrm>
          <a:prstGeom prst="rect">
            <a:avLst/>
          </a:prstGeom>
        </p:spPr>
      </p:pic>
      <p:sp>
        <p:nvSpPr>
          <p:cNvPr id="20" name="TextBox 19"/>
          <p:cNvSpPr txBox="1"/>
          <p:nvPr/>
        </p:nvSpPr>
        <p:spPr>
          <a:xfrm>
            <a:off x="7635240" y="1060704"/>
            <a:ext cx="996695" cy="237744"/>
          </a:xfrm>
          <a:prstGeom prst="rect">
            <a:avLst/>
          </a:prstGeom>
          <a:noFill/>
        </p:spPr>
        <p:txBody>
          <a:bodyPr wrap="square" lIns="0" rIns="0" tIns="0" bIns="0" anchor="t">
            <a:noAutofit/>
          </a:bodyPr>
          <a:lstStyle/>
          <a:p>
            <a:pPr algn="l">
              <a:lnSpc>
                <a:spcPct val="108000"/>
              </a:lnSpc>
            </a:pPr>
            <a:r>
              <a:rPr sz="1250" b="1" i="0">
                <a:solidFill>
                  <a:srgbClr val="0072B2"/>
                </a:solidFill>
                <a:latin typeface="Arial"/>
              </a:rPr>
              <a:t>MLP</a:t>
            </a:r>
          </a:p>
        </p:txBody>
      </p:sp>
      <p:sp>
        <p:nvSpPr>
          <p:cNvPr id="21" name="TextBox 20"/>
          <p:cNvSpPr txBox="1"/>
          <p:nvPr/>
        </p:nvSpPr>
        <p:spPr>
          <a:xfrm>
            <a:off x="7635240" y="1307592"/>
            <a:ext cx="978407" cy="438912"/>
          </a:xfrm>
          <a:prstGeom prst="rect">
            <a:avLst/>
          </a:prstGeom>
          <a:noFill/>
        </p:spPr>
        <p:txBody>
          <a:bodyPr wrap="square" lIns="0" rIns="0" tIns="0" bIns="0" anchor="t">
            <a:noAutofit/>
          </a:bodyPr>
          <a:lstStyle/>
          <a:p>
            <a:pPr algn="l">
              <a:lnSpc>
                <a:spcPct val="100000"/>
              </a:lnSpc>
            </a:pPr>
            <a:r>
              <a:rPr sz="900" b="0" i="0">
                <a:solidFill>
                  <a:srgbClr val="3A3447"/>
                </a:solidFill>
                <a:latin typeface="Arial"/>
              </a:rPr>
              <a:t>4 × 512 layers; more parameters than FlyGM</a:t>
            </a:r>
          </a:p>
        </p:txBody>
      </p:sp>
      <p:sp>
        <p:nvSpPr>
          <p:cNvPr id="22" name="TextBox 21"/>
          <p:cNvSpPr txBox="1"/>
          <p:nvPr/>
        </p:nvSpPr>
        <p:spPr>
          <a:xfrm>
            <a:off x="457200" y="1883664"/>
            <a:ext cx="4023360" cy="274320"/>
          </a:xfrm>
          <a:prstGeom prst="rect">
            <a:avLst/>
          </a:prstGeom>
          <a:noFill/>
        </p:spPr>
        <p:txBody>
          <a:bodyPr wrap="square" lIns="0" rIns="0" tIns="0" bIns="0" anchor="t">
            <a:noAutofit/>
          </a:bodyPr>
          <a:lstStyle/>
          <a:p>
            <a:pPr algn="l">
              <a:lnSpc>
                <a:spcPct val="108000"/>
              </a:lnSpc>
            </a:pPr>
            <a:r>
              <a:rPr sz="1200" b="1" i="0">
                <a:solidFill>
                  <a:srgbClr val="660874"/>
                </a:solidFill>
                <a:latin typeface="Arial"/>
              </a:rPr>
              <a:t>Imitation: </a:t>
            </a:r>
            <a:r>
              <a:rPr sz="1200" b="1" i="0">
                <a:solidFill>
                  <a:srgbClr val="1F1A2E"/>
                </a:solidFill>
                <a:latin typeface="Arial"/>
              </a:rPr>
              <a:t>error to the expert's actions</a:t>
            </a:r>
          </a:p>
        </p:txBody>
      </p:sp>
      <p:graphicFrame>
        <p:nvGraphicFramePr>
          <p:cNvPr id="23" name="Chart: imitation convergence"/>
          <p:cNvGraphicFramePr>
            <a:graphicFrameLocks noGrp="1"/>
          </p:cNvGraphicFramePr>
          <p:nvPr/>
        </p:nvGraphicFramePr>
        <p:xfrm>
          <a:off x="384048" y="2176272"/>
          <a:ext cx="4160520" cy="2450592"/>
        </p:xfrm>
        <a:graphic>
          <a:graphicData uri="http://schemas.openxmlformats.org/drawingml/2006/chart">
            <c:chart xmlns:c="http://schemas.openxmlformats.org/drawingml/2006/chart" r:id="rId6"/>
          </a:graphicData>
        </a:graphic>
      </p:graphicFrame>
      <p:sp>
        <p:nvSpPr>
          <p:cNvPr id="24" name="TextBox 23"/>
          <p:cNvSpPr txBox="1"/>
          <p:nvPr/>
        </p:nvSpPr>
        <p:spPr>
          <a:xfrm>
            <a:off x="2079787" y="2828226"/>
            <a:ext cx="2240280" cy="566928"/>
          </a:xfrm>
          <a:prstGeom prst="rect">
            <a:avLst/>
          </a:prstGeom>
          <a:noFill/>
        </p:spPr>
        <p:txBody>
          <a:bodyPr wrap="square" lIns="0" rIns="0" tIns="0" bIns="0" anchor="t">
            <a:noAutofit/>
          </a:bodyPr>
          <a:lstStyle/>
          <a:p>
            <a:pPr algn="l">
              <a:lnSpc>
                <a:spcPct val="100000"/>
              </a:lnSpc>
            </a:pPr>
            <a:r>
              <a:rPr sz="1200" b="1" i="0">
                <a:solidFill>
                  <a:srgbClr val="D55E00"/>
                </a:solidFill>
                <a:latin typeface="Arial"/>
              </a:rPr>
              <a:t>2.6× fewer updates</a:t>
            </a:r>
          </a:p>
          <a:p>
            <a:pPr algn="l">
              <a:lnSpc>
                <a:spcPct val="100000"/>
              </a:lnSpc>
            </a:pPr>
            <a:r>
              <a:rPr sz="950" b="0" i="0">
                <a:solidFill>
                  <a:srgbClr val="3A3447"/>
                </a:solidFill>
                <a:latin typeface="Arial"/>
              </a:rPr>
              <a:t>FlyGM reaches the MLP's final error after ~9k of 23k steps</a:t>
            </a:r>
          </a:p>
        </p:txBody>
      </p:sp>
      <p:cxnSp>
        <p:nvCxnSpPr>
          <p:cNvPr id="25" name="Connector 24"/>
          <p:cNvCxnSpPr/>
          <p:nvPr/>
        </p:nvCxnSpPr>
        <p:spPr>
          <a:xfrm flipH="1">
            <a:off x="2271811" y="3413442"/>
            <a:ext cx="36576" cy="347472"/>
          </a:xfrm>
          <a:prstGeom prst="line">
            <a:avLst/>
          </a:prstGeom>
          <a:ln w="15875">
            <a:solidFill>
              <a:srgbClr val="D55E00"/>
            </a:solidFill>
            <a:tailEnd type="triangle" w="med" len="med"/>
          </a:ln>
        </p:spPr>
      </p:cxnSp>
      <p:sp>
        <p:nvSpPr>
          <p:cNvPr id="26" name="TextBox 25"/>
          <p:cNvSpPr txBox="1"/>
          <p:nvPr/>
        </p:nvSpPr>
        <p:spPr>
          <a:xfrm>
            <a:off x="4754880" y="1883664"/>
            <a:ext cx="3931920" cy="274320"/>
          </a:xfrm>
          <a:prstGeom prst="rect">
            <a:avLst/>
          </a:prstGeom>
          <a:noFill/>
        </p:spPr>
        <p:txBody>
          <a:bodyPr wrap="square" lIns="0" rIns="0" tIns="0" bIns="0" anchor="t">
            <a:noAutofit/>
          </a:bodyPr>
          <a:lstStyle/>
          <a:p>
            <a:pPr algn="l">
              <a:lnSpc>
                <a:spcPct val="108000"/>
              </a:lnSpc>
            </a:pPr>
            <a:r>
              <a:rPr sz="1200" b="1" i="0">
                <a:solidFill>
                  <a:srgbClr val="660874"/>
                </a:solidFill>
                <a:latin typeface="Arial"/>
              </a:rPr>
              <a:t>After IL + PPO: </a:t>
            </a:r>
            <a:r>
              <a:rPr sz="1200" b="1" i="0">
                <a:solidFill>
                  <a:srgbClr val="1F1A2E"/>
                </a:solidFill>
                <a:latin typeface="Arial"/>
              </a:rPr>
              <a:t>heading-angle error (°)</a:t>
            </a:r>
          </a:p>
        </p:txBody>
      </p:sp>
      <p:graphicFrame>
        <p:nvGraphicFramePr>
          <p:cNvPr id="27" name="Chart: angle error"/>
          <p:cNvGraphicFramePr>
            <a:graphicFrameLocks noGrp="1"/>
          </p:cNvGraphicFramePr>
          <p:nvPr/>
        </p:nvGraphicFramePr>
        <p:xfrm>
          <a:off x="4645152" y="2176272"/>
          <a:ext cx="4114800" cy="2450592"/>
        </p:xfrm>
        <a:graphic>
          <a:graphicData uri="http://schemas.openxmlformats.org/drawingml/2006/chart">
            <c:chart xmlns:c="http://schemas.openxmlformats.org/drawingml/2006/chart" r:id="rId7"/>
          </a:graphicData>
        </a:graphic>
      </p:graphicFrame>
      <p:sp>
        <p:nvSpPr>
          <p:cNvPr id="28" name="TextBox 27"/>
          <p:cNvSpPr txBox="1"/>
          <p:nvPr/>
        </p:nvSpPr>
        <p:spPr>
          <a:xfrm>
            <a:off x="7954733" y="2201875"/>
            <a:ext cx="731520" cy="201168"/>
          </a:xfrm>
          <a:prstGeom prst="rect">
            <a:avLst/>
          </a:prstGeom>
          <a:noFill/>
        </p:spPr>
        <p:txBody>
          <a:bodyPr wrap="square" lIns="0" rIns="0" tIns="0" bIns="0" anchor="t">
            <a:noAutofit/>
          </a:bodyPr>
          <a:lstStyle/>
          <a:p>
            <a:pPr algn="ctr">
              <a:lnSpc>
                <a:spcPct val="108000"/>
              </a:lnSpc>
            </a:pPr>
            <a:r>
              <a:rPr sz="850" b="1" i="0">
                <a:solidFill>
                  <a:srgbClr val="666666"/>
                </a:solidFill>
                <a:latin typeface="Arial"/>
              </a:rPr>
              <a:t>125 ↑</a:t>
            </a:r>
          </a:p>
        </p:txBody>
      </p:sp>
      <p:sp>
        <p:nvSpPr>
          <p:cNvPr id="29" name="Rounded Rectangle 28"/>
          <p:cNvSpPr/>
          <p:nvPr/>
        </p:nvSpPr>
        <p:spPr>
          <a:xfrm>
            <a:off x="5138928" y="2395728"/>
            <a:ext cx="2057400" cy="457200"/>
          </a:xfrm>
          <a:prstGeom prst="roundRect">
            <a:avLst>
              <a:gd name="adj" fmla="val 10000"/>
            </a:avLst>
          </a:prstGeom>
          <a:solidFill>
            <a:srgbClr val="FFFFFF"/>
          </a:solidFill>
          <a:ln w="9525">
            <a:solidFill>
              <a:srgbClr val="E2DCEA"/>
            </a:solidFill>
          </a:ln>
        </p:spPr>
        <p:txBody>
          <a:bodyPr rtlCol="0" anchor="ctr"/>
          <a:lstStyle/>
          <a:p>
            <a:pPr algn="ctr"/>
          </a:p>
        </p:txBody>
      </p:sp>
      <p:sp>
        <p:nvSpPr>
          <p:cNvPr id="30" name="TextBox 29"/>
          <p:cNvSpPr txBox="1"/>
          <p:nvPr/>
        </p:nvSpPr>
        <p:spPr>
          <a:xfrm>
            <a:off x="5212080" y="2395728"/>
            <a:ext cx="1938528" cy="457200"/>
          </a:xfrm>
          <a:prstGeom prst="rect">
            <a:avLst/>
          </a:prstGeom>
          <a:noFill/>
        </p:spPr>
        <p:txBody>
          <a:bodyPr wrap="square" lIns="0" rIns="0" tIns="0" bIns="0" anchor="ctr">
            <a:noAutofit/>
          </a:bodyPr>
          <a:lstStyle/>
          <a:p>
            <a:pPr algn="l">
              <a:lnSpc>
                <a:spcPct val="100000"/>
              </a:lnSpc>
            </a:pPr>
            <a:r>
              <a:rPr sz="900" b="1" i="0">
                <a:solidFill>
                  <a:srgbClr val="D55E00"/>
                </a:solidFill>
                <a:latin typeface="Arial"/>
              </a:rPr>
              <a:t>Lowest error in all 4 conditions</a:t>
            </a:r>
          </a:p>
          <a:p>
            <a:pPr algn="l">
              <a:lnSpc>
                <a:spcPct val="100000"/>
              </a:lnSpc>
            </a:pPr>
            <a:r>
              <a:rPr sz="900" b="0" i="0">
                <a:solidFill>
                  <a:srgbClr val="3A3447"/>
                </a:solidFill>
                <a:latin typeface="Arial"/>
              </a:rPr>
              <a:t>22–39% below the best baseline</a:t>
            </a:r>
          </a:p>
        </p:txBody>
      </p:sp>
      <p:sp>
        <p:nvSpPr>
          <p:cNvPr id="31" name="Source"/>
          <p:cNvSpPr txBox="1"/>
          <p:nvPr/>
        </p:nvSpPr>
        <p:spPr>
          <a:xfrm>
            <a:off x="457200" y="4791456"/>
            <a:ext cx="7589520" cy="201168"/>
          </a:xfrm>
          <a:prstGeom prst="rect">
            <a:avLst/>
          </a:prstGeom>
          <a:noFill/>
        </p:spPr>
        <p:txBody>
          <a:bodyPr wrap="square" lIns="0" rIns="0" tIns="0" bIns="0" anchor="ctr">
            <a:noAutofit/>
          </a:bodyPr>
          <a:lstStyle/>
          <a:p>
            <a:pPr algn="l">
              <a:lnSpc>
                <a:spcPct val="108000"/>
              </a:lnSpc>
            </a:pPr>
            <a:r>
              <a:rPr sz="850" b="0" i="0">
                <a:solidFill>
                  <a:srgbClr val="7A7387"/>
                </a:solidFill>
                <a:latin typeface="Arial"/>
              </a:rPr>
              <a:t>FlyGM [1]: Fig. 2a (one training trace per model, EMA) and Table 1 (10 evaluation rollouts of a fixed checkpoint; v in cm/s, ψ in rad/s).</a:t>
            </a:r>
          </a:p>
        </p:txBody>
      </p:sp>
      <p:sp>
        <p:nvSpPr>
          <p:cNvPr id="32" name="Slide number"/>
          <p:cNvSpPr txBox="1"/>
          <p:nvPr/>
        </p:nvSpPr>
        <p:spPr>
          <a:xfrm>
            <a:off x="8229600" y="4791456"/>
            <a:ext cx="457200" cy="201168"/>
          </a:xfrm>
          <a:prstGeom prst="rect">
            <a:avLst/>
          </a:prstGeom>
          <a:noFill/>
        </p:spPr>
        <p:txBody>
          <a:bodyPr wrap="none" lIns="0" rIns="0" tIns="0" bIns="0" anchor="ctr">
            <a:spAutoFit/>
          </a:bodyPr>
          <a:lstStyle/>
          <a:p>
            <a:pPr algn="r"/>
            <a:fld id="{5C1D9F7E-2B47-4C0B-9E55-6B0D1A3E1F01}" type="slidenum">
              <a:rPr lang="en-US" sz="900">
                <a:solidFill>
                  <a:srgbClr val="7A7387"/>
                </a:solidFill>
                <a:latin typeface="Arial"/>
              </a:rPr>
              <a:t>#</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457200" y="429768"/>
            <a:ext cx="8229600" cy="457200"/>
          </a:xfrm>
        </p:spPr>
        <p:txBody>
          <a:bodyPr wrap="square" anchor="t" lIns="0" rIns="0" tIns="0" bIns="0"/>
          <a:lstStyle/>
          <a:p>
            <a:pPr algn="l">
              <a:lnSpc>
                <a:spcPct val="100000"/>
              </a:lnSpc>
            </a:pPr>
            <a:r>
              <a:rPr sz="2400" b="1">
                <a:solidFill>
                  <a:srgbClr val="1F1A2E"/>
                </a:solidFill>
                <a:latin typeface="Arial"/>
              </a:rPr>
              <a:t>The gain holds up under ablations and GNN baselines</a:t>
            </a:r>
          </a:p>
        </p:txBody>
      </p:sp>
      <p:sp>
        <p:nvSpPr>
          <p:cNvPr id="4" name="Kicker dot"/>
          <p:cNvSpPr/>
          <p:nvPr/>
        </p:nvSpPr>
        <p:spPr>
          <a:xfrm>
            <a:off x="457200" y="278892"/>
            <a:ext cx="77724" cy="77724"/>
          </a:xfrm>
          <a:prstGeom prst="ellipse">
            <a:avLst/>
          </a:prstGeom>
          <a:solidFill>
            <a:srgbClr val="D55E00"/>
          </a:solidFill>
          <a:ln>
            <a:noFill/>
          </a:ln>
        </p:spPr>
        <p:txBody>
          <a:bodyPr rtlCol="0" anchor="ctr"/>
          <a:lstStyle/>
          <a:p>
            <a:pPr algn="ctr"/>
          </a:p>
        </p:txBody>
      </p:sp>
      <p:sp>
        <p:nvSpPr>
          <p:cNvPr id="5" name="Kicker"/>
          <p:cNvSpPr txBox="1"/>
          <p:nvPr/>
        </p:nvSpPr>
        <p:spPr>
          <a:xfrm>
            <a:off x="594360" y="233172"/>
            <a:ext cx="5943600" cy="182880"/>
          </a:xfrm>
          <a:prstGeom prst="rect">
            <a:avLst/>
          </a:prstGeom>
          <a:noFill/>
        </p:spPr>
        <p:txBody>
          <a:bodyPr wrap="square" lIns="0" rIns="0" tIns="0" bIns="0" anchor="ctr">
            <a:noAutofit/>
          </a:bodyPr>
          <a:lstStyle/>
          <a:p>
            <a:pPr algn="l">
              <a:lnSpc>
                <a:spcPct val="108000"/>
              </a:lnSpc>
            </a:pPr>
            <a:r>
              <a:rPr sz="950" b="1" i="0" spc="120">
                <a:solidFill>
                  <a:srgbClr val="660874"/>
                </a:solidFill>
                <a:latin typeface="Arial"/>
              </a:rPr>
              <a:t>RESULTS · WHAT DRIVES THE GAIN?</a:t>
            </a:r>
          </a:p>
        </p:txBody>
      </p:sp>
      <p:sp>
        <p:nvSpPr>
          <p:cNvPr id="6" name="TextBox 5"/>
          <p:cNvSpPr txBox="1"/>
          <p:nvPr/>
        </p:nvSpPr>
        <p:spPr>
          <a:xfrm>
            <a:off x="457200" y="1005840"/>
            <a:ext cx="4023360" cy="457200"/>
          </a:xfrm>
          <a:prstGeom prst="rect">
            <a:avLst/>
          </a:prstGeom>
          <a:noFill/>
        </p:spPr>
        <p:txBody>
          <a:bodyPr wrap="square" lIns="0" rIns="0" tIns="0" bIns="0" anchor="t">
            <a:noAutofit/>
          </a:bodyPr>
          <a:lstStyle/>
          <a:p>
            <a:pPr algn="l">
              <a:lnSpc>
                <a:spcPct val="102000"/>
              </a:lnSpc>
            </a:pPr>
            <a:r>
              <a:rPr sz="1250" b="1" i="0">
                <a:solidFill>
                  <a:srgbClr val="1F1A2E"/>
                </a:solidFill>
                <a:latin typeface="Arial"/>
              </a:rPr>
              <a:t>Generic GNN layers fall short</a:t>
            </a:r>
          </a:p>
          <a:p>
            <a:pPr algn="l">
              <a:lnSpc>
                <a:spcPct val="102000"/>
              </a:lnSpc>
            </a:pPr>
            <a:r>
              <a:rPr sz="1000" b="0" i="0">
                <a:solidFill>
                  <a:srgbClr val="7A7387"/>
                </a:solidFill>
                <a:latin typeface="Arial"/>
              </a:rPr>
              <a:t>Five standard GNNs on the same FlyWire neurons: average reward after IL + PPO</a:t>
            </a:r>
          </a:p>
        </p:txBody>
      </p:sp>
      <p:graphicFrame>
        <p:nvGraphicFramePr>
          <p:cNvPr id="7" name="Chart: GNN baselines"/>
          <p:cNvGraphicFramePr>
            <a:graphicFrameLocks noGrp="1"/>
          </p:cNvGraphicFramePr>
          <p:nvPr/>
        </p:nvGraphicFramePr>
        <p:xfrm>
          <a:off x="365760" y="1536192"/>
          <a:ext cx="4160520" cy="2395728"/>
        </p:xfrm>
        <a:graphic>
          <a:graphicData uri="http://schemas.openxmlformats.org/drawingml/2006/chart">
            <c:chart xmlns:c="http://schemas.openxmlformats.org/drawingml/2006/chart" r:id="rId2"/>
          </a:graphicData>
        </a:graphic>
      </p:graphicFrame>
      <p:sp>
        <p:nvSpPr>
          <p:cNvPr id="8" name="Rounded Rectangle 7"/>
          <p:cNvSpPr/>
          <p:nvPr/>
        </p:nvSpPr>
        <p:spPr>
          <a:xfrm>
            <a:off x="457200" y="4005072"/>
            <a:ext cx="4023360" cy="603504"/>
          </a:xfrm>
          <a:prstGeom prst="roundRect">
            <a:avLst>
              <a:gd name="adj" fmla="val 10000"/>
            </a:avLst>
          </a:prstGeom>
          <a:solidFill>
            <a:srgbClr val="F4F1F8"/>
          </a:solidFill>
          <a:ln>
            <a:noFill/>
          </a:ln>
        </p:spPr>
        <p:txBody>
          <a:bodyPr rtlCol="0" anchor="ctr"/>
          <a:lstStyle/>
          <a:p>
            <a:pPr algn="ctr"/>
          </a:p>
        </p:txBody>
      </p:sp>
      <p:sp>
        <p:nvSpPr>
          <p:cNvPr id="9" name="TextBox 8"/>
          <p:cNvSpPr txBox="1"/>
          <p:nvPr/>
        </p:nvSpPr>
        <p:spPr>
          <a:xfrm>
            <a:off x="594360" y="4005072"/>
            <a:ext cx="3794760" cy="603504"/>
          </a:xfrm>
          <a:prstGeom prst="rect">
            <a:avLst/>
          </a:prstGeom>
          <a:noFill/>
        </p:spPr>
        <p:txBody>
          <a:bodyPr wrap="square" lIns="0" rIns="0" tIns="0" bIns="0" anchor="ctr">
            <a:noAutofit/>
          </a:bodyPr>
          <a:lstStyle/>
          <a:p>
            <a:pPr algn="l">
              <a:lnSpc>
                <a:spcPct val="102000"/>
              </a:lnSpc>
            </a:pPr>
            <a:r>
              <a:rPr sz="1300" b="1" i="0">
                <a:solidFill>
                  <a:srgbClr val="D55E00"/>
                </a:solidFill>
                <a:latin typeface="Arial"/>
              </a:rPr>
              <a:t>2.3× </a:t>
            </a:r>
            <a:r>
              <a:rPr sz="1000" b="0" i="0">
                <a:solidFill>
                  <a:srgbClr val="3A3447"/>
                </a:solidFill>
                <a:latin typeface="Arial"/>
              </a:rPr>
              <a:t>the reward of the best standard GNN (PNA). A spiking network with the MLP layout never learns a stable gait.</a:t>
            </a:r>
          </a:p>
        </p:txBody>
      </p:sp>
      <p:sp>
        <p:nvSpPr>
          <p:cNvPr id="10" name="TextBox 9"/>
          <p:cNvSpPr txBox="1"/>
          <p:nvPr/>
        </p:nvSpPr>
        <p:spPr>
          <a:xfrm>
            <a:off x="4754880" y="1005840"/>
            <a:ext cx="3931920" cy="457200"/>
          </a:xfrm>
          <a:prstGeom prst="rect">
            <a:avLst/>
          </a:prstGeom>
          <a:noFill/>
        </p:spPr>
        <p:txBody>
          <a:bodyPr wrap="square" lIns="0" rIns="0" tIns="0" bIns="0" anchor="t">
            <a:noAutofit/>
          </a:bodyPr>
          <a:lstStyle/>
          <a:p>
            <a:pPr algn="l">
              <a:lnSpc>
                <a:spcPct val="102000"/>
              </a:lnSpc>
            </a:pPr>
            <a:r>
              <a:rPr sz="1250" b="1" i="0">
                <a:solidFill>
                  <a:srgbClr val="1F1A2E"/>
                </a:solidFill>
                <a:latin typeface="Arial"/>
              </a:rPr>
              <a:t>Every connectome variant beats the controls</a:t>
            </a:r>
          </a:p>
          <a:p>
            <a:pPr algn="l">
              <a:lnSpc>
                <a:spcPct val="102000"/>
              </a:lnSpc>
            </a:pPr>
            <a:r>
              <a:rPr sz="1000" b="0" i="0">
                <a:solidFill>
                  <a:srgbClr val="7A7387"/>
                </a:solidFill>
                <a:latin typeface="Arial"/>
              </a:rPr>
              <a:t>Ablations at the hardest condition (v = 3 cm/s, ψ = 7 rad/s): angle error (°)</a:t>
            </a:r>
          </a:p>
        </p:txBody>
      </p:sp>
      <p:graphicFrame>
        <p:nvGraphicFramePr>
          <p:cNvPr id="11" name="Chart: FlyGM ablations"/>
          <p:cNvGraphicFramePr>
            <a:graphicFrameLocks noGrp="1"/>
          </p:cNvGraphicFramePr>
          <p:nvPr/>
        </p:nvGraphicFramePr>
        <p:xfrm>
          <a:off x="4663440" y="1536192"/>
          <a:ext cx="4114800" cy="2395728"/>
        </p:xfrm>
        <a:graphic>
          <a:graphicData uri="http://schemas.openxmlformats.org/drawingml/2006/chart">
            <c:chart xmlns:c="http://schemas.openxmlformats.org/drawingml/2006/chart" r:id="rId3"/>
          </a:graphicData>
        </a:graphic>
      </p:graphicFrame>
      <p:sp>
        <p:nvSpPr>
          <p:cNvPr id="12" name="Rounded Rectangle 11"/>
          <p:cNvSpPr/>
          <p:nvPr/>
        </p:nvSpPr>
        <p:spPr>
          <a:xfrm>
            <a:off x="4754880" y="4005072"/>
            <a:ext cx="3931920" cy="603504"/>
          </a:xfrm>
          <a:prstGeom prst="roundRect">
            <a:avLst>
              <a:gd name="adj" fmla="val 10000"/>
            </a:avLst>
          </a:prstGeom>
          <a:solidFill>
            <a:srgbClr val="FBEDE3"/>
          </a:solidFill>
          <a:ln>
            <a:noFill/>
          </a:ln>
        </p:spPr>
        <p:txBody>
          <a:bodyPr rtlCol="0" anchor="ctr"/>
          <a:lstStyle/>
          <a:p>
            <a:pPr algn="ctr"/>
          </a:p>
        </p:txBody>
      </p:sp>
      <p:sp>
        <p:nvSpPr>
          <p:cNvPr id="13" name="TextBox 12"/>
          <p:cNvSpPr txBox="1"/>
          <p:nvPr/>
        </p:nvSpPr>
        <p:spPr>
          <a:xfrm>
            <a:off x="4892040" y="4005072"/>
            <a:ext cx="3703320" cy="603504"/>
          </a:xfrm>
          <a:prstGeom prst="rect">
            <a:avLst/>
          </a:prstGeom>
          <a:noFill/>
        </p:spPr>
        <p:txBody>
          <a:bodyPr wrap="square" lIns="0" rIns="0" tIns="0" bIns="0" anchor="ctr">
            <a:noAutofit/>
          </a:bodyPr>
          <a:lstStyle/>
          <a:p>
            <a:pPr algn="l">
              <a:lnSpc>
                <a:spcPct val="102000"/>
              </a:lnSpc>
            </a:pPr>
            <a:r>
              <a:rPr sz="1000" b="1" i="0">
                <a:solidFill>
                  <a:srgbClr val="D55E00"/>
                </a:solidFill>
                <a:latin typeface="Arial"/>
              </a:rPr>
              <a:t>Topology carries most of the prior; </a:t>
            </a:r>
            <a:r>
              <a:rPr sz="1000" b="0" i="0">
                <a:solidFill>
                  <a:srgbClr val="3A3447"/>
                </a:solidFill>
                <a:latin typeface="Arial"/>
              </a:rPr>
              <a:t>signed weights help most where control is hardest (8.3° vs 11.0° unweighted).</a:t>
            </a:r>
          </a:p>
        </p:txBody>
      </p:sp>
      <p:sp>
        <p:nvSpPr>
          <p:cNvPr id="14" name="Source"/>
          <p:cNvSpPr txBox="1"/>
          <p:nvPr/>
        </p:nvSpPr>
        <p:spPr>
          <a:xfrm>
            <a:off x="457200" y="4791456"/>
            <a:ext cx="7589520" cy="201168"/>
          </a:xfrm>
          <a:prstGeom prst="rect">
            <a:avLst/>
          </a:prstGeom>
          <a:noFill/>
        </p:spPr>
        <p:txBody>
          <a:bodyPr wrap="square" lIns="0" rIns="0" tIns="0" bIns="0" anchor="ctr">
            <a:noAutofit/>
          </a:bodyPr>
          <a:lstStyle/>
          <a:p>
            <a:pPr algn="l">
              <a:lnSpc>
                <a:spcPct val="108000"/>
              </a:lnSpc>
            </a:pPr>
            <a:r>
              <a:rPr sz="850" b="0" i="0">
                <a:solidFill>
                  <a:srgbClr val="7A7387"/>
                </a:solidFill>
                <a:latin typeface="Arial"/>
              </a:rPr>
              <a:t>FlyGM [1]: Tables 2–4 (Appendix). GNNs [16–20] use the largest width and depth that fit one A100 80 GB; reward table repetitions not verified.</a:t>
            </a:r>
          </a:p>
        </p:txBody>
      </p:sp>
      <p:sp>
        <p:nvSpPr>
          <p:cNvPr id="15" name="Slide number"/>
          <p:cNvSpPr txBox="1"/>
          <p:nvPr/>
        </p:nvSpPr>
        <p:spPr>
          <a:xfrm>
            <a:off x="8229600" y="4791456"/>
            <a:ext cx="457200" cy="201168"/>
          </a:xfrm>
          <a:prstGeom prst="rect">
            <a:avLst/>
          </a:prstGeom>
          <a:noFill/>
        </p:spPr>
        <p:txBody>
          <a:bodyPr wrap="none" lIns="0" rIns="0" tIns="0" bIns="0" anchor="ctr">
            <a:spAutoFit/>
          </a:bodyPr>
          <a:lstStyle/>
          <a:p>
            <a:pPr algn="r"/>
            <a:fld id="{5C1D9F7E-2B47-4C0B-9E55-6B0D1A3E1F01}" type="slidenum">
              <a:rPr lang="en-US" sz="900">
                <a:solidFill>
                  <a:srgbClr val="7A7387"/>
                </a:solidFill>
                <a:latin typeface="Arial"/>
              </a:rPr>
              <a:t>#</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457200" y="429768"/>
            <a:ext cx="8229600" cy="457200"/>
          </a:xfrm>
        </p:spPr>
        <p:txBody>
          <a:bodyPr wrap="square" anchor="t" lIns="0" rIns="0" tIns="0" bIns="0"/>
          <a:lstStyle/>
          <a:p>
            <a:pPr algn="l">
              <a:lnSpc>
                <a:spcPct val="100000"/>
              </a:lnSpc>
            </a:pPr>
            <a:r>
              <a:rPr sz="2400" b="1">
                <a:solidFill>
                  <a:srgbClr val="1F1A2E"/>
                </a:solidFill>
                <a:latin typeface="Arial"/>
              </a:rPr>
              <a:t>Next: from a brain-only graph to brain + nerve cord</a:t>
            </a:r>
          </a:p>
        </p:txBody>
      </p:sp>
      <p:sp>
        <p:nvSpPr>
          <p:cNvPr id="4" name="Kicker dot"/>
          <p:cNvSpPr/>
          <p:nvPr/>
        </p:nvSpPr>
        <p:spPr>
          <a:xfrm>
            <a:off x="457200" y="278892"/>
            <a:ext cx="77724" cy="77724"/>
          </a:xfrm>
          <a:prstGeom prst="ellipse">
            <a:avLst/>
          </a:prstGeom>
          <a:solidFill>
            <a:srgbClr val="D55E00"/>
          </a:solidFill>
          <a:ln>
            <a:noFill/>
          </a:ln>
        </p:spPr>
        <p:txBody>
          <a:bodyPr rtlCol="0" anchor="ctr"/>
          <a:lstStyle/>
          <a:p>
            <a:pPr algn="ctr"/>
          </a:p>
        </p:txBody>
      </p:sp>
      <p:sp>
        <p:nvSpPr>
          <p:cNvPr id="5" name="Kicker"/>
          <p:cNvSpPr txBox="1"/>
          <p:nvPr/>
        </p:nvSpPr>
        <p:spPr>
          <a:xfrm>
            <a:off x="594360" y="233172"/>
            <a:ext cx="5943600" cy="182880"/>
          </a:xfrm>
          <a:prstGeom prst="rect">
            <a:avLst/>
          </a:prstGeom>
          <a:noFill/>
        </p:spPr>
        <p:txBody>
          <a:bodyPr wrap="square" lIns="0" rIns="0" tIns="0" bIns="0" anchor="ctr">
            <a:noAutofit/>
          </a:bodyPr>
          <a:lstStyle/>
          <a:p>
            <a:pPr algn="l">
              <a:lnSpc>
                <a:spcPct val="108000"/>
              </a:lnSpc>
            </a:pPr>
            <a:r>
              <a:rPr sz="950" b="1" i="0" spc="120">
                <a:solidFill>
                  <a:srgbClr val="660874"/>
                </a:solidFill>
                <a:latin typeface="Arial"/>
              </a:rPr>
              <a:t>OUTLOOK</a:t>
            </a:r>
          </a:p>
        </p:txBody>
      </p:sp>
      <p:pic>
        <p:nvPicPr>
          <p:cNvPr id="6" name="Male CNS rendering (FlyEM v1.0)" descr="malecns_dorsal.png"/>
          <p:cNvPicPr>
            <a:picLocks noChangeAspect="1"/>
          </p:cNvPicPr>
          <p:nvPr/>
        </p:nvPicPr>
        <p:blipFill>
          <a:blip r:embed="rId2"/>
          <a:stretch>
            <a:fillRect/>
          </a:stretch>
        </p:blipFill>
        <p:spPr>
          <a:xfrm>
            <a:off x="365760" y="914400"/>
            <a:ext cx="4892040" cy="3596387"/>
          </a:xfrm>
          <a:prstGeom prst="rect">
            <a:avLst/>
          </a:prstGeom>
        </p:spPr>
      </p:pic>
      <p:sp>
        <p:nvSpPr>
          <p:cNvPr id="7" name="TextBox 6"/>
          <p:cNvSpPr txBox="1"/>
          <p:nvPr/>
        </p:nvSpPr>
        <p:spPr>
          <a:xfrm>
            <a:off x="502920" y="914400"/>
            <a:ext cx="1097280" cy="228600"/>
          </a:xfrm>
          <a:prstGeom prst="rect">
            <a:avLst/>
          </a:prstGeom>
          <a:noFill/>
        </p:spPr>
        <p:txBody>
          <a:bodyPr wrap="square" lIns="0" rIns="0" tIns="0" bIns="0" anchor="t">
            <a:noAutofit/>
          </a:bodyPr>
          <a:lstStyle/>
          <a:p>
            <a:pPr algn="l">
              <a:lnSpc>
                <a:spcPct val="108000"/>
              </a:lnSpc>
            </a:pPr>
            <a:r>
              <a:rPr sz="950" b="1" i="0" spc="100">
                <a:solidFill>
                  <a:srgbClr val="660874"/>
                </a:solidFill>
                <a:latin typeface="Arial"/>
              </a:rPr>
              <a:t>BRAIN</a:t>
            </a:r>
          </a:p>
        </p:txBody>
      </p:sp>
      <p:sp>
        <p:nvSpPr>
          <p:cNvPr id="8" name="TextBox 7"/>
          <p:cNvSpPr txBox="1"/>
          <p:nvPr/>
        </p:nvSpPr>
        <p:spPr>
          <a:xfrm>
            <a:off x="1691640" y="2286000"/>
            <a:ext cx="914400" cy="228600"/>
          </a:xfrm>
          <a:prstGeom prst="rect">
            <a:avLst/>
          </a:prstGeom>
          <a:noFill/>
        </p:spPr>
        <p:txBody>
          <a:bodyPr wrap="square" lIns="0" rIns="0" tIns="0" bIns="0" anchor="t">
            <a:noAutofit/>
          </a:bodyPr>
          <a:lstStyle/>
          <a:p>
            <a:pPr algn="ctr">
              <a:lnSpc>
                <a:spcPct val="108000"/>
              </a:lnSpc>
            </a:pPr>
            <a:r>
              <a:rPr sz="950" b="1" i="0" spc="100">
                <a:solidFill>
                  <a:srgbClr val="660874"/>
                </a:solidFill>
                <a:latin typeface="Arial"/>
              </a:rPr>
              <a:t>NECK</a:t>
            </a:r>
          </a:p>
        </p:txBody>
      </p:sp>
      <p:sp>
        <p:nvSpPr>
          <p:cNvPr id="9" name="TextBox 8"/>
          <p:cNvSpPr txBox="1"/>
          <p:nvPr/>
        </p:nvSpPr>
        <p:spPr>
          <a:xfrm>
            <a:off x="3246120" y="1426464"/>
            <a:ext cx="2011680" cy="228600"/>
          </a:xfrm>
          <a:prstGeom prst="rect">
            <a:avLst/>
          </a:prstGeom>
          <a:noFill/>
        </p:spPr>
        <p:txBody>
          <a:bodyPr wrap="square" lIns="0" rIns="0" tIns="0" bIns="0" anchor="t">
            <a:noAutofit/>
          </a:bodyPr>
          <a:lstStyle/>
          <a:p>
            <a:pPr algn="r">
              <a:lnSpc>
                <a:spcPct val="108000"/>
              </a:lnSpc>
            </a:pPr>
            <a:r>
              <a:rPr sz="950" b="1" i="0" spc="100">
                <a:solidFill>
                  <a:srgbClr val="660874"/>
                </a:solidFill>
                <a:latin typeface="Arial"/>
              </a:rPr>
              <a:t>VENTRAL NERVE CORD</a:t>
            </a:r>
          </a:p>
        </p:txBody>
      </p:sp>
      <p:sp>
        <p:nvSpPr>
          <p:cNvPr id="10" name="Oval 9"/>
          <p:cNvSpPr/>
          <p:nvPr/>
        </p:nvSpPr>
        <p:spPr>
          <a:xfrm>
            <a:off x="457200" y="4553712"/>
            <a:ext cx="118872" cy="118872"/>
          </a:xfrm>
          <a:prstGeom prst="ellipse">
            <a:avLst/>
          </a:prstGeom>
          <a:solidFill>
            <a:srgbClr val="E06A1B"/>
          </a:solidFill>
          <a:ln>
            <a:noFill/>
          </a:ln>
        </p:spPr>
        <p:txBody>
          <a:bodyPr rtlCol="0" anchor="ctr"/>
          <a:lstStyle/>
          <a:p>
            <a:pPr algn="ctr"/>
          </a:p>
        </p:txBody>
      </p:sp>
      <p:sp>
        <p:nvSpPr>
          <p:cNvPr id="11" name="TextBox 10"/>
          <p:cNvSpPr txBox="1"/>
          <p:nvPr/>
        </p:nvSpPr>
        <p:spPr>
          <a:xfrm>
            <a:off x="640080" y="4498848"/>
            <a:ext cx="1600200" cy="228600"/>
          </a:xfrm>
          <a:prstGeom prst="rect">
            <a:avLst/>
          </a:prstGeom>
          <a:noFill/>
        </p:spPr>
        <p:txBody>
          <a:bodyPr wrap="square" lIns="0" rIns="0" tIns="0" bIns="0" anchor="ctr">
            <a:noAutofit/>
          </a:bodyPr>
          <a:lstStyle/>
          <a:p>
            <a:pPr algn="l">
              <a:lnSpc>
                <a:spcPct val="108000"/>
              </a:lnSpc>
            </a:pPr>
            <a:r>
              <a:rPr sz="900" b="0" i="0">
                <a:solidFill>
                  <a:srgbClr val="3A3447"/>
                </a:solidFill>
                <a:latin typeface="Arial"/>
              </a:rPr>
              <a:t>Descending (brain → VNC)</a:t>
            </a:r>
          </a:p>
        </p:txBody>
      </p:sp>
      <p:sp>
        <p:nvSpPr>
          <p:cNvPr id="12" name="Oval 11"/>
          <p:cNvSpPr/>
          <p:nvPr/>
        </p:nvSpPr>
        <p:spPr>
          <a:xfrm>
            <a:off x="2084832" y="4553712"/>
            <a:ext cx="118872" cy="118872"/>
          </a:xfrm>
          <a:prstGeom prst="ellipse">
            <a:avLst/>
          </a:prstGeom>
          <a:solidFill>
            <a:srgbClr val="2B7BBF"/>
          </a:solidFill>
          <a:ln>
            <a:noFill/>
          </a:ln>
        </p:spPr>
        <p:txBody>
          <a:bodyPr rtlCol="0" anchor="ctr"/>
          <a:lstStyle/>
          <a:p>
            <a:pPr algn="ctr"/>
          </a:p>
        </p:txBody>
      </p:sp>
      <p:sp>
        <p:nvSpPr>
          <p:cNvPr id="13" name="TextBox 12"/>
          <p:cNvSpPr txBox="1"/>
          <p:nvPr/>
        </p:nvSpPr>
        <p:spPr>
          <a:xfrm>
            <a:off x="2267712" y="4498848"/>
            <a:ext cx="1600200" cy="228600"/>
          </a:xfrm>
          <a:prstGeom prst="rect">
            <a:avLst/>
          </a:prstGeom>
          <a:noFill/>
        </p:spPr>
        <p:txBody>
          <a:bodyPr wrap="square" lIns="0" rIns="0" tIns="0" bIns="0" anchor="ctr">
            <a:noAutofit/>
          </a:bodyPr>
          <a:lstStyle/>
          <a:p>
            <a:pPr algn="l">
              <a:lnSpc>
                <a:spcPct val="108000"/>
              </a:lnSpc>
            </a:pPr>
            <a:r>
              <a:rPr sz="900" b="0" i="0">
                <a:solidFill>
                  <a:srgbClr val="3A3447"/>
                </a:solidFill>
                <a:latin typeface="Arial"/>
              </a:rPr>
              <a:t>Ascending (VNC → brain)</a:t>
            </a:r>
          </a:p>
        </p:txBody>
      </p:sp>
      <p:sp>
        <p:nvSpPr>
          <p:cNvPr id="14" name="Oval 13"/>
          <p:cNvSpPr/>
          <p:nvPr/>
        </p:nvSpPr>
        <p:spPr>
          <a:xfrm>
            <a:off x="3712464" y="4553712"/>
            <a:ext cx="118872" cy="118872"/>
          </a:xfrm>
          <a:prstGeom prst="ellipse">
            <a:avLst/>
          </a:prstGeom>
          <a:solidFill>
            <a:srgbClr val="7B3FA0"/>
          </a:solidFill>
          <a:ln>
            <a:noFill/>
          </a:ln>
        </p:spPr>
        <p:txBody>
          <a:bodyPr rtlCol="0" anchor="ctr"/>
          <a:lstStyle/>
          <a:p>
            <a:pPr algn="ctr"/>
          </a:p>
        </p:txBody>
      </p:sp>
      <p:sp>
        <p:nvSpPr>
          <p:cNvPr id="15" name="TextBox 14"/>
          <p:cNvSpPr txBox="1"/>
          <p:nvPr/>
        </p:nvSpPr>
        <p:spPr>
          <a:xfrm>
            <a:off x="3895344" y="4498848"/>
            <a:ext cx="1600200" cy="228600"/>
          </a:xfrm>
          <a:prstGeom prst="rect">
            <a:avLst/>
          </a:prstGeom>
          <a:noFill/>
        </p:spPr>
        <p:txBody>
          <a:bodyPr wrap="square" lIns="0" rIns="0" tIns="0" bIns="0" anchor="ctr">
            <a:noAutofit/>
          </a:bodyPr>
          <a:lstStyle/>
          <a:p>
            <a:pPr algn="l">
              <a:lnSpc>
                <a:spcPct val="108000"/>
              </a:lnSpc>
            </a:pPr>
            <a:r>
              <a:rPr sz="900" b="0" i="0">
                <a:solidFill>
                  <a:srgbClr val="3A3447"/>
                </a:solidFill>
                <a:latin typeface="Arial"/>
              </a:rPr>
              <a:t>VNC motor neurons</a:t>
            </a:r>
          </a:p>
        </p:txBody>
      </p:sp>
      <p:sp>
        <p:nvSpPr>
          <p:cNvPr id="16" name="TextBox 15"/>
          <p:cNvSpPr txBox="1"/>
          <p:nvPr/>
        </p:nvSpPr>
        <p:spPr>
          <a:xfrm>
            <a:off x="5532120" y="987552"/>
            <a:ext cx="3154680" cy="457200"/>
          </a:xfrm>
          <a:prstGeom prst="rect">
            <a:avLst/>
          </a:prstGeom>
          <a:noFill/>
        </p:spPr>
        <p:txBody>
          <a:bodyPr wrap="square" lIns="0" rIns="0" tIns="0" bIns="0" anchor="t">
            <a:noAutofit/>
          </a:bodyPr>
          <a:lstStyle/>
          <a:p>
            <a:pPr algn="l">
              <a:lnSpc>
                <a:spcPct val="108000"/>
              </a:lnSpc>
            </a:pPr>
            <a:r>
              <a:rPr sz="3000" b="1" i="0">
                <a:solidFill>
                  <a:srgbClr val="660874"/>
                </a:solidFill>
                <a:latin typeface="Arial"/>
              </a:rPr>
              <a:t>166,700</a:t>
            </a:r>
          </a:p>
        </p:txBody>
      </p:sp>
      <p:sp>
        <p:nvSpPr>
          <p:cNvPr id="17" name="TextBox 16"/>
          <p:cNvSpPr txBox="1"/>
          <p:nvPr/>
        </p:nvSpPr>
        <p:spPr>
          <a:xfrm>
            <a:off x="5532120" y="1481328"/>
            <a:ext cx="3154680" cy="411480"/>
          </a:xfrm>
          <a:prstGeom prst="rect">
            <a:avLst/>
          </a:prstGeom>
          <a:noFill/>
        </p:spPr>
        <p:txBody>
          <a:bodyPr wrap="square" lIns="0" rIns="0" tIns="0" bIns="0" anchor="t">
            <a:noAutofit/>
          </a:bodyPr>
          <a:lstStyle/>
          <a:p>
            <a:pPr algn="l">
              <a:lnSpc>
                <a:spcPct val="103000"/>
              </a:lnSpc>
            </a:pPr>
            <a:r>
              <a:rPr sz="1050" b="0" i="0">
                <a:solidFill>
                  <a:srgbClr val="3A3447"/>
                </a:solidFill>
                <a:latin typeface="Arial"/>
              </a:rPr>
              <a:t>neurons in the first complete male central nervous system: brain and ventral nerve cord [8]</a:t>
            </a:r>
          </a:p>
        </p:txBody>
      </p:sp>
      <p:sp>
        <p:nvSpPr>
          <p:cNvPr id="18" name="TextBox 17"/>
          <p:cNvSpPr txBox="1"/>
          <p:nvPr/>
        </p:nvSpPr>
        <p:spPr>
          <a:xfrm>
            <a:off x="5532120" y="1975104"/>
            <a:ext cx="3154680" cy="256032"/>
          </a:xfrm>
          <a:prstGeom prst="rect">
            <a:avLst/>
          </a:prstGeom>
          <a:noFill/>
        </p:spPr>
        <p:txBody>
          <a:bodyPr wrap="square" lIns="0" rIns="0" tIns="0" bIns="0" anchor="t">
            <a:noAutofit/>
          </a:bodyPr>
          <a:lstStyle/>
          <a:p>
            <a:pPr algn="l">
              <a:lnSpc>
                <a:spcPct val="108000"/>
              </a:lnSpc>
            </a:pPr>
            <a:r>
              <a:rPr sz="1050" b="1" i="0">
                <a:solidFill>
                  <a:srgbClr val="E06A1B"/>
                </a:solidFill>
                <a:latin typeface="Arial"/>
              </a:rPr>
              <a:t>1,314</a:t>
            </a:r>
            <a:r>
              <a:rPr sz="1050" b="0" i="0">
                <a:solidFill>
                  <a:srgbClr val="3A3447"/>
                </a:solidFill>
                <a:latin typeface="Arial"/>
              </a:rPr>
              <a:t> descending  ·  </a:t>
            </a:r>
            <a:r>
              <a:rPr sz="1050" b="1" i="0">
                <a:solidFill>
                  <a:srgbClr val="2B7BBF"/>
                </a:solidFill>
                <a:latin typeface="Arial"/>
              </a:rPr>
              <a:t>1,846</a:t>
            </a:r>
            <a:r>
              <a:rPr sz="1050" b="0" i="0">
                <a:solidFill>
                  <a:srgbClr val="3A3447"/>
                </a:solidFill>
                <a:latin typeface="Arial"/>
              </a:rPr>
              <a:t> ascending neurons</a:t>
            </a:r>
          </a:p>
        </p:txBody>
      </p:sp>
      <p:sp>
        <p:nvSpPr>
          <p:cNvPr id="19" name="TextBox 18"/>
          <p:cNvSpPr txBox="1"/>
          <p:nvPr/>
        </p:nvSpPr>
        <p:spPr>
          <a:xfrm>
            <a:off x="5532120" y="2395728"/>
            <a:ext cx="3154680" cy="228600"/>
          </a:xfrm>
          <a:prstGeom prst="rect">
            <a:avLst/>
          </a:prstGeom>
          <a:noFill/>
        </p:spPr>
        <p:txBody>
          <a:bodyPr wrap="square" lIns="0" rIns="0" tIns="0" bIns="0" anchor="t">
            <a:noAutofit/>
          </a:bodyPr>
          <a:lstStyle/>
          <a:p>
            <a:pPr algn="l">
              <a:lnSpc>
                <a:spcPct val="108000"/>
              </a:lnSpc>
            </a:pPr>
            <a:r>
              <a:rPr sz="900" b="1" i="0" spc="100">
                <a:solidFill>
                  <a:srgbClr val="7A7387"/>
                </a:solidFill>
                <a:latin typeface="Arial"/>
              </a:rPr>
              <a:t>WHAT IT WOULD ADD TO FLYGM</a:t>
            </a:r>
          </a:p>
        </p:txBody>
      </p:sp>
      <p:sp>
        <p:nvSpPr>
          <p:cNvPr id="20" name="TextBox 19"/>
          <p:cNvSpPr txBox="1"/>
          <p:nvPr/>
        </p:nvSpPr>
        <p:spPr>
          <a:xfrm>
            <a:off x="5532120" y="2651760"/>
            <a:ext cx="3154680" cy="1325880"/>
          </a:xfrm>
          <a:prstGeom prst="rect">
            <a:avLst/>
          </a:prstGeom>
          <a:noFill/>
        </p:spPr>
        <p:txBody>
          <a:bodyPr wrap="square" lIns="0" rIns="0" tIns="0" bIns="0" anchor="t">
            <a:noAutofit/>
          </a:bodyPr>
          <a:lstStyle/>
          <a:p>
            <a:pPr algn="l" marL="146304" indent="-146304">
              <a:lnSpc>
                <a:spcPct val="104000"/>
              </a:lnSpc>
              <a:spcAft>
                <a:spcPts val="400"/>
              </a:spcAft>
              <a:buClr>
                <a:srgbClr val="D55E00"/>
              </a:buClr>
              <a:buFont typeface="Arial"/>
              <a:buChar char="•"/>
            </a:pPr>
            <a:r>
              <a:rPr sz="1050" b="1" i="0">
                <a:solidFill>
                  <a:srgbClr val="3A3447"/>
                </a:solidFill>
                <a:latin typeface="Arial"/>
              </a:rPr>
              <a:t>Real premotor and motor circuits </a:t>
            </a:r>
            <a:r>
              <a:rPr sz="1050" b="0" i="0">
                <a:solidFill>
                  <a:srgbClr val="3A3447"/>
                </a:solidFill>
                <a:latin typeface="Arial"/>
              </a:rPr>
              <a:t>between descending neurons and the legs</a:t>
            </a:r>
          </a:p>
          <a:p>
            <a:pPr algn="l" marL="146304" indent="-146304">
              <a:lnSpc>
                <a:spcPct val="104000"/>
              </a:lnSpc>
              <a:spcAft>
                <a:spcPts val="400"/>
              </a:spcAft>
              <a:buClr>
                <a:srgbClr val="D55E00"/>
              </a:buClr>
              <a:buFont typeface="Arial"/>
              <a:buChar char="•"/>
            </a:pPr>
            <a:r>
              <a:rPr sz="1050" b="1" i="0">
                <a:solidFill>
                  <a:srgbClr val="3A3447"/>
                </a:solidFill>
                <a:latin typeface="Arial"/>
              </a:rPr>
              <a:t>Ascending feedback </a:t>
            </a:r>
            <a:r>
              <a:rPr sz="1050" b="0" i="0">
                <a:solidFill>
                  <a:srgbClr val="3A3447"/>
                </a:solidFill>
                <a:latin typeface="Arial"/>
              </a:rPr>
              <a:t>from legs and wings through measured pathways</a:t>
            </a:r>
          </a:p>
          <a:p>
            <a:pPr algn="l" marL="146304" indent="-146304">
              <a:lnSpc>
                <a:spcPct val="104000"/>
              </a:lnSpc>
              <a:buClr>
                <a:srgbClr val="D55E00"/>
              </a:buClr>
              <a:buFont typeface="Arial"/>
              <a:buChar char="•"/>
            </a:pPr>
            <a:r>
              <a:rPr sz="1050" b="1" i="0">
                <a:solidFill>
                  <a:srgbClr val="3A3447"/>
                </a:solidFill>
                <a:latin typeface="Arial"/>
              </a:rPr>
              <a:t>Richer annotations: </a:t>
            </a:r>
            <a:r>
              <a:rPr sz="1050" b="0" i="0">
                <a:solidFill>
                  <a:srgbClr val="3A3447"/>
                </a:solidFill>
                <a:latin typeface="Arial"/>
              </a:rPr>
              <a:t>updated synapses [23], sex-specific cell types [24]</a:t>
            </a:r>
          </a:p>
        </p:txBody>
      </p:sp>
      <p:sp>
        <p:nvSpPr>
          <p:cNvPr id="21" name="Rounded Rectangle 20"/>
          <p:cNvSpPr/>
          <p:nvPr/>
        </p:nvSpPr>
        <p:spPr>
          <a:xfrm>
            <a:off x="5532120" y="4041648"/>
            <a:ext cx="3154680" cy="566928"/>
          </a:xfrm>
          <a:prstGeom prst="roundRect">
            <a:avLst>
              <a:gd name="adj" fmla="val 12000"/>
            </a:avLst>
          </a:prstGeom>
          <a:solidFill>
            <a:srgbClr val="F4F1F8"/>
          </a:solidFill>
          <a:ln>
            <a:noFill/>
          </a:ln>
        </p:spPr>
        <p:txBody>
          <a:bodyPr rtlCol="0" anchor="ctr"/>
          <a:lstStyle/>
          <a:p>
            <a:pPr algn="ctr"/>
          </a:p>
        </p:txBody>
      </p:sp>
      <p:sp>
        <p:nvSpPr>
          <p:cNvPr id="22" name="TextBox 21"/>
          <p:cNvSpPr txBox="1"/>
          <p:nvPr/>
        </p:nvSpPr>
        <p:spPr>
          <a:xfrm>
            <a:off x="5650992" y="4041648"/>
            <a:ext cx="2971800" cy="566928"/>
          </a:xfrm>
          <a:prstGeom prst="rect">
            <a:avLst/>
          </a:prstGeom>
          <a:noFill/>
        </p:spPr>
        <p:txBody>
          <a:bodyPr wrap="square" lIns="0" rIns="0" tIns="0" bIns="0" anchor="ctr">
            <a:noAutofit/>
          </a:bodyPr>
          <a:lstStyle/>
          <a:p>
            <a:pPr algn="l">
              <a:lnSpc>
                <a:spcPct val="102000"/>
              </a:lnSpc>
            </a:pPr>
            <a:r>
              <a:rPr sz="1000" b="1" i="0">
                <a:solidFill>
                  <a:srgbClr val="660874"/>
                </a:solidFill>
                <a:latin typeface="Arial"/>
              </a:rPr>
              <a:t>Next tests  </a:t>
            </a:r>
            <a:r>
              <a:rPr sz="1000" b="0" i="0">
                <a:solidFill>
                  <a:srgbClr val="3A3447"/>
                </a:solidFill>
                <a:latin typeface="Arial"/>
              </a:rPr>
              <a:t>longer sequences · perturbation recovery · navigation</a:t>
            </a:r>
          </a:p>
        </p:txBody>
      </p:sp>
      <p:sp>
        <p:nvSpPr>
          <p:cNvPr id="23" name="Source"/>
          <p:cNvSpPr txBox="1"/>
          <p:nvPr/>
        </p:nvSpPr>
        <p:spPr>
          <a:xfrm>
            <a:off x="457200" y="4791456"/>
            <a:ext cx="7589520" cy="201168"/>
          </a:xfrm>
          <a:prstGeom prst="rect">
            <a:avLst/>
          </a:prstGeom>
          <a:noFill/>
        </p:spPr>
        <p:txBody>
          <a:bodyPr wrap="square" lIns="0" rIns="0" tIns="0" bIns="0" anchor="ctr">
            <a:noAutofit/>
          </a:bodyPr>
          <a:lstStyle/>
          <a:p>
            <a:pPr algn="l">
              <a:lnSpc>
                <a:spcPct val="108000"/>
              </a:lnSpc>
            </a:pPr>
            <a:r>
              <a:rPr sz="850" b="0" i="0">
                <a:solidFill>
                  <a:srgbClr val="7A7387"/>
                </a:solidFill>
                <a:latin typeface="Arial"/>
              </a:rPr>
              <a:t>Outlook, not a FlyGM result. Rendered from the public FlyEM male CNS v1.0 release: brain/VNC shells and ~280 sampled neurons [8].</a:t>
            </a:r>
          </a:p>
        </p:txBody>
      </p:sp>
      <p:sp>
        <p:nvSpPr>
          <p:cNvPr id="24" name="Slide number"/>
          <p:cNvSpPr txBox="1"/>
          <p:nvPr/>
        </p:nvSpPr>
        <p:spPr>
          <a:xfrm>
            <a:off x="8229600" y="4791456"/>
            <a:ext cx="457200" cy="201168"/>
          </a:xfrm>
          <a:prstGeom prst="rect">
            <a:avLst/>
          </a:prstGeom>
          <a:noFill/>
        </p:spPr>
        <p:txBody>
          <a:bodyPr wrap="none" lIns="0" rIns="0" tIns="0" bIns="0" anchor="ctr">
            <a:spAutoFit/>
          </a:bodyPr>
          <a:lstStyle/>
          <a:p>
            <a:pPr algn="r"/>
            <a:fld id="{5C1D9F7E-2B47-4C0B-9E55-6B0D1A3E1F01}" type="slidenum">
              <a:rPr lang="en-US" sz="900">
                <a:solidFill>
                  <a:srgbClr val="7A7387"/>
                </a:solidFill>
                <a:latin typeface="Arial"/>
              </a:rPr>
              <a:t>#</a:t>
            </a:fld>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457200" y="429768"/>
            <a:ext cx="8229600" cy="457200"/>
          </a:xfrm>
        </p:spPr>
        <p:txBody>
          <a:bodyPr wrap="square" anchor="t" lIns="0" rIns="0" tIns="0" bIns="0"/>
          <a:lstStyle/>
          <a:p>
            <a:pPr algn="l">
              <a:lnSpc>
                <a:spcPct val="100000"/>
              </a:lnSpc>
            </a:pPr>
            <a:r>
              <a:rPr sz="2400" b="1">
                <a:solidFill>
                  <a:srgbClr val="1F1A2E"/>
                </a:solidFill>
                <a:latin typeface="Arial"/>
              </a:rPr>
              <a:t>Brain wiring is a useful prior for whole-body control</a:t>
            </a:r>
          </a:p>
        </p:txBody>
      </p:sp>
      <p:sp>
        <p:nvSpPr>
          <p:cNvPr id="4" name="Kicker dot"/>
          <p:cNvSpPr/>
          <p:nvPr/>
        </p:nvSpPr>
        <p:spPr>
          <a:xfrm>
            <a:off x="457200" y="278892"/>
            <a:ext cx="77724" cy="77724"/>
          </a:xfrm>
          <a:prstGeom prst="ellipse">
            <a:avLst/>
          </a:prstGeom>
          <a:solidFill>
            <a:srgbClr val="D55E00"/>
          </a:solidFill>
          <a:ln>
            <a:noFill/>
          </a:ln>
        </p:spPr>
        <p:txBody>
          <a:bodyPr rtlCol="0" anchor="ctr"/>
          <a:lstStyle/>
          <a:p>
            <a:pPr algn="ctr"/>
          </a:p>
        </p:txBody>
      </p:sp>
      <p:sp>
        <p:nvSpPr>
          <p:cNvPr id="5" name="Kicker"/>
          <p:cNvSpPr txBox="1"/>
          <p:nvPr/>
        </p:nvSpPr>
        <p:spPr>
          <a:xfrm>
            <a:off x="594360" y="233172"/>
            <a:ext cx="5943600" cy="182880"/>
          </a:xfrm>
          <a:prstGeom prst="rect">
            <a:avLst/>
          </a:prstGeom>
          <a:noFill/>
        </p:spPr>
        <p:txBody>
          <a:bodyPr wrap="square" lIns="0" rIns="0" tIns="0" bIns="0" anchor="ctr">
            <a:noAutofit/>
          </a:bodyPr>
          <a:lstStyle/>
          <a:p>
            <a:pPr algn="l">
              <a:lnSpc>
                <a:spcPct val="108000"/>
              </a:lnSpc>
            </a:pPr>
            <a:r>
              <a:rPr sz="950" b="1" i="0" spc="120">
                <a:solidFill>
                  <a:srgbClr val="660874"/>
                </a:solidFill>
                <a:latin typeface="Arial"/>
              </a:rPr>
              <a:t>TAKEAWAYS</a:t>
            </a:r>
          </a:p>
        </p:txBody>
      </p:sp>
      <p:sp>
        <p:nvSpPr>
          <p:cNvPr id="6" name="Rounded Rectangle 5"/>
          <p:cNvSpPr/>
          <p:nvPr/>
        </p:nvSpPr>
        <p:spPr>
          <a:xfrm>
            <a:off x="457200" y="1051560"/>
            <a:ext cx="2615184" cy="2331720"/>
          </a:xfrm>
          <a:prstGeom prst="roundRect">
            <a:avLst>
              <a:gd name="adj" fmla="val 6000"/>
            </a:avLst>
          </a:prstGeom>
          <a:solidFill>
            <a:srgbClr val="F4F1F8"/>
          </a:solidFill>
          <a:ln>
            <a:noFill/>
          </a:ln>
        </p:spPr>
        <p:txBody>
          <a:bodyPr rtlCol="0" anchor="ctr"/>
          <a:lstStyle/>
          <a:p>
            <a:pPr algn="ctr"/>
          </a:p>
        </p:txBody>
      </p:sp>
      <p:sp>
        <p:nvSpPr>
          <p:cNvPr id="7" name="Icon circle"/>
          <p:cNvSpPr/>
          <p:nvPr/>
        </p:nvSpPr>
        <p:spPr>
          <a:xfrm>
            <a:off x="658368" y="1234440"/>
            <a:ext cx="566928" cy="566928"/>
          </a:xfrm>
          <a:prstGeom prst="ellipse">
            <a:avLst/>
          </a:prstGeom>
          <a:solidFill>
            <a:srgbClr val="660874"/>
          </a:solidFill>
          <a:ln>
            <a:noFill/>
          </a:ln>
        </p:spPr>
        <p:txBody>
          <a:bodyPr rtlCol="0" anchor="ctr"/>
          <a:lstStyle/>
          <a:p>
            <a:pPr algn="ctr"/>
          </a:p>
        </p:txBody>
      </p:sp>
      <p:pic>
        <p:nvPicPr>
          <p:cNvPr id="8" name="Icon" descr="tree_w.png"/>
          <p:cNvPicPr>
            <a:picLocks noChangeAspect="1"/>
          </p:cNvPicPr>
          <p:nvPr/>
        </p:nvPicPr>
        <p:blipFill>
          <a:blip r:embed="rId2"/>
          <a:stretch>
            <a:fillRect/>
          </a:stretch>
        </p:blipFill>
        <p:spPr>
          <a:xfrm>
            <a:off x="771753" y="1347825"/>
            <a:ext cx="340156" cy="340156"/>
          </a:xfrm>
          <a:prstGeom prst="rect">
            <a:avLst/>
          </a:prstGeom>
        </p:spPr>
      </p:pic>
      <p:sp>
        <p:nvSpPr>
          <p:cNvPr id="9" name="TextBox 8"/>
          <p:cNvSpPr txBox="1"/>
          <p:nvPr/>
        </p:nvSpPr>
        <p:spPr>
          <a:xfrm>
            <a:off x="2386584" y="1188720"/>
            <a:ext cx="502920" cy="502920"/>
          </a:xfrm>
          <a:prstGeom prst="rect">
            <a:avLst/>
          </a:prstGeom>
          <a:noFill/>
        </p:spPr>
        <p:txBody>
          <a:bodyPr wrap="square" lIns="0" rIns="0" tIns="0" bIns="0" anchor="t">
            <a:noAutofit/>
          </a:bodyPr>
          <a:lstStyle/>
          <a:p>
            <a:pPr algn="r">
              <a:lnSpc>
                <a:spcPct val="108000"/>
              </a:lnSpc>
            </a:pPr>
            <a:r>
              <a:rPr sz="2600" b="1" i="0">
                <a:solidFill>
                  <a:srgbClr val="D9D2E3"/>
                </a:solidFill>
                <a:latin typeface="Arial"/>
              </a:rPr>
              <a:t>1</a:t>
            </a:r>
          </a:p>
        </p:txBody>
      </p:sp>
      <p:sp>
        <p:nvSpPr>
          <p:cNvPr id="10" name="TextBox 9"/>
          <p:cNvSpPr txBox="1"/>
          <p:nvPr/>
        </p:nvSpPr>
        <p:spPr>
          <a:xfrm>
            <a:off x="658368" y="1920240"/>
            <a:ext cx="2249424" cy="292608"/>
          </a:xfrm>
          <a:prstGeom prst="rect">
            <a:avLst/>
          </a:prstGeom>
          <a:noFill/>
        </p:spPr>
        <p:txBody>
          <a:bodyPr wrap="square" lIns="0" rIns="0" tIns="0" bIns="0" anchor="t">
            <a:noAutofit/>
          </a:bodyPr>
          <a:lstStyle/>
          <a:p>
            <a:pPr algn="l">
              <a:lnSpc>
                <a:spcPct val="108000"/>
              </a:lnSpc>
            </a:pPr>
            <a:r>
              <a:rPr sz="1400" b="1" i="0">
                <a:solidFill>
                  <a:srgbClr val="1F1A2E"/>
                </a:solidFill>
                <a:latin typeface="Arial"/>
              </a:rPr>
              <a:t>Wiring as architecture</a:t>
            </a:r>
          </a:p>
        </p:txBody>
      </p:sp>
      <p:sp>
        <p:nvSpPr>
          <p:cNvPr id="11" name="TextBox 10"/>
          <p:cNvSpPr txBox="1"/>
          <p:nvPr/>
        </p:nvSpPr>
        <p:spPr>
          <a:xfrm>
            <a:off x="658368" y="2267712"/>
            <a:ext cx="2249424" cy="1051560"/>
          </a:xfrm>
          <a:prstGeom prst="rect">
            <a:avLst/>
          </a:prstGeom>
          <a:noFill/>
        </p:spPr>
        <p:txBody>
          <a:bodyPr wrap="square" lIns="0" rIns="0" tIns="0" bIns="0" anchor="t">
            <a:noAutofit/>
          </a:bodyPr>
          <a:lstStyle/>
          <a:p>
            <a:pPr algn="l">
              <a:lnSpc>
                <a:spcPct val="106000"/>
              </a:lnSpc>
            </a:pPr>
            <a:r>
              <a:rPr sz="1150" b="0" i="0">
                <a:solidFill>
                  <a:srgbClr val="3A3447"/>
                </a:solidFill>
                <a:latin typeface="Arial"/>
              </a:rPr>
              <a:t>The 139k-neuron FlyWire graph becomes a trainable whole-body controller for walking, turning and flight.</a:t>
            </a:r>
          </a:p>
        </p:txBody>
      </p:sp>
      <p:sp>
        <p:nvSpPr>
          <p:cNvPr id="12" name="Rounded Rectangle 11"/>
          <p:cNvSpPr/>
          <p:nvPr/>
        </p:nvSpPr>
        <p:spPr>
          <a:xfrm>
            <a:off x="3264408" y="1051560"/>
            <a:ext cx="2615184" cy="2331720"/>
          </a:xfrm>
          <a:prstGeom prst="roundRect">
            <a:avLst>
              <a:gd name="adj" fmla="val 6000"/>
            </a:avLst>
          </a:prstGeom>
          <a:solidFill>
            <a:srgbClr val="FBEDE3"/>
          </a:solidFill>
          <a:ln>
            <a:noFill/>
          </a:ln>
        </p:spPr>
        <p:txBody>
          <a:bodyPr rtlCol="0" anchor="ctr"/>
          <a:lstStyle/>
          <a:p>
            <a:pPr algn="ctr"/>
          </a:p>
        </p:txBody>
      </p:sp>
      <p:sp>
        <p:nvSpPr>
          <p:cNvPr id="13" name="Icon circle"/>
          <p:cNvSpPr/>
          <p:nvPr/>
        </p:nvSpPr>
        <p:spPr>
          <a:xfrm>
            <a:off x="3465576" y="1234440"/>
            <a:ext cx="566928" cy="566928"/>
          </a:xfrm>
          <a:prstGeom prst="ellipse">
            <a:avLst/>
          </a:prstGeom>
          <a:solidFill>
            <a:srgbClr val="D55E00"/>
          </a:solidFill>
          <a:ln>
            <a:noFill/>
          </a:ln>
        </p:spPr>
        <p:txBody>
          <a:bodyPr rtlCol="0" anchor="ctr"/>
          <a:lstStyle/>
          <a:p>
            <a:pPr algn="ctr"/>
          </a:p>
        </p:txBody>
      </p:sp>
      <p:pic>
        <p:nvPicPr>
          <p:cNvPr id="14" name="Icon" descr="speed_w.png"/>
          <p:cNvPicPr>
            <a:picLocks noChangeAspect="1"/>
          </p:cNvPicPr>
          <p:nvPr/>
        </p:nvPicPr>
        <p:blipFill>
          <a:blip r:embed="rId3"/>
          <a:stretch>
            <a:fillRect/>
          </a:stretch>
        </p:blipFill>
        <p:spPr>
          <a:xfrm>
            <a:off x="3578961" y="1347825"/>
            <a:ext cx="340156" cy="340156"/>
          </a:xfrm>
          <a:prstGeom prst="rect">
            <a:avLst/>
          </a:prstGeom>
        </p:spPr>
      </p:pic>
      <p:sp>
        <p:nvSpPr>
          <p:cNvPr id="15" name="TextBox 14"/>
          <p:cNvSpPr txBox="1"/>
          <p:nvPr/>
        </p:nvSpPr>
        <p:spPr>
          <a:xfrm>
            <a:off x="5193792" y="1188720"/>
            <a:ext cx="502920" cy="502920"/>
          </a:xfrm>
          <a:prstGeom prst="rect">
            <a:avLst/>
          </a:prstGeom>
          <a:noFill/>
        </p:spPr>
        <p:txBody>
          <a:bodyPr wrap="square" lIns="0" rIns="0" tIns="0" bIns="0" anchor="t">
            <a:noAutofit/>
          </a:bodyPr>
          <a:lstStyle/>
          <a:p>
            <a:pPr algn="r">
              <a:lnSpc>
                <a:spcPct val="108000"/>
              </a:lnSpc>
            </a:pPr>
            <a:r>
              <a:rPr sz="2600" b="1" i="0">
                <a:solidFill>
                  <a:srgbClr val="D9D2E3"/>
                </a:solidFill>
                <a:latin typeface="Arial"/>
              </a:rPr>
              <a:t>2</a:t>
            </a:r>
          </a:p>
        </p:txBody>
      </p:sp>
      <p:sp>
        <p:nvSpPr>
          <p:cNvPr id="16" name="TextBox 15"/>
          <p:cNvSpPr txBox="1"/>
          <p:nvPr/>
        </p:nvSpPr>
        <p:spPr>
          <a:xfrm>
            <a:off x="3465576" y="1920240"/>
            <a:ext cx="2249424" cy="292608"/>
          </a:xfrm>
          <a:prstGeom prst="rect">
            <a:avLst/>
          </a:prstGeom>
          <a:noFill/>
        </p:spPr>
        <p:txBody>
          <a:bodyPr wrap="square" lIns="0" rIns="0" tIns="0" bIns="0" anchor="t">
            <a:noAutofit/>
          </a:bodyPr>
          <a:lstStyle/>
          <a:p>
            <a:pPr algn="l">
              <a:lnSpc>
                <a:spcPct val="108000"/>
              </a:lnSpc>
            </a:pPr>
            <a:r>
              <a:rPr sz="1400" b="1" i="0">
                <a:solidFill>
                  <a:srgbClr val="1F1A2E"/>
                </a:solidFill>
                <a:latin typeface="Arial"/>
              </a:rPr>
              <a:t>The real wiring matters</a:t>
            </a:r>
          </a:p>
        </p:txBody>
      </p:sp>
      <p:sp>
        <p:nvSpPr>
          <p:cNvPr id="17" name="TextBox 16"/>
          <p:cNvSpPr txBox="1"/>
          <p:nvPr/>
        </p:nvSpPr>
        <p:spPr>
          <a:xfrm>
            <a:off x="3465576" y="2267712"/>
            <a:ext cx="2249424" cy="1051560"/>
          </a:xfrm>
          <a:prstGeom prst="rect">
            <a:avLst/>
          </a:prstGeom>
          <a:noFill/>
        </p:spPr>
        <p:txBody>
          <a:bodyPr wrap="square" lIns="0" rIns="0" tIns="0" bIns="0" anchor="t">
            <a:noAutofit/>
          </a:bodyPr>
          <a:lstStyle/>
          <a:p>
            <a:pPr algn="l">
              <a:lnSpc>
                <a:spcPct val="106000"/>
              </a:lnSpc>
            </a:pPr>
            <a:r>
              <a:rPr sz="1150" b="0" i="0">
                <a:solidFill>
                  <a:srgbClr val="3A3447"/>
                </a:solidFill>
                <a:latin typeface="Arial"/>
              </a:rPr>
              <a:t>Faster imitation and lower steering error than rewired, random and MLP controls; 2.3× the reward of standard GNNs.</a:t>
            </a:r>
          </a:p>
        </p:txBody>
      </p:sp>
      <p:sp>
        <p:nvSpPr>
          <p:cNvPr id="18" name="Rounded Rectangle 17"/>
          <p:cNvSpPr/>
          <p:nvPr/>
        </p:nvSpPr>
        <p:spPr>
          <a:xfrm>
            <a:off x="6071616" y="1051560"/>
            <a:ext cx="2615184" cy="2331720"/>
          </a:xfrm>
          <a:prstGeom prst="roundRect">
            <a:avLst>
              <a:gd name="adj" fmla="val 6000"/>
            </a:avLst>
          </a:prstGeom>
          <a:solidFill>
            <a:srgbClr val="F4F1F8"/>
          </a:solidFill>
          <a:ln>
            <a:noFill/>
          </a:ln>
        </p:spPr>
        <p:txBody>
          <a:bodyPr rtlCol="0" anchor="ctr"/>
          <a:lstStyle/>
          <a:p>
            <a:pPr algn="ctr"/>
          </a:p>
        </p:txBody>
      </p:sp>
      <p:sp>
        <p:nvSpPr>
          <p:cNvPr id="19" name="Icon circle"/>
          <p:cNvSpPr/>
          <p:nvPr/>
        </p:nvSpPr>
        <p:spPr>
          <a:xfrm>
            <a:off x="6272783" y="1234440"/>
            <a:ext cx="566928" cy="566928"/>
          </a:xfrm>
          <a:prstGeom prst="ellipse">
            <a:avLst/>
          </a:prstGeom>
          <a:solidFill>
            <a:srgbClr val="660874"/>
          </a:solidFill>
          <a:ln>
            <a:noFill/>
          </a:ln>
        </p:spPr>
        <p:txBody>
          <a:bodyPr rtlCol="0" anchor="ctr"/>
          <a:lstStyle/>
          <a:p>
            <a:pPr algn="ctr"/>
          </a:p>
        </p:txBody>
      </p:sp>
      <p:pic>
        <p:nvPicPr>
          <p:cNvPr id="20" name="Icon" descr="insights_w.png"/>
          <p:cNvPicPr>
            <a:picLocks noChangeAspect="1"/>
          </p:cNvPicPr>
          <p:nvPr/>
        </p:nvPicPr>
        <p:blipFill>
          <a:blip r:embed="rId4"/>
          <a:stretch>
            <a:fillRect/>
          </a:stretch>
        </p:blipFill>
        <p:spPr>
          <a:xfrm>
            <a:off x="6386169" y="1347825"/>
            <a:ext cx="340156" cy="340156"/>
          </a:xfrm>
          <a:prstGeom prst="rect">
            <a:avLst/>
          </a:prstGeom>
        </p:spPr>
      </p:pic>
      <p:sp>
        <p:nvSpPr>
          <p:cNvPr id="21" name="TextBox 20"/>
          <p:cNvSpPr txBox="1"/>
          <p:nvPr/>
        </p:nvSpPr>
        <p:spPr>
          <a:xfrm>
            <a:off x="8001000" y="1188720"/>
            <a:ext cx="502920" cy="502920"/>
          </a:xfrm>
          <a:prstGeom prst="rect">
            <a:avLst/>
          </a:prstGeom>
          <a:noFill/>
        </p:spPr>
        <p:txBody>
          <a:bodyPr wrap="square" lIns="0" rIns="0" tIns="0" bIns="0" anchor="t">
            <a:noAutofit/>
          </a:bodyPr>
          <a:lstStyle/>
          <a:p>
            <a:pPr algn="r">
              <a:lnSpc>
                <a:spcPct val="108000"/>
              </a:lnSpc>
            </a:pPr>
            <a:r>
              <a:rPr sz="2600" b="1" i="0">
                <a:solidFill>
                  <a:srgbClr val="D9D2E3"/>
                </a:solidFill>
                <a:latin typeface="Arial"/>
              </a:rPr>
              <a:t>3</a:t>
            </a:r>
          </a:p>
        </p:txBody>
      </p:sp>
      <p:sp>
        <p:nvSpPr>
          <p:cNvPr id="22" name="TextBox 21"/>
          <p:cNvSpPr txBox="1"/>
          <p:nvPr/>
        </p:nvSpPr>
        <p:spPr>
          <a:xfrm>
            <a:off x="6272783" y="1920240"/>
            <a:ext cx="2249424" cy="292608"/>
          </a:xfrm>
          <a:prstGeom prst="rect">
            <a:avLst/>
          </a:prstGeom>
          <a:noFill/>
        </p:spPr>
        <p:txBody>
          <a:bodyPr wrap="square" lIns="0" rIns="0" tIns="0" bIns="0" anchor="t">
            <a:noAutofit/>
          </a:bodyPr>
          <a:lstStyle/>
          <a:p>
            <a:pPr algn="l">
              <a:lnSpc>
                <a:spcPct val="108000"/>
              </a:lnSpc>
            </a:pPr>
            <a:r>
              <a:rPr sz="1400" b="1" i="0">
                <a:solidFill>
                  <a:srgbClr val="1F1A2E"/>
                </a:solidFill>
                <a:latin typeface="Arial"/>
              </a:rPr>
              <a:t>Structured dynamics</a:t>
            </a:r>
          </a:p>
        </p:txBody>
      </p:sp>
      <p:sp>
        <p:nvSpPr>
          <p:cNvPr id="23" name="TextBox 22"/>
          <p:cNvSpPr txBox="1"/>
          <p:nvPr/>
        </p:nvSpPr>
        <p:spPr>
          <a:xfrm>
            <a:off x="6272783" y="2267712"/>
            <a:ext cx="2249424" cy="1051560"/>
          </a:xfrm>
          <a:prstGeom prst="rect">
            <a:avLst/>
          </a:prstGeom>
          <a:noFill/>
        </p:spPr>
        <p:txBody>
          <a:bodyPr wrap="square" lIns="0" rIns="0" tIns="0" bIns="0" anchor="t">
            <a:noAutofit/>
          </a:bodyPr>
          <a:lstStyle/>
          <a:p>
            <a:pPr algn="l">
              <a:lnSpc>
                <a:spcPct val="106000"/>
              </a:lnSpc>
            </a:pPr>
            <a:r>
              <a:rPr sz="1150" b="0" i="0">
                <a:solidFill>
                  <a:srgbClr val="3A3447"/>
                </a:solidFill>
                <a:latin typeface="Arial"/>
              </a:rPr>
              <a:t>Neuron classes show distinct, behavior-locked latent patterns that a random graph lacks (qualitative).</a:t>
            </a:r>
          </a:p>
        </p:txBody>
      </p:sp>
      <p:sp>
        <p:nvSpPr>
          <p:cNvPr id="24" name="Rounded Rectangle 23"/>
          <p:cNvSpPr/>
          <p:nvPr/>
        </p:nvSpPr>
        <p:spPr>
          <a:xfrm>
            <a:off x="457200" y="3584448"/>
            <a:ext cx="8229600" cy="566928"/>
          </a:xfrm>
          <a:prstGeom prst="roundRect">
            <a:avLst>
              <a:gd name="adj" fmla="val 12000"/>
            </a:avLst>
          </a:prstGeom>
          <a:solidFill>
            <a:srgbClr val="1F1A2E"/>
          </a:solidFill>
          <a:ln>
            <a:noFill/>
          </a:ln>
        </p:spPr>
        <p:txBody>
          <a:bodyPr rtlCol="0" anchor="ctr"/>
          <a:lstStyle/>
          <a:p>
            <a:pPr algn="ctr"/>
          </a:p>
        </p:txBody>
      </p:sp>
      <p:sp>
        <p:nvSpPr>
          <p:cNvPr id="25" name="TextBox 24"/>
          <p:cNvSpPr txBox="1"/>
          <p:nvPr/>
        </p:nvSpPr>
        <p:spPr>
          <a:xfrm>
            <a:off x="658368" y="3584448"/>
            <a:ext cx="7863840" cy="566928"/>
          </a:xfrm>
          <a:prstGeom prst="rect">
            <a:avLst/>
          </a:prstGeom>
          <a:noFill/>
        </p:spPr>
        <p:txBody>
          <a:bodyPr wrap="square" lIns="0" rIns="0" tIns="0" bIns="0" anchor="ctr">
            <a:noAutofit/>
          </a:bodyPr>
          <a:lstStyle/>
          <a:p>
            <a:pPr algn="l">
              <a:lnSpc>
                <a:spcPct val="108000"/>
              </a:lnSpc>
            </a:pPr>
            <a:r>
              <a:rPr sz="1500" b="1" i="0">
                <a:solidFill>
                  <a:srgbClr val="F0A46B"/>
                </a:solidFill>
                <a:latin typeface="Arial"/>
              </a:rPr>
              <a:t>Not an upload, </a:t>
            </a:r>
            <a:r>
              <a:rPr sz="1500" b="1" i="0">
                <a:solidFill>
                  <a:srgbClr val="FFFFFF"/>
                </a:solidFill>
                <a:latin typeface="Arial"/>
              </a:rPr>
              <a:t>but a testable, connectome-structured controller.</a:t>
            </a:r>
          </a:p>
        </p:txBody>
      </p:sp>
      <p:sp>
        <p:nvSpPr>
          <p:cNvPr id="26" name="TextBox 25"/>
          <p:cNvSpPr txBox="1"/>
          <p:nvPr/>
        </p:nvSpPr>
        <p:spPr>
          <a:xfrm>
            <a:off x="457200" y="4261104"/>
            <a:ext cx="8229600" cy="365760"/>
          </a:xfrm>
          <a:prstGeom prst="rect">
            <a:avLst/>
          </a:prstGeom>
          <a:noFill/>
        </p:spPr>
        <p:txBody>
          <a:bodyPr wrap="square" lIns="0" rIns="0" tIns="0" bIns="0" anchor="ctr">
            <a:noAutofit/>
          </a:bodyPr>
          <a:lstStyle/>
          <a:p>
            <a:pPr algn="l">
              <a:lnSpc>
                <a:spcPct val="108000"/>
              </a:lnSpc>
            </a:pPr>
            <a:r>
              <a:rPr sz="1100" b="1" i="0">
                <a:solidFill>
                  <a:srgbClr val="660874"/>
                </a:solidFill>
                <a:latin typeface="Arial"/>
              </a:rPr>
              <a:t>Open:  </a:t>
            </a:r>
            <a:r>
              <a:rPr sz="1100" b="0" i="0">
                <a:solidFill>
                  <a:srgbClr val="3A3447"/>
                </a:solidFill>
                <a:latin typeface="Arial"/>
              </a:rPr>
              <a:t>biological fidelity of the learned dynamics  ·  learning without demonstrations  ·  other bodies and simulators</a:t>
            </a:r>
          </a:p>
        </p:txBody>
      </p:sp>
      <p:sp>
        <p:nvSpPr>
          <p:cNvPr id="27" name="Source"/>
          <p:cNvSpPr txBox="1"/>
          <p:nvPr/>
        </p:nvSpPr>
        <p:spPr>
          <a:xfrm>
            <a:off x="457200" y="4791456"/>
            <a:ext cx="7589520" cy="201168"/>
          </a:xfrm>
          <a:prstGeom prst="rect">
            <a:avLst/>
          </a:prstGeom>
          <a:noFill/>
        </p:spPr>
        <p:txBody>
          <a:bodyPr wrap="square" lIns="0" rIns="0" tIns="0" bIns="0" anchor="ctr">
            <a:noAutofit/>
          </a:bodyPr>
          <a:lstStyle/>
          <a:p>
            <a:pPr algn="l">
              <a:lnSpc>
                <a:spcPct val="108000"/>
              </a:lnSpc>
            </a:pPr>
            <a:r>
              <a:rPr sz="850" b="0" i="0">
                <a:solidFill>
                  <a:srgbClr val="7A7387"/>
                </a:solidFill>
                <a:latin typeface="Arial"/>
              </a:rPr>
              <a:t>FlyGM [1]. Comparisons use the shared IL + PPO pipeline; representation analysis is qualitative (Appendix H).</a:t>
            </a:r>
          </a:p>
        </p:txBody>
      </p:sp>
      <p:sp>
        <p:nvSpPr>
          <p:cNvPr id="28" name="Slide number"/>
          <p:cNvSpPr txBox="1"/>
          <p:nvPr/>
        </p:nvSpPr>
        <p:spPr>
          <a:xfrm>
            <a:off x="8229600" y="4791456"/>
            <a:ext cx="457200" cy="201168"/>
          </a:xfrm>
          <a:prstGeom prst="rect">
            <a:avLst/>
          </a:prstGeom>
          <a:noFill/>
        </p:spPr>
        <p:txBody>
          <a:bodyPr wrap="none" lIns="0" rIns="0" tIns="0" bIns="0" anchor="ctr">
            <a:spAutoFit/>
          </a:bodyPr>
          <a:lstStyle/>
          <a:p>
            <a:pPr algn="r"/>
            <a:fld id="{5C1D9F7E-2B47-4C0B-9E55-6B0D1A3E1F01}" type="slidenum">
              <a:rPr lang="en-US" sz="900">
                <a:solidFill>
                  <a:srgbClr val="7A7387"/>
                </a:solidFill>
                <a:latin typeface="Arial"/>
              </a:rPr>
              <a:t>#</a:t>
            </a:fld>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111F"/>
        </a:solidFill>
        <a:effectLst/>
      </p:bgPr>
    </p:bg>
    <p:spTree>
      <p:nvGrpSpPr>
        <p:cNvPr id="1" name=""/>
        <p:cNvGrpSpPr/>
        <p:nvPr/>
      </p:nvGrpSpPr>
      <p:grpSpPr/>
      <p:sp>
        <p:nvSpPr>
          <p:cNvPr id="3" name="Title 2"/>
          <p:cNvSpPr>
            <a:spLocks noGrp="1"/>
          </p:cNvSpPr>
          <p:nvPr>
            <p:ph type="title"/>
          </p:nvPr>
        </p:nvSpPr>
        <p:spPr>
          <a:xfrm>
            <a:off x="548640" y="731520"/>
            <a:ext cx="3657600" cy="731520"/>
          </a:xfrm>
        </p:spPr>
        <p:txBody>
          <a:bodyPr wrap="square" anchor="t" lIns="0" rIns="0" tIns="0" bIns="0"/>
          <a:lstStyle/>
          <a:p>
            <a:pPr algn="l">
              <a:lnSpc>
                <a:spcPct val="100000"/>
              </a:lnSpc>
            </a:pPr>
            <a:r>
              <a:rPr sz="4000" b="1">
                <a:solidFill>
                  <a:srgbClr val="FFFFFF"/>
                </a:solidFill>
                <a:latin typeface="Arial"/>
              </a:rPr>
              <a:t>Thank you</a:t>
            </a:r>
          </a:p>
        </p:txBody>
      </p:sp>
      <p:sp>
        <p:nvSpPr>
          <p:cNvPr id="4" name="TextBox 3"/>
          <p:cNvSpPr txBox="1"/>
          <p:nvPr/>
        </p:nvSpPr>
        <p:spPr>
          <a:xfrm>
            <a:off x="548640" y="1481328"/>
            <a:ext cx="3657600" cy="320040"/>
          </a:xfrm>
          <a:prstGeom prst="rect">
            <a:avLst/>
          </a:prstGeom>
          <a:noFill/>
        </p:spPr>
        <p:txBody>
          <a:bodyPr wrap="square" lIns="0" rIns="0" tIns="0" bIns="0" anchor="t">
            <a:noAutofit/>
          </a:bodyPr>
          <a:lstStyle/>
          <a:p>
            <a:pPr algn="l">
              <a:lnSpc>
                <a:spcPct val="108000"/>
              </a:lnSpc>
            </a:pPr>
            <a:r>
              <a:rPr sz="1600" b="0" i="0">
                <a:solidFill>
                  <a:srgbClr val="E6DEF3"/>
                </a:solidFill>
                <a:latin typeface="Arial"/>
              </a:rPr>
              <a:t>Questions are welcome.</a:t>
            </a:r>
          </a:p>
        </p:txBody>
      </p:sp>
      <p:sp>
        <p:nvSpPr>
          <p:cNvPr id="5" name="TextBox 4"/>
          <p:cNvSpPr txBox="1"/>
          <p:nvPr/>
        </p:nvSpPr>
        <p:spPr>
          <a:xfrm>
            <a:off x="548640" y="2103120"/>
            <a:ext cx="3657600" cy="274320"/>
          </a:xfrm>
          <a:prstGeom prst="rect">
            <a:avLst/>
          </a:prstGeom>
          <a:noFill/>
        </p:spPr>
        <p:txBody>
          <a:bodyPr wrap="square" lIns="0" rIns="0" tIns="0" bIns="0" anchor="t">
            <a:noAutofit/>
          </a:bodyPr>
          <a:lstStyle/>
          <a:p>
            <a:pPr algn="l">
              <a:lnSpc>
                <a:spcPct val="108000"/>
              </a:lnSpc>
            </a:pPr>
            <a:r>
              <a:rPr sz="1000" b="1" i="0" spc="150">
                <a:solidFill>
                  <a:srgbClr val="F0A46B"/>
                </a:solidFill>
                <a:latin typeface="Arial"/>
              </a:rPr>
              <a:t>SEE THE DEMOS</a:t>
            </a:r>
          </a:p>
        </p:txBody>
      </p:sp>
      <p:sp>
        <p:nvSpPr>
          <p:cNvPr id="6" name="TextBox 5"/>
          <p:cNvSpPr txBox="1"/>
          <p:nvPr/>
        </p:nvSpPr>
        <p:spPr>
          <a:xfrm>
            <a:off x="548640" y="2377440"/>
            <a:ext cx="3840480" cy="320040"/>
          </a:xfrm>
          <a:prstGeom prst="rect">
            <a:avLst/>
          </a:prstGeom>
          <a:noFill/>
        </p:spPr>
        <p:txBody>
          <a:bodyPr wrap="square" lIns="0" rIns="0" tIns="0" bIns="0" anchor="t">
            <a:noAutofit/>
          </a:bodyPr>
          <a:lstStyle/>
          <a:p>
            <a:pPr algn="l">
              <a:lnSpc>
                <a:spcPct val="108000"/>
              </a:lnSpc>
            </a:pPr>
            <a:r>
              <a:rPr sz="1700" b="1" i="0">
                <a:solidFill>
                  <a:srgbClr val="FFFFFF"/>
                </a:solidFill>
                <a:latin typeface="Arial"/>
              </a:rPr>
              <a:t>lnsgroup.cc/research/FlyGM</a:t>
            </a:r>
          </a:p>
        </p:txBody>
      </p:sp>
      <p:sp>
        <p:nvSpPr>
          <p:cNvPr id="7" name="TextBox 6"/>
          <p:cNvSpPr txBox="1"/>
          <p:nvPr/>
        </p:nvSpPr>
        <p:spPr>
          <a:xfrm>
            <a:off x="548640" y="2724912"/>
            <a:ext cx="3657600" cy="457200"/>
          </a:xfrm>
          <a:prstGeom prst="rect">
            <a:avLst/>
          </a:prstGeom>
          <a:noFill/>
        </p:spPr>
        <p:txBody>
          <a:bodyPr wrap="square" lIns="0" rIns="0" tIns="0" bIns="0" anchor="t">
            <a:noAutofit/>
          </a:bodyPr>
          <a:lstStyle/>
          <a:p>
            <a:pPr algn="l">
              <a:lnSpc>
                <a:spcPct val="105000"/>
              </a:lnSpc>
            </a:pPr>
            <a:r>
              <a:rPr sz="1150" b="0" i="0">
                <a:solidFill>
                  <a:srgbClr val="B9AECB"/>
                </a:solidFill>
                <a:latin typeface="Arial"/>
              </a:rPr>
              <a:t>Walking, turning and flight videos with live connectome activity.</a:t>
            </a:r>
          </a:p>
        </p:txBody>
      </p:sp>
      <p:sp>
        <p:nvSpPr>
          <p:cNvPr id="8" name="Rounded Rectangle 7"/>
          <p:cNvSpPr/>
          <p:nvPr/>
        </p:nvSpPr>
        <p:spPr>
          <a:xfrm>
            <a:off x="548640" y="3401568"/>
            <a:ext cx="1234440" cy="1234440"/>
          </a:xfrm>
          <a:prstGeom prst="roundRect">
            <a:avLst>
              <a:gd name="adj" fmla="val 10000"/>
            </a:avLst>
          </a:prstGeom>
          <a:solidFill>
            <a:srgbClr val="FFFFFF"/>
          </a:solidFill>
          <a:ln>
            <a:noFill/>
          </a:ln>
        </p:spPr>
        <p:txBody>
          <a:bodyPr rtlCol="0" anchor="ctr"/>
          <a:lstStyle/>
          <a:p>
            <a:pPr algn="ctr"/>
          </a:p>
        </p:txBody>
      </p:sp>
      <p:pic>
        <p:nvPicPr>
          <p:cNvPr id="9" name="QR code: lnsgroup.cc/research/FlyGM" descr="qr_flygm.png">
            <a:hlinkClick r:id="rId3"/>
          </p:cNvPr>
          <p:cNvPicPr>
            <a:picLocks noChangeAspect="1"/>
          </p:cNvPicPr>
          <p:nvPr/>
        </p:nvPicPr>
        <p:blipFill>
          <a:blip r:embed="rId2"/>
          <a:stretch>
            <a:fillRect/>
          </a:stretch>
        </p:blipFill>
        <p:spPr>
          <a:xfrm>
            <a:off x="621792" y="3474720"/>
            <a:ext cx="1088136" cy="1088136"/>
          </a:xfrm>
          <a:prstGeom prst="rect">
            <a:avLst/>
          </a:prstGeom>
        </p:spPr>
      </p:pic>
      <p:sp>
        <p:nvSpPr>
          <p:cNvPr id="10" name="TextBox 9"/>
          <p:cNvSpPr txBox="1"/>
          <p:nvPr/>
        </p:nvSpPr>
        <p:spPr>
          <a:xfrm>
            <a:off x="1938528" y="3401568"/>
            <a:ext cx="2377440" cy="1234440"/>
          </a:xfrm>
          <a:prstGeom prst="rect">
            <a:avLst/>
          </a:prstGeom>
          <a:noFill/>
        </p:spPr>
        <p:txBody>
          <a:bodyPr wrap="square" lIns="0" rIns="0" tIns="0" bIns="0" anchor="ctr">
            <a:noAutofit/>
          </a:bodyPr>
          <a:lstStyle/>
          <a:p>
            <a:pPr algn="l">
              <a:lnSpc>
                <a:spcPct val="115000"/>
              </a:lnSpc>
            </a:pPr>
            <a:r>
              <a:rPr sz="1100" b="1" i="0">
                <a:solidFill>
                  <a:srgbClr val="FFFFFF"/>
                </a:solidFill>
                <a:latin typeface="Arial"/>
              </a:rPr>
              <a:t>Zehao Jin, Yaoye Zhu,</a:t>
            </a:r>
          </a:p>
          <a:p>
            <a:pPr algn="l">
              <a:lnSpc>
                <a:spcPct val="115000"/>
              </a:lnSpc>
            </a:pPr>
            <a:r>
              <a:rPr sz="1100" b="1" i="0">
                <a:solidFill>
                  <a:srgbClr val="FFFFFF"/>
                </a:solidFill>
                <a:latin typeface="Arial"/>
              </a:rPr>
              <a:t>Chen Zhang, Yanan Sui</a:t>
            </a:r>
          </a:p>
          <a:p>
            <a:pPr algn="l">
              <a:lnSpc>
                <a:spcPct val="115000"/>
              </a:lnSpc>
            </a:pPr>
            <a:r>
              <a:rPr sz="1100" b="0" i="0">
                <a:solidFill>
                  <a:srgbClr val="B9AECB"/>
                </a:solidFill>
                <a:latin typeface="Arial"/>
              </a:rPr>
              <a:t>Tsinghua University · LNS Group</a:t>
            </a:r>
          </a:p>
        </p:txBody>
      </p:sp>
      <p:sp>
        <p:nvSpPr>
          <p:cNvPr id="11" name="Demo stills panel"/>
          <p:cNvSpPr/>
          <p:nvPr/>
        </p:nvSpPr>
        <p:spPr>
          <a:xfrm>
            <a:off x="4572000" y="777240"/>
            <a:ext cx="4114800" cy="3840480"/>
          </a:xfrm>
          <a:prstGeom prst="roundRect">
            <a:avLst>
              <a:gd name="adj" fmla="val 4000"/>
            </a:avLst>
          </a:prstGeom>
          <a:solidFill>
            <a:srgbClr val="251C31"/>
          </a:solidFill>
          <a:ln>
            <a:noFill/>
          </a:ln>
        </p:spPr>
        <p:txBody>
          <a:bodyPr rtlCol="0" anchor="ctr"/>
          <a:lstStyle/>
          <a:p>
            <a:pPr algn="ctr"/>
          </a:p>
        </p:txBody>
      </p:sp>
      <p:sp>
        <p:nvSpPr>
          <p:cNvPr id="12" name="TextBox 11"/>
          <p:cNvSpPr txBox="1"/>
          <p:nvPr/>
        </p:nvSpPr>
        <p:spPr>
          <a:xfrm>
            <a:off x="4800600" y="960120"/>
            <a:ext cx="3657600" cy="228600"/>
          </a:xfrm>
          <a:prstGeom prst="rect">
            <a:avLst/>
          </a:prstGeom>
          <a:noFill/>
        </p:spPr>
        <p:txBody>
          <a:bodyPr wrap="square" lIns="0" rIns="0" tIns="0" bIns="0" anchor="t">
            <a:noAutofit/>
          </a:bodyPr>
          <a:lstStyle/>
          <a:p>
            <a:pPr algn="l">
              <a:lnSpc>
                <a:spcPct val="108000"/>
              </a:lnSpc>
            </a:pPr>
            <a:r>
              <a:rPr sz="900" b="1" i="0" spc="120">
                <a:solidFill>
                  <a:srgbClr val="C9B8E8"/>
                </a:solidFill>
                <a:latin typeface="Arial"/>
              </a:rPr>
              <a:t>STILLS FROM THE DEMO VIDEOS</a:t>
            </a:r>
          </a:p>
        </p:txBody>
      </p:sp>
      <p:pic>
        <p:nvPicPr>
          <p:cNvPr id="13" name="Picture 12" descr="image.png">
            <a:hlinkClick r:id="rId3"/>
          </p:cNvPr>
          <p:cNvPicPr>
            <a:picLocks noChangeAspect="1"/>
          </p:cNvPicPr>
          <p:nvPr/>
        </p:nvPicPr>
        <p:blipFill>
          <a:blip r:embed="rId4"/>
          <a:stretch>
            <a:fillRect/>
          </a:stretch>
        </p:blipFill>
        <p:spPr>
          <a:xfrm>
            <a:off x="4800600" y="1280160"/>
            <a:ext cx="1783080" cy="1002982"/>
          </a:xfrm>
          <a:prstGeom prst="rect">
            <a:avLst/>
          </a:prstGeom>
        </p:spPr>
      </p:pic>
      <p:sp>
        <p:nvSpPr>
          <p:cNvPr id="14" name="TextBox 13"/>
          <p:cNvSpPr txBox="1"/>
          <p:nvPr/>
        </p:nvSpPr>
        <p:spPr>
          <a:xfrm>
            <a:off x="4800600" y="2328862"/>
            <a:ext cx="1783080" cy="201168"/>
          </a:xfrm>
          <a:prstGeom prst="rect">
            <a:avLst/>
          </a:prstGeom>
          <a:noFill/>
        </p:spPr>
        <p:txBody>
          <a:bodyPr wrap="square" lIns="0" rIns="0" tIns="0" bIns="0" anchor="t">
            <a:noAutofit/>
          </a:bodyPr>
          <a:lstStyle/>
          <a:p>
            <a:pPr algn="l">
              <a:lnSpc>
                <a:spcPct val="108000"/>
              </a:lnSpc>
            </a:pPr>
            <a:r>
              <a:rPr sz="850" b="0" i="0">
                <a:solidFill>
                  <a:srgbClr val="B9AECB"/>
                </a:solidFill>
                <a:latin typeface="Arial"/>
              </a:rPr>
              <a:t>Gait initiation and walking</a:t>
            </a:r>
          </a:p>
        </p:txBody>
      </p:sp>
      <p:pic>
        <p:nvPicPr>
          <p:cNvPr id="15" name="Picture 14" descr="image.png">
            <a:hlinkClick r:id="rId3"/>
          </p:cNvPr>
          <p:cNvPicPr>
            <a:picLocks noChangeAspect="1"/>
          </p:cNvPicPr>
          <p:nvPr/>
        </p:nvPicPr>
        <p:blipFill>
          <a:blip r:embed="rId5"/>
          <a:stretch>
            <a:fillRect/>
          </a:stretch>
        </p:blipFill>
        <p:spPr>
          <a:xfrm>
            <a:off x="6675120" y="1280160"/>
            <a:ext cx="1783080" cy="1002982"/>
          </a:xfrm>
          <a:prstGeom prst="rect">
            <a:avLst/>
          </a:prstGeom>
        </p:spPr>
      </p:pic>
      <p:sp>
        <p:nvSpPr>
          <p:cNvPr id="16" name="TextBox 15"/>
          <p:cNvSpPr txBox="1"/>
          <p:nvPr/>
        </p:nvSpPr>
        <p:spPr>
          <a:xfrm>
            <a:off x="6675120" y="2328862"/>
            <a:ext cx="1783080" cy="201168"/>
          </a:xfrm>
          <a:prstGeom prst="rect">
            <a:avLst/>
          </a:prstGeom>
          <a:noFill/>
        </p:spPr>
        <p:txBody>
          <a:bodyPr wrap="square" lIns="0" rIns="0" tIns="0" bIns="0" anchor="t">
            <a:noAutofit/>
          </a:bodyPr>
          <a:lstStyle/>
          <a:p>
            <a:pPr algn="l">
              <a:lnSpc>
                <a:spcPct val="108000"/>
              </a:lnSpc>
            </a:pPr>
            <a:r>
              <a:rPr sz="850" b="0" i="0">
                <a:solidFill>
                  <a:srgbClr val="B9AECB"/>
                </a:solidFill>
                <a:latin typeface="Arial"/>
              </a:rPr>
              <a:t>Flight</a:t>
            </a:r>
          </a:p>
        </p:txBody>
      </p:sp>
      <p:pic>
        <p:nvPicPr>
          <p:cNvPr id="17" name="Picture 16" descr="image.png">
            <a:hlinkClick r:id="rId3"/>
          </p:cNvPr>
          <p:cNvPicPr>
            <a:picLocks noChangeAspect="1"/>
          </p:cNvPicPr>
          <p:nvPr/>
        </p:nvPicPr>
        <p:blipFill>
          <a:blip r:embed="rId6"/>
          <a:stretch>
            <a:fillRect/>
          </a:stretch>
        </p:blipFill>
        <p:spPr>
          <a:xfrm>
            <a:off x="4800600" y="2560320"/>
            <a:ext cx="3657600" cy="1619250"/>
          </a:xfrm>
          <a:prstGeom prst="rect">
            <a:avLst/>
          </a:prstGeom>
        </p:spPr>
      </p:pic>
      <p:sp>
        <p:nvSpPr>
          <p:cNvPr id="18" name="TextBox 17"/>
          <p:cNvSpPr txBox="1"/>
          <p:nvPr/>
        </p:nvSpPr>
        <p:spPr>
          <a:xfrm>
            <a:off x="4800600" y="4225290"/>
            <a:ext cx="3657600" cy="201168"/>
          </a:xfrm>
          <a:prstGeom prst="rect">
            <a:avLst/>
          </a:prstGeom>
          <a:noFill/>
        </p:spPr>
        <p:txBody>
          <a:bodyPr wrap="square" lIns="0" rIns="0" tIns="0" bIns="0" anchor="t">
            <a:noAutofit/>
          </a:bodyPr>
          <a:lstStyle/>
          <a:p>
            <a:pPr algn="l">
              <a:lnSpc>
                <a:spcPct val="108000"/>
              </a:lnSpc>
            </a:pPr>
            <a:r>
              <a:rPr sz="850" b="0" i="0">
                <a:solidFill>
                  <a:srgbClr val="B9AECB"/>
                </a:solidFill>
                <a:latin typeface="Arial"/>
              </a:rPr>
              <a:t>Walk → pause → turn, with model activity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457200" y="429768"/>
            <a:ext cx="8229600" cy="457200"/>
          </a:xfrm>
        </p:spPr>
        <p:txBody>
          <a:bodyPr wrap="square" anchor="t" lIns="0" rIns="0" tIns="0" bIns="0"/>
          <a:lstStyle/>
          <a:p>
            <a:pPr algn="l">
              <a:lnSpc>
                <a:spcPct val="100000"/>
              </a:lnSpc>
            </a:pPr>
            <a:r>
              <a:rPr sz="2400" b="1">
                <a:solidFill>
                  <a:srgbClr val="1F1A2E"/>
                </a:solidFill>
                <a:latin typeface="Arial"/>
              </a:rPr>
              <a:t>References and resources</a:t>
            </a:r>
          </a:p>
        </p:txBody>
      </p:sp>
      <p:sp>
        <p:nvSpPr>
          <p:cNvPr id="4" name="Kicker dot"/>
          <p:cNvSpPr/>
          <p:nvPr/>
        </p:nvSpPr>
        <p:spPr>
          <a:xfrm>
            <a:off x="457200" y="278892"/>
            <a:ext cx="77724" cy="77724"/>
          </a:xfrm>
          <a:prstGeom prst="ellipse">
            <a:avLst/>
          </a:prstGeom>
          <a:solidFill>
            <a:srgbClr val="D55E00"/>
          </a:solidFill>
          <a:ln>
            <a:noFill/>
          </a:ln>
        </p:spPr>
        <p:txBody>
          <a:bodyPr rtlCol="0" anchor="ctr"/>
          <a:lstStyle/>
          <a:p>
            <a:pPr algn="ctr"/>
          </a:p>
        </p:txBody>
      </p:sp>
      <p:sp>
        <p:nvSpPr>
          <p:cNvPr id="5" name="Kicker"/>
          <p:cNvSpPr txBox="1"/>
          <p:nvPr/>
        </p:nvSpPr>
        <p:spPr>
          <a:xfrm>
            <a:off x="594360" y="233172"/>
            <a:ext cx="5943600" cy="182880"/>
          </a:xfrm>
          <a:prstGeom prst="rect">
            <a:avLst/>
          </a:prstGeom>
          <a:noFill/>
        </p:spPr>
        <p:txBody>
          <a:bodyPr wrap="square" lIns="0" rIns="0" tIns="0" bIns="0" anchor="ctr">
            <a:noAutofit/>
          </a:bodyPr>
          <a:lstStyle/>
          <a:p>
            <a:pPr algn="l">
              <a:lnSpc>
                <a:spcPct val="108000"/>
              </a:lnSpc>
            </a:pPr>
            <a:r>
              <a:rPr sz="950" b="1" i="0" spc="120">
                <a:solidFill>
                  <a:srgbClr val="660874"/>
                </a:solidFill>
                <a:latin typeface="Arial"/>
              </a:rPr>
              <a:t>BACKUP</a:t>
            </a:r>
          </a:p>
        </p:txBody>
      </p:sp>
      <p:sp>
        <p:nvSpPr>
          <p:cNvPr id="6" name="Rounded Rectangle 5"/>
          <p:cNvSpPr/>
          <p:nvPr/>
        </p:nvSpPr>
        <p:spPr>
          <a:xfrm>
            <a:off x="457200" y="987552"/>
            <a:ext cx="8229600" cy="530352"/>
          </a:xfrm>
          <a:prstGeom prst="roundRect">
            <a:avLst>
              <a:gd name="adj" fmla="val 12000"/>
            </a:avLst>
          </a:prstGeom>
          <a:solidFill>
            <a:srgbClr val="F4F1F8"/>
          </a:solidFill>
          <a:ln>
            <a:noFill/>
          </a:ln>
        </p:spPr>
        <p:txBody>
          <a:bodyPr rtlCol="0" anchor="ctr"/>
          <a:lstStyle/>
          <a:p>
            <a:pPr algn="ctr"/>
          </a:p>
        </p:txBody>
      </p:sp>
      <p:sp>
        <p:nvSpPr>
          <p:cNvPr id="7" name="TextBox 6"/>
          <p:cNvSpPr txBox="1"/>
          <p:nvPr/>
        </p:nvSpPr>
        <p:spPr>
          <a:xfrm>
            <a:off x="621792" y="1033271"/>
            <a:ext cx="1748332" cy="438912"/>
          </a:xfrm>
          <a:prstGeom prst="rect">
            <a:avLst/>
          </a:prstGeom>
          <a:noFill/>
        </p:spPr>
        <p:txBody>
          <a:bodyPr wrap="square" lIns="0" rIns="0" tIns="0" bIns="0" anchor="t">
            <a:noAutofit/>
          </a:bodyPr>
          <a:lstStyle/>
          <a:p>
            <a:pPr algn="l">
              <a:lnSpc>
                <a:spcPct val="105000"/>
              </a:lnSpc>
            </a:pPr>
            <a:r>
              <a:rPr sz="800" b="1" i="0" spc="80">
                <a:solidFill>
                  <a:srgbClr val="660874"/>
                </a:solidFill>
                <a:latin typeface="Arial"/>
              </a:rPr>
              <a:t>DEMO PAGE</a:t>
            </a:r>
          </a:p>
          <a:p>
            <a:pPr algn="l">
              <a:lnSpc>
                <a:spcPct val="105000"/>
              </a:lnSpc>
            </a:pPr>
            <a:r>
              <a:rPr sz="1000" b="1" i="0">
                <a:solidFill>
                  <a:srgbClr val="1F1A2E"/>
                </a:solidFill>
                <a:latin typeface="Arial"/>
                <a:hlinkClick r:id="rId2"/>
              </a:rPr>
              <a:t>lnsgroup.cc/research/FlyGM</a:t>
            </a:r>
          </a:p>
        </p:txBody>
      </p:sp>
      <p:sp>
        <p:nvSpPr>
          <p:cNvPr id="8" name="TextBox 7"/>
          <p:cNvSpPr txBox="1"/>
          <p:nvPr/>
        </p:nvSpPr>
        <p:spPr>
          <a:xfrm>
            <a:off x="2461564" y="1033271"/>
            <a:ext cx="1181404" cy="438912"/>
          </a:xfrm>
          <a:prstGeom prst="rect">
            <a:avLst/>
          </a:prstGeom>
          <a:noFill/>
        </p:spPr>
        <p:txBody>
          <a:bodyPr wrap="square" lIns="0" rIns="0" tIns="0" bIns="0" anchor="t">
            <a:noAutofit/>
          </a:bodyPr>
          <a:lstStyle/>
          <a:p>
            <a:pPr algn="l">
              <a:lnSpc>
                <a:spcPct val="105000"/>
              </a:lnSpc>
            </a:pPr>
            <a:r>
              <a:rPr sz="800" b="1" i="0" spc="80">
                <a:solidFill>
                  <a:srgbClr val="660874"/>
                </a:solidFill>
                <a:latin typeface="Arial"/>
              </a:rPr>
              <a:t>PAPER (PREPRINT)</a:t>
            </a:r>
          </a:p>
          <a:p>
            <a:pPr algn="l">
              <a:lnSpc>
                <a:spcPct val="105000"/>
              </a:lnSpc>
            </a:pPr>
            <a:r>
              <a:rPr sz="1000" b="1" i="0">
                <a:solidFill>
                  <a:srgbClr val="1F1A2E"/>
                </a:solidFill>
                <a:latin typeface="Arial"/>
                <a:hlinkClick r:id="rId3"/>
              </a:rPr>
              <a:t>arXiv:2602.17997</a:t>
            </a:r>
          </a:p>
        </p:txBody>
      </p:sp>
      <p:sp>
        <p:nvSpPr>
          <p:cNvPr id="9" name="TextBox 8"/>
          <p:cNvSpPr txBox="1"/>
          <p:nvPr/>
        </p:nvSpPr>
        <p:spPr>
          <a:xfrm>
            <a:off x="3734409" y="1033271"/>
            <a:ext cx="2485339" cy="438912"/>
          </a:xfrm>
          <a:prstGeom prst="rect">
            <a:avLst/>
          </a:prstGeom>
          <a:noFill/>
        </p:spPr>
        <p:txBody>
          <a:bodyPr wrap="square" lIns="0" rIns="0" tIns="0" bIns="0" anchor="t">
            <a:noAutofit/>
          </a:bodyPr>
          <a:lstStyle/>
          <a:p>
            <a:pPr algn="l">
              <a:lnSpc>
                <a:spcPct val="105000"/>
              </a:lnSpc>
            </a:pPr>
            <a:r>
              <a:rPr sz="800" b="1" i="0" spc="80">
                <a:solidFill>
                  <a:srgbClr val="660874"/>
                </a:solidFill>
                <a:latin typeface="Arial"/>
              </a:rPr>
              <a:t>CONNECTOME DATA</a:t>
            </a:r>
          </a:p>
          <a:p>
            <a:pPr algn="l">
              <a:lnSpc>
                <a:spcPct val="105000"/>
              </a:lnSpc>
            </a:pPr>
            <a:r>
              <a:rPr sz="1000" b="1" i="0">
                <a:solidFill>
                  <a:srgbClr val="1F1A2E"/>
                </a:solidFill>
                <a:latin typeface="Arial"/>
                <a:hlinkClick r:id="rId4"/>
              </a:rPr>
              <a:t>codex.flywire.ai · male-cns.janelia.org</a:t>
            </a:r>
          </a:p>
        </p:txBody>
      </p:sp>
      <p:sp>
        <p:nvSpPr>
          <p:cNvPr id="10" name="TextBox 9"/>
          <p:cNvSpPr txBox="1"/>
          <p:nvPr/>
        </p:nvSpPr>
        <p:spPr>
          <a:xfrm>
            <a:off x="6311188" y="1033271"/>
            <a:ext cx="1861718" cy="438912"/>
          </a:xfrm>
          <a:prstGeom prst="rect">
            <a:avLst/>
          </a:prstGeom>
          <a:noFill/>
        </p:spPr>
        <p:txBody>
          <a:bodyPr wrap="square" lIns="0" rIns="0" tIns="0" bIns="0" anchor="t">
            <a:noAutofit/>
          </a:bodyPr>
          <a:lstStyle/>
          <a:p>
            <a:pPr algn="l">
              <a:lnSpc>
                <a:spcPct val="105000"/>
              </a:lnSpc>
            </a:pPr>
            <a:r>
              <a:rPr sz="800" b="1" i="0" spc="80">
                <a:solidFill>
                  <a:srgbClr val="660874"/>
                </a:solidFill>
                <a:latin typeface="Arial"/>
              </a:rPr>
              <a:t>BODY SIMULATOR</a:t>
            </a:r>
          </a:p>
          <a:p>
            <a:pPr algn="l">
              <a:lnSpc>
                <a:spcPct val="105000"/>
              </a:lnSpc>
            </a:pPr>
            <a:r>
              <a:rPr sz="1000" b="1" i="0">
                <a:solidFill>
                  <a:srgbClr val="1F1A2E"/>
                </a:solidFill>
                <a:latin typeface="Arial"/>
                <a:hlinkClick r:id="rId5"/>
              </a:rPr>
              <a:t>github.com/TuragaLab/flybody</a:t>
            </a:r>
          </a:p>
        </p:txBody>
      </p:sp>
      <p:sp>
        <p:nvSpPr>
          <p:cNvPr id="11" name="TextBox 10"/>
          <p:cNvSpPr txBox="1"/>
          <p:nvPr/>
        </p:nvSpPr>
        <p:spPr>
          <a:xfrm>
            <a:off x="457200" y="1645920"/>
            <a:ext cx="4023360" cy="3063240"/>
          </a:xfrm>
          <a:prstGeom prst="rect">
            <a:avLst/>
          </a:prstGeom>
          <a:noFill/>
        </p:spPr>
        <p:txBody>
          <a:bodyPr wrap="square" lIns="0" rIns="0" tIns="0" bIns="0" anchor="t">
            <a:noAutofit/>
          </a:bodyPr>
          <a:lstStyle/>
          <a:p>
            <a:pPr algn="l">
              <a:lnSpc>
                <a:spcPct val="100000"/>
              </a:lnSpc>
              <a:spcAft>
                <a:spcPts val="220"/>
              </a:spcAft>
            </a:pPr>
            <a:r>
              <a:rPr sz="800" b="1" i="0">
                <a:solidFill>
                  <a:srgbClr val="660874"/>
                </a:solidFill>
                <a:latin typeface="Arial"/>
              </a:rPr>
              <a:t>[1]  </a:t>
            </a:r>
            <a:r>
              <a:rPr sz="800" b="0" i="0">
                <a:solidFill>
                  <a:srgbClr val="3A3447"/>
                </a:solidFill>
                <a:latin typeface="Arial"/>
              </a:rPr>
              <a:t>Z. Jin, Y. Zhu, C. Zhang, Y. Sui. Whole-brain connectomic graph model enables whole-body locomotion control in fruit fly. AIAS+ 2026; arXiv:2602.17997.</a:t>
            </a:r>
          </a:p>
          <a:p>
            <a:pPr algn="l">
              <a:lnSpc>
                <a:spcPct val="100000"/>
              </a:lnSpc>
              <a:spcAft>
                <a:spcPts val="220"/>
              </a:spcAft>
            </a:pPr>
            <a:r>
              <a:rPr sz="800" b="1" i="0">
                <a:solidFill>
                  <a:srgbClr val="660874"/>
                </a:solidFill>
                <a:latin typeface="Arial"/>
              </a:rPr>
              <a:t>[2]  </a:t>
            </a:r>
            <a:r>
              <a:rPr sz="800" b="0" i="0">
                <a:solidFill>
                  <a:srgbClr val="3A3447"/>
                </a:solidFill>
                <a:latin typeface="Arial"/>
              </a:rPr>
              <a:t>S. Dorkenwald et al. Neuronal wiring diagram of an adult brain. Nature 634, 124–138 (2024).</a:t>
            </a:r>
          </a:p>
          <a:p>
            <a:pPr algn="l">
              <a:lnSpc>
                <a:spcPct val="100000"/>
              </a:lnSpc>
              <a:spcAft>
                <a:spcPts val="220"/>
              </a:spcAft>
            </a:pPr>
            <a:r>
              <a:rPr sz="800" b="1" i="0">
                <a:solidFill>
                  <a:srgbClr val="660874"/>
                </a:solidFill>
                <a:latin typeface="Arial"/>
              </a:rPr>
              <a:t>[3]  </a:t>
            </a:r>
            <a:r>
              <a:rPr sz="800" b="0" i="0">
                <a:solidFill>
                  <a:srgbClr val="3A3447"/>
                </a:solidFill>
                <a:latin typeface="Arial"/>
              </a:rPr>
              <a:t>P. Schlegel et al. Whole-brain annotation and multi-connectome cell typing of Drosophila. Nature 634, 139–152 (2024).</a:t>
            </a:r>
          </a:p>
          <a:p>
            <a:pPr algn="l">
              <a:lnSpc>
                <a:spcPct val="100000"/>
              </a:lnSpc>
              <a:spcAft>
                <a:spcPts val="220"/>
              </a:spcAft>
            </a:pPr>
            <a:r>
              <a:rPr sz="800" b="1" i="0">
                <a:solidFill>
                  <a:srgbClr val="660874"/>
                </a:solidFill>
                <a:latin typeface="Arial"/>
              </a:rPr>
              <a:t>[4]  </a:t>
            </a:r>
            <a:r>
              <a:rPr sz="800" b="0" i="0">
                <a:solidFill>
                  <a:srgbClr val="3A3447"/>
                </a:solidFill>
                <a:latin typeface="Arial"/>
              </a:rPr>
              <a:t>P. K. Shiu et al. A Drosophila computational brain model reveals sensorimotor processing. Nature 634, 210–219 (2024).</a:t>
            </a:r>
          </a:p>
          <a:p>
            <a:pPr algn="l">
              <a:lnSpc>
                <a:spcPct val="100000"/>
              </a:lnSpc>
              <a:spcAft>
                <a:spcPts val="220"/>
              </a:spcAft>
            </a:pPr>
            <a:r>
              <a:rPr sz="800" b="1" i="0">
                <a:solidFill>
                  <a:srgbClr val="660874"/>
                </a:solidFill>
                <a:latin typeface="Arial"/>
              </a:rPr>
              <a:t>[5]  </a:t>
            </a:r>
            <a:r>
              <a:rPr sz="800" b="0" i="0">
                <a:solidFill>
                  <a:srgbClr val="3A3447"/>
                </a:solidFill>
                <a:latin typeface="Arial"/>
              </a:rPr>
              <a:t>J. K. Lappalainen et al. Connectome-constrained networks predict neural activity across the fly visual system. Nature 634, 1132–1140 (2024).</a:t>
            </a:r>
          </a:p>
          <a:p>
            <a:pPr algn="l">
              <a:lnSpc>
                <a:spcPct val="100000"/>
              </a:lnSpc>
              <a:spcAft>
                <a:spcPts val="220"/>
              </a:spcAft>
            </a:pPr>
            <a:r>
              <a:rPr sz="800" b="1" i="0">
                <a:solidFill>
                  <a:srgbClr val="660874"/>
                </a:solidFill>
                <a:latin typeface="Arial"/>
              </a:rPr>
              <a:t>[6]  </a:t>
            </a:r>
            <a:r>
              <a:rPr sz="800" b="0" i="0">
                <a:solidFill>
                  <a:srgbClr val="3A3447"/>
                </a:solidFill>
                <a:latin typeface="Arial"/>
              </a:rPr>
              <a:t>S. Wang-Chen et al. NeuroMechFly v2: simulating embodied sensorimotor control in adult Drosophila. Nat. Methods 21, 2353–2362 (2024).</a:t>
            </a:r>
          </a:p>
          <a:p>
            <a:pPr algn="l">
              <a:lnSpc>
                <a:spcPct val="100000"/>
              </a:lnSpc>
              <a:spcAft>
                <a:spcPts val="220"/>
              </a:spcAft>
            </a:pPr>
            <a:r>
              <a:rPr sz="800" b="1" i="0">
                <a:solidFill>
                  <a:srgbClr val="660874"/>
                </a:solidFill>
                <a:latin typeface="Arial"/>
              </a:rPr>
              <a:t>[7]  </a:t>
            </a:r>
            <a:r>
              <a:rPr sz="800" b="0" i="0">
                <a:solidFill>
                  <a:srgbClr val="3A3447"/>
                </a:solidFill>
                <a:latin typeface="Arial"/>
              </a:rPr>
              <a:t>R. Vaxenburg et al. Whole-body physics simulation of fruit fly locomotion. Nature 643, 1312–1320 (2025).</a:t>
            </a:r>
          </a:p>
          <a:p>
            <a:pPr algn="l">
              <a:lnSpc>
                <a:spcPct val="100000"/>
              </a:lnSpc>
              <a:spcAft>
                <a:spcPts val="220"/>
              </a:spcAft>
            </a:pPr>
            <a:r>
              <a:rPr sz="800" b="1" i="0">
                <a:solidFill>
                  <a:srgbClr val="660874"/>
                </a:solidFill>
                <a:latin typeface="Arial"/>
              </a:rPr>
              <a:t>[8]  </a:t>
            </a:r>
            <a:r>
              <a:rPr sz="800" b="0" i="0">
                <a:solidFill>
                  <a:srgbClr val="3A3447"/>
                </a:solidFill>
                <a:latin typeface="Arial"/>
              </a:rPr>
              <a:t>S. Berg et al. Sexual dimorphism in the complete connectome of the Drosophila male central nervous system. Cell 189, 5504–5526 (2026).</a:t>
            </a:r>
          </a:p>
          <a:p>
            <a:pPr algn="l">
              <a:lnSpc>
                <a:spcPct val="100000"/>
              </a:lnSpc>
              <a:spcAft>
                <a:spcPts val="220"/>
              </a:spcAft>
            </a:pPr>
            <a:r>
              <a:rPr sz="800" b="1" i="0">
                <a:solidFill>
                  <a:srgbClr val="660874"/>
                </a:solidFill>
                <a:latin typeface="Arial"/>
              </a:rPr>
              <a:t>[9]  </a:t>
            </a:r>
            <a:r>
              <a:rPr sz="800" b="0" i="0">
                <a:solidFill>
                  <a:srgbClr val="3A3447"/>
                </a:solidFill>
                <a:latin typeface="Arial"/>
              </a:rPr>
              <a:t>Eon Systems. “We’ve uploaded a fruit fly”; “How the Eon team produced a virtual embodied fly”. eon.systems/updates (Mar 2026).</a:t>
            </a:r>
          </a:p>
          <a:p>
            <a:pPr algn="l">
              <a:lnSpc>
                <a:spcPct val="100000"/>
              </a:lnSpc>
              <a:spcAft>
                <a:spcPts val="220"/>
              </a:spcAft>
            </a:pPr>
            <a:r>
              <a:rPr sz="800" b="1" i="0">
                <a:solidFill>
                  <a:srgbClr val="660874"/>
                </a:solidFill>
                <a:latin typeface="Arial"/>
              </a:rPr>
              <a:t>[10]  </a:t>
            </a:r>
            <a:r>
              <a:rPr sz="800" b="0" i="0">
                <a:solidFill>
                  <a:srgbClr val="3A3447"/>
                </a:solidFill>
                <a:latin typeface="Arial"/>
              </a:rPr>
              <a:t>A. Zeleznikow-Johnston. No, we haven’t uploaded a fly yet. LessWrong (Mar 2026).</a:t>
            </a:r>
          </a:p>
          <a:p>
            <a:pPr algn="l">
              <a:lnSpc>
                <a:spcPct val="100000"/>
              </a:lnSpc>
              <a:spcAft>
                <a:spcPts val="220"/>
              </a:spcAft>
            </a:pPr>
            <a:r>
              <a:rPr sz="800" b="1" i="0">
                <a:solidFill>
                  <a:srgbClr val="660874"/>
                </a:solidFill>
                <a:latin typeface="Arial"/>
              </a:rPr>
              <a:t>[11]  </a:t>
            </a:r>
            <a:r>
              <a:rPr sz="800" b="0" i="0">
                <a:solidFill>
                  <a:srgbClr val="3A3447"/>
                </a:solidFill>
                <a:latin typeface="Arial"/>
              </a:rPr>
              <a:t>P. Mineault. Deconstructing viral fly sims. NeuroAI, neuroai.science (2026).</a:t>
            </a:r>
          </a:p>
          <a:p>
            <a:pPr algn="l">
              <a:lnSpc>
                <a:spcPct val="100000"/>
              </a:lnSpc>
              <a:spcAft>
                <a:spcPts val="220"/>
              </a:spcAft>
            </a:pPr>
            <a:r>
              <a:rPr sz="800" b="1" i="0">
                <a:solidFill>
                  <a:srgbClr val="660874"/>
                </a:solidFill>
                <a:latin typeface="Arial"/>
              </a:rPr>
              <a:t>[12]  </a:t>
            </a:r>
            <a:r>
              <a:rPr sz="800" b="0" i="0">
                <a:solidFill>
                  <a:srgbClr val="3A3447"/>
                </a:solidFill>
                <a:latin typeface="Arial"/>
              </a:rPr>
              <a:t>D. A. Pospisil et al. The fly connectome reveals a path to the effectome. Nature 634, 201–209 (2024).</a:t>
            </a:r>
          </a:p>
        </p:txBody>
      </p:sp>
      <p:sp>
        <p:nvSpPr>
          <p:cNvPr id="12" name="TextBox 11"/>
          <p:cNvSpPr txBox="1"/>
          <p:nvPr/>
        </p:nvSpPr>
        <p:spPr>
          <a:xfrm>
            <a:off x="4663440" y="1645920"/>
            <a:ext cx="4023360" cy="3063240"/>
          </a:xfrm>
          <a:prstGeom prst="rect">
            <a:avLst/>
          </a:prstGeom>
          <a:noFill/>
        </p:spPr>
        <p:txBody>
          <a:bodyPr wrap="square" lIns="0" rIns="0" tIns="0" bIns="0" anchor="t">
            <a:noAutofit/>
          </a:bodyPr>
          <a:lstStyle/>
          <a:p>
            <a:pPr algn="l">
              <a:lnSpc>
                <a:spcPct val="100000"/>
              </a:lnSpc>
              <a:spcAft>
                <a:spcPts val="220"/>
              </a:spcAft>
            </a:pPr>
            <a:r>
              <a:rPr sz="800" b="1" i="0">
                <a:solidFill>
                  <a:srgbClr val="660874"/>
                </a:solidFill>
                <a:latin typeface="Arial"/>
              </a:rPr>
              <a:t>[13]  </a:t>
            </a:r>
            <a:r>
              <a:rPr sz="800" b="0" i="0">
                <a:solidFill>
                  <a:srgbClr val="3A3447"/>
                </a:solidFill>
                <a:latin typeface="Arial"/>
              </a:rPr>
              <a:t>N. Eckstein et al. Neurotransmitter classification from electron microscopy images at synaptic sites in Drosophila melanogaster. Cell 187, 2574–2594 (2024).</a:t>
            </a:r>
          </a:p>
          <a:p>
            <a:pPr algn="l">
              <a:lnSpc>
                <a:spcPct val="100000"/>
              </a:lnSpc>
              <a:spcAft>
                <a:spcPts val="220"/>
              </a:spcAft>
            </a:pPr>
            <a:r>
              <a:rPr sz="800" b="1" i="0">
                <a:solidFill>
                  <a:srgbClr val="660874"/>
                </a:solidFill>
                <a:latin typeface="Arial"/>
              </a:rPr>
              <a:t>[14]  </a:t>
            </a:r>
            <a:r>
              <a:rPr sz="800" b="0" i="0">
                <a:solidFill>
                  <a:srgbClr val="3A3447"/>
                </a:solidFill>
                <a:latin typeface="Arial"/>
              </a:rPr>
              <a:t>E. Todorov, T. Erez, Y. Tassa. MuJoCo: a physics engine for model-based control. IROS, 5026–5033 (2012).</a:t>
            </a:r>
          </a:p>
          <a:p>
            <a:pPr algn="l">
              <a:lnSpc>
                <a:spcPct val="100000"/>
              </a:lnSpc>
              <a:spcAft>
                <a:spcPts val="220"/>
              </a:spcAft>
            </a:pPr>
            <a:r>
              <a:rPr sz="800" b="1" i="0">
                <a:solidFill>
                  <a:srgbClr val="660874"/>
                </a:solidFill>
                <a:latin typeface="Arial"/>
              </a:rPr>
              <a:t>[15]  </a:t>
            </a:r>
            <a:r>
              <a:rPr sz="800" b="0" i="0">
                <a:solidFill>
                  <a:srgbClr val="3A3447"/>
                </a:solidFill>
                <a:latin typeface="Arial"/>
              </a:rPr>
              <a:t>J. Schulman et al. Proximal policy optimization algorithms. arXiv:1707.06347 (2017).</a:t>
            </a:r>
          </a:p>
          <a:p>
            <a:pPr algn="l">
              <a:lnSpc>
                <a:spcPct val="100000"/>
              </a:lnSpc>
              <a:spcAft>
                <a:spcPts val="220"/>
              </a:spcAft>
            </a:pPr>
            <a:r>
              <a:rPr sz="800" b="1" i="0">
                <a:solidFill>
                  <a:srgbClr val="660874"/>
                </a:solidFill>
                <a:latin typeface="Arial"/>
              </a:rPr>
              <a:t>[16]  </a:t>
            </a:r>
            <a:r>
              <a:rPr sz="800" b="0" i="0">
                <a:solidFill>
                  <a:srgbClr val="3A3447"/>
                </a:solidFill>
                <a:latin typeface="Arial"/>
              </a:rPr>
              <a:t>T. N. Kipf, M. Welling. Semi-supervised classification with graph convolutional networks. ICLR (2017).</a:t>
            </a:r>
          </a:p>
          <a:p>
            <a:pPr algn="l">
              <a:lnSpc>
                <a:spcPct val="100000"/>
              </a:lnSpc>
              <a:spcAft>
                <a:spcPts val="220"/>
              </a:spcAft>
            </a:pPr>
            <a:r>
              <a:rPr sz="800" b="1" i="0">
                <a:solidFill>
                  <a:srgbClr val="660874"/>
                </a:solidFill>
                <a:latin typeface="Arial"/>
              </a:rPr>
              <a:t>[17]  </a:t>
            </a:r>
            <a:r>
              <a:rPr sz="800" b="0" i="0">
                <a:solidFill>
                  <a:srgbClr val="3A3447"/>
                </a:solidFill>
                <a:latin typeface="Arial"/>
              </a:rPr>
              <a:t>Y. Wang et al. Dynamic graph CNN for learning on point clouds. ACM Trans. Graph. 38, 1–12 (2019).</a:t>
            </a:r>
          </a:p>
          <a:p>
            <a:pPr algn="l">
              <a:lnSpc>
                <a:spcPct val="100000"/>
              </a:lnSpc>
              <a:spcAft>
                <a:spcPts val="220"/>
              </a:spcAft>
            </a:pPr>
            <a:r>
              <a:rPr sz="800" b="1" i="0">
                <a:solidFill>
                  <a:srgbClr val="660874"/>
                </a:solidFill>
                <a:latin typeface="Arial"/>
              </a:rPr>
              <a:t>[18]  </a:t>
            </a:r>
            <a:r>
              <a:rPr sz="800" b="0" i="0">
                <a:solidFill>
                  <a:srgbClr val="3A3447"/>
                </a:solidFill>
                <a:latin typeface="Arial"/>
              </a:rPr>
              <a:t>W. Hamilton, Z. Ying, J. Leskovec. Inductive representation learning on large graphs. NeurIPS 30 (2017).</a:t>
            </a:r>
          </a:p>
          <a:p>
            <a:pPr algn="l">
              <a:lnSpc>
                <a:spcPct val="100000"/>
              </a:lnSpc>
              <a:spcAft>
                <a:spcPts val="220"/>
              </a:spcAft>
            </a:pPr>
            <a:r>
              <a:rPr sz="800" b="1" i="0">
                <a:solidFill>
                  <a:srgbClr val="660874"/>
                </a:solidFill>
                <a:latin typeface="Arial"/>
              </a:rPr>
              <a:t>[19]  </a:t>
            </a:r>
            <a:r>
              <a:rPr sz="800" b="0" i="0">
                <a:solidFill>
                  <a:srgbClr val="3A3447"/>
                </a:solidFill>
                <a:latin typeface="Arial"/>
              </a:rPr>
              <a:t>P. Veličković et al. Graph attention networks. ICLR (2018).</a:t>
            </a:r>
          </a:p>
          <a:p>
            <a:pPr algn="l">
              <a:lnSpc>
                <a:spcPct val="100000"/>
              </a:lnSpc>
              <a:spcAft>
                <a:spcPts val="220"/>
              </a:spcAft>
            </a:pPr>
            <a:r>
              <a:rPr sz="800" b="1" i="0">
                <a:solidFill>
                  <a:srgbClr val="660874"/>
                </a:solidFill>
                <a:latin typeface="Arial"/>
              </a:rPr>
              <a:t>[20]  </a:t>
            </a:r>
            <a:r>
              <a:rPr sz="800" b="0" i="0">
                <a:solidFill>
                  <a:srgbClr val="3A3447"/>
                </a:solidFill>
                <a:latin typeface="Arial"/>
              </a:rPr>
              <a:t>G. Corso et al. Principal neighbourhood aggregation for graph nets. NeurIPS 33, 13260–13271 (2020).</a:t>
            </a:r>
          </a:p>
          <a:p>
            <a:pPr algn="l">
              <a:lnSpc>
                <a:spcPct val="100000"/>
              </a:lnSpc>
              <a:spcAft>
                <a:spcPts val="220"/>
              </a:spcAft>
            </a:pPr>
            <a:r>
              <a:rPr sz="800" b="1" i="0">
                <a:solidFill>
                  <a:srgbClr val="660874"/>
                </a:solidFill>
                <a:latin typeface="Arial"/>
              </a:rPr>
              <a:t>[21]  </a:t>
            </a:r>
            <a:r>
              <a:rPr sz="800" b="0" i="0">
                <a:solidFill>
                  <a:srgbClr val="3A3447"/>
                </a:solidFill>
                <a:latin typeface="Arial"/>
              </a:rPr>
              <a:t>B. E. Brezovec et al. Mapping the neural dynamics of locomotion across the Drosophila brain. Curr. Biol. 34, 710–726 (2024).</a:t>
            </a:r>
          </a:p>
          <a:p>
            <a:pPr algn="l">
              <a:lnSpc>
                <a:spcPct val="100000"/>
              </a:lnSpc>
              <a:spcAft>
                <a:spcPts val="220"/>
              </a:spcAft>
            </a:pPr>
            <a:r>
              <a:rPr sz="800" b="1" i="0">
                <a:solidFill>
                  <a:srgbClr val="660874"/>
                </a:solidFill>
                <a:latin typeface="Arial"/>
              </a:rPr>
              <a:t>[22]  </a:t>
            </a:r>
            <a:r>
              <a:rPr sz="800" b="0" i="0">
                <a:solidFill>
                  <a:srgbClr val="3A3447"/>
                </a:solidFill>
                <a:latin typeface="Arial"/>
              </a:rPr>
              <a:t>E. S. Schaffer et al. The spatial and temporal structure of neural activity across the fly brain. Nat. Commun. 14, 5572 (2023).</a:t>
            </a:r>
          </a:p>
          <a:p>
            <a:pPr algn="l">
              <a:lnSpc>
                <a:spcPct val="100000"/>
              </a:lnSpc>
              <a:spcAft>
                <a:spcPts val="220"/>
              </a:spcAft>
            </a:pPr>
            <a:r>
              <a:rPr sz="800" b="1" i="0">
                <a:solidFill>
                  <a:srgbClr val="660874"/>
                </a:solidFill>
                <a:latin typeface="Arial"/>
              </a:rPr>
              <a:t>[23]  </a:t>
            </a:r>
            <a:r>
              <a:rPr sz="800" b="0" i="0">
                <a:solidFill>
                  <a:srgbClr val="3A3447"/>
                </a:solidFill>
                <a:latin typeface="Arial"/>
              </a:rPr>
              <a:t>S.-C. Yu et al. New synapse detection in the whole-brain connectome of Drosophila. bioRxiv (2025).</a:t>
            </a:r>
          </a:p>
          <a:p>
            <a:pPr algn="l">
              <a:lnSpc>
                <a:spcPct val="100000"/>
              </a:lnSpc>
              <a:spcAft>
                <a:spcPts val="220"/>
              </a:spcAft>
            </a:pPr>
            <a:r>
              <a:rPr sz="800" b="1" i="0">
                <a:solidFill>
                  <a:srgbClr val="660874"/>
                </a:solidFill>
                <a:latin typeface="Arial"/>
              </a:rPr>
              <a:t>[24]  </a:t>
            </a:r>
            <a:r>
              <a:rPr sz="800" b="0" i="0">
                <a:solidFill>
                  <a:srgbClr val="3A3447"/>
                </a:solidFill>
                <a:latin typeface="Arial"/>
              </a:rPr>
              <a:t>D. Deutsch et al. Sexually-dimorphic neurons in the Drosophila whole-brain connectome. Research Square (2025).</a:t>
            </a:r>
          </a:p>
        </p:txBody>
      </p:sp>
      <p:sp>
        <p:nvSpPr>
          <p:cNvPr id="13" name="Slide number"/>
          <p:cNvSpPr txBox="1"/>
          <p:nvPr/>
        </p:nvSpPr>
        <p:spPr>
          <a:xfrm>
            <a:off x="8229600" y="4791456"/>
            <a:ext cx="457200" cy="201168"/>
          </a:xfrm>
          <a:prstGeom prst="rect">
            <a:avLst/>
          </a:prstGeom>
          <a:noFill/>
        </p:spPr>
        <p:txBody>
          <a:bodyPr wrap="none" lIns="0" rIns="0" tIns="0" bIns="0" anchor="ctr">
            <a:spAutoFit/>
          </a:bodyPr>
          <a:lstStyle/>
          <a:p>
            <a:pPr algn="r"/>
            <a:fld id="{5C1D9F7E-2B47-4C0B-9E55-6B0D1A3E1F01}" type="slidenum">
              <a:rPr lang="en-US" sz="900">
                <a:solidFill>
                  <a:srgbClr val="7A7387"/>
                </a:solidFill>
                <a:latin typeface="Arial"/>
              </a:rPr>
              <a:t>#</a:t>
            </a:fld>
          </a:p>
        </p:txBody>
      </p:sp>
    </p:spTree>
  </p:cSld>
  <p:clrMapOvr>
    <a:masterClrMapping/>
  </p:clrMapOvr>
</p:sld>
</file>

<file path=ppt/theme/theme1.xml><?xml version="1.0" encoding="utf-8"?>
<a:theme xmlns:a="http://schemas.openxmlformats.org/drawingml/2006/main" name="SU_Preso_16x9_v6">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Stanford">
      <a:majorFont>
        <a:latin typeface="Source Sans Pro Semibold"/>
        <a:ea typeface=""/>
        <a:cs typeface=""/>
      </a:majorFont>
      <a:minorFont>
        <a:latin typeface="Source Sans Pro"/>
        <a:ea typeface=""/>
        <a:cs typeface=""/>
      </a:minorFont>
    </a:fontScheme>
    <a:fmtScheme name="Stanford2">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a:solidFill>
            <a:schemeClr val="phClr"/>
          </a:solidFill>
          <a:prstDash val="solid"/>
        </a:ln>
        <a:ln w="26425">
          <a:solidFill>
            <a:schemeClr val="phClr"/>
          </a:solidFill>
          <a:prstDash val="solid"/>
        </a:ln>
        <a:ln w="44450">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U_Preso_16x9_v6">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Stanford">
      <a:majorFont>
        <a:latin typeface="Source Sans Pro Semibold"/>
        <a:ea typeface=""/>
        <a:cs typeface=""/>
      </a:majorFont>
      <a:minorFont>
        <a:latin typeface="Source Sans Pro"/>
        <a:ea typeface=""/>
        <a:cs typeface=""/>
      </a:minorFont>
    </a:fontScheme>
    <a:fmtScheme name="Stanford2">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a:solidFill>
            <a:schemeClr val="phClr"/>
          </a:solidFill>
          <a:prstDash val="solid"/>
        </a:ln>
        <a:ln w="26425">
          <a:solidFill>
            <a:schemeClr val="phClr"/>
          </a:solidFill>
          <a:prstDash val="solid"/>
        </a:ln>
        <a:ln w="44450">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2583</Words>
  <Application>Microsoft Macintosh PowerPoint</Application>
  <DocSecurity>0</DocSecurity>
  <PresentationFormat>On-screen Show (16:9)</PresentationFormat>
  <Paragraphs>170</Paragraphs>
  <Slides>14</Slides>
  <Notes>14</Notes>
  <HiddenSlides>1</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Source Sans Pro</vt:lpstr>
      <vt:lpstr>Source Sans Pro Semibold</vt:lpstr>
      <vt:lpstr>Wingdings</vt:lpstr>
      <vt:lpstr>SU_Preso_16x9_v6</vt:lpstr>
      <vt:lpstr>FlyGM Whole-Brain Connectomic Graph Model for Whole-Body Locomotion Control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FlyGM: Whole-Brain Connectomic Graph Model for Whole-Body Locomotion Control</dc:title>
  <dc:creator>Walnut Exporter</dc:creator>
  <cp:lastModifiedBy>Jin, Zehao</cp:lastModifiedBy>
  <cp:revision>1</cp:revision>
  <dcterms:created xsi:type="dcterms:W3CDTF">2026-10-26T01:42:36Z</dcterms:created>
  <dcterms:modified xsi:type="dcterms:W3CDTF">2026-10-27T04:25:53Z</dcterms:modified>
  <dc:subject>AIAS+ 2026 oral presentation</dc:subject>
</cp:coreProperties>
</file>