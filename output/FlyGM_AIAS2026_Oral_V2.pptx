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76" r:id="rId21"/>
    <p:sldId id="277" r:id="rId22"/>
    <p:sldId id="278" r:id="rId23"/>
    <p:sldId id="279" r:id="rId24"/>
    <p:sldId id="280" r:id="rId25"/>
    <p:sldId id="281" r:id="rId26"/>
    <p:sldId id="282" r:id="rId27"/>
    <p:sldId id="262" r:id="rId8"/>
    <p:sldId id="283" r:id="rId28"/>
    <p:sldId id="284" r:id="rId29"/>
    <p:sldId id="266" r:id="rId11"/>
    <p:sldId id="267" r:id="rId12"/>
    <p:sldId id="285" r:id="rId30"/>
    <p:sldId id="286" r:id="rId31"/>
    <p:sldId id="287" r:id="rId32"/>
    <p:sldId id="288" r:id="rId33"/>
    <p:sldId id="289" r:id="rId34"/>
  </p:sldIdLst>
  <p:sldSz cx="9144000" cy="5143500" type="screen16x9"/>
  <p:notesSz cx="6858000" cy="9144000"/>
  <p:defaultTextStyle>
    <a:defPPr>
      <a:buNone/>
    </a:defPPr>
    <a:lvl1pPr algn="l" defTabSz="457200">
      <a:spcBef>
        <a:spcPct val="0"/>
      </a:spcBef>
      <a:spcAft>
        <a:spcPct val="0"/>
      </a:spcAft>
      <a:buNone/>
      <a:defRPr kern="1200">
        <a:solidFill>
          <a:schemeClr val="tx1"/>
        </a:solidFill>
        <a:latin typeface="Source Sans Pro"/>
        <a:ea typeface="Source Sans Pro"/>
        <a:cs typeface="Source Sans Pro"/>
      </a:defRPr>
    </a:lvl1pPr>
    <a:lvl2pPr marL="457200" algn="l" defTabSz="457200">
      <a:spcBef>
        <a:spcPct val="0"/>
      </a:spcBef>
      <a:spcAft>
        <a:spcPct val="0"/>
      </a:spcAft>
      <a:buNone/>
      <a:defRPr kern="1200">
        <a:solidFill>
          <a:schemeClr val="tx1"/>
        </a:solidFill>
        <a:latin typeface="Source Sans Pro"/>
        <a:ea typeface="Source Sans Pro"/>
        <a:cs typeface="Source Sans Pro"/>
      </a:defRPr>
    </a:lvl2pPr>
    <a:lvl3pPr marL="914400" algn="l" defTabSz="457200">
      <a:spcBef>
        <a:spcPct val="0"/>
      </a:spcBef>
      <a:spcAft>
        <a:spcPct val="0"/>
      </a:spcAft>
      <a:buNone/>
      <a:defRPr kern="1200">
        <a:solidFill>
          <a:schemeClr val="tx1"/>
        </a:solidFill>
        <a:latin typeface="Source Sans Pro"/>
        <a:ea typeface="Source Sans Pro"/>
        <a:cs typeface="Source Sans Pro"/>
      </a:defRPr>
    </a:lvl3pPr>
    <a:lvl4pPr marL="1371600" algn="l" defTabSz="457200">
      <a:spcBef>
        <a:spcPct val="0"/>
      </a:spcBef>
      <a:spcAft>
        <a:spcPct val="0"/>
      </a:spcAft>
      <a:buNone/>
      <a:defRPr kern="1200">
        <a:solidFill>
          <a:schemeClr val="tx1"/>
        </a:solidFill>
        <a:latin typeface="Source Sans Pro"/>
        <a:ea typeface="Source Sans Pro"/>
        <a:cs typeface="Source Sans Pro"/>
      </a:defRPr>
    </a:lvl4pPr>
    <a:lvl5pPr marL="1828800" algn="l" defTabSz="457200">
      <a:spcBef>
        <a:spcPct val="0"/>
      </a:spcBef>
      <a:spcAft>
        <a:spcPct val="0"/>
      </a:spcAft>
      <a:buNone/>
      <a:defRPr kern="1200">
        <a:solidFill>
          <a:schemeClr val="tx1"/>
        </a:solidFill>
        <a:latin typeface="Source Sans Pro"/>
        <a:ea typeface="Source Sans Pro"/>
        <a:cs typeface="Source Sans Pro"/>
      </a:defRPr>
    </a:lvl5pPr>
    <a:lvl6pPr marL="2286000" algn="l" defTabSz="914400">
      <a:buNone/>
      <a:defRPr kern="1200">
        <a:solidFill>
          <a:schemeClr val="tx1"/>
        </a:solidFill>
        <a:latin typeface="Source Sans Pro"/>
        <a:ea typeface="Source Sans Pro"/>
        <a:cs typeface="Source Sans Pro"/>
      </a:defRPr>
    </a:lvl6pPr>
    <a:lvl7pPr marL="2743200" algn="l" defTabSz="914400">
      <a:buNone/>
      <a:defRPr kern="1200">
        <a:solidFill>
          <a:schemeClr val="tx1"/>
        </a:solidFill>
        <a:latin typeface="Source Sans Pro"/>
        <a:ea typeface="Source Sans Pro"/>
        <a:cs typeface="Source Sans Pro"/>
      </a:defRPr>
    </a:lvl7pPr>
    <a:lvl8pPr marL="3200400" algn="l" defTabSz="914400">
      <a:buNone/>
      <a:defRPr kern="1200">
        <a:solidFill>
          <a:schemeClr val="tx1"/>
        </a:solidFill>
        <a:latin typeface="Source Sans Pro"/>
        <a:ea typeface="Source Sans Pro"/>
        <a:cs typeface="Source Sans Pro"/>
      </a:defRPr>
    </a:lvl8pPr>
    <a:lvl9pPr marL="3657600" algn="l" defTabSz="914400">
      <a:buNone/>
      <a:defRPr kern="1200">
        <a:solidFill>
          <a:schemeClr val="tx1"/>
        </a:solidFill>
        <a:latin typeface="Source Sans Pro"/>
        <a:ea typeface="Source Sans Pro"/>
        <a:cs typeface="Source Sans Pro"/>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5"/>
  </p:normalViewPr>
  <p:slideViewPr>
    <p:cSldViewPr snapToGrid="0" snapToObjects="1">
      <p:cViewPr varScale="1">
        <p:scale>
          <a:sx n="146" d="100"/>
          <a:sy n="146" d="100"/>
        </p:scale>
        <p:origin x="6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layout>
        <c:manualLayout>
          <c:layoutTarget val="inner"/>
          <c:xMode val="edge"/>
          <c:yMode val="edge"/>
          <c:x val="0.11"/>
          <c:y val="0.03"/>
          <c:w val="0.86"/>
          <c:h val="0.8"/>
        </c:manualLayout>
      </c:layout>
      <c:scatterChart>
        <c:scatterStyle val="lineMarker"/>
        <c:varyColors val="0"/>
        <c:ser>
          <c:idx val="0"/>
          <c:order val="0"/>
          <c:tx>
            <c:strRef>
              <c:f>Sheet1!$B$1</c:f>
              <c:strCache>
                <c:ptCount val="1"/>
                <c:pt idx="0">
                  <c:v>ER-Random</c:v>
                </c:pt>
              </c:strCache>
            </c:strRef>
          </c:tx>
          <c:spPr>
            <a:ln w="22225">
              <a:solidFill>
                <a:srgbClr val="666666"/>
              </a:solidFill>
            </a:ln>
          </c:spPr>
          <c:marker>
            <c:symbol val="none"/>
          </c:marker>
          <c:xVal>
            <c:numRef>
              <c:f>Sheet1!$A$2:$A$254</c:f>
              <c:numCache>
                <c:formatCode>General</c:formatCode>
                <c:ptCount val="253"/>
                <c:pt idx="0">
                  <c:v>0.004</c:v>
                </c:pt>
                <c:pt idx="1">
                  <c:v>0.674</c:v>
                </c:pt>
                <c:pt idx="2">
                  <c:v>0.969</c:v>
                </c:pt>
                <c:pt idx="3">
                  <c:v>1.034</c:v>
                </c:pt>
                <c:pt idx="4">
                  <c:v>1.189</c:v>
                </c:pt>
                <c:pt idx="5">
                  <c:v>1.244</c:v>
                </c:pt>
                <c:pt idx="6">
                  <c:v>1.374</c:v>
                </c:pt>
                <c:pt idx="7">
                  <c:v>1.414</c:v>
                </c:pt>
                <c:pt idx="8">
                  <c:v>1.504</c:v>
                </c:pt>
                <c:pt idx="9">
                  <c:v>1.654</c:v>
                </c:pt>
                <c:pt idx="10">
                  <c:v>1.694</c:v>
                </c:pt>
                <c:pt idx="11">
                  <c:v>1.769</c:v>
                </c:pt>
                <c:pt idx="12">
                  <c:v>1.859</c:v>
                </c:pt>
                <c:pt idx="13">
                  <c:v>1.939</c:v>
                </c:pt>
                <c:pt idx="14">
                  <c:v>2.029</c:v>
                </c:pt>
                <c:pt idx="15">
                  <c:v>2.134</c:v>
                </c:pt>
                <c:pt idx="16">
                  <c:v>2.204</c:v>
                </c:pt>
                <c:pt idx="17">
                  <c:v>2.339</c:v>
                </c:pt>
                <c:pt idx="18">
                  <c:v>2.379</c:v>
                </c:pt>
                <c:pt idx="19">
                  <c:v>2.454</c:v>
                </c:pt>
                <c:pt idx="20">
                  <c:v>2.514</c:v>
                </c:pt>
                <c:pt idx="21">
                  <c:v>2.589</c:v>
                </c:pt>
                <c:pt idx="22">
                  <c:v>2.674</c:v>
                </c:pt>
                <c:pt idx="23">
                  <c:v>2.749</c:v>
                </c:pt>
                <c:pt idx="24">
                  <c:v>2.819</c:v>
                </c:pt>
                <c:pt idx="25">
                  <c:v>2.874</c:v>
                </c:pt>
                <c:pt idx="26">
                  <c:v>3.029</c:v>
                </c:pt>
                <c:pt idx="27">
                  <c:v>3.099</c:v>
                </c:pt>
                <c:pt idx="28">
                  <c:v>3.134</c:v>
                </c:pt>
                <c:pt idx="29">
                  <c:v>3.214</c:v>
                </c:pt>
                <c:pt idx="30">
                  <c:v>3.489</c:v>
                </c:pt>
                <c:pt idx="31">
                  <c:v>3.574</c:v>
                </c:pt>
                <c:pt idx="32">
                  <c:v>3.639</c:v>
                </c:pt>
                <c:pt idx="33">
                  <c:v>3.789</c:v>
                </c:pt>
                <c:pt idx="34">
                  <c:v>3.869</c:v>
                </c:pt>
                <c:pt idx="35">
                  <c:v>3.989</c:v>
                </c:pt>
                <c:pt idx="36">
                  <c:v>4.024</c:v>
                </c:pt>
                <c:pt idx="37">
                  <c:v>4.099</c:v>
                </c:pt>
                <c:pt idx="38">
                  <c:v>4.169</c:v>
                </c:pt>
                <c:pt idx="39">
                  <c:v>4.259</c:v>
                </c:pt>
                <c:pt idx="40">
                  <c:v>4.339</c:v>
                </c:pt>
                <c:pt idx="41">
                  <c:v>4.404</c:v>
                </c:pt>
                <c:pt idx="42">
                  <c:v>4.459</c:v>
                </c:pt>
                <c:pt idx="43">
                  <c:v>4.524</c:v>
                </c:pt>
                <c:pt idx="44">
                  <c:v>4.674</c:v>
                </c:pt>
                <c:pt idx="45">
                  <c:v>4.749</c:v>
                </c:pt>
                <c:pt idx="46">
                  <c:v>4.944</c:v>
                </c:pt>
                <c:pt idx="47">
                  <c:v>5.069</c:v>
                </c:pt>
                <c:pt idx="48">
                  <c:v>5.139</c:v>
                </c:pt>
                <c:pt idx="49">
                  <c:v>5.214</c:v>
                </c:pt>
                <c:pt idx="50">
                  <c:v>5.264</c:v>
                </c:pt>
                <c:pt idx="51">
                  <c:v>5.319</c:v>
                </c:pt>
                <c:pt idx="52">
                  <c:v>5.369</c:v>
                </c:pt>
                <c:pt idx="53">
                  <c:v>5.494</c:v>
                </c:pt>
                <c:pt idx="54">
                  <c:v>5.554</c:v>
                </c:pt>
                <c:pt idx="55">
                  <c:v>5.619</c:v>
                </c:pt>
                <c:pt idx="56">
                  <c:v>5.664</c:v>
                </c:pt>
                <c:pt idx="57">
                  <c:v>5.789</c:v>
                </c:pt>
                <c:pt idx="58">
                  <c:v>5.859</c:v>
                </c:pt>
                <c:pt idx="59">
                  <c:v>5.989</c:v>
                </c:pt>
                <c:pt idx="60">
                  <c:v>6.179</c:v>
                </c:pt>
                <c:pt idx="61">
                  <c:v>6.234</c:v>
                </c:pt>
                <c:pt idx="62">
                  <c:v>6.339</c:v>
                </c:pt>
                <c:pt idx="63">
                  <c:v>6.524</c:v>
                </c:pt>
                <c:pt idx="64">
                  <c:v>6.689</c:v>
                </c:pt>
                <c:pt idx="65">
                  <c:v>6.789</c:v>
                </c:pt>
                <c:pt idx="66">
                  <c:v>6.889</c:v>
                </c:pt>
                <c:pt idx="67">
                  <c:v>6.929</c:v>
                </c:pt>
                <c:pt idx="68">
                  <c:v>6.979</c:v>
                </c:pt>
                <c:pt idx="69">
                  <c:v>7.094</c:v>
                </c:pt>
                <c:pt idx="70">
                  <c:v>7.164</c:v>
                </c:pt>
                <c:pt idx="71">
                  <c:v>7.199</c:v>
                </c:pt>
                <c:pt idx="72">
                  <c:v>7.319</c:v>
                </c:pt>
                <c:pt idx="73">
                  <c:v>7.404</c:v>
                </c:pt>
                <c:pt idx="74">
                  <c:v>7.469</c:v>
                </c:pt>
                <c:pt idx="75">
                  <c:v>7.609</c:v>
                </c:pt>
                <c:pt idx="76">
                  <c:v>7.664</c:v>
                </c:pt>
                <c:pt idx="77">
                  <c:v>7.749</c:v>
                </c:pt>
                <c:pt idx="78">
                  <c:v>7.809</c:v>
                </c:pt>
                <c:pt idx="79">
                  <c:v>7.859</c:v>
                </c:pt>
                <c:pt idx="80">
                  <c:v>7.919</c:v>
                </c:pt>
                <c:pt idx="81">
                  <c:v>7.979</c:v>
                </c:pt>
                <c:pt idx="82">
                  <c:v>8.039</c:v>
                </c:pt>
                <c:pt idx="83">
                  <c:v>8.129</c:v>
                </c:pt>
                <c:pt idx="84">
                  <c:v>8.219</c:v>
                </c:pt>
                <c:pt idx="85">
                  <c:v>8.284</c:v>
                </c:pt>
                <c:pt idx="86">
                  <c:v>8.379</c:v>
                </c:pt>
                <c:pt idx="87">
                  <c:v>8.454</c:v>
                </c:pt>
                <c:pt idx="88">
                  <c:v>8.539</c:v>
                </c:pt>
                <c:pt idx="89">
                  <c:v>8.659</c:v>
                </c:pt>
                <c:pt idx="90">
                  <c:v>8.729</c:v>
                </c:pt>
                <c:pt idx="91">
                  <c:v>8.794</c:v>
                </c:pt>
                <c:pt idx="92">
                  <c:v>8.899</c:v>
                </c:pt>
                <c:pt idx="93">
                  <c:v>9.009</c:v>
                </c:pt>
                <c:pt idx="94">
                  <c:v>9.119</c:v>
                </c:pt>
                <c:pt idx="95">
                  <c:v>9.164</c:v>
                </c:pt>
                <c:pt idx="96">
                  <c:v>9.229</c:v>
                </c:pt>
                <c:pt idx="97">
                  <c:v>9.309</c:v>
                </c:pt>
                <c:pt idx="98">
                  <c:v>9.394</c:v>
                </c:pt>
                <c:pt idx="99">
                  <c:v>9.449</c:v>
                </c:pt>
                <c:pt idx="100">
                  <c:v>9.484</c:v>
                </c:pt>
                <c:pt idx="101">
                  <c:v>9.564</c:v>
                </c:pt>
                <c:pt idx="102">
                  <c:v>9.634</c:v>
                </c:pt>
                <c:pt idx="103">
                  <c:v>9.734</c:v>
                </c:pt>
                <c:pt idx="104">
                  <c:v>9.809</c:v>
                </c:pt>
                <c:pt idx="105">
                  <c:v>9.894</c:v>
                </c:pt>
                <c:pt idx="106">
                  <c:v>9.984</c:v>
                </c:pt>
                <c:pt idx="107">
                  <c:v>10.094</c:v>
                </c:pt>
                <c:pt idx="108">
                  <c:v>10.184</c:v>
                </c:pt>
                <c:pt idx="109">
                  <c:v>10.269</c:v>
                </c:pt>
                <c:pt idx="110">
                  <c:v>10.349</c:v>
                </c:pt>
                <c:pt idx="111">
                  <c:v>10.419</c:v>
                </c:pt>
                <c:pt idx="112">
                  <c:v>10.469</c:v>
                </c:pt>
                <c:pt idx="113">
                  <c:v>10.574</c:v>
                </c:pt>
                <c:pt idx="114">
                  <c:v>10.634</c:v>
                </c:pt>
                <c:pt idx="115">
                  <c:v>10.749</c:v>
                </c:pt>
                <c:pt idx="116">
                  <c:v>10.799</c:v>
                </c:pt>
                <c:pt idx="117">
                  <c:v>10.894</c:v>
                </c:pt>
                <c:pt idx="118">
                  <c:v>11.004</c:v>
                </c:pt>
                <c:pt idx="119">
                  <c:v>11.079</c:v>
                </c:pt>
                <c:pt idx="120">
                  <c:v>11.184</c:v>
                </c:pt>
                <c:pt idx="121">
                  <c:v>11.234</c:v>
                </c:pt>
                <c:pt idx="122">
                  <c:v>11.284</c:v>
                </c:pt>
                <c:pt idx="123">
                  <c:v>11.329</c:v>
                </c:pt>
                <c:pt idx="124">
                  <c:v>11.499</c:v>
                </c:pt>
                <c:pt idx="125">
                  <c:v>11.599</c:v>
                </c:pt>
                <c:pt idx="126">
                  <c:v>11.724</c:v>
                </c:pt>
                <c:pt idx="127">
                  <c:v>11.819</c:v>
                </c:pt>
                <c:pt idx="128">
                  <c:v>11.869</c:v>
                </c:pt>
                <c:pt idx="129">
                  <c:v>11.999</c:v>
                </c:pt>
                <c:pt idx="130">
                  <c:v>12.084</c:v>
                </c:pt>
                <c:pt idx="131">
                  <c:v>12.174</c:v>
                </c:pt>
                <c:pt idx="132">
                  <c:v>12.229</c:v>
                </c:pt>
                <c:pt idx="133">
                  <c:v>12.289</c:v>
                </c:pt>
                <c:pt idx="134">
                  <c:v>12.399</c:v>
                </c:pt>
                <c:pt idx="135">
                  <c:v>12.439</c:v>
                </c:pt>
                <c:pt idx="136">
                  <c:v>12.594</c:v>
                </c:pt>
                <c:pt idx="137">
                  <c:v>12.639</c:v>
                </c:pt>
                <c:pt idx="138">
                  <c:v>12.729</c:v>
                </c:pt>
                <c:pt idx="139">
                  <c:v>12.884</c:v>
                </c:pt>
                <c:pt idx="140">
                  <c:v>12.964</c:v>
                </c:pt>
                <c:pt idx="141">
                  <c:v>13.064</c:v>
                </c:pt>
                <c:pt idx="142">
                  <c:v>13.129</c:v>
                </c:pt>
                <c:pt idx="143">
                  <c:v>13.179</c:v>
                </c:pt>
                <c:pt idx="144">
                  <c:v>13.224</c:v>
                </c:pt>
                <c:pt idx="145">
                  <c:v>13.339</c:v>
                </c:pt>
                <c:pt idx="146">
                  <c:v>13.454</c:v>
                </c:pt>
                <c:pt idx="147">
                  <c:v>13.589</c:v>
                </c:pt>
                <c:pt idx="148">
                  <c:v>13.644</c:v>
                </c:pt>
                <c:pt idx="149">
                  <c:v>13.774</c:v>
                </c:pt>
                <c:pt idx="150">
                  <c:v>13.834</c:v>
                </c:pt>
                <c:pt idx="151">
                  <c:v>13.899</c:v>
                </c:pt>
                <c:pt idx="152">
                  <c:v>14.034</c:v>
                </c:pt>
                <c:pt idx="153">
                  <c:v>14.164</c:v>
                </c:pt>
                <c:pt idx="154">
                  <c:v>14.254</c:v>
                </c:pt>
                <c:pt idx="155">
                  <c:v>14.349</c:v>
                </c:pt>
                <c:pt idx="156">
                  <c:v>14.524</c:v>
                </c:pt>
                <c:pt idx="157">
                  <c:v>14.674</c:v>
                </c:pt>
                <c:pt idx="158">
                  <c:v>14.784</c:v>
                </c:pt>
                <c:pt idx="159">
                  <c:v>14.944</c:v>
                </c:pt>
                <c:pt idx="160">
                  <c:v>15.039</c:v>
                </c:pt>
                <c:pt idx="161">
                  <c:v>15.299</c:v>
                </c:pt>
                <c:pt idx="162">
                  <c:v>15.409</c:v>
                </c:pt>
                <c:pt idx="163">
                  <c:v>15.499</c:v>
                </c:pt>
                <c:pt idx="164">
                  <c:v>15.584</c:v>
                </c:pt>
                <c:pt idx="165">
                  <c:v>15.664</c:v>
                </c:pt>
                <c:pt idx="166">
                  <c:v>15.739</c:v>
                </c:pt>
                <c:pt idx="167">
                  <c:v>15.849</c:v>
                </c:pt>
                <c:pt idx="168">
                  <c:v>15.899</c:v>
                </c:pt>
                <c:pt idx="169">
                  <c:v>15.954</c:v>
                </c:pt>
                <c:pt idx="170">
                  <c:v>16.059</c:v>
                </c:pt>
                <c:pt idx="171">
                  <c:v>16.129</c:v>
                </c:pt>
                <c:pt idx="172">
                  <c:v>16.204</c:v>
                </c:pt>
                <c:pt idx="173">
                  <c:v>16.249</c:v>
                </c:pt>
                <c:pt idx="174">
                  <c:v>16.369</c:v>
                </c:pt>
                <c:pt idx="175">
                  <c:v>16.499</c:v>
                </c:pt>
                <c:pt idx="176">
                  <c:v>16.664</c:v>
                </c:pt>
                <c:pt idx="177">
                  <c:v>16.814</c:v>
                </c:pt>
                <c:pt idx="178">
                  <c:v>16.869</c:v>
                </c:pt>
                <c:pt idx="179">
                  <c:v>16.979</c:v>
                </c:pt>
                <c:pt idx="180">
                  <c:v>17.049</c:v>
                </c:pt>
                <c:pt idx="181">
                  <c:v>17.119</c:v>
                </c:pt>
                <c:pt idx="182">
                  <c:v>17.194</c:v>
                </c:pt>
                <c:pt idx="183">
                  <c:v>17.239</c:v>
                </c:pt>
                <c:pt idx="184">
                  <c:v>17.349</c:v>
                </c:pt>
                <c:pt idx="185">
                  <c:v>17.429</c:v>
                </c:pt>
                <c:pt idx="186">
                  <c:v>17.534</c:v>
                </c:pt>
                <c:pt idx="187">
                  <c:v>17.659</c:v>
                </c:pt>
                <c:pt idx="188">
                  <c:v>17.699</c:v>
                </c:pt>
                <c:pt idx="189">
                  <c:v>17.764</c:v>
                </c:pt>
                <c:pt idx="190">
                  <c:v>17.834</c:v>
                </c:pt>
                <c:pt idx="191">
                  <c:v>17.874</c:v>
                </c:pt>
                <c:pt idx="192">
                  <c:v>17.969</c:v>
                </c:pt>
                <c:pt idx="193">
                  <c:v>18.039</c:v>
                </c:pt>
                <c:pt idx="194">
                  <c:v>18.109</c:v>
                </c:pt>
                <c:pt idx="195">
                  <c:v>18.194</c:v>
                </c:pt>
                <c:pt idx="196">
                  <c:v>18.279</c:v>
                </c:pt>
                <c:pt idx="197">
                  <c:v>18.324</c:v>
                </c:pt>
                <c:pt idx="198">
                  <c:v>18.394</c:v>
                </c:pt>
                <c:pt idx="199">
                  <c:v>18.474</c:v>
                </c:pt>
                <c:pt idx="200">
                  <c:v>18.534</c:v>
                </c:pt>
                <c:pt idx="201">
                  <c:v>18.634</c:v>
                </c:pt>
                <c:pt idx="202">
                  <c:v>18.774</c:v>
                </c:pt>
                <c:pt idx="203">
                  <c:v>18.849</c:v>
                </c:pt>
                <c:pt idx="204">
                  <c:v>18.934</c:v>
                </c:pt>
                <c:pt idx="205">
                  <c:v>19.104</c:v>
                </c:pt>
                <c:pt idx="206">
                  <c:v>19.179</c:v>
                </c:pt>
                <c:pt idx="207">
                  <c:v>19.279</c:v>
                </c:pt>
                <c:pt idx="208">
                  <c:v>19.324</c:v>
                </c:pt>
                <c:pt idx="209">
                  <c:v>19.434</c:v>
                </c:pt>
                <c:pt idx="210">
                  <c:v>19.504</c:v>
                </c:pt>
                <c:pt idx="211">
                  <c:v>19.544</c:v>
                </c:pt>
                <c:pt idx="212">
                  <c:v>19.789</c:v>
                </c:pt>
                <c:pt idx="213">
                  <c:v>19.849</c:v>
                </c:pt>
                <c:pt idx="214">
                  <c:v>19.909</c:v>
                </c:pt>
                <c:pt idx="215">
                  <c:v>19.999</c:v>
                </c:pt>
                <c:pt idx="216">
                  <c:v>20.179</c:v>
                </c:pt>
                <c:pt idx="217">
                  <c:v>20.239</c:v>
                </c:pt>
                <c:pt idx="218">
                  <c:v>20.284</c:v>
                </c:pt>
                <c:pt idx="219">
                  <c:v>20.404</c:v>
                </c:pt>
                <c:pt idx="220">
                  <c:v>20.484</c:v>
                </c:pt>
                <c:pt idx="221">
                  <c:v>20.579</c:v>
                </c:pt>
                <c:pt idx="222">
                  <c:v>20.624</c:v>
                </c:pt>
                <c:pt idx="223">
                  <c:v>20.664</c:v>
                </c:pt>
                <c:pt idx="224">
                  <c:v>20.759</c:v>
                </c:pt>
                <c:pt idx="225">
                  <c:v>20.819</c:v>
                </c:pt>
                <c:pt idx="226">
                  <c:v>20.919</c:v>
                </c:pt>
                <c:pt idx="227">
                  <c:v>20.994</c:v>
                </c:pt>
                <c:pt idx="228">
                  <c:v>21.074</c:v>
                </c:pt>
                <c:pt idx="229">
                  <c:v>21.199</c:v>
                </c:pt>
                <c:pt idx="230">
                  <c:v>21.264</c:v>
                </c:pt>
                <c:pt idx="231">
                  <c:v>21.364</c:v>
                </c:pt>
                <c:pt idx="232">
                  <c:v>21.399</c:v>
                </c:pt>
                <c:pt idx="233">
                  <c:v>21.474</c:v>
                </c:pt>
                <c:pt idx="234">
                  <c:v>21.544</c:v>
                </c:pt>
                <c:pt idx="235">
                  <c:v>21.609</c:v>
                </c:pt>
                <c:pt idx="236">
                  <c:v>21.659</c:v>
                </c:pt>
                <c:pt idx="237">
                  <c:v>21.729</c:v>
                </c:pt>
                <c:pt idx="238">
                  <c:v>21.819</c:v>
                </c:pt>
                <c:pt idx="239">
                  <c:v>21.914</c:v>
                </c:pt>
                <c:pt idx="240">
                  <c:v>22.014</c:v>
                </c:pt>
                <c:pt idx="241">
                  <c:v>22.109</c:v>
                </c:pt>
                <c:pt idx="242">
                  <c:v>22.199</c:v>
                </c:pt>
                <c:pt idx="243">
                  <c:v>22.269</c:v>
                </c:pt>
                <c:pt idx="244">
                  <c:v>22.364</c:v>
                </c:pt>
                <c:pt idx="245">
                  <c:v>22.484</c:v>
                </c:pt>
                <c:pt idx="246">
                  <c:v>22.569</c:v>
                </c:pt>
                <c:pt idx="247">
                  <c:v>22.639</c:v>
                </c:pt>
                <c:pt idx="248">
                  <c:v>22.739</c:v>
                </c:pt>
                <c:pt idx="249">
                  <c:v>22.804</c:v>
                </c:pt>
                <c:pt idx="250">
                  <c:v>22.864</c:v>
                </c:pt>
                <c:pt idx="251">
                  <c:v>22.904</c:v>
                </c:pt>
                <c:pt idx="252">
                  <c:v>22.944</c:v>
                </c:pt>
              </c:numCache>
            </c:numRef>
          </c:xVal>
          <c:yVal>
            <c:numRef>
              <c:f>Sheet1!$B$2:$B$254</c:f>
              <c:numCache>
                <c:formatCode>General</c:formatCode>
                <c:ptCount val="253"/>
                <c:pt idx="0">
                  <c:v>3.54598</c:v>
                </c:pt>
                <c:pt idx="1">
                  <c:v>0.66145</c:v>
                </c:pt>
                <c:pt idx="2">
                  <c:v>0.42855</c:v>
                </c:pt>
                <c:pt idx="3">
                  <c:v>0.43122</c:v>
                </c:pt>
                <c:pt idx="4">
                  <c:v>0.37753</c:v>
                </c:pt>
                <c:pt idx="5">
                  <c:v>0.36983</c:v>
                </c:pt>
                <c:pt idx="6">
                  <c:v>0.34086</c:v>
                </c:pt>
                <c:pt idx="7">
                  <c:v>0.33922</c:v>
                </c:pt>
                <c:pt idx="8">
                  <c:v>0.33225</c:v>
                </c:pt>
                <c:pt idx="9">
                  <c:v>0.31011</c:v>
                </c:pt>
                <c:pt idx="10">
                  <c:v>0.31581</c:v>
                </c:pt>
                <c:pt idx="11">
                  <c:v>0.30818</c:v>
                </c:pt>
                <c:pt idx="12">
                  <c:v>0.29585</c:v>
                </c:pt>
                <c:pt idx="13">
                  <c:v>0.29143</c:v>
                </c:pt>
                <c:pt idx="14">
                  <c:v>0.28964</c:v>
                </c:pt>
                <c:pt idx="15">
                  <c:v>0.28232</c:v>
                </c:pt>
                <c:pt idx="16">
                  <c:v>0.28327</c:v>
                </c:pt>
                <c:pt idx="17">
                  <c:v>0.27767</c:v>
                </c:pt>
                <c:pt idx="18">
                  <c:v>0.27953</c:v>
                </c:pt>
                <c:pt idx="19">
                  <c:v>0.27905</c:v>
                </c:pt>
                <c:pt idx="20">
                  <c:v>0.27575</c:v>
                </c:pt>
                <c:pt idx="21">
                  <c:v>0.27597</c:v>
                </c:pt>
                <c:pt idx="22">
                  <c:v>0.27156</c:v>
                </c:pt>
                <c:pt idx="23">
                  <c:v>0.27194</c:v>
                </c:pt>
                <c:pt idx="24">
                  <c:v>0.27187</c:v>
                </c:pt>
                <c:pt idx="25">
                  <c:v>0.27292</c:v>
                </c:pt>
                <c:pt idx="26">
                  <c:v>0.25903</c:v>
                </c:pt>
                <c:pt idx="27">
                  <c:v>0.25815</c:v>
                </c:pt>
                <c:pt idx="28">
                  <c:v>0.26494</c:v>
                </c:pt>
                <c:pt idx="29">
                  <c:v>0.27189</c:v>
                </c:pt>
                <c:pt idx="30">
                  <c:v>0.25668</c:v>
                </c:pt>
                <c:pt idx="31">
                  <c:v>0.25607</c:v>
                </c:pt>
                <c:pt idx="32">
                  <c:v>0.25433</c:v>
                </c:pt>
                <c:pt idx="33">
                  <c:v>0.24743</c:v>
                </c:pt>
                <c:pt idx="34">
                  <c:v>0.24753</c:v>
                </c:pt>
                <c:pt idx="35">
                  <c:v>0.24416</c:v>
                </c:pt>
                <c:pt idx="36">
                  <c:v>0.2502</c:v>
                </c:pt>
                <c:pt idx="37">
                  <c:v>0.24234</c:v>
                </c:pt>
                <c:pt idx="38">
                  <c:v>0.24561</c:v>
                </c:pt>
                <c:pt idx="39">
                  <c:v>0.24253</c:v>
                </c:pt>
                <c:pt idx="40">
                  <c:v>0.23995</c:v>
                </c:pt>
                <c:pt idx="41">
                  <c:v>0.24236</c:v>
                </c:pt>
                <c:pt idx="42">
                  <c:v>0.24381</c:v>
                </c:pt>
                <c:pt idx="43">
                  <c:v>0.24363</c:v>
                </c:pt>
                <c:pt idx="44">
                  <c:v>0.23649</c:v>
                </c:pt>
                <c:pt idx="45">
                  <c:v>0.23346</c:v>
                </c:pt>
                <c:pt idx="46">
                  <c:v>0.23062</c:v>
                </c:pt>
                <c:pt idx="47">
                  <c:v>0.23157</c:v>
                </c:pt>
                <c:pt idx="48">
                  <c:v>0.2334</c:v>
                </c:pt>
                <c:pt idx="49">
                  <c:v>0.22884</c:v>
                </c:pt>
                <c:pt idx="50">
                  <c:v>0.23023</c:v>
                </c:pt>
                <c:pt idx="51">
                  <c:v>0.22643</c:v>
                </c:pt>
                <c:pt idx="52">
                  <c:v>0.22785</c:v>
                </c:pt>
                <c:pt idx="53">
                  <c:v>0.22647</c:v>
                </c:pt>
                <c:pt idx="54">
                  <c:v>0.23191</c:v>
                </c:pt>
                <c:pt idx="55">
                  <c:v>0.23303</c:v>
                </c:pt>
                <c:pt idx="56">
                  <c:v>0.23243</c:v>
                </c:pt>
                <c:pt idx="57">
                  <c:v>0.22761</c:v>
                </c:pt>
                <c:pt idx="58">
                  <c:v>0.23118</c:v>
                </c:pt>
                <c:pt idx="59">
                  <c:v>0.22416</c:v>
                </c:pt>
                <c:pt idx="60">
                  <c:v>0.21476</c:v>
                </c:pt>
                <c:pt idx="61">
                  <c:v>0.21304</c:v>
                </c:pt>
                <c:pt idx="62">
                  <c:v>0.21635</c:v>
                </c:pt>
                <c:pt idx="63">
                  <c:v>0.20797</c:v>
                </c:pt>
                <c:pt idx="64">
                  <c:v>0.20835</c:v>
                </c:pt>
                <c:pt idx="65">
                  <c:v>0.21222</c:v>
                </c:pt>
                <c:pt idx="66">
                  <c:v>0.21934</c:v>
                </c:pt>
                <c:pt idx="67">
                  <c:v>0.22095</c:v>
                </c:pt>
                <c:pt idx="68">
                  <c:v>0.2212</c:v>
                </c:pt>
                <c:pt idx="69">
                  <c:v>0.2173</c:v>
                </c:pt>
                <c:pt idx="70">
                  <c:v>0.21362</c:v>
                </c:pt>
                <c:pt idx="71">
                  <c:v>0.21417</c:v>
                </c:pt>
                <c:pt idx="72">
                  <c:v>0.21341</c:v>
                </c:pt>
                <c:pt idx="73">
                  <c:v>0.21362</c:v>
                </c:pt>
                <c:pt idx="74">
                  <c:v>0.20981</c:v>
                </c:pt>
                <c:pt idx="75">
                  <c:v>0.20401</c:v>
                </c:pt>
                <c:pt idx="76">
                  <c:v>0.21351</c:v>
                </c:pt>
                <c:pt idx="77">
                  <c:v>0.21335</c:v>
                </c:pt>
                <c:pt idx="78">
                  <c:v>0.21169</c:v>
                </c:pt>
                <c:pt idx="79">
                  <c:v>0.20876</c:v>
                </c:pt>
                <c:pt idx="80">
                  <c:v>0.20809</c:v>
                </c:pt>
                <c:pt idx="81">
                  <c:v>0.21112</c:v>
                </c:pt>
                <c:pt idx="82">
                  <c:v>0.21069</c:v>
                </c:pt>
                <c:pt idx="83">
                  <c:v>0.21058</c:v>
                </c:pt>
                <c:pt idx="84">
                  <c:v>0.2063</c:v>
                </c:pt>
                <c:pt idx="85">
                  <c:v>0.20919</c:v>
                </c:pt>
                <c:pt idx="86">
                  <c:v>0.20809</c:v>
                </c:pt>
                <c:pt idx="87">
                  <c:v>0.20999</c:v>
                </c:pt>
                <c:pt idx="88">
                  <c:v>0.20938</c:v>
                </c:pt>
                <c:pt idx="89">
                  <c:v>0.20263</c:v>
                </c:pt>
                <c:pt idx="90">
                  <c:v>0.19937</c:v>
                </c:pt>
                <c:pt idx="91">
                  <c:v>0.19998</c:v>
                </c:pt>
                <c:pt idx="92">
                  <c:v>0.1993</c:v>
                </c:pt>
                <c:pt idx="93">
                  <c:v>0.19788</c:v>
                </c:pt>
                <c:pt idx="94">
                  <c:v>0.19645</c:v>
                </c:pt>
                <c:pt idx="95">
                  <c:v>0.20056</c:v>
                </c:pt>
                <c:pt idx="96">
                  <c:v>0.19862</c:v>
                </c:pt>
                <c:pt idx="97">
                  <c:v>0.20027</c:v>
                </c:pt>
                <c:pt idx="98">
                  <c:v>0.19882</c:v>
                </c:pt>
                <c:pt idx="99">
                  <c:v>0.19623</c:v>
                </c:pt>
                <c:pt idx="100">
                  <c:v>0.20472</c:v>
                </c:pt>
                <c:pt idx="101">
                  <c:v>0.2006</c:v>
                </c:pt>
                <c:pt idx="102">
                  <c:v>0.20203</c:v>
                </c:pt>
                <c:pt idx="103">
                  <c:v>0.19868</c:v>
                </c:pt>
                <c:pt idx="104">
                  <c:v>0.19985</c:v>
                </c:pt>
                <c:pt idx="105">
                  <c:v>0.19558</c:v>
                </c:pt>
                <c:pt idx="106">
                  <c:v>0.19549</c:v>
                </c:pt>
                <c:pt idx="107">
                  <c:v>0.19058</c:v>
                </c:pt>
                <c:pt idx="108">
                  <c:v>0.19906</c:v>
                </c:pt>
                <c:pt idx="109">
                  <c:v>0.20138</c:v>
                </c:pt>
                <c:pt idx="110">
                  <c:v>0.19755</c:v>
                </c:pt>
                <c:pt idx="111">
                  <c:v>0.19542</c:v>
                </c:pt>
                <c:pt idx="112">
                  <c:v>0.19416</c:v>
                </c:pt>
                <c:pt idx="113">
                  <c:v>0.19474</c:v>
                </c:pt>
                <c:pt idx="114">
                  <c:v>0.19751</c:v>
                </c:pt>
                <c:pt idx="115">
                  <c:v>0.19464</c:v>
                </c:pt>
                <c:pt idx="116">
                  <c:v>0.19901</c:v>
                </c:pt>
                <c:pt idx="117">
                  <c:v>0.19232</c:v>
                </c:pt>
                <c:pt idx="118">
                  <c:v>0.19273</c:v>
                </c:pt>
                <c:pt idx="119">
                  <c:v>0.19484</c:v>
                </c:pt>
                <c:pt idx="120">
                  <c:v>0.19568</c:v>
                </c:pt>
                <c:pt idx="121">
                  <c:v>0.19738</c:v>
                </c:pt>
                <c:pt idx="122">
                  <c:v>0.19578</c:v>
                </c:pt>
                <c:pt idx="123">
                  <c:v>0.19495</c:v>
                </c:pt>
                <c:pt idx="124">
                  <c:v>0.18994</c:v>
                </c:pt>
                <c:pt idx="125">
                  <c:v>0.18477</c:v>
                </c:pt>
                <c:pt idx="126">
                  <c:v>0.18319</c:v>
                </c:pt>
                <c:pt idx="127">
                  <c:v>0.18741</c:v>
                </c:pt>
                <c:pt idx="128">
                  <c:v>0.18609</c:v>
                </c:pt>
                <c:pt idx="129">
                  <c:v>0.1807</c:v>
                </c:pt>
                <c:pt idx="130">
                  <c:v>0.18041</c:v>
                </c:pt>
                <c:pt idx="131">
                  <c:v>0.18753</c:v>
                </c:pt>
                <c:pt idx="132">
                  <c:v>0.19356</c:v>
                </c:pt>
                <c:pt idx="133">
                  <c:v>0.1932</c:v>
                </c:pt>
                <c:pt idx="134">
                  <c:v>0.18969</c:v>
                </c:pt>
                <c:pt idx="135">
                  <c:v>0.19191</c:v>
                </c:pt>
                <c:pt idx="136">
                  <c:v>0.18424</c:v>
                </c:pt>
                <c:pt idx="137">
                  <c:v>0.18634</c:v>
                </c:pt>
                <c:pt idx="138">
                  <c:v>0.19188</c:v>
                </c:pt>
                <c:pt idx="139">
                  <c:v>0.18272</c:v>
                </c:pt>
                <c:pt idx="140">
                  <c:v>0.19017</c:v>
                </c:pt>
                <c:pt idx="141">
                  <c:v>0.18678</c:v>
                </c:pt>
                <c:pt idx="142">
                  <c:v>0.18277</c:v>
                </c:pt>
                <c:pt idx="143">
                  <c:v>0.18682</c:v>
                </c:pt>
                <c:pt idx="144">
                  <c:v>0.18662</c:v>
                </c:pt>
                <c:pt idx="145">
                  <c:v>0.18024</c:v>
                </c:pt>
                <c:pt idx="146">
                  <c:v>0.17617</c:v>
                </c:pt>
                <c:pt idx="147">
                  <c:v>0.17425</c:v>
                </c:pt>
                <c:pt idx="148">
                  <c:v>0.17547</c:v>
                </c:pt>
                <c:pt idx="149">
                  <c:v>0.17641</c:v>
                </c:pt>
                <c:pt idx="150">
                  <c:v>0.1766</c:v>
                </c:pt>
                <c:pt idx="151">
                  <c:v>0.17712</c:v>
                </c:pt>
                <c:pt idx="152">
                  <c:v>0.1732</c:v>
                </c:pt>
                <c:pt idx="153">
                  <c:v>0.17297</c:v>
                </c:pt>
                <c:pt idx="154">
                  <c:v>0.17556</c:v>
                </c:pt>
                <c:pt idx="155">
                  <c:v>0.18199</c:v>
                </c:pt>
                <c:pt idx="156">
                  <c:v>0.17945</c:v>
                </c:pt>
                <c:pt idx="157">
                  <c:v>0.17931</c:v>
                </c:pt>
                <c:pt idx="158">
                  <c:v>0.17408</c:v>
                </c:pt>
                <c:pt idx="159">
                  <c:v>0.17041</c:v>
                </c:pt>
                <c:pt idx="160">
                  <c:v>0.17028</c:v>
                </c:pt>
                <c:pt idx="161">
                  <c:v>0.16927</c:v>
                </c:pt>
                <c:pt idx="162">
                  <c:v>0.17016</c:v>
                </c:pt>
                <c:pt idx="163">
                  <c:v>0.17403</c:v>
                </c:pt>
                <c:pt idx="164">
                  <c:v>0.17184</c:v>
                </c:pt>
                <c:pt idx="165">
                  <c:v>0.17402</c:v>
                </c:pt>
                <c:pt idx="166">
                  <c:v>0.17379</c:v>
                </c:pt>
                <c:pt idx="167">
                  <c:v>0.17132</c:v>
                </c:pt>
                <c:pt idx="168">
                  <c:v>0.16897</c:v>
                </c:pt>
                <c:pt idx="169">
                  <c:v>0.16955</c:v>
                </c:pt>
                <c:pt idx="170">
                  <c:v>0.16632</c:v>
                </c:pt>
                <c:pt idx="171">
                  <c:v>0.16594</c:v>
                </c:pt>
                <c:pt idx="172">
                  <c:v>0.16635</c:v>
                </c:pt>
                <c:pt idx="173">
                  <c:v>0.17359</c:v>
                </c:pt>
                <c:pt idx="174">
                  <c:v>0.16825</c:v>
                </c:pt>
                <c:pt idx="175">
                  <c:v>0.16787</c:v>
                </c:pt>
                <c:pt idx="176">
                  <c:v>0.17184</c:v>
                </c:pt>
                <c:pt idx="177">
                  <c:v>0.16722</c:v>
                </c:pt>
                <c:pt idx="178">
                  <c:v>0.16683</c:v>
                </c:pt>
                <c:pt idx="179">
                  <c:v>0.16745</c:v>
                </c:pt>
                <c:pt idx="180">
                  <c:v>0.16814</c:v>
                </c:pt>
                <c:pt idx="181">
                  <c:v>0.16504</c:v>
                </c:pt>
                <c:pt idx="182">
                  <c:v>0.16322</c:v>
                </c:pt>
                <c:pt idx="183">
                  <c:v>0.1648</c:v>
                </c:pt>
                <c:pt idx="184">
                  <c:v>0.16406</c:v>
                </c:pt>
                <c:pt idx="185">
                  <c:v>0.16167</c:v>
                </c:pt>
                <c:pt idx="186">
                  <c:v>0.1654</c:v>
                </c:pt>
                <c:pt idx="187">
                  <c:v>0.16267</c:v>
                </c:pt>
                <c:pt idx="188">
                  <c:v>0.16165</c:v>
                </c:pt>
                <c:pt idx="189">
                  <c:v>0.16187</c:v>
                </c:pt>
                <c:pt idx="190">
                  <c:v>0.16176</c:v>
                </c:pt>
                <c:pt idx="191">
                  <c:v>0.16308</c:v>
                </c:pt>
                <c:pt idx="192">
                  <c:v>0.16056</c:v>
                </c:pt>
                <c:pt idx="193">
                  <c:v>0.1604</c:v>
                </c:pt>
                <c:pt idx="194">
                  <c:v>0.15939</c:v>
                </c:pt>
                <c:pt idx="195">
                  <c:v>0.16196</c:v>
                </c:pt>
                <c:pt idx="196">
                  <c:v>0.16364</c:v>
                </c:pt>
                <c:pt idx="197">
                  <c:v>0.16622</c:v>
                </c:pt>
                <c:pt idx="198">
                  <c:v>0.16502</c:v>
                </c:pt>
                <c:pt idx="199">
                  <c:v>0.16548</c:v>
                </c:pt>
                <c:pt idx="200">
                  <c:v>0.16466</c:v>
                </c:pt>
                <c:pt idx="201">
                  <c:v>0.16447</c:v>
                </c:pt>
                <c:pt idx="202">
                  <c:v>0.15999</c:v>
                </c:pt>
                <c:pt idx="203">
                  <c:v>0.1609</c:v>
                </c:pt>
                <c:pt idx="204">
                  <c:v>0.15966</c:v>
                </c:pt>
                <c:pt idx="205">
                  <c:v>0.15929</c:v>
                </c:pt>
                <c:pt idx="206">
                  <c:v>0.15962</c:v>
                </c:pt>
                <c:pt idx="207">
                  <c:v>0.16466</c:v>
                </c:pt>
                <c:pt idx="208">
                  <c:v>0.16681</c:v>
                </c:pt>
                <c:pt idx="209">
                  <c:v>0.17204</c:v>
                </c:pt>
                <c:pt idx="210">
                  <c:v>0.1696</c:v>
                </c:pt>
                <c:pt idx="211">
                  <c:v>0.17001</c:v>
                </c:pt>
                <c:pt idx="212">
                  <c:v>0.15715</c:v>
                </c:pt>
                <c:pt idx="213">
                  <c:v>0.15762</c:v>
                </c:pt>
                <c:pt idx="214">
                  <c:v>0.1572</c:v>
                </c:pt>
                <c:pt idx="215">
                  <c:v>0.1572</c:v>
                </c:pt>
                <c:pt idx="216">
                  <c:v>0.15845</c:v>
                </c:pt>
                <c:pt idx="217">
                  <c:v>0.15794</c:v>
                </c:pt>
                <c:pt idx="218">
                  <c:v>0.16018</c:v>
                </c:pt>
                <c:pt idx="219">
                  <c:v>0.15669</c:v>
                </c:pt>
                <c:pt idx="220">
                  <c:v>0.1615</c:v>
                </c:pt>
                <c:pt idx="221">
                  <c:v>0.15697</c:v>
                </c:pt>
                <c:pt idx="222">
                  <c:v>0.15765</c:v>
                </c:pt>
                <c:pt idx="223">
                  <c:v>0.16264</c:v>
                </c:pt>
                <c:pt idx="224">
                  <c:v>0.16268</c:v>
                </c:pt>
                <c:pt idx="225">
                  <c:v>0.16454</c:v>
                </c:pt>
                <c:pt idx="226">
                  <c:v>0.1615</c:v>
                </c:pt>
                <c:pt idx="227">
                  <c:v>0.15788</c:v>
                </c:pt>
                <c:pt idx="228">
                  <c:v>0.15629</c:v>
                </c:pt>
                <c:pt idx="229">
                  <c:v>0.15355</c:v>
                </c:pt>
                <c:pt idx="230">
                  <c:v>0.15194</c:v>
                </c:pt>
                <c:pt idx="231">
                  <c:v>0.15255</c:v>
                </c:pt>
                <c:pt idx="232">
                  <c:v>0.15872</c:v>
                </c:pt>
                <c:pt idx="233">
                  <c:v>0.1596</c:v>
                </c:pt>
                <c:pt idx="234">
                  <c:v>0.15954</c:v>
                </c:pt>
                <c:pt idx="235">
                  <c:v>0.1587</c:v>
                </c:pt>
                <c:pt idx="236">
                  <c:v>0.16164</c:v>
                </c:pt>
                <c:pt idx="237">
                  <c:v>0.16188</c:v>
                </c:pt>
                <c:pt idx="238">
                  <c:v>0.16036</c:v>
                </c:pt>
                <c:pt idx="239">
                  <c:v>0.15684</c:v>
                </c:pt>
                <c:pt idx="240">
                  <c:v>0.1555</c:v>
                </c:pt>
                <c:pt idx="241">
                  <c:v>0.15512</c:v>
                </c:pt>
                <c:pt idx="242">
                  <c:v>0.15492</c:v>
                </c:pt>
                <c:pt idx="243">
                  <c:v>0.15368</c:v>
                </c:pt>
                <c:pt idx="244">
                  <c:v>0.15531</c:v>
                </c:pt>
                <c:pt idx="245">
                  <c:v>0.15335</c:v>
                </c:pt>
                <c:pt idx="246">
                  <c:v>0.15242</c:v>
                </c:pt>
                <c:pt idx="247">
                  <c:v>0.15127</c:v>
                </c:pt>
                <c:pt idx="248">
                  <c:v>0.14876</c:v>
                </c:pt>
                <c:pt idx="249">
                  <c:v>0.15293</c:v>
                </c:pt>
                <c:pt idx="250">
                  <c:v>0.15281</c:v>
                </c:pt>
                <c:pt idx="251">
                  <c:v>0.15538</c:v>
                </c:pt>
                <c:pt idx="252">
                  <c:v>0.15486</c:v>
                </c:pt>
              </c:numCache>
            </c:numRef>
          </c:yVal>
          <c:smooth val="0"/>
        </c:ser>
        <c:ser>
          <c:idx val="1"/>
          <c:order val="1"/>
          <c:tx>
            <c:strRef>
              <c:f>Sheet1!$B$256</c:f>
              <c:strCache>
                <c:ptCount val="1"/>
                <c:pt idx="0">
                  <c:v>Rewired</c:v>
                </c:pt>
              </c:strCache>
            </c:strRef>
          </c:tx>
          <c:spPr>
            <a:ln w="22225">
              <a:solidFill>
                <a:srgbClr val="009E73"/>
              </a:solidFill>
            </a:ln>
          </c:spPr>
          <c:marker>
            <c:symbol val="none"/>
          </c:marker>
          <c:xVal>
            <c:numRef>
              <c:f>Sheet1!$A$257:$A$527</c:f>
              <c:numCache>
                <c:formatCode>General</c:formatCode>
                <c:ptCount val="271"/>
                <c:pt idx="0">
                  <c:v>0.004</c:v>
                </c:pt>
                <c:pt idx="1">
                  <c:v>0.709</c:v>
                </c:pt>
                <c:pt idx="2">
                  <c:v>0.984</c:v>
                </c:pt>
                <c:pt idx="3">
                  <c:v>1.219</c:v>
                </c:pt>
                <c:pt idx="4">
                  <c:v>1.339</c:v>
                </c:pt>
                <c:pt idx="5">
                  <c:v>1.419</c:v>
                </c:pt>
                <c:pt idx="6">
                  <c:v>1.564</c:v>
                </c:pt>
                <c:pt idx="7">
                  <c:v>1.679</c:v>
                </c:pt>
                <c:pt idx="8">
                  <c:v>1.849</c:v>
                </c:pt>
                <c:pt idx="9">
                  <c:v>1.889</c:v>
                </c:pt>
                <c:pt idx="10">
                  <c:v>2.064</c:v>
                </c:pt>
                <c:pt idx="11">
                  <c:v>2.104</c:v>
                </c:pt>
                <c:pt idx="12">
                  <c:v>2.164</c:v>
                </c:pt>
                <c:pt idx="13">
                  <c:v>2.364</c:v>
                </c:pt>
                <c:pt idx="14">
                  <c:v>2.519</c:v>
                </c:pt>
                <c:pt idx="15">
                  <c:v>2.624</c:v>
                </c:pt>
                <c:pt idx="16">
                  <c:v>2.734</c:v>
                </c:pt>
                <c:pt idx="17">
                  <c:v>2.809</c:v>
                </c:pt>
                <c:pt idx="18">
                  <c:v>2.914</c:v>
                </c:pt>
                <c:pt idx="19">
                  <c:v>2.979</c:v>
                </c:pt>
                <c:pt idx="20">
                  <c:v>3.044</c:v>
                </c:pt>
                <c:pt idx="21">
                  <c:v>3.144</c:v>
                </c:pt>
                <c:pt idx="22">
                  <c:v>3.214</c:v>
                </c:pt>
                <c:pt idx="23">
                  <c:v>3.279</c:v>
                </c:pt>
                <c:pt idx="24">
                  <c:v>3.359</c:v>
                </c:pt>
                <c:pt idx="25">
                  <c:v>3.494</c:v>
                </c:pt>
                <c:pt idx="26">
                  <c:v>3.564</c:v>
                </c:pt>
                <c:pt idx="27">
                  <c:v>3.649</c:v>
                </c:pt>
                <c:pt idx="28">
                  <c:v>3.779</c:v>
                </c:pt>
                <c:pt idx="29">
                  <c:v>3.874</c:v>
                </c:pt>
                <c:pt idx="30">
                  <c:v>3.979</c:v>
                </c:pt>
                <c:pt idx="31">
                  <c:v>4.054</c:v>
                </c:pt>
                <c:pt idx="32">
                  <c:v>4.134</c:v>
                </c:pt>
                <c:pt idx="33">
                  <c:v>4.209</c:v>
                </c:pt>
                <c:pt idx="34">
                  <c:v>4.244</c:v>
                </c:pt>
                <c:pt idx="35">
                  <c:v>4.324</c:v>
                </c:pt>
                <c:pt idx="36">
                  <c:v>4.419</c:v>
                </c:pt>
                <c:pt idx="37">
                  <c:v>4.529</c:v>
                </c:pt>
                <c:pt idx="38">
                  <c:v>4.654</c:v>
                </c:pt>
                <c:pt idx="39">
                  <c:v>4.724</c:v>
                </c:pt>
                <c:pt idx="40">
                  <c:v>4.794</c:v>
                </c:pt>
                <c:pt idx="41">
                  <c:v>4.944</c:v>
                </c:pt>
                <c:pt idx="42">
                  <c:v>5.124</c:v>
                </c:pt>
                <c:pt idx="43">
                  <c:v>5.249</c:v>
                </c:pt>
                <c:pt idx="44">
                  <c:v>5.324</c:v>
                </c:pt>
                <c:pt idx="45">
                  <c:v>5.424</c:v>
                </c:pt>
                <c:pt idx="46">
                  <c:v>5.469</c:v>
                </c:pt>
                <c:pt idx="47">
                  <c:v>5.674</c:v>
                </c:pt>
                <c:pt idx="48">
                  <c:v>5.749</c:v>
                </c:pt>
                <c:pt idx="49">
                  <c:v>5.859</c:v>
                </c:pt>
                <c:pt idx="50">
                  <c:v>5.919</c:v>
                </c:pt>
                <c:pt idx="51">
                  <c:v>5.999</c:v>
                </c:pt>
                <c:pt idx="52">
                  <c:v>6.069</c:v>
                </c:pt>
                <c:pt idx="53">
                  <c:v>6.164</c:v>
                </c:pt>
                <c:pt idx="54">
                  <c:v>6.214</c:v>
                </c:pt>
                <c:pt idx="55">
                  <c:v>6.334</c:v>
                </c:pt>
                <c:pt idx="56">
                  <c:v>6.424</c:v>
                </c:pt>
                <c:pt idx="57">
                  <c:v>6.499</c:v>
                </c:pt>
                <c:pt idx="58">
                  <c:v>6.584</c:v>
                </c:pt>
                <c:pt idx="59">
                  <c:v>6.619</c:v>
                </c:pt>
                <c:pt idx="60">
                  <c:v>6.674</c:v>
                </c:pt>
                <c:pt idx="61">
                  <c:v>6.744</c:v>
                </c:pt>
                <c:pt idx="62">
                  <c:v>6.854</c:v>
                </c:pt>
                <c:pt idx="63">
                  <c:v>6.944</c:v>
                </c:pt>
                <c:pt idx="64">
                  <c:v>7.024</c:v>
                </c:pt>
                <c:pt idx="65">
                  <c:v>7.114</c:v>
                </c:pt>
                <c:pt idx="66">
                  <c:v>7.214</c:v>
                </c:pt>
                <c:pt idx="67">
                  <c:v>7.279</c:v>
                </c:pt>
                <c:pt idx="68">
                  <c:v>7.359</c:v>
                </c:pt>
                <c:pt idx="69">
                  <c:v>7.394</c:v>
                </c:pt>
                <c:pt idx="70">
                  <c:v>7.429</c:v>
                </c:pt>
                <c:pt idx="71">
                  <c:v>7.534</c:v>
                </c:pt>
                <c:pt idx="72">
                  <c:v>7.569</c:v>
                </c:pt>
                <c:pt idx="73">
                  <c:v>7.619</c:v>
                </c:pt>
                <c:pt idx="74">
                  <c:v>7.749</c:v>
                </c:pt>
                <c:pt idx="75">
                  <c:v>7.794</c:v>
                </c:pt>
                <c:pt idx="76">
                  <c:v>7.894</c:v>
                </c:pt>
                <c:pt idx="77">
                  <c:v>7.954</c:v>
                </c:pt>
                <c:pt idx="78">
                  <c:v>8.004</c:v>
                </c:pt>
                <c:pt idx="79">
                  <c:v>8.139</c:v>
                </c:pt>
                <c:pt idx="80">
                  <c:v>8.299</c:v>
                </c:pt>
                <c:pt idx="81">
                  <c:v>8.394</c:v>
                </c:pt>
                <c:pt idx="82">
                  <c:v>8.489</c:v>
                </c:pt>
                <c:pt idx="83">
                  <c:v>8.559</c:v>
                </c:pt>
                <c:pt idx="84">
                  <c:v>8.629</c:v>
                </c:pt>
                <c:pt idx="85">
                  <c:v>8.689</c:v>
                </c:pt>
                <c:pt idx="86">
                  <c:v>8.784</c:v>
                </c:pt>
                <c:pt idx="87">
                  <c:v>8.894</c:v>
                </c:pt>
                <c:pt idx="88">
                  <c:v>8.949</c:v>
                </c:pt>
                <c:pt idx="89">
                  <c:v>9.034</c:v>
                </c:pt>
                <c:pt idx="90">
                  <c:v>9.149</c:v>
                </c:pt>
                <c:pt idx="91">
                  <c:v>9.204</c:v>
                </c:pt>
                <c:pt idx="92">
                  <c:v>9.284</c:v>
                </c:pt>
                <c:pt idx="93">
                  <c:v>9.404</c:v>
                </c:pt>
                <c:pt idx="94">
                  <c:v>9.494</c:v>
                </c:pt>
                <c:pt idx="95">
                  <c:v>9.564</c:v>
                </c:pt>
                <c:pt idx="96">
                  <c:v>9.614</c:v>
                </c:pt>
                <c:pt idx="97">
                  <c:v>9.724</c:v>
                </c:pt>
                <c:pt idx="98">
                  <c:v>9.819</c:v>
                </c:pt>
                <c:pt idx="99">
                  <c:v>9.929</c:v>
                </c:pt>
                <c:pt idx="100">
                  <c:v>10.009</c:v>
                </c:pt>
                <c:pt idx="101">
                  <c:v>10.134</c:v>
                </c:pt>
                <c:pt idx="102">
                  <c:v>10.214</c:v>
                </c:pt>
                <c:pt idx="103">
                  <c:v>10.314</c:v>
                </c:pt>
                <c:pt idx="104">
                  <c:v>10.404</c:v>
                </c:pt>
                <c:pt idx="105">
                  <c:v>10.474</c:v>
                </c:pt>
                <c:pt idx="106">
                  <c:v>10.519</c:v>
                </c:pt>
                <c:pt idx="107">
                  <c:v>10.584</c:v>
                </c:pt>
                <c:pt idx="108">
                  <c:v>10.614</c:v>
                </c:pt>
                <c:pt idx="109">
                  <c:v>10.669</c:v>
                </c:pt>
                <c:pt idx="110">
                  <c:v>10.789</c:v>
                </c:pt>
                <c:pt idx="111">
                  <c:v>10.854</c:v>
                </c:pt>
                <c:pt idx="112">
                  <c:v>10.919</c:v>
                </c:pt>
                <c:pt idx="113">
                  <c:v>11.049</c:v>
                </c:pt>
                <c:pt idx="114">
                  <c:v>11.139</c:v>
                </c:pt>
                <c:pt idx="115">
                  <c:v>11.234</c:v>
                </c:pt>
                <c:pt idx="116">
                  <c:v>11.284</c:v>
                </c:pt>
                <c:pt idx="117">
                  <c:v>11.364</c:v>
                </c:pt>
                <c:pt idx="118">
                  <c:v>11.459</c:v>
                </c:pt>
                <c:pt idx="119">
                  <c:v>11.614</c:v>
                </c:pt>
                <c:pt idx="120">
                  <c:v>11.714</c:v>
                </c:pt>
                <c:pt idx="121">
                  <c:v>11.844</c:v>
                </c:pt>
                <c:pt idx="122">
                  <c:v>11.914</c:v>
                </c:pt>
                <c:pt idx="123">
                  <c:v>11.974</c:v>
                </c:pt>
                <c:pt idx="124">
                  <c:v>12.024</c:v>
                </c:pt>
                <c:pt idx="125">
                  <c:v>12.189</c:v>
                </c:pt>
                <c:pt idx="126">
                  <c:v>12.249</c:v>
                </c:pt>
                <c:pt idx="127">
                  <c:v>12.329</c:v>
                </c:pt>
                <c:pt idx="128">
                  <c:v>12.384</c:v>
                </c:pt>
                <c:pt idx="129">
                  <c:v>12.494</c:v>
                </c:pt>
                <c:pt idx="130">
                  <c:v>12.604</c:v>
                </c:pt>
                <c:pt idx="131">
                  <c:v>12.669</c:v>
                </c:pt>
                <c:pt idx="132">
                  <c:v>12.734</c:v>
                </c:pt>
                <c:pt idx="133">
                  <c:v>12.779</c:v>
                </c:pt>
                <c:pt idx="134">
                  <c:v>12.844</c:v>
                </c:pt>
                <c:pt idx="135">
                  <c:v>12.889</c:v>
                </c:pt>
                <c:pt idx="136">
                  <c:v>12.929</c:v>
                </c:pt>
                <c:pt idx="137">
                  <c:v>13.004</c:v>
                </c:pt>
                <c:pt idx="138">
                  <c:v>13.044</c:v>
                </c:pt>
                <c:pt idx="139">
                  <c:v>13.149</c:v>
                </c:pt>
                <c:pt idx="140">
                  <c:v>13.224</c:v>
                </c:pt>
                <c:pt idx="141">
                  <c:v>13.314</c:v>
                </c:pt>
                <c:pt idx="142">
                  <c:v>13.394</c:v>
                </c:pt>
                <c:pt idx="143">
                  <c:v>13.474</c:v>
                </c:pt>
                <c:pt idx="144">
                  <c:v>13.554</c:v>
                </c:pt>
                <c:pt idx="145">
                  <c:v>13.579</c:v>
                </c:pt>
                <c:pt idx="146">
                  <c:v>13.629</c:v>
                </c:pt>
                <c:pt idx="147">
                  <c:v>13.674</c:v>
                </c:pt>
                <c:pt idx="148">
                  <c:v>13.719</c:v>
                </c:pt>
                <c:pt idx="149">
                  <c:v>13.789</c:v>
                </c:pt>
                <c:pt idx="150">
                  <c:v>13.954</c:v>
                </c:pt>
                <c:pt idx="151">
                  <c:v>14.124</c:v>
                </c:pt>
                <c:pt idx="152">
                  <c:v>14.204</c:v>
                </c:pt>
                <c:pt idx="153">
                  <c:v>14.339</c:v>
                </c:pt>
                <c:pt idx="154">
                  <c:v>14.409</c:v>
                </c:pt>
                <c:pt idx="155">
                  <c:v>14.444</c:v>
                </c:pt>
                <c:pt idx="156">
                  <c:v>14.489</c:v>
                </c:pt>
                <c:pt idx="157">
                  <c:v>14.569</c:v>
                </c:pt>
                <c:pt idx="158">
                  <c:v>14.689</c:v>
                </c:pt>
                <c:pt idx="159">
                  <c:v>14.774</c:v>
                </c:pt>
                <c:pt idx="160">
                  <c:v>14.829</c:v>
                </c:pt>
                <c:pt idx="161">
                  <c:v>14.919</c:v>
                </c:pt>
                <c:pt idx="162">
                  <c:v>14.994</c:v>
                </c:pt>
                <c:pt idx="163">
                  <c:v>15.039</c:v>
                </c:pt>
                <c:pt idx="164">
                  <c:v>15.164</c:v>
                </c:pt>
                <c:pt idx="165">
                  <c:v>15.204</c:v>
                </c:pt>
                <c:pt idx="166">
                  <c:v>15.299</c:v>
                </c:pt>
                <c:pt idx="167">
                  <c:v>15.339</c:v>
                </c:pt>
                <c:pt idx="168">
                  <c:v>15.399</c:v>
                </c:pt>
                <c:pt idx="169">
                  <c:v>15.464</c:v>
                </c:pt>
                <c:pt idx="170">
                  <c:v>15.534</c:v>
                </c:pt>
                <c:pt idx="171">
                  <c:v>15.574</c:v>
                </c:pt>
                <c:pt idx="172">
                  <c:v>15.624</c:v>
                </c:pt>
                <c:pt idx="173">
                  <c:v>15.669</c:v>
                </c:pt>
                <c:pt idx="174">
                  <c:v>15.789</c:v>
                </c:pt>
                <c:pt idx="175">
                  <c:v>15.844</c:v>
                </c:pt>
                <c:pt idx="176">
                  <c:v>15.954</c:v>
                </c:pt>
                <c:pt idx="177">
                  <c:v>16.039</c:v>
                </c:pt>
                <c:pt idx="178">
                  <c:v>16.084</c:v>
                </c:pt>
                <c:pt idx="179">
                  <c:v>16.119</c:v>
                </c:pt>
                <c:pt idx="180">
                  <c:v>16.174</c:v>
                </c:pt>
                <c:pt idx="181">
                  <c:v>16.239</c:v>
                </c:pt>
                <c:pt idx="182">
                  <c:v>16.344</c:v>
                </c:pt>
                <c:pt idx="183">
                  <c:v>16.409</c:v>
                </c:pt>
                <c:pt idx="184">
                  <c:v>16.449</c:v>
                </c:pt>
                <c:pt idx="185">
                  <c:v>16.569</c:v>
                </c:pt>
                <c:pt idx="186">
                  <c:v>16.644</c:v>
                </c:pt>
                <c:pt idx="187">
                  <c:v>16.689</c:v>
                </c:pt>
                <c:pt idx="188">
                  <c:v>16.824</c:v>
                </c:pt>
                <c:pt idx="189">
                  <c:v>16.894</c:v>
                </c:pt>
                <c:pt idx="190">
                  <c:v>16.944</c:v>
                </c:pt>
                <c:pt idx="191">
                  <c:v>16.994</c:v>
                </c:pt>
                <c:pt idx="192">
                  <c:v>17.034</c:v>
                </c:pt>
                <c:pt idx="193">
                  <c:v>17.104</c:v>
                </c:pt>
                <c:pt idx="194">
                  <c:v>17.219</c:v>
                </c:pt>
                <c:pt idx="195">
                  <c:v>17.314</c:v>
                </c:pt>
                <c:pt idx="196">
                  <c:v>17.369</c:v>
                </c:pt>
                <c:pt idx="197">
                  <c:v>17.449</c:v>
                </c:pt>
                <c:pt idx="198">
                  <c:v>17.574</c:v>
                </c:pt>
                <c:pt idx="199">
                  <c:v>17.629</c:v>
                </c:pt>
                <c:pt idx="200">
                  <c:v>17.689</c:v>
                </c:pt>
                <c:pt idx="201">
                  <c:v>17.839</c:v>
                </c:pt>
                <c:pt idx="202">
                  <c:v>17.884</c:v>
                </c:pt>
                <c:pt idx="203">
                  <c:v>17.909</c:v>
                </c:pt>
                <c:pt idx="204">
                  <c:v>17.984</c:v>
                </c:pt>
                <c:pt idx="205">
                  <c:v>18.069</c:v>
                </c:pt>
                <c:pt idx="206">
                  <c:v>18.149</c:v>
                </c:pt>
                <c:pt idx="207">
                  <c:v>18.264</c:v>
                </c:pt>
                <c:pt idx="208">
                  <c:v>18.349</c:v>
                </c:pt>
                <c:pt idx="209">
                  <c:v>18.454</c:v>
                </c:pt>
                <c:pt idx="210">
                  <c:v>18.519</c:v>
                </c:pt>
                <c:pt idx="211">
                  <c:v>18.574</c:v>
                </c:pt>
                <c:pt idx="212">
                  <c:v>18.664</c:v>
                </c:pt>
                <c:pt idx="213">
                  <c:v>18.744</c:v>
                </c:pt>
                <c:pt idx="214">
                  <c:v>18.799</c:v>
                </c:pt>
                <c:pt idx="215">
                  <c:v>18.914</c:v>
                </c:pt>
                <c:pt idx="216">
                  <c:v>19.014</c:v>
                </c:pt>
                <c:pt idx="217">
                  <c:v>19.074</c:v>
                </c:pt>
                <c:pt idx="218">
                  <c:v>19.174</c:v>
                </c:pt>
                <c:pt idx="219">
                  <c:v>19.264</c:v>
                </c:pt>
                <c:pt idx="220">
                  <c:v>19.324</c:v>
                </c:pt>
                <c:pt idx="221">
                  <c:v>19.389</c:v>
                </c:pt>
                <c:pt idx="222">
                  <c:v>19.494</c:v>
                </c:pt>
                <c:pt idx="223">
                  <c:v>19.584</c:v>
                </c:pt>
                <c:pt idx="224">
                  <c:v>19.624</c:v>
                </c:pt>
                <c:pt idx="225">
                  <c:v>19.689</c:v>
                </c:pt>
                <c:pt idx="226">
                  <c:v>19.814</c:v>
                </c:pt>
                <c:pt idx="227">
                  <c:v>19.914</c:v>
                </c:pt>
                <c:pt idx="228">
                  <c:v>19.959</c:v>
                </c:pt>
                <c:pt idx="229">
                  <c:v>20.019</c:v>
                </c:pt>
                <c:pt idx="230">
                  <c:v>20.049</c:v>
                </c:pt>
                <c:pt idx="231">
                  <c:v>20.129</c:v>
                </c:pt>
                <c:pt idx="232">
                  <c:v>20.204</c:v>
                </c:pt>
                <c:pt idx="233">
                  <c:v>20.269</c:v>
                </c:pt>
                <c:pt idx="234">
                  <c:v>20.329</c:v>
                </c:pt>
                <c:pt idx="235">
                  <c:v>20.369</c:v>
                </c:pt>
                <c:pt idx="236">
                  <c:v>20.429</c:v>
                </c:pt>
                <c:pt idx="237">
                  <c:v>20.539</c:v>
                </c:pt>
                <c:pt idx="238">
                  <c:v>20.609</c:v>
                </c:pt>
                <c:pt idx="239">
                  <c:v>20.674</c:v>
                </c:pt>
                <c:pt idx="240">
                  <c:v>20.759</c:v>
                </c:pt>
                <c:pt idx="241">
                  <c:v>20.804</c:v>
                </c:pt>
                <c:pt idx="242">
                  <c:v>20.859</c:v>
                </c:pt>
                <c:pt idx="243">
                  <c:v>20.959</c:v>
                </c:pt>
                <c:pt idx="244">
                  <c:v>21.054</c:v>
                </c:pt>
                <c:pt idx="245">
                  <c:v>21.139</c:v>
                </c:pt>
                <c:pt idx="246">
                  <c:v>21.229</c:v>
                </c:pt>
                <c:pt idx="247">
                  <c:v>21.269</c:v>
                </c:pt>
                <c:pt idx="248">
                  <c:v>21.304</c:v>
                </c:pt>
                <c:pt idx="249">
                  <c:v>21.399</c:v>
                </c:pt>
                <c:pt idx="250">
                  <c:v>21.464</c:v>
                </c:pt>
                <c:pt idx="251">
                  <c:v>21.574</c:v>
                </c:pt>
                <c:pt idx="252">
                  <c:v>21.679</c:v>
                </c:pt>
                <c:pt idx="253">
                  <c:v>21.764</c:v>
                </c:pt>
                <c:pt idx="254">
                  <c:v>21.809</c:v>
                </c:pt>
                <c:pt idx="255">
                  <c:v>21.854</c:v>
                </c:pt>
                <c:pt idx="256">
                  <c:v>22.064</c:v>
                </c:pt>
                <c:pt idx="257">
                  <c:v>22.139</c:v>
                </c:pt>
                <c:pt idx="258">
                  <c:v>22.194</c:v>
                </c:pt>
                <c:pt idx="259">
                  <c:v>22.229</c:v>
                </c:pt>
                <c:pt idx="260">
                  <c:v>22.324</c:v>
                </c:pt>
                <c:pt idx="261">
                  <c:v>22.414</c:v>
                </c:pt>
                <c:pt idx="262">
                  <c:v>22.479</c:v>
                </c:pt>
                <c:pt idx="263">
                  <c:v>22.564</c:v>
                </c:pt>
                <c:pt idx="264">
                  <c:v>22.654</c:v>
                </c:pt>
                <c:pt idx="265">
                  <c:v>22.729</c:v>
                </c:pt>
                <c:pt idx="266">
                  <c:v>22.799</c:v>
                </c:pt>
                <c:pt idx="267">
                  <c:v>22.874</c:v>
                </c:pt>
                <c:pt idx="268">
                  <c:v>22.904</c:v>
                </c:pt>
                <c:pt idx="269">
                  <c:v>22.964</c:v>
                </c:pt>
                <c:pt idx="270">
                  <c:v>22.999</c:v>
                </c:pt>
              </c:numCache>
            </c:numRef>
          </c:xVal>
          <c:yVal>
            <c:numRef>
              <c:f>Sheet1!$B$257:$B$527</c:f>
              <c:numCache>
                <c:formatCode>General</c:formatCode>
                <c:ptCount val="271"/>
                <c:pt idx="0">
                  <c:v>2.58747</c:v>
                </c:pt>
                <c:pt idx="1">
                  <c:v>0.53193</c:v>
                </c:pt>
                <c:pt idx="2">
                  <c:v>0.37259</c:v>
                </c:pt>
                <c:pt idx="3">
                  <c:v>0.31216</c:v>
                </c:pt>
                <c:pt idx="4">
                  <c:v>0.29162</c:v>
                </c:pt>
                <c:pt idx="5">
                  <c:v>0.28458</c:v>
                </c:pt>
                <c:pt idx="6">
                  <c:v>0.27472</c:v>
                </c:pt>
                <c:pt idx="7">
                  <c:v>0.26816</c:v>
                </c:pt>
                <c:pt idx="8">
                  <c:v>0.25115</c:v>
                </c:pt>
                <c:pt idx="9">
                  <c:v>0.25222</c:v>
                </c:pt>
                <c:pt idx="10">
                  <c:v>0.23457</c:v>
                </c:pt>
                <c:pt idx="11">
                  <c:v>0.23399</c:v>
                </c:pt>
                <c:pt idx="12">
                  <c:v>0.23783</c:v>
                </c:pt>
                <c:pt idx="13">
                  <c:v>0.22193</c:v>
                </c:pt>
                <c:pt idx="14">
                  <c:v>0.21403</c:v>
                </c:pt>
                <c:pt idx="15">
                  <c:v>0.20909</c:v>
                </c:pt>
                <c:pt idx="16">
                  <c:v>0.21096</c:v>
                </c:pt>
                <c:pt idx="17">
                  <c:v>0.20602</c:v>
                </c:pt>
                <c:pt idx="18">
                  <c:v>0.20951</c:v>
                </c:pt>
                <c:pt idx="19">
                  <c:v>0.2056</c:v>
                </c:pt>
                <c:pt idx="20">
                  <c:v>0.2074</c:v>
                </c:pt>
                <c:pt idx="21">
                  <c:v>0.19836</c:v>
                </c:pt>
                <c:pt idx="22">
                  <c:v>0.19606</c:v>
                </c:pt>
                <c:pt idx="23">
                  <c:v>0.19721</c:v>
                </c:pt>
                <c:pt idx="24">
                  <c:v>0.19189</c:v>
                </c:pt>
                <c:pt idx="25">
                  <c:v>0.19072</c:v>
                </c:pt>
                <c:pt idx="26">
                  <c:v>0.18931</c:v>
                </c:pt>
                <c:pt idx="27">
                  <c:v>0.18872</c:v>
                </c:pt>
                <c:pt idx="28">
                  <c:v>0.18179</c:v>
                </c:pt>
                <c:pt idx="29">
                  <c:v>0.17644</c:v>
                </c:pt>
                <c:pt idx="30">
                  <c:v>0.1833</c:v>
                </c:pt>
                <c:pt idx="31">
                  <c:v>0.18344</c:v>
                </c:pt>
                <c:pt idx="32">
                  <c:v>0.18117</c:v>
                </c:pt>
                <c:pt idx="33">
                  <c:v>0.18365</c:v>
                </c:pt>
                <c:pt idx="34">
                  <c:v>0.18653</c:v>
                </c:pt>
                <c:pt idx="35">
                  <c:v>0.18167</c:v>
                </c:pt>
                <c:pt idx="36">
                  <c:v>0.18135</c:v>
                </c:pt>
                <c:pt idx="37">
                  <c:v>0.17486</c:v>
                </c:pt>
                <c:pt idx="38">
                  <c:v>0.17275</c:v>
                </c:pt>
                <c:pt idx="39">
                  <c:v>0.16923</c:v>
                </c:pt>
                <c:pt idx="40">
                  <c:v>0.17261</c:v>
                </c:pt>
                <c:pt idx="41">
                  <c:v>0.16635</c:v>
                </c:pt>
                <c:pt idx="42">
                  <c:v>0.16067</c:v>
                </c:pt>
                <c:pt idx="43">
                  <c:v>0.15951</c:v>
                </c:pt>
                <c:pt idx="44">
                  <c:v>0.15811</c:v>
                </c:pt>
                <c:pt idx="45">
                  <c:v>0.15801</c:v>
                </c:pt>
                <c:pt idx="46">
                  <c:v>0.15828</c:v>
                </c:pt>
                <c:pt idx="47">
                  <c:v>0.15462</c:v>
                </c:pt>
                <c:pt idx="48">
                  <c:v>0.15684</c:v>
                </c:pt>
                <c:pt idx="49">
                  <c:v>0.15905</c:v>
                </c:pt>
                <c:pt idx="50">
                  <c:v>0.15547</c:v>
                </c:pt>
                <c:pt idx="51">
                  <c:v>0.1624</c:v>
                </c:pt>
                <c:pt idx="52">
                  <c:v>0.1589</c:v>
                </c:pt>
                <c:pt idx="53">
                  <c:v>0.15771</c:v>
                </c:pt>
                <c:pt idx="54">
                  <c:v>0.15656</c:v>
                </c:pt>
                <c:pt idx="55">
                  <c:v>0.1499</c:v>
                </c:pt>
                <c:pt idx="56">
                  <c:v>0.14645</c:v>
                </c:pt>
                <c:pt idx="57">
                  <c:v>0.15198</c:v>
                </c:pt>
                <c:pt idx="58">
                  <c:v>0.15062</c:v>
                </c:pt>
                <c:pt idx="59">
                  <c:v>0.15101</c:v>
                </c:pt>
                <c:pt idx="60">
                  <c:v>0.15024</c:v>
                </c:pt>
                <c:pt idx="61">
                  <c:v>0.1545</c:v>
                </c:pt>
                <c:pt idx="62">
                  <c:v>0.15179</c:v>
                </c:pt>
                <c:pt idx="63">
                  <c:v>0.15238</c:v>
                </c:pt>
                <c:pt idx="64">
                  <c:v>0.14729</c:v>
                </c:pt>
                <c:pt idx="65">
                  <c:v>0.14841</c:v>
                </c:pt>
                <c:pt idx="66">
                  <c:v>0.1441</c:v>
                </c:pt>
                <c:pt idx="67">
                  <c:v>0.14205</c:v>
                </c:pt>
                <c:pt idx="68">
                  <c:v>0.14005</c:v>
                </c:pt>
                <c:pt idx="69">
                  <c:v>0.14235</c:v>
                </c:pt>
                <c:pt idx="70">
                  <c:v>0.14452</c:v>
                </c:pt>
                <c:pt idx="71">
                  <c:v>0.14486</c:v>
                </c:pt>
                <c:pt idx="72">
                  <c:v>0.14439</c:v>
                </c:pt>
                <c:pt idx="73">
                  <c:v>0.14458</c:v>
                </c:pt>
                <c:pt idx="74">
                  <c:v>0.13945</c:v>
                </c:pt>
                <c:pt idx="75">
                  <c:v>0.13912</c:v>
                </c:pt>
                <c:pt idx="76">
                  <c:v>0.1376</c:v>
                </c:pt>
                <c:pt idx="77">
                  <c:v>0.13752</c:v>
                </c:pt>
                <c:pt idx="78">
                  <c:v>0.13847</c:v>
                </c:pt>
                <c:pt idx="79">
                  <c:v>0.13634</c:v>
                </c:pt>
                <c:pt idx="80">
                  <c:v>0.13609</c:v>
                </c:pt>
                <c:pt idx="81">
                  <c:v>0.13462</c:v>
                </c:pt>
                <c:pt idx="82">
                  <c:v>0.13126</c:v>
                </c:pt>
                <c:pt idx="83">
                  <c:v>0.13187</c:v>
                </c:pt>
                <c:pt idx="84">
                  <c:v>0.13179</c:v>
                </c:pt>
                <c:pt idx="85">
                  <c:v>0.13065</c:v>
                </c:pt>
                <c:pt idx="86">
                  <c:v>0.13021</c:v>
                </c:pt>
                <c:pt idx="87">
                  <c:v>0.13051</c:v>
                </c:pt>
                <c:pt idx="88">
                  <c:v>0.12992</c:v>
                </c:pt>
                <c:pt idx="89">
                  <c:v>0.13418</c:v>
                </c:pt>
                <c:pt idx="90">
                  <c:v>0.13463</c:v>
                </c:pt>
                <c:pt idx="91">
                  <c:v>0.13264</c:v>
                </c:pt>
                <c:pt idx="92">
                  <c:v>0.13028</c:v>
                </c:pt>
                <c:pt idx="93">
                  <c:v>0.13169</c:v>
                </c:pt>
                <c:pt idx="94">
                  <c:v>0.13024</c:v>
                </c:pt>
                <c:pt idx="95">
                  <c:v>0.13201</c:v>
                </c:pt>
                <c:pt idx="96">
                  <c:v>0.13116</c:v>
                </c:pt>
                <c:pt idx="97">
                  <c:v>0.13011</c:v>
                </c:pt>
                <c:pt idx="98">
                  <c:v>0.12855</c:v>
                </c:pt>
                <c:pt idx="99">
                  <c:v>0.12436</c:v>
                </c:pt>
                <c:pt idx="100">
                  <c:v>0.1224</c:v>
                </c:pt>
                <c:pt idx="101">
                  <c:v>0.12084</c:v>
                </c:pt>
                <c:pt idx="102">
                  <c:v>0.12177</c:v>
                </c:pt>
                <c:pt idx="103">
                  <c:v>0.1208</c:v>
                </c:pt>
                <c:pt idx="104">
                  <c:v>0.11832</c:v>
                </c:pt>
                <c:pt idx="105">
                  <c:v>0.11832</c:v>
                </c:pt>
                <c:pt idx="106">
                  <c:v>0.12145</c:v>
                </c:pt>
                <c:pt idx="107">
                  <c:v>0.12621</c:v>
                </c:pt>
                <c:pt idx="108">
                  <c:v>0.12567</c:v>
                </c:pt>
                <c:pt idx="109">
                  <c:v>0.12504</c:v>
                </c:pt>
                <c:pt idx="110">
                  <c:v>0.12375</c:v>
                </c:pt>
                <c:pt idx="111">
                  <c:v>0.12287</c:v>
                </c:pt>
                <c:pt idx="112">
                  <c:v>0.12142</c:v>
                </c:pt>
                <c:pt idx="113">
                  <c:v>0.11929</c:v>
                </c:pt>
                <c:pt idx="114">
                  <c:v>0.11904</c:v>
                </c:pt>
                <c:pt idx="115">
                  <c:v>0.11754</c:v>
                </c:pt>
                <c:pt idx="116">
                  <c:v>0.11895</c:v>
                </c:pt>
                <c:pt idx="117">
                  <c:v>0.12162</c:v>
                </c:pt>
                <c:pt idx="118">
                  <c:v>0.11986</c:v>
                </c:pt>
                <c:pt idx="119">
                  <c:v>0.11452</c:v>
                </c:pt>
                <c:pt idx="120">
                  <c:v>0.11594</c:v>
                </c:pt>
                <c:pt idx="121">
                  <c:v>0.11794</c:v>
                </c:pt>
                <c:pt idx="122">
                  <c:v>0.1212</c:v>
                </c:pt>
                <c:pt idx="123">
                  <c:v>0.11895</c:v>
                </c:pt>
                <c:pt idx="124">
                  <c:v>0.12027</c:v>
                </c:pt>
                <c:pt idx="125">
                  <c:v>0.11636</c:v>
                </c:pt>
                <c:pt idx="126">
                  <c:v>0.11584</c:v>
                </c:pt>
                <c:pt idx="127">
                  <c:v>0.11769</c:v>
                </c:pt>
                <c:pt idx="128">
                  <c:v>0.12004</c:v>
                </c:pt>
                <c:pt idx="129">
                  <c:v>0.11438</c:v>
                </c:pt>
                <c:pt idx="130">
                  <c:v>0.1143</c:v>
                </c:pt>
                <c:pt idx="131">
                  <c:v>0.11251</c:v>
                </c:pt>
                <c:pt idx="132">
                  <c:v>0.11286</c:v>
                </c:pt>
                <c:pt idx="133">
                  <c:v>0.1115</c:v>
                </c:pt>
                <c:pt idx="134">
                  <c:v>0.11244</c:v>
                </c:pt>
                <c:pt idx="135">
                  <c:v>0.1114</c:v>
                </c:pt>
                <c:pt idx="136">
                  <c:v>0.11069</c:v>
                </c:pt>
                <c:pt idx="137">
                  <c:v>0.1102</c:v>
                </c:pt>
                <c:pt idx="138">
                  <c:v>0.10894</c:v>
                </c:pt>
                <c:pt idx="139">
                  <c:v>0.10671</c:v>
                </c:pt>
                <c:pt idx="140">
                  <c:v>0.10761</c:v>
                </c:pt>
                <c:pt idx="141">
                  <c:v>0.1092</c:v>
                </c:pt>
                <c:pt idx="142">
                  <c:v>0.10776</c:v>
                </c:pt>
                <c:pt idx="143">
                  <c:v>0.10663</c:v>
                </c:pt>
                <c:pt idx="144">
                  <c:v>0.1072</c:v>
                </c:pt>
                <c:pt idx="145">
                  <c:v>0.10794</c:v>
                </c:pt>
                <c:pt idx="146">
                  <c:v>0.10905</c:v>
                </c:pt>
                <c:pt idx="147">
                  <c:v>0.11039</c:v>
                </c:pt>
                <c:pt idx="148">
                  <c:v>0.11324</c:v>
                </c:pt>
                <c:pt idx="149">
                  <c:v>0.11394</c:v>
                </c:pt>
                <c:pt idx="150">
                  <c:v>0.10848</c:v>
                </c:pt>
                <c:pt idx="151">
                  <c:v>0.10529</c:v>
                </c:pt>
                <c:pt idx="152">
                  <c:v>0.10577</c:v>
                </c:pt>
                <c:pt idx="153">
                  <c:v>0.10516</c:v>
                </c:pt>
                <c:pt idx="154">
                  <c:v>0.10524</c:v>
                </c:pt>
                <c:pt idx="155">
                  <c:v>0.10512</c:v>
                </c:pt>
                <c:pt idx="156">
                  <c:v>0.10606</c:v>
                </c:pt>
                <c:pt idx="157">
                  <c:v>0.1062</c:v>
                </c:pt>
                <c:pt idx="158">
                  <c:v>0.10494</c:v>
                </c:pt>
                <c:pt idx="159">
                  <c:v>0.10621</c:v>
                </c:pt>
                <c:pt idx="160">
                  <c:v>0.1057</c:v>
                </c:pt>
                <c:pt idx="161">
                  <c:v>0.1067</c:v>
                </c:pt>
                <c:pt idx="162">
                  <c:v>0.10546</c:v>
                </c:pt>
                <c:pt idx="163">
                  <c:v>0.10581</c:v>
                </c:pt>
                <c:pt idx="164">
                  <c:v>0.10039</c:v>
                </c:pt>
                <c:pt idx="165">
                  <c:v>0.10181</c:v>
                </c:pt>
                <c:pt idx="166">
                  <c:v>0.10281</c:v>
                </c:pt>
                <c:pt idx="167">
                  <c:v>0.10324</c:v>
                </c:pt>
                <c:pt idx="168">
                  <c:v>0.10602</c:v>
                </c:pt>
                <c:pt idx="169">
                  <c:v>0.10756</c:v>
                </c:pt>
                <c:pt idx="170">
                  <c:v>0.10852</c:v>
                </c:pt>
                <c:pt idx="171">
                  <c:v>0.10994</c:v>
                </c:pt>
                <c:pt idx="172">
                  <c:v>0.11014</c:v>
                </c:pt>
                <c:pt idx="173">
                  <c:v>0.10811</c:v>
                </c:pt>
                <c:pt idx="174">
                  <c:v>0.10596</c:v>
                </c:pt>
                <c:pt idx="175">
                  <c:v>0.10425</c:v>
                </c:pt>
                <c:pt idx="176">
                  <c:v>0.1045</c:v>
                </c:pt>
                <c:pt idx="177">
                  <c:v>0.10327</c:v>
                </c:pt>
                <c:pt idx="178">
                  <c:v>0.1025</c:v>
                </c:pt>
                <c:pt idx="179">
                  <c:v>0.10319</c:v>
                </c:pt>
                <c:pt idx="180">
                  <c:v>0.1076</c:v>
                </c:pt>
                <c:pt idx="181">
                  <c:v>0.10665</c:v>
                </c:pt>
                <c:pt idx="182">
                  <c:v>0.10866</c:v>
                </c:pt>
                <c:pt idx="183">
                  <c:v>0.10452</c:v>
                </c:pt>
                <c:pt idx="184">
                  <c:v>0.10716</c:v>
                </c:pt>
                <c:pt idx="185">
                  <c:v>0.10194</c:v>
                </c:pt>
                <c:pt idx="186">
                  <c:v>0.10175</c:v>
                </c:pt>
                <c:pt idx="187">
                  <c:v>0.10318</c:v>
                </c:pt>
                <c:pt idx="188">
                  <c:v>0.09957</c:v>
                </c:pt>
                <c:pt idx="189">
                  <c:v>0.09703</c:v>
                </c:pt>
                <c:pt idx="190">
                  <c:v>0.09929</c:v>
                </c:pt>
                <c:pt idx="191">
                  <c:v>0.09766</c:v>
                </c:pt>
                <c:pt idx="192">
                  <c:v>0.09944</c:v>
                </c:pt>
                <c:pt idx="193">
                  <c:v>0.09791</c:v>
                </c:pt>
                <c:pt idx="194">
                  <c:v>0.09659</c:v>
                </c:pt>
                <c:pt idx="195">
                  <c:v>0.09579</c:v>
                </c:pt>
                <c:pt idx="196">
                  <c:v>0.09995</c:v>
                </c:pt>
                <c:pt idx="197">
                  <c:v>0.09861</c:v>
                </c:pt>
                <c:pt idx="198">
                  <c:v>0.09867</c:v>
                </c:pt>
                <c:pt idx="199">
                  <c:v>0.10131</c:v>
                </c:pt>
                <c:pt idx="200">
                  <c:v>0.09993</c:v>
                </c:pt>
                <c:pt idx="201">
                  <c:v>0.09542</c:v>
                </c:pt>
                <c:pt idx="202">
                  <c:v>0.0952</c:v>
                </c:pt>
                <c:pt idx="203">
                  <c:v>0.09626</c:v>
                </c:pt>
                <c:pt idx="204">
                  <c:v>0.09644</c:v>
                </c:pt>
                <c:pt idx="205">
                  <c:v>0.09747</c:v>
                </c:pt>
                <c:pt idx="206">
                  <c:v>0.09507</c:v>
                </c:pt>
                <c:pt idx="207">
                  <c:v>0.09308</c:v>
                </c:pt>
                <c:pt idx="208">
                  <c:v>0.09704</c:v>
                </c:pt>
                <c:pt idx="209">
                  <c:v>0.09712</c:v>
                </c:pt>
                <c:pt idx="210">
                  <c:v>0.09717</c:v>
                </c:pt>
                <c:pt idx="211">
                  <c:v>0.09586</c:v>
                </c:pt>
                <c:pt idx="212">
                  <c:v>0.09548</c:v>
                </c:pt>
                <c:pt idx="213">
                  <c:v>0.09363</c:v>
                </c:pt>
                <c:pt idx="214">
                  <c:v>0.09408</c:v>
                </c:pt>
                <c:pt idx="215">
                  <c:v>0.0942</c:v>
                </c:pt>
                <c:pt idx="216">
                  <c:v>0.0938</c:v>
                </c:pt>
                <c:pt idx="217">
                  <c:v>0.09292</c:v>
                </c:pt>
                <c:pt idx="218">
                  <c:v>0.09445</c:v>
                </c:pt>
                <c:pt idx="219">
                  <c:v>0.09495</c:v>
                </c:pt>
                <c:pt idx="220">
                  <c:v>0.09505</c:v>
                </c:pt>
                <c:pt idx="221">
                  <c:v>0.09671</c:v>
                </c:pt>
                <c:pt idx="222">
                  <c:v>0.09739</c:v>
                </c:pt>
                <c:pt idx="223">
                  <c:v>0.09592</c:v>
                </c:pt>
                <c:pt idx="224">
                  <c:v>0.09714</c:v>
                </c:pt>
                <c:pt idx="225">
                  <c:v>0.0949</c:v>
                </c:pt>
                <c:pt idx="226">
                  <c:v>0.09137</c:v>
                </c:pt>
                <c:pt idx="227">
                  <c:v>0.09334</c:v>
                </c:pt>
                <c:pt idx="228">
                  <c:v>0.09343</c:v>
                </c:pt>
                <c:pt idx="229">
                  <c:v>0.09277</c:v>
                </c:pt>
                <c:pt idx="230">
                  <c:v>0.09356</c:v>
                </c:pt>
                <c:pt idx="231">
                  <c:v>0.09203</c:v>
                </c:pt>
                <c:pt idx="232">
                  <c:v>0.09122</c:v>
                </c:pt>
                <c:pt idx="233">
                  <c:v>0.09599</c:v>
                </c:pt>
                <c:pt idx="234">
                  <c:v>0.09491</c:v>
                </c:pt>
                <c:pt idx="235">
                  <c:v>0.0957</c:v>
                </c:pt>
                <c:pt idx="236">
                  <c:v>0.09775</c:v>
                </c:pt>
                <c:pt idx="237">
                  <c:v>0.09633</c:v>
                </c:pt>
                <c:pt idx="238">
                  <c:v>0.09728</c:v>
                </c:pt>
                <c:pt idx="239">
                  <c:v>0.09823</c:v>
                </c:pt>
                <c:pt idx="240">
                  <c:v>0.09625</c:v>
                </c:pt>
                <c:pt idx="241">
                  <c:v>0.09533</c:v>
                </c:pt>
                <c:pt idx="242">
                  <c:v>0.09433</c:v>
                </c:pt>
                <c:pt idx="243">
                  <c:v>0.09232</c:v>
                </c:pt>
                <c:pt idx="244">
                  <c:v>0.09426</c:v>
                </c:pt>
                <c:pt idx="245">
                  <c:v>0.09248</c:v>
                </c:pt>
                <c:pt idx="246">
                  <c:v>0.0887</c:v>
                </c:pt>
                <c:pt idx="247">
                  <c:v>0.09133</c:v>
                </c:pt>
                <c:pt idx="248">
                  <c:v>0.09127</c:v>
                </c:pt>
                <c:pt idx="249">
                  <c:v>0.0896</c:v>
                </c:pt>
                <c:pt idx="250">
                  <c:v>0.08975</c:v>
                </c:pt>
                <c:pt idx="251">
                  <c:v>0.0883</c:v>
                </c:pt>
                <c:pt idx="252">
                  <c:v>0.08704</c:v>
                </c:pt>
                <c:pt idx="253">
                  <c:v>0.08727</c:v>
                </c:pt>
                <c:pt idx="254">
                  <c:v>0.08604</c:v>
                </c:pt>
                <c:pt idx="255">
                  <c:v>0.08596</c:v>
                </c:pt>
                <c:pt idx="256">
                  <c:v>0.08847</c:v>
                </c:pt>
                <c:pt idx="257">
                  <c:v>0.0899</c:v>
                </c:pt>
                <c:pt idx="258">
                  <c:v>0.09086</c:v>
                </c:pt>
                <c:pt idx="259">
                  <c:v>0.09056</c:v>
                </c:pt>
                <c:pt idx="260">
                  <c:v>0.08968</c:v>
                </c:pt>
                <c:pt idx="261">
                  <c:v>0.08919</c:v>
                </c:pt>
                <c:pt idx="262">
                  <c:v>0.08879</c:v>
                </c:pt>
                <c:pt idx="263">
                  <c:v>0.08521</c:v>
                </c:pt>
                <c:pt idx="264">
                  <c:v>0.08494</c:v>
                </c:pt>
                <c:pt idx="265">
                  <c:v>0.08621</c:v>
                </c:pt>
                <c:pt idx="266">
                  <c:v>0.08763</c:v>
                </c:pt>
                <c:pt idx="267">
                  <c:v>0.08926</c:v>
                </c:pt>
                <c:pt idx="268">
                  <c:v>0.08977</c:v>
                </c:pt>
                <c:pt idx="269">
                  <c:v>0.0881</c:v>
                </c:pt>
                <c:pt idx="270">
                  <c:v>0.08713</c:v>
                </c:pt>
              </c:numCache>
            </c:numRef>
          </c:yVal>
          <c:smooth val="0"/>
        </c:ser>
        <c:ser>
          <c:idx val="2"/>
          <c:order val="2"/>
          <c:tx>
            <c:strRef>
              <c:f>Sheet1!$B$529</c:f>
              <c:strCache>
                <c:ptCount val="1"/>
                <c:pt idx="0">
                  <c:v>MLP</c:v>
                </c:pt>
              </c:strCache>
            </c:strRef>
          </c:tx>
          <c:spPr>
            <a:ln w="22225">
              <a:solidFill>
                <a:srgbClr val="0072B2"/>
              </a:solidFill>
            </a:ln>
          </c:spPr>
          <c:marker>
            <c:symbol val="none"/>
          </c:marker>
          <c:xVal>
            <c:numRef>
              <c:f>Sheet1!$A$530:$A$821</c:f>
              <c:numCache>
                <c:formatCode>General</c:formatCode>
                <c:ptCount val="292"/>
                <c:pt idx="0">
                  <c:v>0.004</c:v>
                </c:pt>
                <c:pt idx="1">
                  <c:v>0.754</c:v>
                </c:pt>
                <c:pt idx="2">
                  <c:v>1.269</c:v>
                </c:pt>
                <c:pt idx="3">
                  <c:v>1.349</c:v>
                </c:pt>
                <c:pt idx="4">
                  <c:v>1.449</c:v>
                </c:pt>
                <c:pt idx="5">
                  <c:v>1.569</c:v>
                </c:pt>
                <c:pt idx="6">
                  <c:v>1.664</c:v>
                </c:pt>
                <c:pt idx="7">
                  <c:v>1.729</c:v>
                </c:pt>
                <c:pt idx="8">
                  <c:v>1.824</c:v>
                </c:pt>
                <c:pt idx="9">
                  <c:v>1.854</c:v>
                </c:pt>
                <c:pt idx="10">
                  <c:v>1.924</c:v>
                </c:pt>
                <c:pt idx="11">
                  <c:v>2.079</c:v>
                </c:pt>
                <c:pt idx="12">
                  <c:v>2.144</c:v>
                </c:pt>
                <c:pt idx="13">
                  <c:v>2.199</c:v>
                </c:pt>
                <c:pt idx="14">
                  <c:v>2.279</c:v>
                </c:pt>
                <c:pt idx="15">
                  <c:v>2.319</c:v>
                </c:pt>
                <c:pt idx="16">
                  <c:v>2.449</c:v>
                </c:pt>
                <c:pt idx="17">
                  <c:v>2.514</c:v>
                </c:pt>
                <c:pt idx="18">
                  <c:v>2.589</c:v>
                </c:pt>
                <c:pt idx="19">
                  <c:v>2.659</c:v>
                </c:pt>
                <c:pt idx="20">
                  <c:v>2.739</c:v>
                </c:pt>
                <c:pt idx="21">
                  <c:v>2.829</c:v>
                </c:pt>
                <c:pt idx="22">
                  <c:v>2.899</c:v>
                </c:pt>
                <c:pt idx="23">
                  <c:v>2.964</c:v>
                </c:pt>
                <c:pt idx="24">
                  <c:v>3.119</c:v>
                </c:pt>
                <c:pt idx="25">
                  <c:v>3.219</c:v>
                </c:pt>
                <c:pt idx="26">
                  <c:v>3.354</c:v>
                </c:pt>
                <c:pt idx="27">
                  <c:v>3.414</c:v>
                </c:pt>
                <c:pt idx="28">
                  <c:v>3.529</c:v>
                </c:pt>
                <c:pt idx="29">
                  <c:v>3.584</c:v>
                </c:pt>
                <c:pt idx="30">
                  <c:v>3.629</c:v>
                </c:pt>
                <c:pt idx="31">
                  <c:v>3.729</c:v>
                </c:pt>
                <c:pt idx="32">
                  <c:v>3.794</c:v>
                </c:pt>
                <c:pt idx="33">
                  <c:v>3.864</c:v>
                </c:pt>
                <c:pt idx="34">
                  <c:v>3.989</c:v>
                </c:pt>
                <c:pt idx="35">
                  <c:v>4.084</c:v>
                </c:pt>
                <c:pt idx="36">
                  <c:v>4.144</c:v>
                </c:pt>
                <c:pt idx="37">
                  <c:v>4.214</c:v>
                </c:pt>
                <c:pt idx="38">
                  <c:v>4.394</c:v>
                </c:pt>
                <c:pt idx="39">
                  <c:v>4.444</c:v>
                </c:pt>
                <c:pt idx="40">
                  <c:v>4.539</c:v>
                </c:pt>
                <c:pt idx="41">
                  <c:v>4.704</c:v>
                </c:pt>
                <c:pt idx="42">
                  <c:v>4.809</c:v>
                </c:pt>
                <c:pt idx="43">
                  <c:v>4.879</c:v>
                </c:pt>
                <c:pt idx="44">
                  <c:v>4.904</c:v>
                </c:pt>
                <c:pt idx="45">
                  <c:v>5.044</c:v>
                </c:pt>
                <c:pt idx="46">
                  <c:v>5.089</c:v>
                </c:pt>
                <c:pt idx="47">
                  <c:v>5.179</c:v>
                </c:pt>
                <c:pt idx="48">
                  <c:v>5.224</c:v>
                </c:pt>
                <c:pt idx="49">
                  <c:v>5.274</c:v>
                </c:pt>
                <c:pt idx="50">
                  <c:v>5.319</c:v>
                </c:pt>
                <c:pt idx="51">
                  <c:v>5.369</c:v>
                </c:pt>
                <c:pt idx="52">
                  <c:v>5.414</c:v>
                </c:pt>
                <c:pt idx="53">
                  <c:v>5.464</c:v>
                </c:pt>
                <c:pt idx="54">
                  <c:v>5.534</c:v>
                </c:pt>
                <c:pt idx="55">
                  <c:v>5.664</c:v>
                </c:pt>
                <c:pt idx="56">
                  <c:v>5.754</c:v>
                </c:pt>
                <c:pt idx="57">
                  <c:v>5.864</c:v>
                </c:pt>
                <c:pt idx="58">
                  <c:v>5.929</c:v>
                </c:pt>
                <c:pt idx="59">
                  <c:v>5.969</c:v>
                </c:pt>
                <c:pt idx="60">
                  <c:v>6.044</c:v>
                </c:pt>
                <c:pt idx="61">
                  <c:v>6.099</c:v>
                </c:pt>
                <c:pt idx="62">
                  <c:v>6.194</c:v>
                </c:pt>
                <c:pt idx="63">
                  <c:v>6.264</c:v>
                </c:pt>
                <c:pt idx="64">
                  <c:v>6.359</c:v>
                </c:pt>
                <c:pt idx="65">
                  <c:v>6.514</c:v>
                </c:pt>
                <c:pt idx="66">
                  <c:v>6.609</c:v>
                </c:pt>
                <c:pt idx="67">
                  <c:v>6.669</c:v>
                </c:pt>
                <c:pt idx="68">
                  <c:v>6.729</c:v>
                </c:pt>
                <c:pt idx="69">
                  <c:v>6.799</c:v>
                </c:pt>
                <c:pt idx="70">
                  <c:v>6.954</c:v>
                </c:pt>
                <c:pt idx="71">
                  <c:v>6.989</c:v>
                </c:pt>
                <c:pt idx="72">
                  <c:v>7.069</c:v>
                </c:pt>
                <c:pt idx="73">
                  <c:v>7.149</c:v>
                </c:pt>
                <c:pt idx="74">
                  <c:v>7.304</c:v>
                </c:pt>
                <c:pt idx="75">
                  <c:v>7.359</c:v>
                </c:pt>
                <c:pt idx="76">
                  <c:v>7.419</c:v>
                </c:pt>
                <c:pt idx="77">
                  <c:v>7.494</c:v>
                </c:pt>
                <c:pt idx="78">
                  <c:v>7.524</c:v>
                </c:pt>
                <c:pt idx="79">
                  <c:v>7.554</c:v>
                </c:pt>
                <c:pt idx="80">
                  <c:v>7.604</c:v>
                </c:pt>
                <c:pt idx="81">
                  <c:v>7.674</c:v>
                </c:pt>
                <c:pt idx="82">
                  <c:v>7.794</c:v>
                </c:pt>
                <c:pt idx="83">
                  <c:v>7.864</c:v>
                </c:pt>
                <c:pt idx="84">
                  <c:v>7.944</c:v>
                </c:pt>
                <c:pt idx="85">
                  <c:v>8.069</c:v>
                </c:pt>
                <c:pt idx="86">
                  <c:v>8.174</c:v>
                </c:pt>
                <c:pt idx="87">
                  <c:v>8.224</c:v>
                </c:pt>
                <c:pt idx="88">
                  <c:v>8.389</c:v>
                </c:pt>
                <c:pt idx="89">
                  <c:v>8.519</c:v>
                </c:pt>
                <c:pt idx="90">
                  <c:v>8.569</c:v>
                </c:pt>
                <c:pt idx="91">
                  <c:v>8.649</c:v>
                </c:pt>
                <c:pt idx="92">
                  <c:v>8.734</c:v>
                </c:pt>
                <c:pt idx="93">
                  <c:v>8.789</c:v>
                </c:pt>
                <c:pt idx="94">
                  <c:v>8.889</c:v>
                </c:pt>
                <c:pt idx="95">
                  <c:v>8.979</c:v>
                </c:pt>
                <c:pt idx="96">
                  <c:v>9.059</c:v>
                </c:pt>
                <c:pt idx="97">
                  <c:v>9.134</c:v>
                </c:pt>
                <c:pt idx="98">
                  <c:v>9.189</c:v>
                </c:pt>
                <c:pt idx="99">
                  <c:v>9.214</c:v>
                </c:pt>
                <c:pt idx="100">
                  <c:v>9.244</c:v>
                </c:pt>
                <c:pt idx="101">
                  <c:v>9.314</c:v>
                </c:pt>
                <c:pt idx="102">
                  <c:v>9.379</c:v>
                </c:pt>
                <c:pt idx="103">
                  <c:v>9.434</c:v>
                </c:pt>
                <c:pt idx="104">
                  <c:v>9.514</c:v>
                </c:pt>
                <c:pt idx="105">
                  <c:v>9.589</c:v>
                </c:pt>
                <c:pt idx="106">
                  <c:v>9.639</c:v>
                </c:pt>
                <c:pt idx="107">
                  <c:v>9.699</c:v>
                </c:pt>
                <c:pt idx="108">
                  <c:v>9.739</c:v>
                </c:pt>
                <c:pt idx="109">
                  <c:v>9.834</c:v>
                </c:pt>
                <c:pt idx="110">
                  <c:v>9.884</c:v>
                </c:pt>
                <c:pt idx="111">
                  <c:v>9.929</c:v>
                </c:pt>
                <c:pt idx="112">
                  <c:v>10.009</c:v>
                </c:pt>
                <c:pt idx="113">
                  <c:v>10.059</c:v>
                </c:pt>
                <c:pt idx="114">
                  <c:v>10.104</c:v>
                </c:pt>
                <c:pt idx="115">
                  <c:v>10.164</c:v>
                </c:pt>
                <c:pt idx="116">
                  <c:v>10.224</c:v>
                </c:pt>
                <c:pt idx="117">
                  <c:v>10.274</c:v>
                </c:pt>
                <c:pt idx="118">
                  <c:v>10.314</c:v>
                </c:pt>
                <c:pt idx="119">
                  <c:v>10.449</c:v>
                </c:pt>
                <c:pt idx="120">
                  <c:v>10.559</c:v>
                </c:pt>
                <c:pt idx="121">
                  <c:v>10.614</c:v>
                </c:pt>
                <c:pt idx="122">
                  <c:v>10.664</c:v>
                </c:pt>
                <c:pt idx="123">
                  <c:v>10.709</c:v>
                </c:pt>
                <c:pt idx="124">
                  <c:v>10.789</c:v>
                </c:pt>
                <c:pt idx="125">
                  <c:v>10.844</c:v>
                </c:pt>
                <c:pt idx="126">
                  <c:v>10.924</c:v>
                </c:pt>
                <c:pt idx="127">
                  <c:v>10.979</c:v>
                </c:pt>
                <c:pt idx="128">
                  <c:v>11.074</c:v>
                </c:pt>
                <c:pt idx="129">
                  <c:v>11.204</c:v>
                </c:pt>
                <c:pt idx="130">
                  <c:v>11.269</c:v>
                </c:pt>
                <c:pt idx="131">
                  <c:v>11.324</c:v>
                </c:pt>
                <c:pt idx="132">
                  <c:v>11.509</c:v>
                </c:pt>
                <c:pt idx="133">
                  <c:v>11.664</c:v>
                </c:pt>
                <c:pt idx="134">
                  <c:v>11.764</c:v>
                </c:pt>
                <c:pt idx="135">
                  <c:v>11.809</c:v>
                </c:pt>
                <c:pt idx="136">
                  <c:v>11.859</c:v>
                </c:pt>
                <c:pt idx="137">
                  <c:v>11.929</c:v>
                </c:pt>
                <c:pt idx="138">
                  <c:v>11.989</c:v>
                </c:pt>
                <c:pt idx="139">
                  <c:v>12.044</c:v>
                </c:pt>
                <c:pt idx="140">
                  <c:v>12.119</c:v>
                </c:pt>
                <c:pt idx="141">
                  <c:v>12.184</c:v>
                </c:pt>
                <c:pt idx="142">
                  <c:v>12.219</c:v>
                </c:pt>
                <c:pt idx="143">
                  <c:v>12.319</c:v>
                </c:pt>
                <c:pt idx="144">
                  <c:v>12.384</c:v>
                </c:pt>
                <c:pt idx="145">
                  <c:v>12.439</c:v>
                </c:pt>
                <c:pt idx="146">
                  <c:v>12.509</c:v>
                </c:pt>
                <c:pt idx="147">
                  <c:v>12.644</c:v>
                </c:pt>
                <c:pt idx="148">
                  <c:v>12.729</c:v>
                </c:pt>
                <c:pt idx="149">
                  <c:v>12.834</c:v>
                </c:pt>
                <c:pt idx="150">
                  <c:v>12.894</c:v>
                </c:pt>
                <c:pt idx="151">
                  <c:v>12.979</c:v>
                </c:pt>
                <c:pt idx="152">
                  <c:v>13.064</c:v>
                </c:pt>
                <c:pt idx="153">
                  <c:v>13.144</c:v>
                </c:pt>
                <c:pt idx="154">
                  <c:v>13.224</c:v>
                </c:pt>
                <c:pt idx="155">
                  <c:v>13.264</c:v>
                </c:pt>
                <c:pt idx="156">
                  <c:v>13.304</c:v>
                </c:pt>
                <c:pt idx="157">
                  <c:v>13.359</c:v>
                </c:pt>
                <c:pt idx="158">
                  <c:v>13.489</c:v>
                </c:pt>
                <c:pt idx="159">
                  <c:v>13.609</c:v>
                </c:pt>
                <c:pt idx="160">
                  <c:v>13.654</c:v>
                </c:pt>
                <c:pt idx="161">
                  <c:v>13.709</c:v>
                </c:pt>
                <c:pt idx="162">
                  <c:v>13.784</c:v>
                </c:pt>
                <c:pt idx="163">
                  <c:v>13.894</c:v>
                </c:pt>
                <c:pt idx="164">
                  <c:v>13.999</c:v>
                </c:pt>
                <c:pt idx="165">
                  <c:v>14.089</c:v>
                </c:pt>
                <c:pt idx="166">
                  <c:v>14.184</c:v>
                </c:pt>
                <c:pt idx="167">
                  <c:v>14.229</c:v>
                </c:pt>
                <c:pt idx="168">
                  <c:v>14.299</c:v>
                </c:pt>
                <c:pt idx="169">
                  <c:v>14.354</c:v>
                </c:pt>
                <c:pt idx="170">
                  <c:v>14.454</c:v>
                </c:pt>
                <c:pt idx="171">
                  <c:v>14.529</c:v>
                </c:pt>
                <c:pt idx="172">
                  <c:v>14.614</c:v>
                </c:pt>
                <c:pt idx="173">
                  <c:v>14.744</c:v>
                </c:pt>
                <c:pt idx="174">
                  <c:v>14.829</c:v>
                </c:pt>
                <c:pt idx="175">
                  <c:v>14.869</c:v>
                </c:pt>
                <c:pt idx="176">
                  <c:v>14.934</c:v>
                </c:pt>
                <c:pt idx="177">
                  <c:v>15.009</c:v>
                </c:pt>
                <c:pt idx="178">
                  <c:v>15.044</c:v>
                </c:pt>
                <c:pt idx="179">
                  <c:v>15.084</c:v>
                </c:pt>
                <c:pt idx="180">
                  <c:v>15.139</c:v>
                </c:pt>
                <c:pt idx="181">
                  <c:v>15.204</c:v>
                </c:pt>
                <c:pt idx="182">
                  <c:v>15.249</c:v>
                </c:pt>
                <c:pt idx="183">
                  <c:v>15.424</c:v>
                </c:pt>
                <c:pt idx="184">
                  <c:v>15.499</c:v>
                </c:pt>
                <c:pt idx="185">
                  <c:v>15.574</c:v>
                </c:pt>
                <c:pt idx="186">
                  <c:v>15.634</c:v>
                </c:pt>
                <c:pt idx="187">
                  <c:v>15.709</c:v>
                </c:pt>
                <c:pt idx="188">
                  <c:v>15.764</c:v>
                </c:pt>
                <c:pt idx="189">
                  <c:v>15.799</c:v>
                </c:pt>
                <c:pt idx="190">
                  <c:v>15.864</c:v>
                </c:pt>
                <c:pt idx="191">
                  <c:v>15.929</c:v>
                </c:pt>
                <c:pt idx="192">
                  <c:v>16.019</c:v>
                </c:pt>
                <c:pt idx="193">
                  <c:v>16.074</c:v>
                </c:pt>
                <c:pt idx="194">
                  <c:v>16.144</c:v>
                </c:pt>
                <c:pt idx="195">
                  <c:v>16.209</c:v>
                </c:pt>
                <c:pt idx="196">
                  <c:v>16.244</c:v>
                </c:pt>
                <c:pt idx="197">
                  <c:v>16.304</c:v>
                </c:pt>
                <c:pt idx="198">
                  <c:v>16.394</c:v>
                </c:pt>
                <c:pt idx="199">
                  <c:v>16.479</c:v>
                </c:pt>
                <c:pt idx="200">
                  <c:v>16.579</c:v>
                </c:pt>
                <c:pt idx="201">
                  <c:v>16.649</c:v>
                </c:pt>
                <c:pt idx="202">
                  <c:v>16.709</c:v>
                </c:pt>
                <c:pt idx="203">
                  <c:v>16.809</c:v>
                </c:pt>
                <c:pt idx="204">
                  <c:v>16.944</c:v>
                </c:pt>
                <c:pt idx="205">
                  <c:v>17.039</c:v>
                </c:pt>
                <c:pt idx="206">
                  <c:v>17.074</c:v>
                </c:pt>
                <c:pt idx="207">
                  <c:v>17.124</c:v>
                </c:pt>
                <c:pt idx="208">
                  <c:v>17.174</c:v>
                </c:pt>
                <c:pt idx="209">
                  <c:v>17.244</c:v>
                </c:pt>
                <c:pt idx="210">
                  <c:v>17.324</c:v>
                </c:pt>
                <c:pt idx="211">
                  <c:v>17.364</c:v>
                </c:pt>
                <c:pt idx="212">
                  <c:v>17.409</c:v>
                </c:pt>
                <c:pt idx="213">
                  <c:v>17.509</c:v>
                </c:pt>
                <c:pt idx="214">
                  <c:v>17.589</c:v>
                </c:pt>
                <c:pt idx="215">
                  <c:v>17.689</c:v>
                </c:pt>
                <c:pt idx="216">
                  <c:v>17.789</c:v>
                </c:pt>
                <c:pt idx="217">
                  <c:v>17.829</c:v>
                </c:pt>
                <c:pt idx="218">
                  <c:v>17.889</c:v>
                </c:pt>
                <c:pt idx="219">
                  <c:v>17.974</c:v>
                </c:pt>
                <c:pt idx="220">
                  <c:v>18.019</c:v>
                </c:pt>
                <c:pt idx="221">
                  <c:v>18.089</c:v>
                </c:pt>
                <c:pt idx="222">
                  <c:v>18.129</c:v>
                </c:pt>
                <c:pt idx="223">
                  <c:v>18.219</c:v>
                </c:pt>
                <c:pt idx="224">
                  <c:v>18.284</c:v>
                </c:pt>
                <c:pt idx="225">
                  <c:v>18.344</c:v>
                </c:pt>
                <c:pt idx="226">
                  <c:v>18.404</c:v>
                </c:pt>
                <c:pt idx="227">
                  <c:v>18.474</c:v>
                </c:pt>
                <c:pt idx="228">
                  <c:v>18.589</c:v>
                </c:pt>
                <c:pt idx="229">
                  <c:v>18.659</c:v>
                </c:pt>
                <c:pt idx="230">
                  <c:v>18.704</c:v>
                </c:pt>
                <c:pt idx="231">
                  <c:v>18.814</c:v>
                </c:pt>
                <c:pt idx="232">
                  <c:v>18.874</c:v>
                </c:pt>
                <c:pt idx="233">
                  <c:v>18.939</c:v>
                </c:pt>
                <c:pt idx="234">
                  <c:v>19.014</c:v>
                </c:pt>
                <c:pt idx="235">
                  <c:v>19.159</c:v>
                </c:pt>
                <c:pt idx="236">
                  <c:v>19.224</c:v>
                </c:pt>
                <c:pt idx="237">
                  <c:v>19.264</c:v>
                </c:pt>
                <c:pt idx="238">
                  <c:v>19.319</c:v>
                </c:pt>
                <c:pt idx="239">
                  <c:v>19.359</c:v>
                </c:pt>
                <c:pt idx="240">
                  <c:v>19.404</c:v>
                </c:pt>
                <c:pt idx="241">
                  <c:v>19.449</c:v>
                </c:pt>
                <c:pt idx="242">
                  <c:v>19.514</c:v>
                </c:pt>
                <c:pt idx="243">
                  <c:v>19.564</c:v>
                </c:pt>
                <c:pt idx="244">
                  <c:v>19.679</c:v>
                </c:pt>
                <c:pt idx="245">
                  <c:v>19.739</c:v>
                </c:pt>
                <c:pt idx="246">
                  <c:v>19.799</c:v>
                </c:pt>
                <c:pt idx="247">
                  <c:v>19.909</c:v>
                </c:pt>
                <c:pt idx="248">
                  <c:v>19.979</c:v>
                </c:pt>
                <c:pt idx="249">
                  <c:v>20.014</c:v>
                </c:pt>
                <c:pt idx="250">
                  <c:v>20.089</c:v>
                </c:pt>
                <c:pt idx="251">
                  <c:v>20.219</c:v>
                </c:pt>
                <c:pt idx="252">
                  <c:v>20.279</c:v>
                </c:pt>
                <c:pt idx="253">
                  <c:v>20.329</c:v>
                </c:pt>
                <c:pt idx="254">
                  <c:v>20.379</c:v>
                </c:pt>
                <c:pt idx="255">
                  <c:v>20.459</c:v>
                </c:pt>
                <c:pt idx="256">
                  <c:v>20.599</c:v>
                </c:pt>
                <c:pt idx="257">
                  <c:v>20.644</c:v>
                </c:pt>
                <c:pt idx="258">
                  <c:v>20.704</c:v>
                </c:pt>
                <c:pt idx="259">
                  <c:v>20.834</c:v>
                </c:pt>
                <c:pt idx="260">
                  <c:v>20.864</c:v>
                </c:pt>
                <c:pt idx="261">
                  <c:v>20.969</c:v>
                </c:pt>
                <c:pt idx="262">
                  <c:v>21.069</c:v>
                </c:pt>
                <c:pt idx="263">
                  <c:v>21.129</c:v>
                </c:pt>
                <c:pt idx="264">
                  <c:v>21.174</c:v>
                </c:pt>
                <c:pt idx="265">
                  <c:v>21.229</c:v>
                </c:pt>
                <c:pt idx="266">
                  <c:v>21.304</c:v>
                </c:pt>
                <c:pt idx="267">
                  <c:v>21.419</c:v>
                </c:pt>
                <c:pt idx="268">
                  <c:v>21.479</c:v>
                </c:pt>
                <c:pt idx="269">
                  <c:v>21.569</c:v>
                </c:pt>
                <c:pt idx="270">
                  <c:v>21.659</c:v>
                </c:pt>
                <c:pt idx="271">
                  <c:v>21.699</c:v>
                </c:pt>
                <c:pt idx="272">
                  <c:v>21.744</c:v>
                </c:pt>
                <c:pt idx="273">
                  <c:v>21.809</c:v>
                </c:pt>
                <c:pt idx="274">
                  <c:v>21.869</c:v>
                </c:pt>
                <c:pt idx="275">
                  <c:v>21.924</c:v>
                </c:pt>
                <c:pt idx="276">
                  <c:v>21.984</c:v>
                </c:pt>
                <c:pt idx="277">
                  <c:v>22.024</c:v>
                </c:pt>
                <c:pt idx="278">
                  <c:v>22.069</c:v>
                </c:pt>
                <c:pt idx="279">
                  <c:v>22.164</c:v>
                </c:pt>
                <c:pt idx="280">
                  <c:v>22.209</c:v>
                </c:pt>
                <c:pt idx="281">
                  <c:v>22.269</c:v>
                </c:pt>
                <c:pt idx="282">
                  <c:v>22.304</c:v>
                </c:pt>
                <c:pt idx="283">
                  <c:v>22.359</c:v>
                </c:pt>
                <c:pt idx="284">
                  <c:v>22.494</c:v>
                </c:pt>
                <c:pt idx="285">
                  <c:v>22.624</c:v>
                </c:pt>
                <c:pt idx="286">
                  <c:v>22.699</c:v>
                </c:pt>
                <c:pt idx="287">
                  <c:v>22.799</c:v>
                </c:pt>
                <c:pt idx="288">
                  <c:v>22.844</c:v>
                </c:pt>
                <c:pt idx="289">
                  <c:v>22.884</c:v>
                </c:pt>
                <c:pt idx="290">
                  <c:v>22.969</c:v>
                </c:pt>
                <c:pt idx="291">
                  <c:v>22.999</c:v>
                </c:pt>
              </c:numCache>
            </c:numRef>
          </c:xVal>
          <c:yVal>
            <c:numRef>
              <c:f>Sheet1!$B$530:$B$821</c:f>
              <c:numCache>
                <c:formatCode>General</c:formatCode>
                <c:ptCount val="292"/>
                <c:pt idx="0">
                  <c:v>3.18571</c:v>
                </c:pt>
                <c:pt idx="1">
                  <c:v>0.51718</c:v>
                </c:pt>
                <c:pt idx="2">
                  <c:v>0.25715</c:v>
                </c:pt>
                <c:pt idx="3">
                  <c:v>0.24148</c:v>
                </c:pt>
                <c:pt idx="4">
                  <c:v>0.228</c:v>
                </c:pt>
                <c:pt idx="5">
                  <c:v>0.2188</c:v>
                </c:pt>
                <c:pt idx="6">
                  <c:v>0.20776</c:v>
                </c:pt>
                <c:pt idx="7">
                  <c:v>0.20176</c:v>
                </c:pt>
                <c:pt idx="8">
                  <c:v>0.19491</c:v>
                </c:pt>
                <c:pt idx="9">
                  <c:v>0.19313</c:v>
                </c:pt>
                <c:pt idx="10">
                  <c:v>0.19212</c:v>
                </c:pt>
                <c:pt idx="11">
                  <c:v>0.1786</c:v>
                </c:pt>
                <c:pt idx="12">
                  <c:v>0.17883</c:v>
                </c:pt>
                <c:pt idx="13">
                  <c:v>0.17705</c:v>
                </c:pt>
                <c:pt idx="14">
                  <c:v>0.17488</c:v>
                </c:pt>
                <c:pt idx="15">
                  <c:v>0.17784</c:v>
                </c:pt>
                <c:pt idx="16">
                  <c:v>0.17646</c:v>
                </c:pt>
                <c:pt idx="17">
                  <c:v>0.17845</c:v>
                </c:pt>
                <c:pt idx="18">
                  <c:v>0.17224</c:v>
                </c:pt>
                <c:pt idx="19">
                  <c:v>0.17012</c:v>
                </c:pt>
                <c:pt idx="20">
                  <c:v>0.16437</c:v>
                </c:pt>
                <c:pt idx="21">
                  <c:v>0.16421</c:v>
                </c:pt>
                <c:pt idx="22">
                  <c:v>0.16175</c:v>
                </c:pt>
                <c:pt idx="23">
                  <c:v>0.16335</c:v>
                </c:pt>
                <c:pt idx="24">
                  <c:v>0.15804</c:v>
                </c:pt>
                <c:pt idx="25">
                  <c:v>0.15486</c:v>
                </c:pt>
                <c:pt idx="26">
                  <c:v>0.15148</c:v>
                </c:pt>
                <c:pt idx="27">
                  <c:v>0.15192</c:v>
                </c:pt>
                <c:pt idx="28">
                  <c:v>0.14965</c:v>
                </c:pt>
                <c:pt idx="29">
                  <c:v>0.14547</c:v>
                </c:pt>
                <c:pt idx="30">
                  <c:v>0.15025</c:v>
                </c:pt>
                <c:pt idx="31">
                  <c:v>0.14413</c:v>
                </c:pt>
                <c:pt idx="32">
                  <c:v>0.1429</c:v>
                </c:pt>
                <c:pt idx="33">
                  <c:v>0.14773</c:v>
                </c:pt>
                <c:pt idx="34">
                  <c:v>0.14349</c:v>
                </c:pt>
                <c:pt idx="35">
                  <c:v>0.14704</c:v>
                </c:pt>
                <c:pt idx="36">
                  <c:v>0.1465</c:v>
                </c:pt>
                <c:pt idx="37">
                  <c:v>0.14232</c:v>
                </c:pt>
                <c:pt idx="38">
                  <c:v>0.13594</c:v>
                </c:pt>
                <c:pt idx="39">
                  <c:v>0.13615</c:v>
                </c:pt>
                <c:pt idx="40">
                  <c:v>0.13482</c:v>
                </c:pt>
                <c:pt idx="41">
                  <c:v>0.13103</c:v>
                </c:pt>
                <c:pt idx="42">
                  <c:v>0.13372</c:v>
                </c:pt>
                <c:pt idx="43">
                  <c:v>0.13052</c:v>
                </c:pt>
                <c:pt idx="44">
                  <c:v>0.13167</c:v>
                </c:pt>
                <c:pt idx="45">
                  <c:v>0.12871</c:v>
                </c:pt>
                <c:pt idx="46">
                  <c:v>0.12961</c:v>
                </c:pt>
                <c:pt idx="47">
                  <c:v>0.12832</c:v>
                </c:pt>
                <c:pt idx="48">
                  <c:v>0.12856</c:v>
                </c:pt>
                <c:pt idx="49">
                  <c:v>0.12934</c:v>
                </c:pt>
                <c:pt idx="50">
                  <c:v>0.12959</c:v>
                </c:pt>
                <c:pt idx="51">
                  <c:v>0.13013</c:v>
                </c:pt>
                <c:pt idx="52">
                  <c:v>0.12908</c:v>
                </c:pt>
                <c:pt idx="53">
                  <c:v>0.13059</c:v>
                </c:pt>
                <c:pt idx="54">
                  <c:v>0.12869</c:v>
                </c:pt>
                <c:pt idx="55">
                  <c:v>0.12521</c:v>
                </c:pt>
                <c:pt idx="56">
                  <c:v>0.12368</c:v>
                </c:pt>
                <c:pt idx="57">
                  <c:v>0.1206</c:v>
                </c:pt>
                <c:pt idx="58">
                  <c:v>0.12025</c:v>
                </c:pt>
                <c:pt idx="59">
                  <c:v>0.12118</c:v>
                </c:pt>
                <c:pt idx="60">
                  <c:v>0.12507</c:v>
                </c:pt>
                <c:pt idx="61">
                  <c:v>0.13122</c:v>
                </c:pt>
                <c:pt idx="62">
                  <c:v>0.12997</c:v>
                </c:pt>
                <c:pt idx="63">
                  <c:v>0.12593</c:v>
                </c:pt>
                <c:pt idx="64">
                  <c:v>0.12315</c:v>
                </c:pt>
                <c:pt idx="65">
                  <c:v>0.11883</c:v>
                </c:pt>
                <c:pt idx="66">
                  <c:v>0.12237</c:v>
                </c:pt>
                <c:pt idx="67">
                  <c:v>0.12447</c:v>
                </c:pt>
                <c:pt idx="68">
                  <c:v>0.12382</c:v>
                </c:pt>
                <c:pt idx="69">
                  <c:v>0.12086</c:v>
                </c:pt>
                <c:pt idx="70">
                  <c:v>0.11642</c:v>
                </c:pt>
                <c:pt idx="71">
                  <c:v>0.11657</c:v>
                </c:pt>
                <c:pt idx="72">
                  <c:v>0.1174</c:v>
                </c:pt>
                <c:pt idx="73">
                  <c:v>0.11916</c:v>
                </c:pt>
                <c:pt idx="74">
                  <c:v>0.11726</c:v>
                </c:pt>
                <c:pt idx="75">
                  <c:v>0.11815</c:v>
                </c:pt>
                <c:pt idx="76">
                  <c:v>0.11605</c:v>
                </c:pt>
                <c:pt idx="77">
                  <c:v>0.11833</c:v>
                </c:pt>
                <c:pt idx="78">
                  <c:v>0.11862</c:v>
                </c:pt>
                <c:pt idx="79">
                  <c:v>0.11793</c:v>
                </c:pt>
                <c:pt idx="80">
                  <c:v>0.1173</c:v>
                </c:pt>
                <c:pt idx="81">
                  <c:v>0.11543</c:v>
                </c:pt>
                <c:pt idx="82">
                  <c:v>0.11465</c:v>
                </c:pt>
                <c:pt idx="83">
                  <c:v>0.11329</c:v>
                </c:pt>
                <c:pt idx="84">
                  <c:v>0.11541</c:v>
                </c:pt>
                <c:pt idx="85">
                  <c:v>0.11268</c:v>
                </c:pt>
                <c:pt idx="86">
                  <c:v>0.11202</c:v>
                </c:pt>
                <c:pt idx="87">
                  <c:v>0.1142</c:v>
                </c:pt>
                <c:pt idx="88">
                  <c:v>0.11025</c:v>
                </c:pt>
                <c:pt idx="89">
                  <c:v>0.11038</c:v>
                </c:pt>
                <c:pt idx="90">
                  <c:v>0.11069</c:v>
                </c:pt>
                <c:pt idx="91">
                  <c:v>0.10844</c:v>
                </c:pt>
                <c:pt idx="92">
                  <c:v>0.1072</c:v>
                </c:pt>
                <c:pt idx="93">
                  <c:v>0.10707</c:v>
                </c:pt>
                <c:pt idx="94">
                  <c:v>0.10828</c:v>
                </c:pt>
                <c:pt idx="95">
                  <c:v>0.10692</c:v>
                </c:pt>
                <c:pt idx="96">
                  <c:v>0.10933</c:v>
                </c:pt>
                <c:pt idx="97">
                  <c:v>0.10759</c:v>
                </c:pt>
                <c:pt idx="98">
                  <c:v>0.10661</c:v>
                </c:pt>
                <c:pt idx="99">
                  <c:v>0.10712</c:v>
                </c:pt>
                <c:pt idx="100">
                  <c:v>0.10648</c:v>
                </c:pt>
                <c:pt idx="101">
                  <c:v>0.10769</c:v>
                </c:pt>
                <c:pt idx="102">
                  <c:v>0.1064</c:v>
                </c:pt>
                <c:pt idx="103">
                  <c:v>0.10596</c:v>
                </c:pt>
                <c:pt idx="104">
                  <c:v>0.10871</c:v>
                </c:pt>
                <c:pt idx="105">
                  <c:v>0.10681</c:v>
                </c:pt>
                <c:pt idx="106">
                  <c:v>0.10669</c:v>
                </c:pt>
                <c:pt idx="107">
                  <c:v>0.10413</c:v>
                </c:pt>
                <c:pt idx="108">
                  <c:v>0.10746</c:v>
                </c:pt>
                <c:pt idx="109">
                  <c:v>0.10479</c:v>
                </c:pt>
                <c:pt idx="110">
                  <c:v>0.10261</c:v>
                </c:pt>
                <c:pt idx="111">
                  <c:v>0.10399</c:v>
                </c:pt>
                <c:pt idx="112">
                  <c:v>0.10509</c:v>
                </c:pt>
                <c:pt idx="113">
                  <c:v>0.104</c:v>
                </c:pt>
                <c:pt idx="114">
                  <c:v>0.10378</c:v>
                </c:pt>
                <c:pt idx="115">
                  <c:v>0.10441</c:v>
                </c:pt>
                <c:pt idx="116">
                  <c:v>0.10717</c:v>
                </c:pt>
                <c:pt idx="117">
                  <c:v>0.1107</c:v>
                </c:pt>
                <c:pt idx="118">
                  <c:v>0.10845</c:v>
                </c:pt>
                <c:pt idx="119">
                  <c:v>0.10172</c:v>
                </c:pt>
                <c:pt idx="120">
                  <c:v>0.10371</c:v>
                </c:pt>
                <c:pt idx="121">
                  <c:v>0.10271</c:v>
                </c:pt>
                <c:pt idx="122">
                  <c:v>0.10181</c:v>
                </c:pt>
                <c:pt idx="123">
                  <c:v>0.10546</c:v>
                </c:pt>
                <c:pt idx="124">
                  <c:v>0.10335</c:v>
                </c:pt>
                <c:pt idx="125">
                  <c:v>0.10473</c:v>
                </c:pt>
                <c:pt idx="126">
                  <c:v>0.1011</c:v>
                </c:pt>
                <c:pt idx="127">
                  <c:v>0.10311</c:v>
                </c:pt>
                <c:pt idx="128">
                  <c:v>0.10615</c:v>
                </c:pt>
                <c:pt idx="129">
                  <c:v>0.10592</c:v>
                </c:pt>
                <c:pt idx="130">
                  <c:v>0.1021</c:v>
                </c:pt>
                <c:pt idx="131">
                  <c:v>0.10191</c:v>
                </c:pt>
                <c:pt idx="132">
                  <c:v>0.09552</c:v>
                </c:pt>
                <c:pt idx="133">
                  <c:v>0.09442</c:v>
                </c:pt>
                <c:pt idx="134">
                  <c:v>0.09562</c:v>
                </c:pt>
                <c:pt idx="135">
                  <c:v>0.09939</c:v>
                </c:pt>
                <c:pt idx="136">
                  <c:v>0.1016</c:v>
                </c:pt>
                <c:pt idx="137">
                  <c:v>0.10259</c:v>
                </c:pt>
                <c:pt idx="138">
                  <c:v>0.10071</c:v>
                </c:pt>
                <c:pt idx="139">
                  <c:v>0.09912</c:v>
                </c:pt>
                <c:pt idx="140">
                  <c:v>0.0968</c:v>
                </c:pt>
                <c:pt idx="141">
                  <c:v>0.10108</c:v>
                </c:pt>
                <c:pt idx="142">
                  <c:v>0.10153</c:v>
                </c:pt>
                <c:pt idx="143">
                  <c:v>0.0992</c:v>
                </c:pt>
                <c:pt idx="144">
                  <c:v>0.09769</c:v>
                </c:pt>
                <c:pt idx="145">
                  <c:v>0.09971</c:v>
                </c:pt>
                <c:pt idx="146">
                  <c:v>0.09921</c:v>
                </c:pt>
                <c:pt idx="147">
                  <c:v>0.09687</c:v>
                </c:pt>
                <c:pt idx="148">
                  <c:v>0.09589</c:v>
                </c:pt>
                <c:pt idx="149">
                  <c:v>0.09763</c:v>
                </c:pt>
                <c:pt idx="150">
                  <c:v>0.09544</c:v>
                </c:pt>
                <c:pt idx="151">
                  <c:v>0.09714</c:v>
                </c:pt>
                <c:pt idx="152">
                  <c:v>0.09498</c:v>
                </c:pt>
                <c:pt idx="153">
                  <c:v>0.0991</c:v>
                </c:pt>
                <c:pt idx="154">
                  <c:v>0.09636</c:v>
                </c:pt>
                <c:pt idx="155">
                  <c:v>0.09798</c:v>
                </c:pt>
                <c:pt idx="156">
                  <c:v>0.09718</c:v>
                </c:pt>
                <c:pt idx="157">
                  <c:v>0.10162</c:v>
                </c:pt>
                <c:pt idx="158">
                  <c:v>0.09737</c:v>
                </c:pt>
                <c:pt idx="159">
                  <c:v>0.09621</c:v>
                </c:pt>
                <c:pt idx="160">
                  <c:v>0.09576</c:v>
                </c:pt>
                <c:pt idx="161">
                  <c:v>0.09753</c:v>
                </c:pt>
                <c:pt idx="162">
                  <c:v>0.09593</c:v>
                </c:pt>
                <c:pt idx="163">
                  <c:v>0.09489</c:v>
                </c:pt>
                <c:pt idx="164">
                  <c:v>0.09185</c:v>
                </c:pt>
                <c:pt idx="165">
                  <c:v>0.08783</c:v>
                </c:pt>
                <c:pt idx="166">
                  <c:v>0.08838</c:v>
                </c:pt>
                <c:pt idx="167">
                  <c:v>0.08822</c:v>
                </c:pt>
                <c:pt idx="168">
                  <c:v>0.09142</c:v>
                </c:pt>
                <c:pt idx="169">
                  <c:v>0.09117</c:v>
                </c:pt>
                <c:pt idx="170">
                  <c:v>0.09542</c:v>
                </c:pt>
                <c:pt idx="171">
                  <c:v>0.1002</c:v>
                </c:pt>
                <c:pt idx="172">
                  <c:v>0.10029</c:v>
                </c:pt>
                <c:pt idx="173">
                  <c:v>0.10258</c:v>
                </c:pt>
                <c:pt idx="174">
                  <c:v>0.09933</c:v>
                </c:pt>
                <c:pt idx="175">
                  <c:v>0.09817</c:v>
                </c:pt>
                <c:pt idx="176">
                  <c:v>0.09812</c:v>
                </c:pt>
                <c:pt idx="177">
                  <c:v>0.09537</c:v>
                </c:pt>
                <c:pt idx="178">
                  <c:v>0.09704</c:v>
                </c:pt>
                <c:pt idx="179">
                  <c:v>0.09754</c:v>
                </c:pt>
                <c:pt idx="180">
                  <c:v>0.09665</c:v>
                </c:pt>
                <c:pt idx="181">
                  <c:v>0.09497</c:v>
                </c:pt>
                <c:pt idx="182">
                  <c:v>0.09503</c:v>
                </c:pt>
                <c:pt idx="183">
                  <c:v>0.0936</c:v>
                </c:pt>
                <c:pt idx="184">
                  <c:v>0.09754</c:v>
                </c:pt>
                <c:pt idx="185">
                  <c:v>0.09511</c:v>
                </c:pt>
                <c:pt idx="186">
                  <c:v>0.09639</c:v>
                </c:pt>
                <c:pt idx="187">
                  <c:v>0.0943</c:v>
                </c:pt>
                <c:pt idx="188">
                  <c:v>0.09479</c:v>
                </c:pt>
                <c:pt idx="189">
                  <c:v>0.09585</c:v>
                </c:pt>
                <c:pt idx="190">
                  <c:v>0.09473</c:v>
                </c:pt>
                <c:pt idx="191">
                  <c:v>0.09404</c:v>
                </c:pt>
                <c:pt idx="192">
                  <c:v>0.09759</c:v>
                </c:pt>
                <c:pt idx="193">
                  <c:v>0.09933</c:v>
                </c:pt>
                <c:pt idx="194">
                  <c:v>0.09558</c:v>
                </c:pt>
                <c:pt idx="195">
                  <c:v>0.0944</c:v>
                </c:pt>
                <c:pt idx="196">
                  <c:v>0.09518</c:v>
                </c:pt>
                <c:pt idx="197">
                  <c:v>0.09385</c:v>
                </c:pt>
                <c:pt idx="198">
                  <c:v>0.09442</c:v>
                </c:pt>
                <c:pt idx="199">
                  <c:v>0.09151</c:v>
                </c:pt>
                <c:pt idx="200">
                  <c:v>0.08738</c:v>
                </c:pt>
                <c:pt idx="201">
                  <c:v>0.09135</c:v>
                </c:pt>
                <c:pt idx="202">
                  <c:v>0.09057</c:v>
                </c:pt>
                <c:pt idx="203">
                  <c:v>0.08956</c:v>
                </c:pt>
                <c:pt idx="204">
                  <c:v>0.08728</c:v>
                </c:pt>
                <c:pt idx="205">
                  <c:v>0.08869</c:v>
                </c:pt>
                <c:pt idx="206">
                  <c:v>0.08883</c:v>
                </c:pt>
                <c:pt idx="207">
                  <c:v>0.08822</c:v>
                </c:pt>
                <c:pt idx="208">
                  <c:v>0.09098</c:v>
                </c:pt>
                <c:pt idx="209">
                  <c:v>0.09066</c:v>
                </c:pt>
                <c:pt idx="210">
                  <c:v>0.09268</c:v>
                </c:pt>
                <c:pt idx="211">
                  <c:v>0.09248</c:v>
                </c:pt>
                <c:pt idx="212">
                  <c:v>0.09161</c:v>
                </c:pt>
                <c:pt idx="213">
                  <c:v>0.08907</c:v>
                </c:pt>
                <c:pt idx="214">
                  <c:v>0.08957</c:v>
                </c:pt>
                <c:pt idx="215">
                  <c:v>0.09139</c:v>
                </c:pt>
                <c:pt idx="216">
                  <c:v>0.09189</c:v>
                </c:pt>
                <c:pt idx="217">
                  <c:v>0.09118</c:v>
                </c:pt>
                <c:pt idx="218">
                  <c:v>0.09074</c:v>
                </c:pt>
                <c:pt idx="219">
                  <c:v>0.09067</c:v>
                </c:pt>
                <c:pt idx="220">
                  <c:v>0.09204</c:v>
                </c:pt>
                <c:pt idx="221">
                  <c:v>0.09212</c:v>
                </c:pt>
                <c:pt idx="222">
                  <c:v>0.09178</c:v>
                </c:pt>
                <c:pt idx="223">
                  <c:v>0.09087</c:v>
                </c:pt>
                <c:pt idx="224">
                  <c:v>0.09091</c:v>
                </c:pt>
                <c:pt idx="225">
                  <c:v>0.09239</c:v>
                </c:pt>
                <c:pt idx="226">
                  <c:v>0.091</c:v>
                </c:pt>
                <c:pt idx="227">
                  <c:v>0.0973</c:v>
                </c:pt>
                <c:pt idx="228">
                  <c:v>0.09187</c:v>
                </c:pt>
                <c:pt idx="229">
                  <c:v>0.08994</c:v>
                </c:pt>
                <c:pt idx="230">
                  <c:v>0.08951</c:v>
                </c:pt>
                <c:pt idx="231">
                  <c:v>0.08548</c:v>
                </c:pt>
                <c:pt idx="232">
                  <c:v>0.08578</c:v>
                </c:pt>
                <c:pt idx="233">
                  <c:v>0.08524</c:v>
                </c:pt>
                <c:pt idx="234">
                  <c:v>0.08434</c:v>
                </c:pt>
                <c:pt idx="235">
                  <c:v>0.08478</c:v>
                </c:pt>
                <c:pt idx="236">
                  <c:v>0.08662</c:v>
                </c:pt>
                <c:pt idx="237">
                  <c:v>0.08679</c:v>
                </c:pt>
                <c:pt idx="238">
                  <c:v>0.08936</c:v>
                </c:pt>
                <c:pt idx="239">
                  <c:v>0.08892</c:v>
                </c:pt>
                <c:pt idx="240">
                  <c:v>0.09147</c:v>
                </c:pt>
                <c:pt idx="241">
                  <c:v>0.09102</c:v>
                </c:pt>
                <c:pt idx="242">
                  <c:v>0.08833</c:v>
                </c:pt>
                <c:pt idx="243">
                  <c:v>0.08706</c:v>
                </c:pt>
                <c:pt idx="244">
                  <c:v>0.08581</c:v>
                </c:pt>
                <c:pt idx="245">
                  <c:v>0.08723</c:v>
                </c:pt>
                <c:pt idx="246">
                  <c:v>0.08759</c:v>
                </c:pt>
                <c:pt idx="247">
                  <c:v>0.08312</c:v>
                </c:pt>
                <c:pt idx="248">
                  <c:v>0.08422</c:v>
                </c:pt>
                <c:pt idx="249">
                  <c:v>0.08607</c:v>
                </c:pt>
                <c:pt idx="250">
                  <c:v>0.08613</c:v>
                </c:pt>
                <c:pt idx="251">
                  <c:v>0.08349</c:v>
                </c:pt>
                <c:pt idx="252">
                  <c:v>0.08346</c:v>
                </c:pt>
                <c:pt idx="253">
                  <c:v>0.08452</c:v>
                </c:pt>
                <c:pt idx="254">
                  <c:v>0.08375</c:v>
                </c:pt>
                <c:pt idx="255">
                  <c:v>0.08282</c:v>
                </c:pt>
                <c:pt idx="256">
                  <c:v>0.0824</c:v>
                </c:pt>
                <c:pt idx="257">
                  <c:v>0.08098</c:v>
                </c:pt>
                <c:pt idx="258">
                  <c:v>0.08452</c:v>
                </c:pt>
                <c:pt idx="259">
                  <c:v>0.08438</c:v>
                </c:pt>
                <c:pt idx="260">
                  <c:v>0.08421</c:v>
                </c:pt>
                <c:pt idx="261">
                  <c:v>0.0816</c:v>
                </c:pt>
                <c:pt idx="262">
                  <c:v>0.07995</c:v>
                </c:pt>
                <c:pt idx="263">
                  <c:v>0.08147</c:v>
                </c:pt>
                <c:pt idx="264">
                  <c:v>0.08395</c:v>
                </c:pt>
                <c:pt idx="265">
                  <c:v>0.08518</c:v>
                </c:pt>
                <c:pt idx="266">
                  <c:v>0.08442</c:v>
                </c:pt>
                <c:pt idx="267">
                  <c:v>0.0834</c:v>
                </c:pt>
                <c:pt idx="268">
                  <c:v>0.08388</c:v>
                </c:pt>
                <c:pt idx="269">
                  <c:v>0.08378</c:v>
                </c:pt>
                <c:pt idx="270">
                  <c:v>0.08354</c:v>
                </c:pt>
                <c:pt idx="271">
                  <c:v>0.085</c:v>
                </c:pt>
                <c:pt idx="272">
                  <c:v>0.08533</c:v>
                </c:pt>
                <c:pt idx="273">
                  <c:v>0.08368</c:v>
                </c:pt>
                <c:pt idx="274">
                  <c:v>0.08217</c:v>
                </c:pt>
                <c:pt idx="275">
                  <c:v>0.08162</c:v>
                </c:pt>
                <c:pt idx="276">
                  <c:v>0.08156</c:v>
                </c:pt>
                <c:pt idx="277">
                  <c:v>0.08119</c:v>
                </c:pt>
                <c:pt idx="278">
                  <c:v>0.08227</c:v>
                </c:pt>
                <c:pt idx="279">
                  <c:v>0.08164</c:v>
                </c:pt>
                <c:pt idx="280">
                  <c:v>0.08381</c:v>
                </c:pt>
                <c:pt idx="281">
                  <c:v>0.08428</c:v>
                </c:pt>
                <c:pt idx="282">
                  <c:v>0.08458</c:v>
                </c:pt>
                <c:pt idx="283">
                  <c:v>0.0843</c:v>
                </c:pt>
                <c:pt idx="284">
                  <c:v>0.08229</c:v>
                </c:pt>
                <c:pt idx="285">
                  <c:v>0.08182</c:v>
                </c:pt>
                <c:pt idx="286">
                  <c:v>0.08274</c:v>
                </c:pt>
                <c:pt idx="287">
                  <c:v>0.0823</c:v>
                </c:pt>
                <c:pt idx="288">
                  <c:v>0.08235</c:v>
                </c:pt>
                <c:pt idx="289">
                  <c:v>0.0827</c:v>
                </c:pt>
                <c:pt idx="290">
                  <c:v>0.08151</c:v>
                </c:pt>
                <c:pt idx="291">
                  <c:v>0.08081</c:v>
                </c:pt>
              </c:numCache>
            </c:numRef>
          </c:yVal>
          <c:smooth val="0"/>
        </c:ser>
        <c:ser>
          <c:idx val="3"/>
          <c:order val="3"/>
          <c:tx>
            <c:strRef>
              <c:f>Sheet1!$B$823</c:f>
              <c:strCache>
                <c:ptCount val="1"/>
                <c:pt idx="0">
                  <c:v>FlyGM</c:v>
                </c:pt>
              </c:strCache>
            </c:strRef>
          </c:tx>
          <c:spPr>
            <a:ln w="34925">
              <a:solidFill>
                <a:srgbClr val="D55E00"/>
              </a:solidFill>
            </a:ln>
          </c:spPr>
          <c:marker>
            <c:symbol val="none"/>
          </c:marker>
          <c:xVal>
            <c:numRef>
              <c:f>Sheet1!$A$824:$A$1112</c:f>
              <c:numCache>
                <c:formatCode>General</c:formatCode>
                <c:ptCount val="289"/>
                <c:pt idx="0">
                  <c:v>0.004</c:v>
                </c:pt>
                <c:pt idx="1">
                  <c:v>0.534</c:v>
                </c:pt>
                <c:pt idx="2">
                  <c:v>0.914</c:v>
                </c:pt>
                <c:pt idx="3">
                  <c:v>1.109</c:v>
                </c:pt>
                <c:pt idx="4">
                  <c:v>1.314</c:v>
                </c:pt>
                <c:pt idx="5">
                  <c:v>1.554</c:v>
                </c:pt>
                <c:pt idx="6">
                  <c:v>1.619</c:v>
                </c:pt>
                <c:pt idx="7">
                  <c:v>1.719</c:v>
                </c:pt>
                <c:pt idx="8">
                  <c:v>1.809</c:v>
                </c:pt>
                <c:pt idx="9">
                  <c:v>1.959</c:v>
                </c:pt>
                <c:pt idx="10">
                  <c:v>1.999</c:v>
                </c:pt>
                <c:pt idx="11">
                  <c:v>2.059</c:v>
                </c:pt>
                <c:pt idx="12">
                  <c:v>2.124</c:v>
                </c:pt>
                <c:pt idx="13">
                  <c:v>2.159</c:v>
                </c:pt>
                <c:pt idx="14">
                  <c:v>2.194</c:v>
                </c:pt>
                <c:pt idx="15">
                  <c:v>2.279</c:v>
                </c:pt>
                <c:pt idx="16">
                  <c:v>2.389</c:v>
                </c:pt>
                <c:pt idx="17">
                  <c:v>2.534</c:v>
                </c:pt>
                <c:pt idx="18">
                  <c:v>2.694</c:v>
                </c:pt>
                <c:pt idx="19">
                  <c:v>2.764</c:v>
                </c:pt>
                <c:pt idx="20">
                  <c:v>2.959</c:v>
                </c:pt>
                <c:pt idx="21">
                  <c:v>3.014</c:v>
                </c:pt>
                <c:pt idx="22">
                  <c:v>3.229</c:v>
                </c:pt>
                <c:pt idx="23">
                  <c:v>3.514</c:v>
                </c:pt>
                <c:pt idx="24">
                  <c:v>3.559</c:v>
                </c:pt>
                <c:pt idx="25">
                  <c:v>3.619</c:v>
                </c:pt>
                <c:pt idx="26">
                  <c:v>3.649</c:v>
                </c:pt>
                <c:pt idx="27">
                  <c:v>3.744</c:v>
                </c:pt>
                <c:pt idx="28">
                  <c:v>3.894</c:v>
                </c:pt>
                <c:pt idx="29">
                  <c:v>4.004</c:v>
                </c:pt>
                <c:pt idx="30">
                  <c:v>4.084</c:v>
                </c:pt>
                <c:pt idx="31">
                  <c:v>4.154</c:v>
                </c:pt>
                <c:pt idx="32">
                  <c:v>4.194</c:v>
                </c:pt>
                <c:pt idx="33">
                  <c:v>4.254</c:v>
                </c:pt>
                <c:pt idx="34">
                  <c:v>4.414</c:v>
                </c:pt>
                <c:pt idx="35">
                  <c:v>4.469</c:v>
                </c:pt>
                <c:pt idx="36">
                  <c:v>4.549</c:v>
                </c:pt>
                <c:pt idx="37">
                  <c:v>4.709</c:v>
                </c:pt>
                <c:pt idx="38">
                  <c:v>4.764</c:v>
                </c:pt>
                <c:pt idx="39">
                  <c:v>4.914</c:v>
                </c:pt>
                <c:pt idx="40">
                  <c:v>4.954</c:v>
                </c:pt>
                <c:pt idx="41">
                  <c:v>4.994</c:v>
                </c:pt>
                <c:pt idx="42">
                  <c:v>5.099</c:v>
                </c:pt>
                <c:pt idx="43">
                  <c:v>5.204</c:v>
                </c:pt>
                <c:pt idx="44">
                  <c:v>5.294</c:v>
                </c:pt>
                <c:pt idx="45">
                  <c:v>5.444</c:v>
                </c:pt>
                <c:pt idx="46">
                  <c:v>5.524</c:v>
                </c:pt>
                <c:pt idx="47">
                  <c:v>5.589</c:v>
                </c:pt>
                <c:pt idx="48">
                  <c:v>5.689</c:v>
                </c:pt>
                <c:pt idx="49">
                  <c:v>5.729</c:v>
                </c:pt>
                <c:pt idx="50">
                  <c:v>5.799</c:v>
                </c:pt>
                <c:pt idx="51">
                  <c:v>5.874</c:v>
                </c:pt>
                <c:pt idx="52">
                  <c:v>5.919</c:v>
                </c:pt>
                <c:pt idx="53">
                  <c:v>6.089</c:v>
                </c:pt>
                <c:pt idx="54">
                  <c:v>6.169</c:v>
                </c:pt>
                <c:pt idx="55">
                  <c:v>6.239</c:v>
                </c:pt>
                <c:pt idx="56">
                  <c:v>6.349</c:v>
                </c:pt>
                <c:pt idx="57">
                  <c:v>6.414</c:v>
                </c:pt>
                <c:pt idx="58">
                  <c:v>6.449</c:v>
                </c:pt>
                <c:pt idx="59">
                  <c:v>6.504</c:v>
                </c:pt>
                <c:pt idx="60">
                  <c:v>6.584</c:v>
                </c:pt>
                <c:pt idx="61">
                  <c:v>6.644</c:v>
                </c:pt>
                <c:pt idx="62">
                  <c:v>6.759</c:v>
                </c:pt>
                <c:pt idx="63">
                  <c:v>6.864</c:v>
                </c:pt>
                <c:pt idx="64">
                  <c:v>6.899</c:v>
                </c:pt>
                <c:pt idx="65">
                  <c:v>7.034</c:v>
                </c:pt>
                <c:pt idx="66">
                  <c:v>7.079</c:v>
                </c:pt>
                <c:pt idx="67">
                  <c:v>7.149</c:v>
                </c:pt>
                <c:pt idx="68">
                  <c:v>7.189</c:v>
                </c:pt>
                <c:pt idx="69">
                  <c:v>7.254</c:v>
                </c:pt>
                <c:pt idx="70">
                  <c:v>7.314</c:v>
                </c:pt>
                <c:pt idx="71">
                  <c:v>7.354</c:v>
                </c:pt>
                <c:pt idx="72">
                  <c:v>7.439</c:v>
                </c:pt>
                <c:pt idx="73">
                  <c:v>7.589</c:v>
                </c:pt>
                <c:pt idx="74">
                  <c:v>7.649</c:v>
                </c:pt>
                <c:pt idx="75">
                  <c:v>7.729</c:v>
                </c:pt>
                <c:pt idx="76">
                  <c:v>7.779</c:v>
                </c:pt>
                <c:pt idx="77">
                  <c:v>7.809</c:v>
                </c:pt>
                <c:pt idx="78">
                  <c:v>7.874</c:v>
                </c:pt>
                <c:pt idx="79">
                  <c:v>7.964</c:v>
                </c:pt>
                <c:pt idx="80">
                  <c:v>8.039</c:v>
                </c:pt>
                <c:pt idx="81">
                  <c:v>8.109</c:v>
                </c:pt>
                <c:pt idx="82">
                  <c:v>8.179</c:v>
                </c:pt>
                <c:pt idx="83">
                  <c:v>8.249</c:v>
                </c:pt>
                <c:pt idx="84">
                  <c:v>8.334</c:v>
                </c:pt>
                <c:pt idx="85">
                  <c:v>8.449</c:v>
                </c:pt>
                <c:pt idx="86">
                  <c:v>8.584</c:v>
                </c:pt>
                <c:pt idx="87">
                  <c:v>8.624</c:v>
                </c:pt>
                <c:pt idx="88">
                  <c:v>8.724</c:v>
                </c:pt>
                <c:pt idx="89">
                  <c:v>8.809</c:v>
                </c:pt>
                <c:pt idx="90">
                  <c:v>8.854</c:v>
                </c:pt>
                <c:pt idx="91">
                  <c:v>8.919</c:v>
                </c:pt>
                <c:pt idx="92">
                  <c:v>8.959</c:v>
                </c:pt>
                <c:pt idx="93">
                  <c:v>9.079</c:v>
                </c:pt>
                <c:pt idx="94">
                  <c:v>9.159</c:v>
                </c:pt>
                <c:pt idx="95">
                  <c:v>9.239</c:v>
                </c:pt>
                <c:pt idx="96">
                  <c:v>9.434</c:v>
                </c:pt>
                <c:pt idx="97">
                  <c:v>9.514</c:v>
                </c:pt>
                <c:pt idx="98">
                  <c:v>9.619</c:v>
                </c:pt>
                <c:pt idx="99">
                  <c:v>9.724</c:v>
                </c:pt>
                <c:pt idx="100">
                  <c:v>9.764</c:v>
                </c:pt>
                <c:pt idx="101">
                  <c:v>9.829</c:v>
                </c:pt>
                <c:pt idx="102">
                  <c:v>9.889</c:v>
                </c:pt>
                <c:pt idx="103">
                  <c:v>10.019</c:v>
                </c:pt>
                <c:pt idx="104">
                  <c:v>10.074</c:v>
                </c:pt>
                <c:pt idx="105">
                  <c:v>10.194</c:v>
                </c:pt>
                <c:pt idx="106">
                  <c:v>10.289</c:v>
                </c:pt>
                <c:pt idx="107">
                  <c:v>10.384</c:v>
                </c:pt>
                <c:pt idx="108">
                  <c:v>10.484</c:v>
                </c:pt>
                <c:pt idx="109">
                  <c:v>10.554</c:v>
                </c:pt>
                <c:pt idx="110">
                  <c:v>10.644</c:v>
                </c:pt>
                <c:pt idx="111">
                  <c:v>10.704</c:v>
                </c:pt>
                <c:pt idx="112">
                  <c:v>10.764</c:v>
                </c:pt>
                <c:pt idx="113">
                  <c:v>10.824</c:v>
                </c:pt>
                <c:pt idx="114">
                  <c:v>10.924</c:v>
                </c:pt>
                <c:pt idx="115">
                  <c:v>10.984</c:v>
                </c:pt>
                <c:pt idx="116">
                  <c:v>11.039</c:v>
                </c:pt>
                <c:pt idx="117">
                  <c:v>11.129</c:v>
                </c:pt>
                <c:pt idx="118">
                  <c:v>11.189</c:v>
                </c:pt>
                <c:pt idx="119">
                  <c:v>11.289</c:v>
                </c:pt>
                <c:pt idx="120">
                  <c:v>11.424</c:v>
                </c:pt>
                <c:pt idx="121">
                  <c:v>11.509</c:v>
                </c:pt>
                <c:pt idx="122">
                  <c:v>11.564</c:v>
                </c:pt>
                <c:pt idx="123">
                  <c:v>11.674</c:v>
                </c:pt>
                <c:pt idx="124">
                  <c:v>11.769</c:v>
                </c:pt>
                <c:pt idx="125">
                  <c:v>11.839</c:v>
                </c:pt>
                <c:pt idx="126">
                  <c:v>11.884</c:v>
                </c:pt>
                <c:pt idx="127">
                  <c:v>11.924</c:v>
                </c:pt>
                <c:pt idx="128">
                  <c:v>12.004</c:v>
                </c:pt>
                <c:pt idx="129">
                  <c:v>12.059</c:v>
                </c:pt>
                <c:pt idx="130">
                  <c:v>12.104</c:v>
                </c:pt>
                <c:pt idx="131">
                  <c:v>12.249</c:v>
                </c:pt>
                <c:pt idx="132">
                  <c:v>12.294</c:v>
                </c:pt>
                <c:pt idx="133">
                  <c:v>12.344</c:v>
                </c:pt>
                <c:pt idx="134">
                  <c:v>12.384</c:v>
                </c:pt>
                <c:pt idx="135">
                  <c:v>12.439</c:v>
                </c:pt>
                <c:pt idx="136">
                  <c:v>12.514</c:v>
                </c:pt>
                <c:pt idx="137">
                  <c:v>12.549</c:v>
                </c:pt>
                <c:pt idx="138">
                  <c:v>12.594</c:v>
                </c:pt>
                <c:pt idx="139">
                  <c:v>12.644</c:v>
                </c:pt>
                <c:pt idx="140">
                  <c:v>12.734</c:v>
                </c:pt>
                <c:pt idx="141">
                  <c:v>12.784</c:v>
                </c:pt>
                <c:pt idx="142">
                  <c:v>12.839</c:v>
                </c:pt>
                <c:pt idx="143">
                  <c:v>12.934</c:v>
                </c:pt>
                <c:pt idx="144">
                  <c:v>13.029</c:v>
                </c:pt>
                <c:pt idx="145">
                  <c:v>13.089</c:v>
                </c:pt>
                <c:pt idx="146">
                  <c:v>13.144</c:v>
                </c:pt>
                <c:pt idx="147">
                  <c:v>13.189</c:v>
                </c:pt>
                <c:pt idx="148">
                  <c:v>13.249</c:v>
                </c:pt>
                <c:pt idx="149">
                  <c:v>13.384</c:v>
                </c:pt>
                <c:pt idx="150">
                  <c:v>13.474</c:v>
                </c:pt>
                <c:pt idx="151">
                  <c:v>13.554</c:v>
                </c:pt>
                <c:pt idx="152">
                  <c:v>13.674</c:v>
                </c:pt>
                <c:pt idx="153">
                  <c:v>13.739</c:v>
                </c:pt>
                <c:pt idx="154">
                  <c:v>13.769</c:v>
                </c:pt>
                <c:pt idx="155">
                  <c:v>13.829</c:v>
                </c:pt>
                <c:pt idx="156">
                  <c:v>13.899</c:v>
                </c:pt>
                <c:pt idx="157">
                  <c:v>13.959</c:v>
                </c:pt>
                <c:pt idx="158">
                  <c:v>14.009</c:v>
                </c:pt>
                <c:pt idx="159">
                  <c:v>14.054</c:v>
                </c:pt>
                <c:pt idx="160">
                  <c:v>14.129</c:v>
                </c:pt>
                <c:pt idx="161">
                  <c:v>14.179</c:v>
                </c:pt>
                <c:pt idx="162">
                  <c:v>14.254</c:v>
                </c:pt>
                <c:pt idx="163">
                  <c:v>14.324</c:v>
                </c:pt>
                <c:pt idx="164">
                  <c:v>14.394</c:v>
                </c:pt>
                <c:pt idx="165">
                  <c:v>14.449</c:v>
                </c:pt>
                <c:pt idx="166">
                  <c:v>14.499</c:v>
                </c:pt>
                <c:pt idx="167">
                  <c:v>14.539</c:v>
                </c:pt>
                <c:pt idx="168">
                  <c:v>14.624</c:v>
                </c:pt>
                <c:pt idx="169">
                  <c:v>14.699</c:v>
                </c:pt>
                <c:pt idx="170">
                  <c:v>14.764</c:v>
                </c:pt>
                <c:pt idx="171">
                  <c:v>14.814</c:v>
                </c:pt>
                <c:pt idx="172">
                  <c:v>14.879</c:v>
                </c:pt>
                <c:pt idx="173">
                  <c:v>14.939</c:v>
                </c:pt>
                <c:pt idx="174">
                  <c:v>14.989</c:v>
                </c:pt>
                <c:pt idx="175">
                  <c:v>15.024</c:v>
                </c:pt>
                <c:pt idx="176">
                  <c:v>15.094</c:v>
                </c:pt>
                <c:pt idx="177">
                  <c:v>15.124</c:v>
                </c:pt>
                <c:pt idx="178">
                  <c:v>15.234</c:v>
                </c:pt>
                <c:pt idx="179">
                  <c:v>15.289</c:v>
                </c:pt>
                <c:pt idx="180">
                  <c:v>15.344</c:v>
                </c:pt>
                <c:pt idx="181">
                  <c:v>15.409</c:v>
                </c:pt>
                <c:pt idx="182">
                  <c:v>15.489</c:v>
                </c:pt>
                <c:pt idx="183">
                  <c:v>15.559</c:v>
                </c:pt>
                <c:pt idx="184">
                  <c:v>15.659</c:v>
                </c:pt>
                <c:pt idx="185">
                  <c:v>15.769</c:v>
                </c:pt>
                <c:pt idx="186">
                  <c:v>15.824</c:v>
                </c:pt>
                <c:pt idx="187">
                  <c:v>15.889</c:v>
                </c:pt>
                <c:pt idx="188">
                  <c:v>15.964</c:v>
                </c:pt>
                <c:pt idx="189">
                  <c:v>16.004</c:v>
                </c:pt>
                <c:pt idx="190">
                  <c:v>16.094</c:v>
                </c:pt>
                <c:pt idx="191">
                  <c:v>16.134</c:v>
                </c:pt>
                <c:pt idx="192">
                  <c:v>16.189</c:v>
                </c:pt>
                <c:pt idx="193">
                  <c:v>16.239</c:v>
                </c:pt>
                <c:pt idx="194">
                  <c:v>16.289</c:v>
                </c:pt>
                <c:pt idx="195">
                  <c:v>16.354</c:v>
                </c:pt>
                <c:pt idx="196">
                  <c:v>16.404</c:v>
                </c:pt>
                <c:pt idx="197">
                  <c:v>16.454</c:v>
                </c:pt>
                <c:pt idx="198">
                  <c:v>16.509</c:v>
                </c:pt>
                <c:pt idx="199">
                  <c:v>16.604</c:v>
                </c:pt>
                <c:pt idx="200">
                  <c:v>16.664</c:v>
                </c:pt>
                <c:pt idx="201">
                  <c:v>16.749</c:v>
                </c:pt>
                <c:pt idx="202">
                  <c:v>16.829</c:v>
                </c:pt>
                <c:pt idx="203">
                  <c:v>16.879</c:v>
                </c:pt>
                <c:pt idx="204">
                  <c:v>16.964</c:v>
                </c:pt>
                <c:pt idx="205">
                  <c:v>17.004</c:v>
                </c:pt>
                <c:pt idx="206">
                  <c:v>17.094</c:v>
                </c:pt>
                <c:pt idx="207">
                  <c:v>17.134</c:v>
                </c:pt>
                <c:pt idx="208">
                  <c:v>17.194</c:v>
                </c:pt>
                <c:pt idx="209">
                  <c:v>17.269</c:v>
                </c:pt>
                <c:pt idx="210">
                  <c:v>17.374</c:v>
                </c:pt>
                <c:pt idx="211">
                  <c:v>17.424</c:v>
                </c:pt>
                <c:pt idx="212">
                  <c:v>17.489</c:v>
                </c:pt>
                <c:pt idx="213">
                  <c:v>17.564</c:v>
                </c:pt>
                <c:pt idx="214">
                  <c:v>17.614</c:v>
                </c:pt>
                <c:pt idx="215">
                  <c:v>17.749</c:v>
                </c:pt>
                <c:pt idx="216">
                  <c:v>17.789</c:v>
                </c:pt>
                <c:pt idx="217">
                  <c:v>17.899</c:v>
                </c:pt>
                <c:pt idx="218">
                  <c:v>17.949</c:v>
                </c:pt>
                <c:pt idx="219">
                  <c:v>18.049</c:v>
                </c:pt>
                <c:pt idx="220">
                  <c:v>18.144</c:v>
                </c:pt>
                <c:pt idx="221">
                  <c:v>18.214</c:v>
                </c:pt>
                <c:pt idx="222">
                  <c:v>18.309</c:v>
                </c:pt>
                <c:pt idx="223">
                  <c:v>18.339</c:v>
                </c:pt>
                <c:pt idx="224">
                  <c:v>18.479</c:v>
                </c:pt>
                <c:pt idx="225">
                  <c:v>18.559</c:v>
                </c:pt>
                <c:pt idx="226">
                  <c:v>18.699</c:v>
                </c:pt>
                <c:pt idx="227">
                  <c:v>18.774</c:v>
                </c:pt>
                <c:pt idx="228">
                  <c:v>18.844</c:v>
                </c:pt>
                <c:pt idx="229">
                  <c:v>18.909</c:v>
                </c:pt>
                <c:pt idx="230">
                  <c:v>18.989</c:v>
                </c:pt>
                <c:pt idx="231">
                  <c:v>19.059</c:v>
                </c:pt>
                <c:pt idx="232">
                  <c:v>19.089</c:v>
                </c:pt>
                <c:pt idx="233">
                  <c:v>19.134</c:v>
                </c:pt>
                <c:pt idx="234">
                  <c:v>19.209</c:v>
                </c:pt>
                <c:pt idx="235">
                  <c:v>19.254</c:v>
                </c:pt>
                <c:pt idx="236">
                  <c:v>19.334</c:v>
                </c:pt>
                <c:pt idx="237">
                  <c:v>19.414</c:v>
                </c:pt>
                <c:pt idx="238">
                  <c:v>19.464</c:v>
                </c:pt>
                <c:pt idx="239">
                  <c:v>19.544</c:v>
                </c:pt>
                <c:pt idx="240">
                  <c:v>19.629</c:v>
                </c:pt>
                <c:pt idx="241">
                  <c:v>19.664</c:v>
                </c:pt>
                <c:pt idx="242">
                  <c:v>19.759</c:v>
                </c:pt>
                <c:pt idx="243">
                  <c:v>19.824</c:v>
                </c:pt>
                <c:pt idx="244">
                  <c:v>19.899</c:v>
                </c:pt>
                <c:pt idx="245">
                  <c:v>19.934</c:v>
                </c:pt>
                <c:pt idx="246">
                  <c:v>19.994</c:v>
                </c:pt>
                <c:pt idx="247">
                  <c:v>20.039</c:v>
                </c:pt>
                <c:pt idx="248">
                  <c:v>20.114</c:v>
                </c:pt>
                <c:pt idx="249">
                  <c:v>20.149</c:v>
                </c:pt>
                <c:pt idx="250">
                  <c:v>20.184</c:v>
                </c:pt>
                <c:pt idx="251">
                  <c:v>20.244</c:v>
                </c:pt>
                <c:pt idx="252">
                  <c:v>20.334</c:v>
                </c:pt>
                <c:pt idx="253">
                  <c:v>20.369</c:v>
                </c:pt>
                <c:pt idx="254">
                  <c:v>20.409</c:v>
                </c:pt>
                <c:pt idx="255">
                  <c:v>20.594</c:v>
                </c:pt>
                <c:pt idx="256">
                  <c:v>20.659</c:v>
                </c:pt>
                <c:pt idx="257">
                  <c:v>20.694</c:v>
                </c:pt>
                <c:pt idx="258">
                  <c:v>20.769</c:v>
                </c:pt>
                <c:pt idx="259">
                  <c:v>20.834</c:v>
                </c:pt>
                <c:pt idx="260">
                  <c:v>20.904</c:v>
                </c:pt>
                <c:pt idx="261">
                  <c:v>20.969</c:v>
                </c:pt>
                <c:pt idx="262">
                  <c:v>21.029</c:v>
                </c:pt>
                <c:pt idx="263">
                  <c:v>21.109</c:v>
                </c:pt>
                <c:pt idx="264">
                  <c:v>21.214</c:v>
                </c:pt>
                <c:pt idx="265">
                  <c:v>21.284</c:v>
                </c:pt>
                <c:pt idx="266">
                  <c:v>21.334</c:v>
                </c:pt>
                <c:pt idx="267">
                  <c:v>21.434</c:v>
                </c:pt>
                <c:pt idx="268">
                  <c:v>21.544</c:v>
                </c:pt>
                <c:pt idx="269">
                  <c:v>21.614</c:v>
                </c:pt>
                <c:pt idx="270">
                  <c:v>21.709</c:v>
                </c:pt>
                <c:pt idx="271">
                  <c:v>21.769</c:v>
                </c:pt>
                <c:pt idx="272">
                  <c:v>21.844</c:v>
                </c:pt>
                <c:pt idx="273">
                  <c:v>21.904</c:v>
                </c:pt>
                <c:pt idx="274">
                  <c:v>21.949</c:v>
                </c:pt>
                <c:pt idx="275">
                  <c:v>21.989</c:v>
                </c:pt>
                <c:pt idx="276">
                  <c:v>22.064</c:v>
                </c:pt>
                <c:pt idx="277">
                  <c:v>22.119</c:v>
                </c:pt>
                <c:pt idx="278">
                  <c:v>22.269</c:v>
                </c:pt>
                <c:pt idx="279">
                  <c:v>22.334</c:v>
                </c:pt>
                <c:pt idx="280">
                  <c:v>22.399</c:v>
                </c:pt>
                <c:pt idx="281">
                  <c:v>22.489</c:v>
                </c:pt>
                <c:pt idx="282">
                  <c:v>22.564</c:v>
                </c:pt>
                <c:pt idx="283">
                  <c:v>22.649</c:v>
                </c:pt>
                <c:pt idx="284">
                  <c:v>22.694</c:v>
                </c:pt>
                <c:pt idx="285">
                  <c:v>22.789</c:v>
                </c:pt>
                <c:pt idx="286">
                  <c:v>22.874</c:v>
                </c:pt>
                <c:pt idx="287">
                  <c:v>22.949</c:v>
                </c:pt>
                <c:pt idx="288">
                  <c:v>22.999</c:v>
                </c:pt>
              </c:numCache>
            </c:numRef>
          </c:xVal>
          <c:yVal>
            <c:numRef>
              <c:f>Sheet1!$B$824:$B$1112</c:f>
              <c:numCache>
                <c:formatCode>General</c:formatCode>
                <c:ptCount val="289"/>
                <c:pt idx="0">
                  <c:v>3.22187</c:v>
                </c:pt>
                <c:pt idx="1">
                  <c:v>0.7218</c:v>
                </c:pt>
                <c:pt idx="2">
                  <c:v>0.33047</c:v>
                </c:pt>
                <c:pt idx="3">
                  <c:v>0.25819</c:v>
                </c:pt>
                <c:pt idx="4">
                  <c:v>0.22107</c:v>
                </c:pt>
                <c:pt idx="5">
                  <c:v>0.18566</c:v>
                </c:pt>
                <c:pt idx="6">
                  <c:v>0.18164</c:v>
                </c:pt>
                <c:pt idx="7">
                  <c:v>0.17144</c:v>
                </c:pt>
                <c:pt idx="8">
                  <c:v>0.17089</c:v>
                </c:pt>
                <c:pt idx="9">
                  <c:v>0.16126</c:v>
                </c:pt>
                <c:pt idx="10">
                  <c:v>0.15988</c:v>
                </c:pt>
                <c:pt idx="11">
                  <c:v>0.16044</c:v>
                </c:pt>
                <c:pt idx="12">
                  <c:v>0.15855</c:v>
                </c:pt>
                <c:pt idx="13">
                  <c:v>0.15873</c:v>
                </c:pt>
                <c:pt idx="14">
                  <c:v>0.16189</c:v>
                </c:pt>
                <c:pt idx="15">
                  <c:v>0.15615</c:v>
                </c:pt>
                <c:pt idx="16">
                  <c:v>0.15905</c:v>
                </c:pt>
                <c:pt idx="17">
                  <c:v>0.15078</c:v>
                </c:pt>
                <c:pt idx="18">
                  <c:v>0.14328</c:v>
                </c:pt>
                <c:pt idx="19">
                  <c:v>0.14125</c:v>
                </c:pt>
                <c:pt idx="20">
                  <c:v>0.13834</c:v>
                </c:pt>
                <c:pt idx="21">
                  <c:v>0.13836</c:v>
                </c:pt>
                <c:pt idx="22">
                  <c:v>0.13442</c:v>
                </c:pt>
                <c:pt idx="23">
                  <c:v>0.12462</c:v>
                </c:pt>
                <c:pt idx="24">
                  <c:v>0.12471</c:v>
                </c:pt>
                <c:pt idx="25">
                  <c:v>0.12239</c:v>
                </c:pt>
                <c:pt idx="26">
                  <c:v>0.12421</c:v>
                </c:pt>
                <c:pt idx="27">
                  <c:v>0.12076</c:v>
                </c:pt>
                <c:pt idx="28">
                  <c:v>0.11736</c:v>
                </c:pt>
                <c:pt idx="29">
                  <c:v>0.11594</c:v>
                </c:pt>
                <c:pt idx="30">
                  <c:v>0.11338</c:v>
                </c:pt>
                <c:pt idx="31">
                  <c:v>0.11364</c:v>
                </c:pt>
                <c:pt idx="32">
                  <c:v>0.11568</c:v>
                </c:pt>
                <c:pt idx="33">
                  <c:v>0.11325</c:v>
                </c:pt>
                <c:pt idx="34">
                  <c:v>0.11041</c:v>
                </c:pt>
                <c:pt idx="35">
                  <c:v>0.11532</c:v>
                </c:pt>
                <c:pt idx="36">
                  <c:v>0.11392</c:v>
                </c:pt>
                <c:pt idx="37">
                  <c:v>0.1079</c:v>
                </c:pt>
                <c:pt idx="38">
                  <c:v>0.10584</c:v>
                </c:pt>
                <c:pt idx="39">
                  <c:v>0.1033</c:v>
                </c:pt>
                <c:pt idx="40">
                  <c:v>0.10271</c:v>
                </c:pt>
                <c:pt idx="41">
                  <c:v>0.10526</c:v>
                </c:pt>
                <c:pt idx="42">
                  <c:v>0.10574</c:v>
                </c:pt>
                <c:pt idx="43">
                  <c:v>0.10442</c:v>
                </c:pt>
                <c:pt idx="44">
                  <c:v>0.10104</c:v>
                </c:pt>
                <c:pt idx="45">
                  <c:v>0.09788</c:v>
                </c:pt>
                <c:pt idx="46">
                  <c:v>0.09743</c:v>
                </c:pt>
                <c:pt idx="47">
                  <c:v>0.09928</c:v>
                </c:pt>
                <c:pt idx="48">
                  <c:v>0.09458</c:v>
                </c:pt>
                <c:pt idx="49">
                  <c:v>0.09629</c:v>
                </c:pt>
                <c:pt idx="50">
                  <c:v>0.09486</c:v>
                </c:pt>
                <c:pt idx="51">
                  <c:v>0.09442</c:v>
                </c:pt>
                <c:pt idx="52">
                  <c:v>0.09665</c:v>
                </c:pt>
                <c:pt idx="53">
                  <c:v>0.09568</c:v>
                </c:pt>
                <c:pt idx="54">
                  <c:v>0.09486</c:v>
                </c:pt>
                <c:pt idx="55">
                  <c:v>0.09243</c:v>
                </c:pt>
                <c:pt idx="56">
                  <c:v>0.09131</c:v>
                </c:pt>
                <c:pt idx="57">
                  <c:v>0.08949</c:v>
                </c:pt>
                <c:pt idx="58">
                  <c:v>0.09033</c:v>
                </c:pt>
                <c:pt idx="59">
                  <c:v>0.09053</c:v>
                </c:pt>
                <c:pt idx="60">
                  <c:v>0.09107</c:v>
                </c:pt>
                <c:pt idx="61">
                  <c:v>0.08943</c:v>
                </c:pt>
                <c:pt idx="62">
                  <c:v>0.08704</c:v>
                </c:pt>
                <c:pt idx="63">
                  <c:v>0.08677</c:v>
                </c:pt>
                <c:pt idx="64">
                  <c:v>0.08763</c:v>
                </c:pt>
                <c:pt idx="65">
                  <c:v>0.08893</c:v>
                </c:pt>
                <c:pt idx="66">
                  <c:v>0.08804</c:v>
                </c:pt>
                <c:pt idx="67">
                  <c:v>0.08551</c:v>
                </c:pt>
                <c:pt idx="68">
                  <c:v>0.08601</c:v>
                </c:pt>
                <c:pt idx="69">
                  <c:v>0.0849</c:v>
                </c:pt>
                <c:pt idx="70">
                  <c:v>0.08579</c:v>
                </c:pt>
                <c:pt idx="71">
                  <c:v>0.08604</c:v>
                </c:pt>
                <c:pt idx="72">
                  <c:v>0.08413</c:v>
                </c:pt>
                <c:pt idx="73">
                  <c:v>0.08198</c:v>
                </c:pt>
                <c:pt idx="74">
                  <c:v>0.08612</c:v>
                </c:pt>
                <c:pt idx="75">
                  <c:v>0.08404</c:v>
                </c:pt>
                <c:pt idx="76">
                  <c:v>0.08535</c:v>
                </c:pt>
                <c:pt idx="77">
                  <c:v>0.08569</c:v>
                </c:pt>
                <c:pt idx="78">
                  <c:v>0.08638</c:v>
                </c:pt>
                <c:pt idx="79">
                  <c:v>0.08459</c:v>
                </c:pt>
                <c:pt idx="80">
                  <c:v>0.08246</c:v>
                </c:pt>
                <c:pt idx="81">
                  <c:v>0.08302</c:v>
                </c:pt>
                <c:pt idx="82">
                  <c:v>0.08859</c:v>
                </c:pt>
                <c:pt idx="83">
                  <c:v>0.08686</c:v>
                </c:pt>
                <c:pt idx="84">
                  <c:v>0.08463</c:v>
                </c:pt>
                <c:pt idx="85">
                  <c:v>0.08215</c:v>
                </c:pt>
                <c:pt idx="86">
                  <c:v>0.07989</c:v>
                </c:pt>
                <c:pt idx="87">
                  <c:v>0.08005</c:v>
                </c:pt>
                <c:pt idx="88">
                  <c:v>0.07926</c:v>
                </c:pt>
                <c:pt idx="89">
                  <c:v>0.07926</c:v>
                </c:pt>
                <c:pt idx="90">
                  <c:v>0.08009</c:v>
                </c:pt>
                <c:pt idx="91">
                  <c:v>0.07937</c:v>
                </c:pt>
                <c:pt idx="92">
                  <c:v>0.07875</c:v>
                </c:pt>
                <c:pt idx="93">
                  <c:v>0.07567</c:v>
                </c:pt>
                <c:pt idx="94">
                  <c:v>0.0748</c:v>
                </c:pt>
                <c:pt idx="95">
                  <c:v>0.07566</c:v>
                </c:pt>
                <c:pt idx="96">
                  <c:v>0.07149</c:v>
                </c:pt>
                <c:pt idx="97">
                  <c:v>0.07047</c:v>
                </c:pt>
                <c:pt idx="98">
                  <c:v>0.06869</c:v>
                </c:pt>
                <c:pt idx="99">
                  <c:v>0.0714</c:v>
                </c:pt>
                <c:pt idx="100">
                  <c:v>0.07109</c:v>
                </c:pt>
                <c:pt idx="101">
                  <c:v>0.07273</c:v>
                </c:pt>
                <c:pt idx="102">
                  <c:v>0.07316</c:v>
                </c:pt>
                <c:pt idx="103">
                  <c:v>0.0731</c:v>
                </c:pt>
                <c:pt idx="104">
                  <c:v>0.07427</c:v>
                </c:pt>
                <c:pt idx="105">
                  <c:v>0.07406</c:v>
                </c:pt>
                <c:pt idx="106">
                  <c:v>0.07136</c:v>
                </c:pt>
                <c:pt idx="107">
                  <c:v>0.07206</c:v>
                </c:pt>
                <c:pt idx="108">
                  <c:v>0.07253</c:v>
                </c:pt>
                <c:pt idx="109">
                  <c:v>0.07168</c:v>
                </c:pt>
                <c:pt idx="110">
                  <c:v>0.06993</c:v>
                </c:pt>
                <c:pt idx="111">
                  <c:v>0.06824</c:v>
                </c:pt>
                <c:pt idx="112">
                  <c:v>0.0666</c:v>
                </c:pt>
                <c:pt idx="113">
                  <c:v>0.06695</c:v>
                </c:pt>
                <c:pt idx="114">
                  <c:v>0.06919</c:v>
                </c:pt>
                <c:pt idx="115">
                  <c:v>0.06845</c:v>
                </c:pt>
                <c:pt idx="116">
                  <c:v>0.06878</c:v>
                </c:pt>
                <c:pt idx="117">
                  <c:v>0.07038</c:v>
                </c:pt>
                <c:pt idx="118">
                  <c:v>0.06927</c:v>
                </c:pt>
                <c:pt idx="119">
                  <c:v>0.07018</c:v>
                </c:pt>
                <c:pt idx="120">
                  <c:v>0.06759</c:v>
                </c:pt>
                <c:pt idx="121">
                  <c:v>0.06673</c:v>
                </c:pt>
                <c:pt idx="122">
                  <c:v>0.06625</c:v>
                </c:pt>
                <c:pt idx="123">
                  <c:v>0.06509</c:v>
                </c:pt>
                <c:pt idx="124">
                  <c:v>0.06368</c:v>
                </c:pt>
                <c:pt idx="125">
                  <c:v>0.06407</c:v>
                </c:pt>
                <c:pt idx="126">
                  <c:v>0.06335</c:v>
                </c:pt>
                <c:pt idx="127">
                  <c:v>0.06403</c:v>
                </c:pt>
                <c:pt idx="128">
                  <c:v>0.06423</c:v>
                </c:pt>
                <c:pt idx="129">
                  <c:v>0.06477</c:v>
                </c:pt>
                <c:pt idx="130">
                  <c:v>0.06478</c:v>
                </c:pt>
                <c:pt idx="131">
                  <c:v>0.06389</c:v>
                </c:pt>
                <c:pt idx="132">
                  <c:v>0.06602</c:v>
                </c:pt>
                <c:pt idx="133">
                  <c:v>0.0663</c:v>
                </c:pt>
                <c:pt idx="134">
                  <c:v>0.06962</c:v>
                </c:pt>
                <c:pt idx="135">
                  <c:v>0.06804</c:v>
                </c:pt>
                <c:pt idx="136">
                  <c:v>0.06725</c:v>
                </c:pt>
                <c:pt idx="137">
                  <c:v>0.06782</c:v>
                </c:pt>
                <c:pt idx="138">
                  <c:v>0.06682</c:v>
                </c:pt>
                <c:pt idx="139">
                  <c:v>0.06561</c:v>
                </c:pt>
                <c:pt idx="140">
                  <c:v>0.0646</c:v>
                </c:pt>
                <c:pt idx="141">
                  <c:v>0.06484</c:v>
                </c:pt>
                <c:pt idx="142">
                  <c:v>0.06662</c:v>
                </c:pt>
                <c:pt idx="143">
                  <c:v>0.0638</c:v>
                </c:pt>
                <c:pt idx="144">
                  <c:v>0.06586</c:v>
                </c:pt>
                <c:pt idx="145">
                  <c:v>0.06505</c:v>
                </c:pt>
                <c:pt idx="146">
                  <c:v>0.06548</c:v>
                </c:pt>
                <c:pt idx="147">
                  <c:v>0.0658</c:v>
                </c:pt>
                <c:pt idx="148">
                  <c:v>0.06384</c:v>
                </c:pt>
                <c:pt idx="149">
                  <c:v>0.06098</c:v>
                </c:pt>
                <c:pt idx="150">
                  <c:v>0.05943</c:v>
                </c:pt>
                <c:pt idx="151">
                  <c:v>0.05902</c:v>
                </c:pt>
                <c:pt idx="152">
                  <c:v>0.06046</c:v>
                </c:pt>
                <c:pt idx="153">
                  <c:v>0.05961</c:v>
                </c:pt>
                <c:pt idx="154">
                  <c:v>0.06127</c:v>
                </c:pt>
                <c:pt idx="155">
                  <c:v>0.06148</c:v>
                </c:pt>
                <c:pt idx="156">
                  <c:v>0.06277</c:v>
                </c:pt>
                <c:pt idx="157">
                  <c:v>0.06162</c:v>
                </c:pt>
                <c:pt idx="158">
                  <c:v>0.06105</c:v>
                </c:pt>
                <c:pt idx="159">
                  <c:v>0.06477</c:v>
                </c:pt>
                <c:pt idx="160">
                  <c:v>0.06374</c:v>
                </c:pt>
                <c:pt idx="161">
                  <c:v>0.06378</c:v>
                </c:pt>
                <c:pt idx="162">
                  <c:v>0.06161</c:v>
                </c:pt>
                <c:pt idx="163">
                  <c:v>0.0612</c:v>
                </c:pt>
                <c:pt idx="164">
                  <c:v>0.05964</c:v>
                </c:pt>
                <c:pt idx="165">
                  <c:v>0.05926</c:v>
                </c:pt>
                <c:pt idx="166">
                  <c:v>0.05992</c:v>
                </c:pt>
                <c:pt idx="167">
                  <c:v>0.06039</c:v>
                </c:pt>
                <c:pt idx="168">
                  <c:v>0.05853</c:v>
                </c:pt>
                <c:pt idx="169">
                  <c:v>0.05875</c:v>
                </c:pt>
                <c:pt idx="170">
                  <c:v>0.05869</c:v>
                </c:pt>
                <c:pt idx="171">
                  <c:v>0.05803</c:v>
                </c:pt>
                <c:pt idx="172">
                  <c:v>0.05785</c:v>
                </c:pt>
                <c:pt idx="173">
                  <c:v>0.0578</c:v>
                </c:pt>
                <c:pt idx="174">
                  <c:v>0.05912</c:v>
                </c:pt>
                <c:pt idx="175">
                  <c:v>0.0591</c:v>
                </c:pt>
                <c:pt idx="176">
                  <c:v>0.06321</c:v>
                </c:pt>
                <c:pt idx="177">
                  <c:v>0.0629</c:v>
                </c:pt>
                <c:pt idx="178">
                  <c:v>0.06105</c:v>
                </c:pt>
                <c:pt idx="179">
                  <c:v>0.06006</c:v>
                </c:pt>
                <c:pt idx="180">
                  <c:v>0.06014</c:v>
                </c:pt>
                <c:pt idx="181">
                  <c:v>0.0582</c:v>
                </c:pt>
                <c:pt idx="182">
                  <c:v>0.05734</c:v>
                </c:pt>
                <c:pt idx="183">
                  <c:v>0.0588</c:v>
                </c:pt>
                <c:pt idx="184">
                  <c:v>0.05795</c:v>
                </c:pt>
                <c:pt idx="185">
                  <c:v>0.05693</c:v>
                </c:pt>
                <c:pt idx="186">
                  <c:v>0.05786</c:v>
                </c:pt>
                <c:pt idx="187">
                  <c:v>0.05769</c:v>
                </c:pt>
                <c:pt idx="188">
                  <c:v>0.05766</c:v>
                </c:pt>
                <c:pt idx="189">
                  <c:v>0.057</c:v>
                </c:pt>
                <c:pt idx="190">
                  <c:v>0.05566</c:v>
                </c:pt>
                <c:pt idx="191">
                  <c:v>0.05671</c:v>
                </c:pt>
                <c:pt idx="192">
                  <c:v>0.05562</c:v>
                </c:pt>
                <c:pt idx="193">
                  <c:v>0.0554</c:v>
                </c:pt>
                <c:pt idx="194">
                  <c:v>0.0551</c:v>
                </c:pt>
                <c:pt idx="195">
                  <c:v>0.05547</c:v>
                </c:pt>
                <c:pt idx="196">
                  <c:v>0.05766</c:v>
                </c:pt>
                <c:pt idx="197">
                  <c:v>0.05767</c:v>
                </c:pt>
                <c:pt idx="198">
                  <c:v>0.05867</c:v>
                </c:pt>
                <c:pt idx="199">
                  <c:v>0.05645</c:v>
                </c:pt>
                <c:pt idx="200">
                  <c:v>0.05675</c:v>
                </c:pt>
                <c:pt idx="201">
                  <c:v>0.05629</c:v>
                </c:pt>
                <c:pt idx="202">
                  <c:v>0.05502</c:v>
                </c:pt>
                <c:pt idx="203">
                  <c:v>0.05664</c:v>
                </c:pt>
                <c:pt idx="204">
                  <c:v>0.05463</c:v>
                </c:pt>
                <c:pt idx="205">
                  <c:v>0.05498</c:v>
                </c:pt>
                <c:pt idx="206">
                  <c:v>0.05391</c:v>
                </c:pt>
                <c:pt idx="207">
                  <c:v>0.05526</c:v>
                </c:pt>
                <c:pt idx="208">
                  <c:v>0.05653</c:v>
                </c:pt>
                <c:pt idx="209">
                  <c:v>0.05609</c:v>
                </c:pt>
                <c:pt idx="210">
                  <c:v>0.05343</c:v>
                </c:pt>
                <c:pt idx="211">
                  <c:v>0.05491</c:v>
                </c:pt>
                <c:pt idx="212">
                  <c:v>0.05475</c:v>
                </c:pt>
                <c:pt idx="213">
                  <c:v>0.05711</c:v>
                </c:pt>
                <c:pt idx="214">
                  <c:v>0.05643</c:v>
                </c:pt>
                <c:pt idx="215">
                  <c:v>0.05442</c:v>
                </c:pt>
                <c:pt idx="216">
                  <c:v>0.05456</c:v>
                </c:pt>
                <c:pt idx="217">
                  <c:v>0.05638</c:v>
                </c:pt>
                <c:pt idx="218">
                  <c:v>0.05609</c:v>
                </c:pt>
                <c:pt idx="219">
                  <c:v>0.05494</c:v>
                </c:pt>
                <c:pt idx="220">
                  <c:v>0.05474</c:v>
                </c:pt>
                <c:pt idx="221">
                  <c:v>0.05347</c:v>
                </c:pt>
                <c:pt idx="222">
                  <c:v>0.05259</c:v>
                </c:pt>
                <c:pt idx="223">
                  <c:v>0.05377</c:v>
                </c:pt>
                <c:pt idx="224">
                  <c:v>0.05172</c:v>
                </c:pt>
                <c:pt idx="225">
                  <c:v>0.0511</c:v>
                </c:pt>
                <c:pt idx="226">
                  <c:v>0.04934</c:v>
                </c:pt>
                <c:pt idx="227">
                  <c:v>0.05006</c:v>
                </c:pt>
                <c:pt idx="228">
                  <c:v>0.04859</c:v>
                </c:pt>
                <c:pt idx="229">
                  <c:v>0.04962</c:v>
                </c:pt>
                <c:pt idx="230">
                  <c:v>0.05032</c:v>
                </c:pt>
                <c:pt idx="231">
                  <c:v>0.05194</c:v>
                </c:pt>
                <c:pt idx="232">
                  <c:v>0.05171</c:v>
                </c:pt>
                <c:pt idx="233">
                  <c:v>0.05192</c:v>
                </c:pt>
                <c:pt idx="234">
                  <c:v>0.05337</c:v>
                </c:pt>
                <c:pt idx="235">
                  <c:v>0.05472</c:v>
                </c:pt>
                <c:pt idx="236">
                  <c:v>0.05321</c:v>
                </c:pt>
                <c:pt idx="237">
                  <c:v>0.05331</c:v>
                </c:pt>
                <c:pt idx="238">
                  <c:v>0.05367</c:v>
                </c:pt>
                <c:pt idx="239">
                  <c:v>0.05251</c:v>
                </c:pt>
                <c:pt idx="240">
                  <c:v>0.0506</c:v>
                </c:pt>
                <c:pt idx="241">
                  <c:v>0.05091</c:v>
                </c:pt>
                <c:pt idx="242">
                  <c:v>0.05193</c:v>
                </c:pt>
                <c:pt idx="243">
                  <c:v>0.05178</c:v>
                </c:pt>
                <c:pt idx="244">
                  <c:v>0.05247</c:v>
                </c:pt>
                <c:pt idx="245">
                  <c:v>0.05187</c:v>
                </c:pt>
                <c:pt idx="246">
                  <c:v>0.05138</c:v>
                </c:pt>
                <c:pt idx="247">
                  <c:v>0.05125</c:v>
                </c:pt>
                <c:pt idx="248">
                  <c:v>0.05169</c:v>
                </c:pt>
                <c:pt idx="249">
                  <c:v>0.05159</c:v>
                </c:pt>
                <c:pt idx="250">
                  <c:v>0.05254</c:v>
                </c:pt>
                <c:pt idx="251">
                  <c:v>0.0523</c:v>
                </c:pt>
                <c:pt idx="252">
                  <c:v>0.05376</c:v>
                </c:pt>
                <c:pt idx="253">
                  <c:v>0.05332</c:v>
                </c:pt>
                <c:pt idx="254">
                  <c:v>0.05325</c:v>
                </c:pt>
                <c:pt idx="255">
                  <c:v>0.04876</c:v>
                </c:pt>
                <c:pt idx="256">
                  <c:v>0.04835</c:v>
                </c:pt>
                <c:pt idx="257">
                  <c:v>0.0478</c:v>
                </c:pt>
                <c:pt idx="258">
                  <c:v>0.04907</c:v>
                </c:pt>
                <c:pt idx="259">
                  <c:v>0.05037</c:v>
                </c:pt>
                <c:pt idx="260">
                  <c:v>0.04946</c:v>
                </c:pt>
                <c:pt idx="261">
                  <c:v>0.0496</c:v>
                </c:pt>
                <c:pt idx="262">
                  <c:v>0.04939</c:v>
                </c:pt>
                <c:pt idx="263">
                  <c:v>0.04863</c:v>
                </c:pt>
                <c:pt idx="264">
                  <c:v>0.05415</c:v>
                </c:pt>
                <c:pt idx="265">
                  <c:v>0.05212</c:v>
                </c:pt>
                <c:pt idx="266">
                  <c:v>0.05245</c:v>
                </c:pt>
                <c:pt idx="267">
                  <c:v>0.05172</c:v>
                </c:pt>
                <c:pt idx="268">
                  <c:v>0.049</c:v>
                </c:pt>
                <c:pt idx="269">
                  <c:v>0.04987</c:v>
                </c:pt>
                <c:pt idx="270">
                  <c:v>0.04869</c:v>
                </c:pt>
                <c:pt idx="271">
                  <c:v>0.04888</c:v>
                </c:pt>
                <c:pt idx="272">
                  <c:v>0.04742</c:v>
                </c:pt>
                <c:pt idx="273">
                  <c:v>0.04768</c:v>
                </c:pt>
                <c:pt idx="274">
                  <c:v>0.04919</c:v>
                </c:pt>
                <c:pt idx="275">
                  <c:v>0.05135</c:v>
                </c:pt>
                <c:pt idx="276">
                  <c:v>0.05045</c:v>
                </c:pt>
                <c:pt idx="277">
                  <c:v>0.05003</c:v>
                </c:pt>
                <c:pt idx="278">
                  <c:v>0.04706</c:v>
                </c:pt>
                <c:pt idx="279">
                  <c:v>0.04639</c:v>
                </c:pt>
                <c:pt idx="280">
                  <c:v>0.04937</c:v>
                </c:pt>
                <c:pt idx="281">
                  <c:v>0.0471</c:v>
                </c:pt>
                <c:pt idx="282">
                  <c:v>0.04654</c:v>
                </c:pt>
                <c:pt idx="283">
                  <c:v>0.04587</c:v>
                </c:pt>
                <c:pt idx="284">
                  <c:v>0.04641</c:v>
                </c:pt>
                <c:pt idx="285">
                  <c:v>0.04767</c:v>
                </c:pt>
                <c:pt idx="286">
                  <c:v>0.05129</c:v>
                </c:pt>
                <c:pt idx="287">
                  <c:v>0.04989</c:v>
                </c:pt>
                <c:pt idx="288">
                  <c:v>0.04833</c:v>
                </c:pt>
              </c:numCache>
            </c:numRef>
          </c:yVal>
          <c:smooth val="0"/>
        </c:ser>
        <c:ser>
          <c:idx val="4"/>
          <c:order val="4"/>
          <c:tx>
            <c:strRef>
              <c:f>Sheet1!$B$1114</c:f>
              <c:strCache>
                <c:ptCount val="1"/>
                <c:pt idx="0">
                  <c:v>MLP final level</c:v>
                </c:pt>
              </c:strCache>
            </c:strRef>
          </c:tx>
          <c:spPr>
            <a:ln w="15875">
              <a:solidFill>
                <a:srgbClr val="0072B2"/>
              </a:solidFill>
              <a:prstDash val="dash"/>
            </a:ln>
          </c:spPr>
          <c:marker>
            <c:symbol val="none"/>
          </c:marker>
          <c:xVal>
            <c:numRef>
              <c:f>Sheet1!$A$1115:$A$1116</c:f>
              <c:numCache>
                <c:formatCode>General</c:formatCode>
                <c:ptCount val="2"/>
                <c:pt idx="0">
                  <c:v>8.91</c:v>
                </c:pt>
                <c:pt idx="1">
                  <c:v>23.0</c:v>
                </c:pt>
              </c:numCache>
            </c:numRef>
          </c:xVal>
          <c:yVal>
            <c:numRef>
              <c:f>Sheet1!$B$1115:$B$1116</c:f>
              <c:numCache>
                <c:formatCode>General</c:formatCode>
                <c:ptCount val="2"/>
                <c:pt idx="0">
                  <c:v>0.08080814166622877</c:v>
                </c:pt>
                <c:pt idx="1">
                  <c:v>0.08080814166622877</c:v>
                </c:pt>
              </c:numCache>
            </c:numRef>
          </c:yVal>
          <c:smooth val="0"/>
        </c:ser>
        <c:ser>
          <c:idx val="5"/>
          <c:order val="5"/>
          <c:tx>
            <c:strRef>
              <c:f>Sheet1!$B$1118</c:f>
              <c:strCache>
                <c:ptCount val="1"/>
                <c:pt idx="0">
                  <c:v>FlyGM reaches it</c:v>
                </c:pt>
              </c:strCache>
            </c:strRef>
          </c:tx>
          <c:spPr>
            <a:ln>
              <a:noFill/>
            </a:ln>
          </c:spPr>
          <c:marker>
            <c:symbol val="circle"/>
            <c:size val="9"/>
            <c:spPr>
              <a:solidFill>
                <a:srgbClr val="FFFFFF"/>
              </a:solidFill>
              <a:ln w="25400">
                <a:solidFill>
                  <a:srgbClr val="D55E00"/>
                </a:solidFill>
              </a:ln>
            </c:spPr>
          </c:marker>
          <c:xVal>
            <c:numRef>
              <c:f>Sheet1!$A$1119:$A$1119</c:f>
              <c:numCache>
                <c:formatCode>General</c:formatCode>
                <c:ptCount val="1"/>
                <c:pt idx="0">
                  <c:v>8.91</c:v>
                </c:pt>
              </c:numCache>
            </c:numRef>
          </c:xVal>
          <c:yVal>
            <c:numRef>
              <c:f>Sheet1!$B$1119:$B$1119</c:f>
              <c:numCache>
                <c:formatCode>General</c:formatCode>
                <c:ptCount val="1"/>
                <c:pt idx="0">
                  <c:v>0.08080814166622877</c:v>
                </c:pt>
              </c:numCache>
            </c:numRef>
          </c:yVal>
          <c:smooth val="0"/>
        </c:ser>
        <c:axId val="-2128940872"/>
        <c:axId val="-2129643912"/>
      </c:scatterChart>
      <c:valAx>
        <c:axId val="-2128940872"/>
        <c:scaling>
          <c:orientation val="minMax"/>
          <c:max val="23.0"/>
          <c:min val="0.0"/>
        </c:scaling>
        <c:delete val="0"/>
        <c:axPos val="b"/>
        <c:numFmt formatCode="0" sourceLinked="0"/>
        <c:majorTickMark val="none"/>
        <c:minorTickMark val="none"/>
        <c:tickLblPos val="low"/>
        <c:spPr>
          <a:ln w="9525">
            <a:solidFill>
              <a:srgbClr val="B9B1C6"/>
            </a:solidFill>
          </a:ln>
        </c:spPr>
        <c:txPr>
          <a:bodyPr/>
          <a:lstStyle/>
          <a:p>
            <a:pPr>
              <a:defRPr sz="1100">
                <a:solidFill>
                  <a:srgbClr val="6E6880"/>
                </a:solidFill>
                <a:latin typeface="Arial"/>
              </a:defRPr>
            </a:pPr>
          </a:p>
        </c:txPr>
        <c:crossAx val="-2129643912"/>
        <c:crossesAt val="0.04"/>
        <c:crossBetween val="midCat"/>
        <c:majorUnit val="5.0"/>
      </c:valAx>
      <c:valAx>
        <c:axId val="-2129643912"/>
        <c:scaling>
          <c:logBase val="10"/>
          <c:orientation val="minMax"/>
          <c:max val="4.0"/>
          <c:min val="0.04"/>
        </c:scaling>
        <c:delete val="0"/>
        <c:axPos val="l"/>
        <c:majorGridlines>
          <c:spPr>
            <a:ln w="9525">
              <a:solidFill>
                <a:srgbClr val="E2DCEA"/>
              </a:solidFill>
            </a:ln>
          </c:spPr>
        </c:majorGridlines>
        <c:numFmt formatCode="0.0#" sourceLinked="0"/>
        <c:majorTickMark val="none"/>
        <c:minorTickMark val="none"/>
        <c:tickLblPos val="low"/>
        <c:spPr>
          <a:ln>
            <a:noFill/>
          </a:ln>
        </c:spPr>
        <c:txPr>
          <a:bodyPr/>
          <a:lstStyle/>
          <a:p>
            <a:pPr>
              <a:defRPr sz="1100">
                <a:solidFill>
                  <a:srgbClr val="6E6880"/>
                </a:solidFill>
                <a:latin typeface="Arial"/>
              </a:defRPr>
            </a:pPr>
          </a:p>
        </c:txPr>
        <c:crossAx val="-2128940872"/>
        <c:crosses val="autoZero"/>
        <c:crossBetween val="midCat"/>
      </c:valAx>
      <c:spPr>
        <a:noFill/>
        <a:ln>
          <a:noFill/>
        </a:ln>
      </c:spPr>
    </c:plotArea>
    <c:plotVisOnly val="1"/>
    <c:dispBlanksAs val="gap"/>
    <c:showDLblsOverMax val="0"/>
  </c:chart>
  <c:spPr>
    <a:noFill/>
    <a:ln>
      <a:noFill/>
    </a:ln>
  </c:spPr>
  <c:txPr>
    <a:bodyPr/>
    <a:lstStyle/>
    <a:p>
      <a:pPr>
        <a:defRPr sz="1100">
          <a:solidFill>
            <a:srgbClr val="6E688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9"/>
          <c:y val="0.1"/>
          <c:w val="0.89"/>
          <c:h val="0.7"/>
        </c:manualLayout>
      </c:layout>
      <c:barChart>
        <c:barDir val="col"/>
        <c:grouping val="clustered"/>
        <c:ser>
          <c:idx val="0"/>
          <c:order val="0"/>
          <c:tx>
            <c:strRef>
              <c:f>Sheet1!$B$1</c:f>
              <c:strCache>
                <c:ptCount val="1"/>
                <c:pt idx="0">
                  <c:v>FlyGM</c:v>
                </c:pt>
              </c:strCache>
            </c:strRef>
          </c:tx>
          <c:spPr>
            <a:solidFill>
              <a:srgbClr val="D55E00"/>
            </a:solidFill>
            <a:ln>
              <a:noFill/>
            </a:ln>
          </c:spPr>
          <c:invertIfNegative val="0"/>
          <c:dLbls>
            <c:dLbl>
              <c:idx val="0"/>
              <c:tx>
                <c:rich>
                  <a:bodyPr/>
                  <a:lstStyle/>
                  <a:p>
                    <a:r>
                      <a:rPr sz="1050" b="1">
                        <a:solidFill>
                          <a:srgbClr val="D55E00"/>
                        </a:solidFill>
                        <a:latin typeface="Arial"/>
                      </a:rPr>
                      <a:t>5.0</a:t>
                    </a:r>
                  </a:p>
                </c:rich>
              </c:tx>
              <c:dLblPos val="outEnd"/>
              <c:showLegendKey val="0"/>
              <c:showVal val="1"/>
              <c:showCatName val="0"/>
              <c:showSerName val="0"/>
              <c:showPercent val="0"/>
              <c:showBubbleSize val="0"/>
            </c:dLbl>
            <c:dLbl>
              <c:idx val="1"/>
              <c:tx>
                <c:rich>
                  <a:bodyPr/>
                  <a:lstStyle/>
                  <a:p>
                    <a:r>
                      <a:rPr sz="1050" b="1">
                        <a:solidFill>
                          <a:srgbClr val="D55E00"/>
                        </a:solidFill>
                        <a:latin typeface="Arial"/>
                      </a:rPr>
                      <a:t>5.6</a:t>
                    </a:r>
                  </a:p>
                </c:rich>
              </c:tx>
              <c:dLblPos val="outEnd"/>
              <c:showLegendKey val="0"/>
              <c:showVal val="1"/>
              <c:showCatName val="0"/>
              <c:showSerName val="0"/>
              <c:showPercent val="0"/>
              <c:showBubbleSize val="0"/>
            </c:dLbl>
            <c:dLbl>
              <c:idx val="2"/>
              <c:tx>
                <c:rich>
                  <a:bodyPr/>
                  <a:lstStyle/>
                  <a:p>
                    <a:r>
                      <a:rPr sz="1050" b="1">
                        <a:solidFill>
                          <a:srgbClr val="D55E00"/>
                        </a:solidFill>
                        <a:latin typeface="Arial"/>
                      </a:rPr>
                      <a:t>6.4</a:t>
                    </a:r>
                  </a:p>
                </c:rich>
              </c:tx>
              <c:dLblPos val="outEnd"/>
              <c:showLegendKey val="0"/>
              <c:showVal val="1"/>
              <c:showCatName val="0"/>
              <c:showSerName val="0"/>
              <c:showPercent val="0"/>
              <c:showBubbleSize val="0"/>
            </c:dLbl>
            <c:dLbl>
              <c:idx val="3"/>
              <c:tx>
                <c:rich>
                  <a:bodyPr/>
                  <a:lstStyle/>
                  <a:p>
                    <a:r>
                      <a:rPr sz="1050" b="1">
                        <a:solidFill>
                          <a:srgbClr val="D55E00"/>
                        </a:solidFill>
                        <a:latin typeface="Arial"/>
                      </a:rPr>
                      <a:t>8.3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2 cm/s
straight</c:v>
                </c:pt>
                <c:pt idx="1">
                  <c:v>3 cm/s
straight</c:v>
                </c:pt>
                <c:pt idx="2">
                  <c:v>3 cm/s
turn 4</c:v>
                </c:pt>
                <c:pt idx="3">
                  <c:v>3 cm/s
turn 7</c:v>
                </c:pt>
              </c:strCache>
            </c:strRef>
          </c:cat>
          <c:val>
            <c:numRef>
              <c:f>Sheet1!$B$2:$B$5</c:f>
              <c:numCache>
                <c:formatCode>General</c:formatCode>
                <c:ptCount val="4"/>
                <c:pt idx="0">
                  <c:v>4.96</c:v>
                </c:pt>
                <c:pt idx="1">
                  <c:v>5.57</c:v>
                </c:pt>
                <c:pt idx="2">
                  <c:v>6.36</c:v>
                </c:pt>
                <c:pt idx="3">
                  <c:v>8.29</c:v>
                </c:pt>
              </c:numCache>
            </c:numRef>
          </c:val>
        </c:ser>
        <c:ser>
          <c:idx val="1"/>
          <c:order val="1"/>
          <c:tx>
            <c:strRef>
              <c:f>Sheet1!$C$1</c:f>
              <c:strCache>
                <c:ptCount val="1"/>
                <c:pt idx="0">
                  <c:v>DP-Rewired</c:v>
                </c:pt>
              </c:strCache>
            </c:strRef>
          </c:tx>
          <c:spPr>
            <a:solidFill>
              <a:srgbClr val="009E73"/>
            </a:solidFill>
            <a:ln>
              <a:noFill/>
            </a:ln>
          </c:spPr>
          <c:invertIfNegative val="0"/>
          <c:cat>
            <c:strRef>
              <c:f>Sheet1!$A$2:$A$5</c:f>
              <c:strCache>
                <c:ptCount val="4"/>
                <c:pt idx="0">
                  <c:v>2 cm/s
straight</c:v>
                </c:pt>
                <c:pt idx="1">
                  <c:v>3 cm/s
straight</c:v>
                </c:pt>
                <c:pt idx="2">
                  <c:v>3 cm/s
turn 4</c:v>
                </c:pt>
                <c:pt idx="3">
                  <c:v>3 cm/s
turn 7</c:v>
                </c:pt>
              </c:strCache>
            </c:strRef>
          </c:cat>
          <c:val>
            <c:numRef>
              <c:f>Sheet1!$C$2:$C$5</c:f>
              <c:numCache>
                <c:formatCode>General</c:formatCode>
                <c:ptCount val="4"/>
                <c:pt idx="0">
                  <c:v>7.84</c:v>
                </c:pt>
                <c:pt idx="1">
                  <c:v>7.77</c:v>
                </c:pt>
                <c:pt idx="2">
                  <c:v>9.72</c:v>
                </c:pt>
                <c:pt idx="3">
                  <c:v>13.55</c:v>
                </c:pt>
              </c:numCache>
            </c:numRef>
          </c:val>
        </c:ser>
        <c:ser>
          <c:idx val="2"/>
          <c:order val="2"/>
          <c:tx>
            <c:strRef>
              <c:f>Sheet1!$D$1</c:f>
              <c:strCache>
                <c:ptCount val="1"/>
                <c:pt idx="0">
                  <c:v>ER-Random</c:v>
                </c:pt>
              </c:strCache>
            </c:strRef>
          </c:tx>
          <c:spPr>
            <a:solidFill>
              <a:srgbClr val="666666"/>
            </a:solidFill>
            <a:ln>
              <a:noFill/>
            </a:ln>
          </c:spPr>
          <c:invertIfNegative val="0"/>
          <c:cat>
            <c:strRef>
              <c:f>Sheet1!$A$2:$A$5</c:f>
              <c:strCache>
                <c:ptCount val="4"/>
                <c:pt idx="0">
                  <c:v>2 cm/s
straight</c:v>
                </c:pt>
                <c:pt idx="1">
                  <c:v>3 cm/s
straight</c:v>
                </c:pt>
                <c:pt idx="2">
                  <c:v>3 cm/s
turn 4</c:v>
                </c:pt>
                <c:pt idx="3">
                  <c:v>3 cm/s
turn 7</c:v>
                </c:pt>
              </c:strCache>
            </c:strRef>
          </c:cat>
          <c:val>
            <c:numRef>
              <c:f>Sheet1!$D$2:$D$5</c:f>
              <c:numCache>
                <c:formatCode>General</c:formatCode>
                <c:ptCount val="4"/>
                <c:pt idx="0">
                  <c:v>12.11</c:v>
                </c:pt>
                <c:pt idx="1">
                  <c:v>11.33</c:v>
                </c:pt>
                <c:pt idx="2">
                  <c:v>17.45</c:v>
                </c:pt>
                <c:pt idx="3">
                  <c:v>125.36</c:v>
                </c:pt>
              </c:numCache>
            </c:numRef>
          </c:val>
        </c:ser>
        <c:ser>
          <c:idx val="3"/>
          <c:order val="3"/>
          <c:tx>
            <c:strRef>
              <c:f>Sheet1!$E$1</c:f>
              <c:strCache>
                <c:ptCount val="1"/>
                <c:pt idx="0">
                  <c:v>MLP</c:v>
                </c:pt>
              </c:strCache>
            </c:strRef>
          </c:tx>
          <c:spPr>
            <a:solidFill>
              <a:srgbClr val="0072B2"/>
            </a:solidFill>
            <a:ln>
              <a:noFill/>
            </a:ln>
          </c:spPr>
          <c:invertIfNegative val="0"/>
          <c:cat>
            <c:strRef>
              <c:f>Sheet1!$A$2:$A$5</c:f>
              <c:strCache>
                <c:ptCount val="4"/>
                <c:pt idx="0">
                  <c:v>2 cm/s
straight</c:v>
                </c:pt>
                <c:pt idx="1">
                  <c:v>3 cm/s
straight</c:v>
                </c:pt>
                <c:pt idx="2">
                  <c:v>3 cm/s
turn 4</c:v>
                </c:pt>
                <c:pt idx="3">
                  <c:v>3 cm/s
turn 7</c:v>
                </c:pt>
              </c:strCache>
            </c:strRef>
          </c:cat>
          <c:val>
            <c:numRef>
              <c:f>Sheet1!$E$2:$E$5</c:f>
              <c:numCache>
                <c:formatCode>General</c:formatCode>
                <c:ptCount val="4"/>
                <c:pt idx="0">
                  <c:v>6.76</c:v>
                </c:pt>
                <c:pt idx="1">
                  <c:v>7.18</c:v>
                </c:pt>
                <c:pt idx="2">
                  <c:v>8.85</c:v>
                </c:pt>
                <c:pt idx="3">
                  <c:v>13.9</c:v>
                </c:pt>
              </c:numCache>
            </c:numRef>
          </c:val>
        </c:ser>
        <c:gapWidth val="55"/>
        <c:axId val="-2068027336"/>
        <c:axId val="-2113994440"/>
      </c:barChart>
      <c:catAx>
        <c:axId val="-2068027336"/>
        <c:scaling>
          <c:orientation val="minMax"/>
        </c:scaling>
        <c:delete val="0"/>
        <c:axPos val="b"/>
        <c:majorTickMark val="none"/>
        <c:minorTickMark val="none"/>
        <c:tickLblPos val="nextTo"/>
        <c:spPr>
          <a:ln w="9525">
            <a:solidFill>
              <a:srgbClr val="B9B1C6"/>
            </a:solidFill>
          </a:ln>
        </c:spPr>
        <c:txPr>
          <a:bodyPr/>
          <a:lstStyle/>
          <a:p>
            <a:pPr>
              <a:defRPr sz="1050">
                <a:solidFill>
                  <a:srgbClr val="6E6880"/>
                </a:solidFill>
                <a:latin typeface="Arial"/>
              </a:defRPr>
            </a:pPr>
          </a:p>
        </c:txPr>
        <c:crossAx val="-2113994440"/>
        <c:crosses val="autoZero"/>
        <c:auto val="1"/>
        <c:lblAlgn val="ctr"/>
        <c:lblOffset val="100"/>
        <c:noMultiLvlLbl val="0"/>
      </c:catAx>
      <c:valAx>
        <c:axId val="-2113994440"/>
        <c:scaling>
          <c:max val="20.0"/>
          <c:min val="0.0"/>
        </c:scaling>
        <c:delete val="0"/>
        <c:axPos val="l"/>
        <c:majorGridlines>
          <c:spPr>
            <a:ln w="9525">
              <a:solidFill>
                <a:srgbClr val="E2DCEA"/>
              </a:solidFill>
            </a:ln>
          </c:spPr>
        </c:majorGridlines>
        <c:numFmt formatCode="0" sourceLinked="0"/>
        <c:majorTickMark val="none"/>
        <c:minorTickMark val="none"/>
        <c:tickLblPos val="nextTo"/>
        <c:spPr>
          <a:ln>
            <a:noFill/>
          </a:ln>
        </c:spPr>
        <c:txPr>
          <a:bodyPr/>
          <a:lstStyle/>
          <a:p>
            <a:pPr>
              <a:defRPr sz="1100">
                <a:solidFill>
                  <a:srgbClr val="6E6880"/>
                </a:solidFill>
                <a:latin typeface="Arial"/>
              </a:defRPr>
            </a:pPr>
          </a:p>
        </c:txPr>
        <c:crossAx val="-2068027336"/>
        <c:crosses val="autoZero"/>
        <c:majorUnit val="5.0"/>
      </c:valAx>
      <c:spPr>
        <a:noFill/>
        <a:ln>
          <a:noFill/>
        </a:ln>
      </c:spPr>
    </c:plotArea>
    <c:dispBlanksAs val="gap"/>
  </c:chart>
  <c:spPr>
    <a:noFill/>
    <a:ln>
      <a:noFill/>
    </a:ln>
  </c:spPr>
  <c:txPr>
    <a:bodyPr/>
    <a:lstStyle/>
    <a:p>
      <a:pPr>
        <a:defRPr sz="1100">
          <a:solidFill>
            <a:srgbClr val="6E688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22"/>
          <c:y val="0.02"/>
          <c:w val="0.64"/>
          <c:h val="0.86"/>
        </c:manualLayout>
      </c:layout>
      <c:barChart>
        <c:barDir val="bar"/>
        <c:grouping val="clustered"/>
        <c:ser>
          <c:idx val="0"/>
          <c:order val="0"/>
          <c:tx>
            <c:strRef>
              <c:f>Sheet1!$B$1</c:f>
              <c:strCache>
                <c:ptCount val="1"/>
                <c:pt idx="0">
                  <c:v>Reward</c:v>
                </c:pt>
              </c:strCache>
            </c:strRef>
          </c:tx>
          <c:spPr>
            <a:ln>
              <a:noFill/>
            </a:ln>
          </c:spPr>
          <c:dPt>
            <c:idx val="0"/>
            <c:spPr>
              <a:solidFill>
                <a:srgbClr val="B9B1C6"/>
              </a:solidFill>
            </c:spPr>
          </c:dPt>
          <c:dPt>
            <c:idx val="1"/>
            <c:spPr>
              <a:solidFill>
                <a:srgbClr val="B9B1C6"/>
              </a:solidFill>
            </c:spPr>
          </c:dPt>
          <c:dPt>
            <c:idx val="2"/>
            <c:spPr>
              <a:solidFill>
                <a:srgbClr val="B9B1C6"/>
              </a:solidFill>
            </c:spPr>
          </c:dPt>
          <c:dPt>
            <c:idx val="3"/>
            <c:spPr>
              <a:solidFill>
                <a:srgbClr val="B9B1C6"/>
              </a:solidFill>
            </c:spPr>
          </c:dPt>
          <c:dPt>
            <c:idx val="4"/>
            <c:spPr>
              <a:solidFill>
                <a:srgbClr val="B9B1C6"/>
              </a:solidFill>
            </c:spPr>
          </c:dPt>
          <c:dPt>
            <c:idx val="5"/>
            <c:spPr>
              <a:solidFill>
                <a:srgbClr val="D55E00"/>
              </a:solidFill>
            </c:spPr>
          </c:dPt>
          <c:dLbls>
            <c:dLbl>
              <c:idx val="0"/>
              <c:tx>
                <c:rich>
                  <a:bodyPr/>
                  <a:lstStyle/>
                  <a:p>
                    <a:r>
                      <a:rPr sz="1100" b="0">
                        <a:solidFill>
                          <a:srgbClr val="6E6880"/>
                        </a:solidFill>
                        <a:latin typeface="Arial"/>
                      </a:rPr>
                      <a:t>43</a:t>
                    </a:r>
                  </a:p>
                </c:rich>
              </c:tx>
              <c:dLblPos val="outEnd"/>
              <c:showLegendKey val="0"/>
              <c:showVal val="1"/>
              <c:showCatName val="0"/>
              <c:showSerName val="0"/>
              <c:showPercent val="0"/>
              <c:showBubbleSize val="0"/>
            </c:dLbl>
            <c:dLbl>
              <c:idx val="1"/>
              <c:tx>
                <c:rich>
                  <a:bodyPr/>
                  <a:lstStyle/>
                  <a:p>
                    <a:r>
                      <a:rPr sz="1100" b="0">
                        <a:solidFill>
                          <a:srgbClr val="6E6880"/>
                        </a:solidFill>
                        <a:latin typeface="Arial"/>
                      </a:rPr>
                      <a:t>90</a:t>
                    </a:r>
                  </a:p>
                </c:rich>
              </c:tx>
              <c:dLblPos val="outEnd"/>
              <c:showLegendKey val="0"/>
              <c:showVal val="1"/>
              <c:showCatName val="0"/>
              <c:showSerName val="0"/>
              <c:showPercent val="0"/>
              <c:showBubbleSize val="0"/>
            </c:dLbl>
            <c:dLbl>
              <c:idx val="2"/>
              <c:tx>
                <c:rich>
                  <a:bodyPr/>
                  <a:lstStyle/>
                  <a:p>
                    <a:r>
                      <a:rPr sz="1100" b="0">
                        <a:solidFill>
                          <a:srgbClr val="6E6880"/>
                        </a:solidFill>
                        <a:latin typeface="Arial"/>
                      </a:rPr>
                      <a:t>126</a:t>
                    </a:r>
                  </a:p>
                </c:rich>
              </c:tx>
              <c:dLblPos val="outEnd"/>
              <c:showLegendKey val="0"/>
              <c:showVal val="1"/>
              <c:showCatName val="0"/>
              <c:showSerName val="0"/>
              <c:showPercent val="0"/>
              <c:showBubbleSize val="0"/>
            </c:dLbl>
            <c:dLbl>
              <c:idx val="3"/>
              <c:tx>
                <c:rich>
                  <a:bodyPr/>
                  <a:lstStyle/>
                  <a:p>
                    <a:r>
                      <a:rPr sz="1100" b="0">
                        <a:solidFill>
                          <a:srgbClr val="6E6880"/>
                        </a:solidFill>
                        <a:latin typeface="Arial"/>
                      </a:rPr>
                      <a:t>133</a:t>
                    </a:r>
                  </a:p>
                </c:rich>
              </c:tx>
              <c:dLblPos val="outEnd"/>
              <c:showLegendKey val="0"/>
              <c:showVal val="1"/>
              <c:showCatName val="0"/>
              <c:showSerName val="0"/>
              <c:showPercent val="0"/>
              <c:showBubbleSize val="0"/>
            </c:dLbl>
            <c:dLbl>
              <c:idx val="4"/>
              <c:tx>
                <c:rich>
                  <a:bodyPr/>
                  <a:lstStyle/>
                  <a:p>
                    <a:r>
                      <a:rPr sz="1100" b="0">
                        <a:solidFill>
                          <a:srgbClr val="6E6880"/>
                        </a:solidFill>
                        <a:latin typeface="Arial"/>
                      </a:rPr>
                      <a:t>145</a:t>
                    </a:r>
                  </a:p>
                </c:rich>
              </c:tx>
              <c:dLblPos val="outEnd"/>
              <c:showLegendKey val="0"/>
              <c:showVal val="1"/>
              <c:showCatName val="0"/>
              <c:showSerName val="0"/>
              <c:showPercent val="0"/>
              <c:showBubbleSize val="0"/>
            </c:dLbl>
            <c:dLbl>
              <c:idx val="5"/>
              <c:tx>
                <c:rich>
                  <a:bodyPr/>
                  <a:lstStyle/>
                  <a:p>
                    <a:r>
                      <a:rPr sz="1100" b="1">
                        <a:solidFill>
                          <a:srgbClr val="D55E00"/>
                        </a:solidFill>
                        <a:latin typeface="Arial"/>
                      </a:rPr>
                      <a:t>334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GCN</c:v>
                </c:pt>
                <c:pt idx="1">
                  <c:v>EdgeCNN</c:v>
                </c:pt>
                <c:pt idx="2">
                  <c:v>GraphSAGE</c:v>
                </c:pt>
                <c:pt idx="3">
                  <c:v>GAT</c:v>
                </c:pt>
                <c:pt idx="4">
                  <c:v>PNA</c:v>
                </c:pt>
                <c:pt idx="5">
                  <c:v>FlyGM</c:v>
                </c:pt>
              </c:strCache>
            </c:strRef>
          </c:cat>
          <c:val>
            <c:numRef>
              <c:f>Sheet1!$B$2:$B$7</c:f>
              <c:numCache>
                <c:formatCode>General</c:formatCode>
                <c:ptCount val="6"/>
                <c:pt idx="0">
                  <c:v>43.13</c:v>
                </c:pt>
                <c:pt idx="1">
                  <c:v>90.48</c:v>
                </c:pt>
                <c:pt idx="2">
                  <c:v>125.55</c:v>
                </c:pt>
                <c:pt idx="3">
                  <c:v>132.65</c:v>
                </c:pt>
                <c:pt idx="4">
                  <c:v>145.33</c:v>
                </c:pt>
                <c:pt idx="5">
                  <c:v>334.34</c:v>
                </c:pt>
              </c:numCache>
            </c:numRef>
          </c:val>
        </c:ser>
        <c:gapWidth val="40"/>
        <c:axId val="-2068027336"/>
        <c:axId val="-2113994440"/>
      </c:barChart>
      <c:catAx>
        <c:axId val="-2068027336"/>
        <c:scaling>
          <c:orientation val="minMax"/>
        </c:scaling>
        <c:delete val="0"/>
        <c:axPos val="l"/>
        <c:majorTickMark val="none"/>
        <c:minorTickMark val="none"/>
        <c:tickLblPos val="nextTo"/>
        <c:spPr>
          <a:ln w="9525">
            <a:solidFill>
              <a:srgbClr val="B9B1C6"/>
            </a:solidFill>
          </a:ln>
        </c:spPr>
        <c:txPr>
          <a:bodyPr/>
          <a:lstStyle/>
          <a:p>
            <a:pPr>
              <a:defRPr sz="1150">
                <a:solidFill>
                  <a:srgbClr val="1F1A2E"/>
                </a:solidFill>
                <a:latin typeface="Arial"/>
              </a:defRPr>
            </a:pPr>
          </a:p>
        </c:txPr>
        <c:crossAx val="-2113994440"/>
        <c:crosses val="autoZero"/>
        <c:auto val="1"/>
        <c:lblAlgn val="ctr"/>
        <c:lblOffset val="100"/>
        <c:noMultiLvlLbl val="0"/>
      </c:catAx>
      <c:valAx>
        <c:axId val="-2113994440"/>
        <c:scaling>
          <c:max val="350.0"/>
          <c:min val="0.0"/>
        </c:scaling>
        <c:delete val="0"/>
        <c:axPos val="b"/>
        <c:majorGridlines>
          <c:spPr>
            <a:ln w="9525">
              <a:solidFill>
                <a:srgbClr val="E2DCEA"/>
              </a:solidFill>
            </a:ln>
          </c:spPr>
        </c:majorGridlines>
        <c:numFmt formatCode="0" sourceLinked="0"/>
        <c:majorTickMark val="none"/>
        <c:minorTickMark val="none"/>
        <c:tickLblPos val="nextTo"/>
        <c:spPr>
          <a:ln>
            <a:noFill/>
          </a:ln>
        </c:spPr>
        <c:txPr>
          <a:bodyPr/>
          <a:lstStyle/>
          <a:p>
            <a:pPr>
              <a:defRPr sz="1100">
                <a:solidFill>
                  <a:srgbClr val="6E6880"/>
                </a:solidFill>
                <a:latin typeface="Arial"/>
              </a:defRPr>
            </a:pPr>
          </a:p>
        </c:txPr>
        <c:crossAx val="-2068027336"/>
        <c:crosses val="autoZero"/>
        <c:majorUnit val="100.0"/>
      </c:valAx>
      <c:spPr>
        <a:noFill/>
        <a:ln>
          <a:noFill/>
        </a:ln>
      </c:spPr>
    </c:plotArea>
    <c:dispBlanksAs val="gap"/>
  </c:chart>
  <c:spPr>
    <a:noFill/>
    <a:ln>
      <a:noFill/>
    </a:ln>
  </c:spPr>
  <c:txPr>
    <a:bodyPr/>
    <a:lstStyle/>
    <a:p>
      <a:pPr>
        <a:defRPr sz="1100">
          <a:solidFill>
            <a:srgbClr val="6E688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7"/>
          <c:y val="0.01"/>
          <c:w val="0.42"/>
          <c:h val="0.88"/>
        </c:manualLayout>
      </c:layout>
      <c:barChart>
        <c:barDir val="bar"/>
        <c:grouping val="clustered"/>
        <c:ser>
          <c:idx val="0"/>
          <c:order val="0"/>
          <c:tx>
            <c:strRef>
              <c:f>Sheet1!$B$1</c:f>
              <c:strCache>
                <c:ptCount val="1"/>
                <c:pt idx="0">
                  <c:v>Angle error</c:v>
                </c:pt>
              </c:strCache>
            </c:strRef>
          </c:tx>
          <c:spPr>
            <a:ln>
              <a:noFill/>
            </a:ln>
          </c:spPr>
          <c:dPt>
            <c:idx val="0"/>
            <c:spPr>
              <a:solidFill>
                <a:srgbClr val="0072B2"/>
              </a:solidFill>
            </c:spPr>
          </c:dPt>
          <c:dPt>
            <c:idx val="1"/>
            <c:spPr>
              <a:solidFill>
                <a:srgbClr val="009E73"/>
              </a:solidFill>
            </c:spPr>
          </c:dPt>
          <c:dPt>
            <c:idx val="2"/>
            <c:spPr>
              <a:solidFill>
                <a:srgbClr val="F2B48A"/>
              </a:solidFill>
            </c:spPr>
          </c:dPt>
          <c:dPt>
            <c:idx val="3"/>
            <c:spPr>
              <a:solidFill>
                <a:srgbClr val="F2B48A"/>
              </a:solidFill>
            </c:spPr>
          </c:dPt>
          <c:dPt>
            <c:idx val="4"/>
            <c:spPr>
              <a:solidFill>
                <a:srgbClr val="F2B48A"/>
              </a:solidFill>
            </c:spPr>
          </c:dPt>
          <c:dPt>
            <c:idx val="5"/>
            <c:spPr>
              <a:solidFill>
                <a:srgbClr val="E58A4E"/>
              </a:solidFill>
            </c:spPr>
          </c:dPt>
          <c:dPt>
            <c:idx val="6"/>
            <c:spPr>
              <a:solidFill>
                <a:srgbClr val="E58A4E"/>
              </a:solidFill>
            </c:spPr>
          </c:dPt>
          <c:dPt>
            <c:idx val="7"/>
            <c:spPr>
              <a:solidFill>
                <a:srgbClr val="D55E00"/>
              </a:solidFill>
            </c:spPr>
          </c:dPt>
          <c:dLbls>
            <c:dLbl>
              <c:idx val="0"/>
              <c:tx>
                <c:rich>
                  <a:bodyPr/>
                  <a:lstStyle/>
                  <a:p>
                    <a:r>
                      <a:rPr sz="1050" b="1">
                        <a:solidFill>
                          <a:srgbClr val="0072B2"/>
                        </a:solidFill>
                        <a:latin typeface="Arial"/>
                      </a:rPr>
                      <a:t>13.9</a:t>
                    </a:r>
                  </a:p>
                </c:rich>
              </c:tx>
              <c:dLblPos val="outEnd"/>
              <c:showLegendKey val="0"/>
              <c:showVal val="1"/>
              <c:showCatName val="0"/>
              <c:showSerName val="0"/>
              <c:showPercent val="0"/>
              <c:showBubbleSize val="0"/>
            </c:dLbl>
            <c:dLbl>
              <c:idx val="1"/>
              <c:tx>
                <c:rich>
                  <a:bodyPr/>
                  <a:lstStyle/>
                  <a:p>
                    <a:r>
                      <a:rPr sz="1050" b="1">
                        <a:solidFill>
                          <a:srgbClr val="009E73"/>
                        </a:solidFill>
                        <a:latin typeface="Arial"/>
                      </a:rPr>
                      <a:t>13.6</a:t>
                    </a:r>
                  </a:p>
                </c:rich>
              </c:tx>
              <c:dLblPos val="outEnd"/>
              <c:showLegendKey val="0"/>
              <c:showVal val="1"/>
              <c:showCatName val="0"/>
              <c:showSerName val="0"/>
              <c:showPercent val="0"/>
              <c:showBubbleSize val="0"/>
            </c:dLbl>
            <c:dLbl>
              <c:idx val="2"/>
              <c:tx>
                <c:rich>
                  <a:bodyPr/>
                  <a:lstStyle/>
                  <a:p>
                    <a:r>
                      <a:rPr sz="1050" b="0">
                        <a:solidFill>
                          <a:srgbClr val="D55E00"/>
                        </a:solidFill>
                        <a:latin typeface="Arial"/>
                      </a:rPr>
                      <a:t>13.4</a:t>
                    </a:r>
                  </a:p>
                </c:rich>
              </c:tx>
              <c:dLblPos val="outEnd"/>
              <c:showLegendKey val="0"/>
              <c:showVal val="1"/>
              <c:showCatName val="0"/>
              <c:showSerName val="0"/>
              <c:showPercent val="0"/>
              <c:showBubbleSize val="0"/>
            </c:dLbl>
            <c:dLbl>
              <c:idx val="3"/>
              <c:tx>
                <c:rich>
                  <a:bodyPr/>
                  <a:lstStyle/>
                  <a:p>
                    <a:r>
                      <a:rPr sz="1050" b="0">
                        <a:solidFill>
                          <a:srgbClr val="D55E00"/>
                        </a:solidFill>
                        <a:latin typeface="Arial"/>
                      </a:rPr>
                      <a:t>13.2</a:t>
                    </a:r>
                  </a:p>
                </c:rich>
              </c:tx>
              <c:dLblPos val="outEnd"/>
              <c:showLegendKey val="0"/>
              <c:showVal val="1"/>
              <c:showCatName val="0"/>
              <c:showSerName val="0"/>
              <c:showPercent val="0"/>
              <c:showBubbleSize val="0"/>
            </c:dLbl>
            <c:dLbl>
              <c:idx val="4"/>
              <c:tx>
                <c:rich>
                  <a:bodyPr/>
                  <a:lstStyle/>
                  <a:p>
                    <a:r>
                      <a:rPr sz="1050" b="0">
                        <a:solidFill>
                          <a:srgbClr val="D55E00"/>
                        </a:solidFill>
                        <a:latin typeface="Arial"/>
                      </a:rPr>
                      <a:t>11.0</a:t>
                    </a:r>
                  </a:p>
                </c:rich>
              </c:tx>
              <c:dLblPos val="outEnd"/>
              <c:showLegendKey val="0"/>
              <c:showVal val="1"/>
              <c:showCatName val="0"/>
              <c:showSerName val="0"/>
              <c:showPercent val="0"/>
              <c:showBubbleSize val="0"/>
            </c:dLbl>
            <c:dLbl>
              <c:idx val="5"/>
              <c:tx>
                <c:rich>
                  <a:bodyPr/>
                  <a:lstStyle/>
                  <a:p>
                    <a:r>
                      <a:rPr sz="1050" b="0">
                        <a:solidFill>
                          <a:srgbClr val="D55E00"/>
                        </a:solidFill>
                        <a:latin typeface="Arial"/>
                      </a:rPr>
                      <a:t>9.2</a:t>
                    </a:r>
                  </a:p>
                </c:rich>
              </c:tx>
              <c:dLblPos val="outEnd"/>
              <c:showLegendKey val="0"/>
              <c:showVal val="1"/>
              <c:showCatName val="0"/>
              <c:showSerName val="0"/>
              <c:showPercent val="0"/>
              <c:showBubbleSize val="0"/>
            </c:dLbl>
            <c:dLbl>
              <c:idx val="6"/>
              <c:tx>
                <c:rich>
                  <a:bodyPr/>
                  <a:lstStyle/>
                  <a:p>
                    <a:r>
                      <a:rPr sz="1050" b="0">
                        <a:solidFill>
                          <a:srgbClr val="D55E00"/>
                        </a:solidFill>
                        <a:latin typeface="Arial"/>
                      </a:rPr>
                      <a:t>9.1</a:t>
                    </a:r>
                  </a:p>
                </c:rich>
              </c:tx>
              <c:dLblPos val="outEnd"/>
              <c:showLegendKey val="0"/>
              <c:showVal val="1"/>
              <c:showCatName val="0"/>
              <c:showSerName val="0"/>
              <c:showPercent val="0"/>
              <c:showBubbleSize val="0"/>
            </c:dLbl>
            <c:dLbl>
              <c:idx val="7"/>
              <c:tx>
                <c:rich>
                  <a:bodyPr/>
                  <a:lstStyle/>
                  <a:p>
                    <a:r>
                      <a:rPr sz="1050" b="1">
                        <a:solidFill>
                          <a:srgbClr val="D55E00"/>
                        </a:solidFill>
                        <a:latin typeface="Arial"/>
                      </a:rPr>
                      <a:t>8.3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MLP</c:v>
                </c:pt>
                <c:pt idx="1">
                  <c:v>DP-Rewired</c:v>
                </c:pt>
                <c:pt idx="2">
                  <c:v>Shared desc. + unweighted</c:v>
                </c:pt>
                <c:pt idx="3">
                  <c:v>No desc. + unweighted</c:v>
                </c:pt>
                <c:pt idx="4">
                  <c:v>Unweighted</c:v>
                </c:pt>
                <c:pt idx="5">
                  <c:v>No desc.</c:v>
                </c:pt>
                <c:pt idx="6">
                  <c:v>Shared desc.</c:v>
                </c:pt>
                <c:pt idx="7">
                  <c:v>FlyGM (full)</c:v>
                </c:pt>
              </c:strCache>
            </c:strRef>
          </c:cat>
          <c:val>
            <c:numRef>
              <c:f>Sheet1!$B$2:$B$9</c:f>
              <c:numCache>
                <c:formatCode>General</c:formatCode>
                <c:ptCount val="8"/>
                <c:pt idx="0">
                  <c:v>13.9</c:v>
                </c:pt>
                <c:pt idx="1">
                  <c:v>13.55</c:v>
                </c:pt>
                <c:pt idx="2">
                  <c:v>13.43</c:v>
                </c:pt>
                <c:pt idx="3">
                  <c:v>13.23</c:v>
                </c:pt>
                <c:pt idx="4">
                  <c:v>11.0</c:v>
                </c:pt>
                <c:pt idx="5">
                  <c:v>9.17</c:v>
                </c:pt>
                <c:pt idx="6">
                  <c:v>9.1</c:v>
                </c:pt>
                <c:pt idx="7">
                  <c:v>8.29</c:v>
                </c:pt>
              </c:numCache>
            </c:numRef>
          </c:val>
        </c:ser>
        <c:gapWidth val="35"/>
        <c:axId val="-2068027336"/>
        <c:axId val="-2113994440"/>
      </c:barChart>
      <c:catAx>
        <c:axId val="-2068027336"/>
        <c:scaling>
          <c:orientation val="minMax"/>
        </c:scaling>
        <c:delete val="0"/>
        <c:axPos val="l"/>
        <c:majorTickMark val="none"/>
        <c:minorTickMark val="none"/>
        <c:tickLblPos val="nextTo"/>
        <c:spPr>
          <a:ln w="9525">
            <a:solidFill>
              <a:srgbClr val="B9B1C6"/>
            </a:solidFill>
          </a:ln>
        </c:spPr>
        <c:txPr>
          <a:bodyPr/>
          <a:lstStyle/>
          <a:p>
            <a:pPr>
              <a:defRPr sz="1050">
                <a:solidFill>
                  <a:srgbClr val="1F1A2E"/>
                </a:solidFill>
                <a:latin typeface="Arial"/>
              </a:defRPr>
            </a:pPr>
          </a:p>
        </c:txPr>
        <c:crossAx val="-2113994440"/>
        <c:crosses val="autoZero"/>
        <c:auto val="1"/>
        <c:lblAlgn val="ctr"/>
        <c:lblOffset val="100"/>
        <c:noMultiLvlLbl val="0"/>
      </c:catAx>
      <c:valAx>
        <c:axId val="-2113994440"/>
        <c:scaling>
          <c:max val="16.0"/>
          <c:min val="0.0"/>
        </c:scaling>
        <c:delete val="0"/>
        <c:axPos val="b"/>
        <c:majorGridlines>
          <c:spPr>
            <a:ln w="9525">
              <a:solidFill>
                <a:srgbClr val="E2DCEA"/>
              </a:solidFill>
            </a:ln>
          </c:spPr>
        </c:majorGridlines>
        <c:numFmt formatCode="0" sourceLinked="0"/>
        <c:majorTickMark val="none"/>
        <c:minorTickMark val="none"/>
        <c:tickLblPos val="nextTo"/>
        <c:spPr>
          <a:ln>
            <a:noFill/>
          </a:ln>
        </c:spPr>
        <c:txPr>
          <a:bodyPr/>
          <a:lstStyle/>
          <a:p>
            <a:pPr>
              <a:defRPr sz="1100">
                <a:solidFill>
                  <a:srgbClr val="6E6880"/>
                </a:solidFill>
                <a:latin typeface="Arial"/>
              </a:defRPr>
            </a:pPr>
          </a:p>
        </c:txPr>
        <c:crossAx val="-2068027336"/>
        <c:crosses val="autoZero"/>
        <c:majorUnit val="4.0"/>
      </c:valAx>
      <c:spPr>
        <a:noFill/>
        <a:ln>
          <a:noFill/>
        </a:ln>
      </c:spPr>
    </c:plotArea>
    <c:dispBlanksAs val="gap"/>
  </c:chart>
  <c:spPr>
    <a:noFill/>
    <a:ln>
      <a:noFill/>
    </a:ln>
  </c:spPr>
  <c:txPr>
    <a:bodyPr/>
    <a:lstStyle/>
    <a:p>
      <a:pPr>
        <a:defRPr sz="1100">
          <a:solidFill>
            <a:srgbClr val="6E688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60 seconds.</a:t>
            </a:r>
          </a:p>
          <a:p/>
          <a:p>
            <a:r>
              <a:t>Before the numbers, here is what the policies do. On the left is the walking policy. From rest, it initiates a gait within roughly the first 80 milliseconds, irregular steps quickly giving way to rhythmic stepping. During straight walking at 3 centimeters per second it produces the classic alternating tripod gait, and it turns at 10 radians per second by shortening the strides on the inner side, without any turn-specific rules.</a:t>
            </a:r>
          </a:p>
          <a:p/>
          <a:p>
            <a:r>
              <a:t>On the right is a separately trained flight policy. It modulates the wing-beat pattern generator to keep stable forward flight at 20 centimeters per second while holding the body aligned with the target direction.</a:t>
            </a:r>
          </a:p>
          <a:p/>
          <a:p>
            <a:r>
              <a:t>In both videos, the left panel shows the connectome in a force-directed layout, colored by afferent, intrinsic and efferent activity. The layout reflects connectivity, not the physical anatomy. The videos are slowed down, so the simulation timestamps are the right timescale. The next question is whether the specific wiring is what makes this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75 seconds.</a:t>
            </a:r>
          </a:p>
          <a:p>
            <a:endParaRPr/>
          </a:p>
          <a:p>
            <a:r>
              <a:t>This composite recording shows two synchronized camera views and the measured forward-velocity signal below. The sequence covers 0 to 768 milliseconds of simulation time and plays ten times slower for inspection. Notice the velocity approaching zero during the pause, followed by renewed motion and the turn. The upper-right panel reveals the published Figure 5 neural representation from left to right using a white mask, with its own millisecond counter and time-axis labels. The mask follows the presentation clock across the published 0–760 ms axis; the archived movie continues to 768 ms. This is a presentation animation of the published model-activity image, not a new analysis or measured EEG. It uses the paper’s PCA processing and is not recalculated from this archived recording. We discuss this figure on the next slide. The archived illustrative rollout has 139,246 recorded nodes and two state channels, rather than the final quantitative experiment’s 32-channel checkpoint. Source: THU_A100 /data/jzh/Documents/flygnn_v2/neuro_rollout.pkl; submission31_revised, Figure 5. Time alignment uses record indices at 2 ms per step. Cameras follow the environment step while observations precede it, giving a possible 2 ms offset. The lower trace shows forward velocity normalized to its absolute peak; the bold line uses an 11-sample (22 ms) moving average.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Target time: 60 seconds.</a:t>
            </a:r>
          </a:p>
          <a:p>
            <a:endParaRPr/>
          </a:p>
          <a:p>
            <a:r>
              <a:t>The same sequence lets us inspect the model’s internal representations. The visualization compresses the multichannel state with PCA, groups neurons by superclass, and orders similar responses together within each class. The resulting patterns differ across classes and phases. A random-graph control processed with the same pipeline shows less clear class-wise differentiation. This is suggestive evidence that wiring shapes the learned computation. However, it is qualitative. Grouping, normalization and sorting all affect what is easy to see. We do not have a quantitative segregation test or validation against recorded neural activity here. I would describe the result as structured latent dynamics, rather than biological function recovered from anatomy. Source: submission31_revised, Figure 5 and representation-analysis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30 seconds.</a:t>
            </a:r>
          </a:p>
          <a:p/>
          <a:p>
            <a:r>
              <a:t>Good morning. Our work asks a simple question: can the wiring diagram of an animal's brain be used to build a controller for its body? We study the fruit fly, because it is the one animal for which we now have both a complete brain connectome and a detailed whole-body physics simulator. FlyGM turns that connectome into the architecture of a learned controller. I will explain why this question is timely, how FlyGM works, what the results say about the value of the real wiring, and where this could go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a:t>
            </a:r>
          </a:p>
          <a:p/>
          <a:p>
            <a:r>
              <a:t>Why now? In 2024 the FlyWire consortium published the first complete wiring diagram of an adult brain: an adult female fruit fly, 139,255 neurons, about 54.5 million synapses, and more than eight thousand annotated cell types. Within months, connectome-constrained models showed that this wiring can predict neural activity in the visual system and sensorimotor responses across the brain.</a:t>
            </a:r>
          </a:p>
          <a:p/>
          <a:p>
            <a:r>
              <a:t>At the same time, the body became digital too. flybody, published in Nature in 2025, provides an anatomically detailed fly in the MuJoCo physics engine, with learned controllers that walk and fly; NeuroMechFly v2 is a complementary platform. And this year the male central nervous system connectome added the ventral nerve cord, the fly's equivalent of the spinal cord.</a:t>
            </a:r>
          </a:p>
          <a:p/>
          <a:p>
            <a:r>
              <a:t>So, for the first time, one animal has both a complete brain map and a whole-body simulator. The obvious next question is how to connect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a:t>
            </a:r>
          </a:p>
          <a:p/>
          <a:p>
            <a:r>
              <a:t>This question has recently become very public, and we were early. The first complete draft of the FlyGM paper, a whole-brain connectome driving a whole-body simulated fly, was finished in September 2025, half a year before the debate started.</a:t>
            </a:r>
          </a:p>
          <a:p/>
          <a:p>
            <a:r>
              <a:t>In March 2026, the startup Eon Systems announced "We've uploaded a fruit fly": a connectome-based spiking brain model coupled to the NeuroMechFly body. The video of a virtual fly walking, grooming and feeding went viral, and neuroscientists pushed back quickly, for example in the essays "No, we haven't uploaded a fly yet" and "Deconstructing viral fly sims".</a:t>
            </a:r>
          </a:p>
          <a:p/>
          <a:p>
            <a:r>
              <a:t>The critics point to three things the wiring diagram leaves out. Synapse counts tell us which paths exist, not how strongly neurons influence each other in the living animal. The neuron models are simplified. And the interface to the body: in that demo, a few hand-picked neurons trigger the body model's built-in walking and feeding controllers.</a:t>
            </a:r>
          </a:p>
          <a:p/>
          <a:p>
            <a:r>
              <a:t>So the open question is not whether we have the wiring. It is how a connectome should control a whole body, and that is exactly the question FlyGM was built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a:t>
            </a:r>
          </a:p>
          <a:p/>
          <a:p>
            <a:r>
              <a:t>There are two common ways to connect a brain map to behavior. The first is to emulate the wiring: put a simple spiking neuron at every node and run it. This keeps the biology and needs no training, but the body is usually moved by hand-designed controllers. The second is to learn a generic controller with deep reinforcement learning. flybody does this very well, producing realistic walking and flight, but the network is a multilayer perceptron with no relation to the brain.</a:t>
            </a:r>
          </a:p>
          <a:p/>
          <a:p>
            <a:r>
              <a:t>FlyGM sits in between. The real wiring is the network: every motor command flows through the 139-thousand-neuron connectome. Learning supplies what the connectome does not specify, and we train the whole system end to end on whole-body tasks. This gives a clean scientific question: can whole-brain wiring be a useful prior for whole-body control? And because the architecture is explicit, we can test it against controls of the same size with different wiring.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a:t>
            </a:r>
          </a:p>
          <a:p/>
          <a:p>
            <a:r>
              <a:t>Here is the full loop. At every control step, the simulated fly produces an observation: proprioception, touch and, for walking, binocular vision; 1,253 numbers in total. A light encoder compresses this observation and injects it into the afferent, or input-facing, neurons of the connectome.</a:t>
            </a:r>
          </a:p>
          <a:p/>
          <a:p>
            <a:r>
              <a:t>Information then propagates along the real synapses. Each neuron aggregates the states of its presynaptic partners through the connectome weight matrix, M equals W times H, and a shared update network, conditioned on a learned descriptor for that neuron, computes its new state. This is repeated for four message-passing layers.</a:t>
            </a:r>
          </a:p>
          <a:p/>
          <a:p>
            <a:r>
              <a:t>Finally, the efferent, or output-facing, neurons are decoded into 59 actuator commands for the legs, adhesion pads, head and abdomen. The body moves in MuJoCo, and the next observation closes the loop. The connectome determines which neurons can communicate; the encoder, decoder and update rule are learned.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a:t>
            </a:r>
          </a:p>
          <a:p/>
          <a:p>
            <a:r>
              <a:t>It helps to separate what is fixed from what is learned. Fixed, from the connectome: who connects to whom; an approximate signed weight for every connection, computed as excitatory minus inhibitory synapse counts using neurotransmitter predictions from electron microscopy; and FlyWire's partition into afferent, intrinsic and efferent neurons. The figure on the left shows this structure aggregated by class.</a:t>
            </a:r>
          </a:p>
          <a:p/>
          <a:p>
            <a:r>
              <a:t>Learned, by training: the observation encoder and action decoder, a descriptor for every neuron that can capture properties such as excitability or gain that the connectome does not record, and one shared update network.</a:t>
            </a:r>
          </a:p>
          <a:p/>
          <a:p>
            <a:r>
              <a:t>Two caveats keep the claim precise. The latent states are learned vectors, not measured firing rates. And the signed weights are a modeling convention, not a receptor-level account of physiology. FlyGM is a connectome-structured policy; its biological fidelity is a separate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a:t>
            </a:r>
          </a:p>
          <a:p/>
          <a:p>
            <a:r>
              <a:t>Training has two stages. First, we roll out the existing flybody expert, an MLP policy, and keep successful episodes longer than one hundred steps. FlyGM is trained to match the expert's action distribution with a KL objective plus an annealed mean-squared-error term. This gives the connectome-structured policy stable walking and flight quickly.</a:t>
            </a:r>
          </a:p>
          <a:p/>
          <a:p>
            <a:r>
              <a:t>Second, we fine-tune with proximal policy optimization on the task reward in MuJoCo, using an MLP value network and parallel rollouts, so the policy can improve beyond the demonstrations.</a:t>
            </a:r>
          </a:p>
          <a:p/>
          <a:p>
            <a:r>
              <a:t>Two points matter for interpreting the results. Every controller we compare goes through exactly the same imitation-plus-PPO pipeline, so the comparisons isolate the architecture. And walking and flight are separately trained policies; we do not claim one policy switches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90 seconds.</a:t>
            </a:r>
          </a:p>
          <a:p/>
          <a:p>
            <a:r>
              <a:t>This is the central result. To test whether the specific wiring matters, we compare FlyGM with three controls, color-coded at the top. A degree-preserving rewiring keeps every neuron's number of inputs and outputs but shuffles its partners. An Erdos-Renyi random graph keeps only the number of neurons and edges. And an MLP has no graph at all, with more parameters than FlyGM. All four go through the identical imitation-plus-PPO pipeline.</a:t>
            </a:r>
          </a:p>
          <a:p/>
          <a:p>
            <a:r>
              <a:t>On the left is imitation learning: the error between each model's actions and the expert's, on a log scale. FlyGM drops fastest and ends lowest. A simple way to read it: FlyGM reaches the MLP's final error after about nine thousand of the twenty-three thousand updates, roughly 2.6 times fewer. Both rewired and random graphs lag throughout.</a:t>
            </a:r>
          </a:p>
          <a:p/>
          <a:p>
            <a:r>
              <a:t>On the right is control after the full pipeline: heading-angle error for straight walking at two speeds and for turning at 4 and 7 radians per second. FlyGM has the lowest error in every condition, 22 to 39 percent below the best baseline. The gap grows with turning rate: at 7 radians per second the rewired graph has 13.6 degrees and the random graph fails with 125 degrees, against 8.3 for FlyGM.</a:t>
            </a:r>
          </a:p>
          <a:p/>
          <a:p>
            <a:r>
              <a:t>Two honest caveats: the training curves are one trace per model, and the error bars come from ten evaluation rollouts of one checkpoint, not from independently trained seeds.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 Optional slide: skip if short on time.</a:t>
            </a:r>
          </a:p>
          <a:p/>
          <a:p>
            <a:r>
              <a:t>Two follow-up questions. First, could any graph neural network do this? On the left, we trained five standard GNN architectures, GCN, EdgeCNN, GraphSAGE, GAT and PNA, on the same FlyWire neurons and the same pipeline. None comes close: FlyGM earns 2.3 times the reward of the best one. A spiking network with the MLP layout never learns a stable gait. A caveat: the GNNs were sized to the largest configuration that fits one A100, so some are narrower than FlyGM.</a:t>
            </a:r>
          </a:p>
          <a:p/>
          <a:p>
            <a:r>
              <a:t>Second, which part of FlyGM matters? On the right are ablations at the hardest condition, fast turning. Removing signed weights or per-neuron descriptors costs accuracy, and signed weights help most here: 8.3 versus 11.0 degrees. But every connectome variant, even unweighted and without descriptors, stays below the rewired graph and the MLP. That points to the topology itself as the main source of the prior.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a:t>
            </a:r>
          </a:p>
          <a:p/>
          <a:p>
            <a:r>
              <a:t>Where next? FlyGM currently uses the female brain connectome. The brain does not control the legs directly: descending neurons send commands through the neck to the ventral nerve cord, where premotor and motor circuits generate the actual leg and wing movements. In FlyGM, that last step is played by a learned decoder.</a:t>
            </a:r>
          </a:p>
          <a:p/>
          <a:p>
            <a:r>
              <a:t>This image is rendered from the public male CNS release published this year: the brain on the left, the ventral nerve cord on the right, joined at the neck. In orange are a sample of the 1,314 descending neurons, in blue ascending neurons that carry feedback from the body back to the brain, and in purple motor neurons. The full dataset has 166,700 neurons.</a:t>
            </a:r>
          </a:p>
          <a:p/>
          <a:p>
            <a:r>
              <a:t>For FlyGM, this would replace part of the learned decoder with measured motor wiring, and route body feedback through real ascending pathways. Together with updated synapse detections and sex-specific annotations, it would let us test connectome-based control on longer tasks, recovery from perturbations, and navigation. These are directions, not results.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a:t>
            </a:r>
          </a:p>
          <a:p/>
          <a:p>
            <a:r>
              <a:t>To summarize. First, a whole-brain connectome can serve as the architecture of a controller: FlyGM turns the 139-thousand-neuron FlyWire graph into a trainable policy that walks, turns and flies a detailed simulated body. Second, the real wiring matters: under the same training pipeline it learns faster and steers more accurately than rewired, random and MLP controls, and earns more than twice the reward of standard GNNs. Third, its internal dynamics are structured by neuron class, which a random graph does not show, though this analysis is qualitative.</a:t>
            </a:r>
          </a:p>
          <a:p/>
          <a:p>
            <a:r>
              <a:t>To come back to the debate: this is not an upload of a fly. It is something more modest but testable, a connectome-structured controller whose assumptions are explicit. What remains open is the biological fidelity of the learned dynamics, learning without expert demonstrations, and transfer to other bodies and simulators.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15 seconds.</a:t>
            </a:r>
          </a:p>
          <a:p/>
          <a:p>
            <a:r>
              <a:t>Thank you. The demo page, at lnsgroup.cc slash research slash FlyGM, has the walking, turning and flight videos with live connectome activity; the QR code links there. I am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Numbered references cited on the slides; [1] is our paper. The male CNS rendering on the outlook slide was produced from the public FlyEM v1.0 release (gs://flyem-male-cns).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Numbered references cited on the slides; [1] is our paper. The male CNS rendering on the outlook slide was produced from the public FlyEM v1.0 release (gs://flyem-male-cns).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B5344-341F-443D-8F25-1D9685E2ABE6}"/>
              </a:ext>
            </a:extLst>
          </p:cNvPr>
          <p:cNvSpPr>
            <a:spLocks noGrp="1"/>
          </p:cNvSpPr>
          <p:nvPr>
            <p:ph type="ctrTitle"/>
          </p:nvPr>
        </p:nvSpPr>
        <p:spPr>
          <a:xfrm>
            <a:off x="457200" y="509114"/>
            <a:ext cx="8229600" cy="1034133"/>
          </a:xfrm>
          <a:prstGeom prst="rect">
            <a:avLst/>
          </a:prstGeom>
        </p:spPr>
        <p:txBody>
          <a:bodyPr>
            <a:noAutofit/>
          </a:bodyPr>
          <a:lstStyle>
            <a:lvl1pPr algn="ctr">
              <a:buNone/>
              <a:defRPr sz="3600">
                <a:solidFill>
                  <a:schemeClr val="tx1"/>
                </a:solidFill>
              </a:defRPr>
            </a:lvl1pPr>
          </a:lstStyle>
          <a:p>
            <a:r>
              <a:t>Click to edit Master title style</a:t>
            </a:r>
          </a:p>
        </p:txBody>
      </p:sp>
      <p:sp>
        <p:nvSpPr>
          <p:cNvPr id="12" name="Text Placeholder 33">
            <a:extLst>
              <a:ext uri="{FF2B5EF4-FFF2-40B4-BE49-F238E27FC236}">
                <a16:creationId xmlns:a16="http://schemas.microsoft.com/office/drawing/2014/main" id="{CA060B57-E2E3-4912-AB23-45E31E5F697A}"/>
              </a:ext>
            </a:extLst>
          </p:cNvPr>
          <p:cNvSpPr>
            <a:spLocks noGrp="1"/>
          </p:cNvSpPr>
          <p:nvPr>
            <p:ph type="body" idx="18"/>
          </p:nvPr>
        </p:nvSpPr>
        <p:spPr>
          <a:xfrm>
            <a:off x="1603375" y="3599022"/>
            <a:ext cx="6059488" cy="205740"/>
          </a:xfrm>
          <a:prstGeom prst="rect">
            <a:avLst/>
          </a:prstGeom>
        </p:spPr>
        <p:txBody>
          <a:bodyPr wrap="none" anchor="ctr">
            <a:noAutofit/>
          </a:bodyPr>
          <a:lstStyle>
            <a:lvl1pPr algn="ctr">
              <a:buNone/>
              <a:defRPr sz="1800" cap="none" spc="0" baseline="0">
                <a:solidFill>
                  <a:schemeClr val="tx1">
                    <a:lumMod val="65000"/>
                    <a:lumOff val="35000"/>
                  </a:schemeClr>
                </a:solidFill>
              </a:defRPr>
            </a:lvl1pPr>
            <a:lvl2pPr>
              <a:buNone/>
              <a:defRPr/>
            </a:lvl2pPr>
            <a:lvl3pPr>
              <a:buNone/>
              <a:defRPr/>
            </a:lvl3pPr>
            <a:lvl4pPr>
              <a:buNone/>
              <a:defRPr/>
            </a:lvl4pPr>
            <a:lvl5pPr>
              <a:buNone/>
              <a:defRPr/>
            </a:lvl5pPr>
          </a:lstStyle>
          <a:p>
            <a:pPr lvl="0">
              <a:buNone/>
            </a:pPr>
            <a:r>
              <a:t>Click to edit Master text styles</a:t>
            </a:r>
          </a:p>
        </p:txBody>
      </p:sp>
      <p:sp>
        <p:nvSpPr>
          <p:cNvPr id="13" name="Subtitle 2">
            <a:extLst>
              <a:ext uri="{FF2B5EF4-FFF2-40B4-BE49-F238E27FC236}">
                <a16:creationId xmlns:a16="http://schemas.microsoft.com/office/drawing/2014/main" id="{A10A3E61-6082-4D4E-BB89-BEC8B47D99C7}"/>
              </a:ext>
            </a:extLst>
          </p:cNvPr>
          <p:cNvSpPr>
            <a:spLocks noGrp="1"/>
          </p:cNvSpPr>
          <p:nvPr>
            <p:ph type="subTitle" idx="1"/>
          </p:nvPr>
        </p:nvSpPr>
        <p:spPr>
          <a:xfrm>
            <a:off x="457200" y="2410990"/>
            <a:ext cx="8229600" cy="461897"/>
          </a:xfrm>
          <a:prstGeom prst="rect">
            <a:avLst/>
          </a:prstGeom>
        </p:spPr>
        <p:txBody>
          <a:bodyPr>
            <a:noAutofit/>
          </a:bodyPr>
          <a:lstStyle>
            <a:lvl1pPr marL="0" indent="0" algn="ctr">
              <a:buNone/>
              <a:defRPr sz="2100" cap="small" spc="300">
                <a:solidFill>
                  <a:srgbClr val="660874"/>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3" name="Slide Number Placeholder 2">
            <a:extLst>
              <a:ext uri="{FF2B5EF4-FFF2-40B4-BE49-F238E27FC236}">
                <a16:creationId xmlns:a16="http://schemas.microsoft.com/office/drawing/2014/main" id="{962054D1-2B75-4625-AE41-6A7C057C243C}"/>
              </a:ext>
            </a:extLst>
          </p:cNvPr>
          <p:cNvSpPr>
            <a:spLocks noGrp="1"/>
          </p:cNvSpPr>
          <p:nvPr>
            <p:ph type="sldNum" idx="19"/>
          </p:nvPr>
        </p:nvSpPr>
        <p:spPr/>
        <p:txBody>
          <a:bodyPr/>
          <a:lstStyle/>
          <a:p>
            <a:fld id="{4E2FCFD3-C48B-654C-9D5B-B7027AB6127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3337AACC-2590-47D2-BD2E-6820BEF6657B}"/>
              </a:ext>
            </a:extLst>
          </p:cNvPr>
          <p:cNvSpPr>
            <a:spLocks noGrp="1"/>
          </p:cNvSpPr>
          <p:nvPr>
            <p:ph idx="10"/>
          </p:nvPr>
        </p:nvSpPr>
        <p:spPr>
          <a:xfrm>
            <a:off x="373746" y="751668"/>
            <a:ext cx="8412480" cy="4144802"/>
          </a:xfrm>
        </p:spPr>
        <p:txBody>
          <a:bodyPr/>
          <a:lstStyle>
            <a:lvl1pPr marL="342900" indent="-342900">
              <a:buClr>
                <a:srgbClr val="660874"/>
              </a:buClr>
              <a:buFont typeface="Wingdings"/>
              <a:buChar char="§"/>
              <a:defRPr/>
            </a:lvl1pPr>
            <a:lvl2pPr marL="288925" indent="-288925" algn="l" defTabSz="457200">
              <a:spcBef>
                <a:spcPct val="20000"/>
              </a:spcBef>
              <a:spcAft>
                <a:spcPct val="0"/>
              </a:spcAft>
              <a:buClr>
                <a:srgbClr val="660874"/>
              </a:buClr>
              <a:buFont typeface="Wingdings"/>
              <a:buChar char="§"/>
              <a:defRPr/>
            </a:lvl2pPr>
          </a:lstStyle>
          <a:p>
            <a:pPr marL="288925" lvl="1" indent="-288925" algn="l" defTabSz="457200">
              <a:spcBef>
                <a:spcPct val="20000"/>
              </a:spcBef>
              <a:spcAft>
                <a:spcPct val="0"/>
              </a:spcAft>
              <a:buClr>
                <a:srgbClr val="660874"/>
              </a:buClr>
              <a:buFont typeface="Wingdings"/>
              <a:buChar char="§"/>
            </a:pPr>
            <a:r>
              <a:t>Click to edit Master text styles</a:t>
            </a:r>
          </a:p>
          <a:p>
            <a:pPr lvl="2">
              <a:buNone/>
            </a:pPr>
            <a:r>
              <a:t>Second level</a:t>
            </a:r>
          </a:p>
          <a:p>
            <a:pPr lvl="3">
              <a:buNone/>
            </a:pPr>
            <a:r>
              <a:t>Third level</a:t>
            </a:r>
          </a:p>
          <a:p>
            <a:pPr lvl="4">
              <a:buNone/>
            </a:pPr>
            <a:r>
              <a:t>Forth level</a:t>
            </a:r>
          </a:p>
          <a:p>
            <a:pPr lvl="0">
              <a:buNone/>
            </a:pPr>
            <a:endParaRPr/>
          </a:p>
        </p:txBody>
      </p:sp>
      <p:sp>
        <p:nvSpPr>
          <p:cNvPr id="3" name="Slide Number Placeholder 2">
            <a:extLst>
              <a:ext uri="{FF2B5EF4-FFF2-40B4-BE49-F238E27FC236}">
                <a16:creationId xmlns:a16="http://schemas.microsoft.com/office/drawing/2014/main" id="{2A32655B-C85C-4A3F-84CC-BEB52FDD3D66}"/>
              </a:ext>
            </a:extLst>
          </p:cNvPr>
          <p:cNvSpPr>
            <a:spLocks noGrp="1"/>
          </p:cNvSpPr>
          <p:nvPr>
            <p:ph type="sldNum" idx="11"/>
          </p:nvPr>
        </p:nvSpPr>
        <p:spPr>
          <a:xfrm>
            <a:off x="8720931" y="4827588"/>
            <a:ext cx="624547" cy="271462"/>
          </a:xfrm>
        </p:spPr>
        <p:txBody>
          <a:bodyPr/>
          <a:lstStyle/>
          <a:p>
            <a:fld id="{4E2FCFD3-C48B-654C-9D5B-B7027AB6127D}" type="slidenum">
              <a:t>‹#›</a:t>
            </a:fld>
            <a:endParaRPr/>
          </a:p>
        </p:txBody>
      </p:sp>
      <p:sp>
        <p:nvSpPr>
          <p:cNvPr id="5" name="Title Placeholder 2">
            <a:extLst>
              <a:ext uri="{FF2B5EF4-FFF2-40B4-BE49-F238E27FC236}">
                <a16:creationId xmlns:a16="http://schemas.microsoft.com/office/drawing/2014/main" id="{6CEBB6EA-4FBC-6544-8B9D-B1DE6459DA72}"/>
              </a:ext>
            </a:extLst>
          </p:cNvPr>
          <p:cNvSpPr>
            <a:spLocks noGrp="1"/>
          </p:cNvSpPr>
          <p:nvPr>
            <p:ph type="title"/>
          </p:nvPr>
        </p:nvSpPr>
        <p:spPr>
          <a:xfrm>
            <a:off x="373746" y="87561"/>
            <a:ext cx="8412480" cy="516874"/>
          </a:xfrm>
          <a:prstGeom prst="rect">
            <a:avLst/>
          </a:prstGeom>
          <a:noFill/>
          <a:ln>
            <a:noFill/>
          </a:ln>
        </p:spPr>
        <p:txBody>
          <a:bodyPr vert="horz" wrap="square" lIns="0" tIns="45720" rIns="91440" bIns="45720" anchor="b"/>
          <a:lstStyle>
            <a:lvl1pPr algn="ctr">
              <a:lnSpc>
                <a:spcPct val="100000"/>
              </a:lnSpc>
              <a:buNone/>
              <a:defRPr/>
            </a:lvl1pPr>
          </a:lstStyle>
          <a:p>
            <a:pPr lvl="0">
              <a:buNone/>
            </a:pPr>
            <a:r>
              <a:t>Click to edit Master title style</a:t>
            </a:r>
          </a:p>
        </p:txBody>
      </p:sp>
      <p:sp>
        <p:nvSpPr>
          <p:cNvPr id="6" name="Line 12">
            <a:extLst>
              <a:ext uri="{FF2B5EF4-FFF2-40B4-BE49-F238E27FC236}">
                <a16:creationId xmlns:a16="http://schemas.microsoft.com/office/drawing/2014/main" id="{3BCC4910-01D2-E246-9EA7-EE64B806480A}"/>
              </a:ext>
            </a:extLst>
          </p:cNvPr>
          <p:cNvSpPr>
            <a:spLocks noGrp="1"/>
          </p:cNvSpPr>
          <p:nvPr/>
        </p:nvSpPr>
        <p:spPr>
          <a:xfrm>
            <a:off x="373746" y="660903"/>
            <a:ext cx="8412480" cy="2"/>
          </a:xfrm>
          <a:prstGeom prst="line">
            <a:avLst/>
          </a:prstGeom>
          <a:noFill/>
          <a:ln w="50800">
            <a:solidFill>
              <a:srgbClr val="7030A0"/>
            </a:solidFill>
            <a:miter/>
          </a:ln>
        </p:spPr>
        <p:txBody>
          <a:bodyPr wrap="none"/>
          <a:lstStyle/>
          <a:p>
            <a:pPr>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0CDCD1E-8839-476F-A1FF-F808BEABB1E9}"/>
              </a:ext>
            </a:extLst>
          </p:cNvPr>
          <p:cNvSpPr>
            <a:spLocks noGrp="1"/>
          </p:cNvSpPr>
          <p:nvPr>
            <p:ph idx="10"/>
          </p:nvPr>
        </p:nvSpPr>
        <p:spPr>
          <a:xfrm>
            <a:off x="373746" y="751668"/>
            <a:ext cx="8412480" cy="4144802"/>
          </a:xfrm>
        </p:spPr>
        <p:txBody>
          <a:bodyPr/>
          <a:lstStyle>
            <a:lvl1pPr marL="342900" indent="-342900">
              <a:buClr>
                <a:srgbClr val="660874"/>
              </a:buClr>
              <a:buFont typeface="Wingdings"/>
              <a:buChar char="§"/>
              <a:defRPr/>
            </a:lvl1pPr>
            <a:lvl2pPr marL="288925" indent="-288925" algn="l" defTabSz="457200">
              <a:spcBef>
                <a:spcPct val="20000"/>
              </a:spcBef>
              <a:spcAft>
                <a:spcPct val="0"/>
              </a:spcAft>
              <a:buClr>
                <a:srgbClr val="660874"/>
              </a:buClr>
              <a:buFont typeface="Wingdings"/>
              <a:buChar char="§"/>
              <a:defRPr/>
            </a:lvl2pPr>
          </a:lstStyle>
          <a:p>
            <a:pPr marL="288925" lvl="1" indent="-288925" algn="l" defTabSz="457200">
              <a:spcBef>
                <a:spcPct val="20000"/>
              </a:spcBef>
              <a:spcAft>
                <a:spcPct val="0"/>
              </a:spcAft>
              <a:buClr>
                <a:srgbClr val="660874"/>
              </a:buClr>
              <a:buFont typeface="Wingdings"/>
              <a:buChar char="§"/>
            </a:pPr>
            <a:r>
              <a:t>Click to edit Master text styles</a:t>
            </a:r>
          </a:p>
          <a:p>
            <a:pPr lvl="2">
              <a:buNone/>
            </a:pPr>
            <a:r>
              <a:t>Second level</a:t>
            </a:r>
          </a:p>
          <a:p>
            <a:pPr lvl="3">
              <a:buNone/>
            </a:pPr>
            <a:r>
              <a:t>Third level</a:t>
            </a:r>
          </a:p>
          <a:p>
            <a:pPr lvl="4">
              <a:buNone/>
            </a:pPr>
            <a:r>
              <a:t>Forth level</a:t>
            </a:r>
          </a:p>
          <a:p>
            <a:pPr lvl="0">
              <a:buNone/>
            </a:pPr>
            <a:endParaRPr/>
          </a:p>
        </p:txBody>
      </p:sp>
      <p:sp>
        <p:nvSpPr>
          <p:cNvPr id="3" name="Slide Number Placeholder 2">
            <a:extLst>
              <a:ext uri="{FF2B5EF4-FFF2-40B4-BE49-F238E27FC236}">
                <a16:creationId xmlns:a16="http://schemas.microsoft.com/office/drawing/2014/main" id="{05382CFA-7974-40AD-87BA-AC35B19ABE28}"/>
              </a:ext>
            </a:extLst>
          </p:cNvPr>
          <p:cNvSpPr>
            <a:spLocks noGrp="1"/>
          </p:cNvSpPr>
          <p:nvPr>
            <p:ph type="sldNum" idx="11"/>
          </p:nvPr>
        </p:nvSpPr>
        <p:spPr>
          <a:xfrm>
            <a:off x="8720931" y="4827588"/>
            <a:ext cx="624547" cy="271462"/>
          </a:xfrm>
        </p:spPr>
        <p:txBody>
          <a:bodyPr/>
          <a:lstStyle/>
          <a:p>
            <a:fld id="{4E2FCFD3-C48B-654C-9D5B-B7027AB6127D}" type="slidenum">
              <a:t>‹#›</a:t>
            </a:fld>
            <a:endParaRPr/>
          </a:p>
        </p:txBody>
      </p:sp>
      <p:sp>
        <p:nvSpPr>
          <p:cNvPr id="5" name="Title Placeholder 2">
            <a:extLst>
              <a:ext uri="{FF2B5EF4-FFF2-40B4-BE49-F238E27FC236}">
                <a16:creationId xmlns:a16="http://schemas.microsoft.com/office/drawing/2014/main" id="{6CEBB6EA-4FBC-6544-8B9D-B1DE6459DA72}"/>
              </a:ext>
            </a:extLst>
          </p:cNvPr>
          <p:cNvSpPr>
            <a:spLocks noGrp="1"/>
          </p:cNvSpPr>
          <p:nvPr>
            <p:ph type="title"/>
          </p:nvPr>
        </p:nvSpPr>
        <p:spPr>
          <a:xfrm>
            <a:off x="373746" y="87561"/>
            <a:ext cx="8412480" cy="516874"/>
          </a:xfrm>
          <a:prstGeom prst="rect">
            <a:avLst/>
          </a:prstGeom>
          <a:noFill/>
          <a:ln>
            <a:noFill/>
          </a:ln>
        </p:spPr>
        <p:txBody>
          <a:bodyPr vert="horz" wrap="square" lIns="0" tIns="45720" rIns="91440" bIns="45720" anchor="b"/>
          <a:lstStyle>
            <a:lvl1pPr algn="ctr">
              <a:lnSpc>
                <a:spcPct val="100000"/>
              </a:lnSpc>
              <a:buNone/>
              <a:defRPr/>
            </a:lvl1pPr>
          </a:lstStyle>
          <a:p>
            <a:pPr lvl="0">
              <a:buNone/>
            </a:pPr>
            <a:r>
              <a:t>Click to edit Master title style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2">
            <a:extLst>
              <a:ext uri="{FF2B5EF4-FFF2-40B4-BE49-F238E27FC236}">
                <a16:creationId xmlns:a16="http://schemas.microsoft.com/office/drawing/2014/main" id="{CF9D100D-E13E-45D6-A018-75F4A346FADB}"/>
              </a:ext>
            </a:extLst>
          </p:cNvPr>
          <p:cNvSpPr>
            <a:spLocks noGrp="1"/>
          </p:cNvSpPr>
          <p:nvPr>
            <p:ph type="title"/>
          </p:nvPr>
        </p:nvSpPr>
        <p:spPr>
          <a:xfrm>
            <a:off x="573439" y="172799"/>
            <a:ext cx="8070002" cy="488950"/>
          </a:xfrm>
          <a:prstGeom prst="rect">
            <a:avLst/>
          </a:prstGeom>
          <a:noFill/>
          <a:ln>
            <a:noFill/>
          </a:ln>
        </p:spPr>
        <p:txBody>
          <a:bodyPr vert="horz" wrap="square" lIns="0" tIns="45720" rIns="91440" bIns="45720" anchor="b"/>
          <a:lstStyle/>
          <a:p>
            <a:pPr lvl="0">
              <a:buNone/>
            </a:pPr>
            <a:r>
              <a:t>Click to edit Master title style</a:t>
            </a:r>
          </a:p>
        </p:txBody>
      </p:sp>
      <p:sp>
        <p:nvSpPr>
          <p:cNvPr id="4" name="Text Placeholder 3">
            <a:extLst>
              <a:ext uri="{FF2B5EF4-FFF2-40B4-BE49-F238E27FC236}">
                <a16:creationId xmlns:a16="http://schemas.microsoft.com/office/drawing/2014/main" id="{297A9EC7-E432-4F65-B6E2-77204910EF1B}"/>
              </a:ext>
            </a:extLst>
          </p:cNvPr>
          <p:cNvSpPr>
            <a:spLocks noGrp="1"/>
          </p:cNvSpPr>
          <p:nvPr>
            <p:ph type="body" idx="1"/>
          </p:nvPr>
        </p:nvSpPr>
        <p:spPr>
          <a:xfrm>
            <a:off x="573439" y="767166"/>
            <a:ext cx="8070002" cy="4060421"/>
          </a:xfrm>
          <a:prstGeom prst="rect">
            <a:avLst/>
          </a:prstGeom>
        </p:spPr>
        <p:txBody>
          <a:bodyPr vert="horz" lIns="0" tIns="45720" rIns="0" bIns="45720">
            <a:normAutofit/>
          </a:bodyPr>
          <a:lstStyle/>
          <a:p>
            <a:pPr marL="288925" lvl="1" indent="-288925" algn="l" defTabSz="457200">
              <a:spcBef>
                <a:spcPct val="20000"/>
              </a:spcBef>
              <a:spcAft>
                <a:spcPct val="0"/>
              </a:spcAft>
              <a:buClr>
                <a:srgbClr val="660874"/>
              </a:buClr>
              <a:buFont typeface="Wingdings"/>
              <a:buChar char="§"/>
            </a:pPr>
            <a:r>
              <a:t>Click to edit Master text styles</a:t>
            </a:r>
          </a:p>
          <a:p>
            <a:pPr lvl="2">
              <a:buNone/>
            </a:pPr>
            <a:r>
              <a:t>Second level</a:t>
            </a:r>
          </a:p>
          <a:p>
            <a:pPr lvl="3">
              <a:buNone/>
            </a:pPr>
            <a:r>
              <a:t>Third level</a:t>
            </a:r>
          </a:p>
          <a:p>
            <a:pPr lvl="4">
              <a:buNone/>
            </a:pPr>
            <a:r>
              <a:t>Forth level</a:t>
            </a:r>
          </a:p>
        </p:txBody>
      </p:sp>
      <p:sp>
        <p:nvSpPr>
          <p:cNvPr id="6" name="Slide Number Placeholder 4">
            <a:extLst>
              <a:ext uri="{FF2B5EF4-FFF2-40B4-BE49-F238E27FC236}">
                <a16:creationId xmlns:a16="http://schemas.microsoft.com/office/drawing/2014/main" id="{CF740102-D102-43FB-8570-6CA321D5A265}"/>
              </a:ext>
            </a:extLst>
          </p:cNvPr>
          <p:cNvSpPr>
            <a:spLocks noGrp="1"/>
          </p:cNvSpPr>
          <p:nvPr>
            <p:ph type="sldNum" idx="4"/>
          </p:nvPr>
        </p:nvSpPr>
        <p:spPr>
          <a:xfrm>
            <a:off x="8720931" y="4827588"/>
            <a:ext cx="423069" cy="271462"/>
          </a:xfrm>
          <a:prstGeom prst="rect">
            <a:avLst/>
          </a:prstGeom>
        </p:spPr>
        <p:txBody>
          <a:bodyPr vert="horz" wrap="square" lIns="91440" tIns="45720" rIns="91440" bIns="45720" anchor="ctr"/>
          <a:lstStyle>
            <a:lvl1pPr>
              <a:buNone/>
              <a:defRPr sz="1000">
                <a:solidFill>
                  <a:srgbClr val="898989"/>
                </a:solidFill>
                <a:latin typeface="Arial"/>
                <a:ea typeface="Arial"/>
                <a:cs typeface="Arial"/>
              </a:defRPr>
            </a:lvl1pPr>
          </a:lstStyle>
          <a:p>
            <a:fld id="{4E2FCFD3-C48B-654C-9D5B-B7027AB612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defTabSz="457200">
        <a:lnSpc>
          <a:spcPct val="85000"/>
        </a:lnSpc>
        <a:spcBef>
          <a:spcPct val="0"/>
        </a:spcBef>
        <a:spcAft>
          <a:spcPct val="0"/>
        </a:spcAft>
        <a:buNone/>
        <a:defRPr sz="3200" kern="1200">
          <a:solidFill>
            <a:srgbClr val="660874"/>
          </a:solidFill>
          <a:latin typeface="Arial"/>
          <a:ea typeface="Arial"/>
          <a:cs typeface="Arial"/>
        </a:defRPr>
      </a:lvl1pPr>
      <a:lvl2pPr algn="l" defTabSz="457200">
        <a:lnSpc>
          <a:spcPct val="85000"/>
        </a:lnSpc>
        <a:spcBef>
          <a:spcPct val="0"/>
        </a:spcBef>
        <a:spcAft>
          <a:spcPct val="0"/>
        </a:spcAft>
        <a:buNone/>
        <a:defRPr sz="2400">
          <a:solidFill>
            <a:schemeClr val="bg2"/>
          </a:solidFill>
          <a:latin typeface="Arial"/>
          <a:ea typeface="Arial"/>
          <a:cs typeface="Arial"/>
        </a:defRPr>
      </a:lvl2pPr>
      <a:lvl3pPr algn="l" defTabSz="457200">
        <a:lnSpc>
          <a:spcPct val="85000"/>
        </a:lnSpc>
        <a:spcBef>
          <a:spcPct val="0"/>
        </a:spcBef>
        <a:spcAft>
          <a:spcPct val="0"/>
        </a:spcAft>
        <a:buNone/>
        <a:defRPr sz="2400">
          <a:solidFill>
            <a:schemeClr val="bg2"/>
          </a:solidFill>
          <a:latin typeface="Arial"/>
          <a:ea typeface="Arial"/>
          <a:cs typeface="Arial"/>
        </a:defRPr>
      </a:lvl3pPr>
      <a:lvl4pPr algn="l" defTabSz="457200">
        <a:lnSpc>
          <a:spcPct val="85000"/>
        </a:lnSpc>
        <a:spcBef>
          <a:spcPct val="0"/>
        </a:spcBef>
        <a:spcAft>
          <a:spcPct val="0"/>
        </a:spcAft>
        <a:buNone/>
        <a:defRPr sz="2400">
          <a:solidFill>
            <a:schemeClr val="bg2"/>
          </a:solidFill>
          <a:latin typeface="Arial"/>
          <a:ea typeface="Arial"/>
          <a:cs typeface="Arial"/>
        </a:defRPr>
      </a:lvl4pPr>
      <a:lvl5pPr algn="l" defTabSz="457200">
        <a:lnSpc>
          <a:spcPct val="85000"/>
        </a:lnSpc>
        <a:spcBef>
          <a:spcPct val="0"/>
        </a:spcBef>
        <a:spcAft>
          <a:spcPct val="0"/>
        </a:spcAft>
        <a:buNone/>
        <a:defRPr sz="2400">
          <a:solidFill>
            <a:schemeClr val="bg2"/>
          </a:solidFill>
          <a:latin typeface="Arial"/>
          <a:ea typeface="Arial"/>
          <a:cs typeface="Arial"/>
        </a:defRPr>
      </a:lvl5pPr>
      <a:lvl6pPr marL="457200" algn="l" defTabSz="457200">
        <a:lnSpc>
          <a:spcPct val="85000"/>
        </a:lnSpc>
        <a:spcBef>
          <a:spcPct val="0"/>
        </a:spcBef>
        <a:spcAft>
          <a:spcPct val="0"/>
        </a:spcAft>
        <a:buNone/>
        <a:defRPr sz="2400">
          <a:solidFill>
            <a:schemeClr val="bg2"/>
          </a:solidFill>
          <a:latin typeface="Source Sans Pro Semibold"/>
          <a:ea typeface="Source Sans Pro Semibold"/>
          <a:cs typeface="Source Sans Pro Semibold"/>
        </a:defRPr>
      </a:lvl6pPr>
      <a:lvl7pPr marL="914400" algn="l" defTabSz="457200">
        <a:lnSpc>
          <a:spcPct val="85000"/>
        </a:lnSpc>
        <a:spcBef>
          <a:spcPct val="0"/>
        </a:spcBef>
        <a:spcAft>
          <a:spcPct val="0"/>
        </a:spcAft>
        <a:buNone/>
        <a:defRPr sz="2400">
          <a:solidFill>
            <a:schemeClr val="bg2"/>
          </a:solidFill>
          <a:latin typeface="Source Sans Pro Semibold"/>
          <a:ea typeface="Source Sans Pro Semibold"/>
          <a:cs typeface="Source Sans Pro Semibold"/>
        </a:defRPr>
      </a:lvl7pPr>
      <a:lvl8pPr marL="1371600" algn="l" defTabSz="457200">
        <a:lnSpc>
          <a:spcPct val="85000"/>
        </a:lnSpc>
        <a:spcBef>
          <a:spcPct val="0"/>
        </a:spcBef>
        <a:spcAft>
          <a:spcPct val="0"/>
        </a:spcAft>
        <a:buNone/>
        <a:defRPr sz="2400">
          <a:solidFill>
            <a:schemeClr val="bg2"/>
          </a:solidFill>
          <a:latin typeface="Source Sans Pro Semibold"/>
          <a:ea typeface="Source Sans Pro Semibold"/>
          <a:cs typeface="Source Sans Pro Semibold"/>
        </a:defRPr>
      </a:lvl8pPr>
      <a:lvl9pPr marL="1828800" algn="l" defTabSz="457200">
        <a:lnSpc>
          <a:spcPct val="85000"/>
        </a:lnSpc>
        <a:spcBef>
          <a:spcPct val="0"/>
        </a:spcBef>
        <a:spcAft>
          <a:spcPct val="0"/>
        </a:spcAft>
        <a:buNone/>
        <a:defRPr sz="2400">
          <a:solidFill>
            <a:schemeClr val="bg2"/>
          </a:solidFill>
          <a:latin typeface="Source Sans Pro Semibold"/>
          <a:ea typeface="Source Sans Pro Semibold"/>
          <a:cs typeface="Source Sans Pro Semibold"/>
        </a:defRPr>
      </a:lvl9pPr>
    </p:titleStyle>
    <p:bodyStyle>
      <a:lvl1pPr marL="288925" indent="-288925" algn="l" defTabSz="457200">
        <a:spcBef>
          <a:spcPct val="20000"/>
        </a:spcBef>
        <a:spcAft>
          <a:spcPct val="0"/>
        </a:spcAft>
        <a:buClr>
          <a:schemeClr val="bg2"/>
        </a:buClr>
        <a:buFont typeface="Wingdings"/>
        <a:buNone/>
        <a:defRPr sz="2400" kern="1200" spc="20">
          <a:solidFill>
            <a:schemeClr val="tx1"/>
          </a:solidFill>
          <a:latin typeface="Arial"/>
          <a:ea typeface="Arial"/>
          <a:cs typeface="Arial"/>
        </a:defRPr>
      </a:lvl1pPr>
      <a:lvl2pPr marL="288925" indent="-288925" algn="l" defTabSz="457200">
        <a:spcBef>
          <a:spcPct val="20000"/>
        </a:spcBef>
        <a:spcAft>
          <a:spcPct val="0"/>
        </a:spcAft>
        <a:buClr>
          <a:srgbClr val="660874"/>
        </a:buClr>
        <a:buFont typeface="Wingdings"/>
        <a:buChar char="§"/>
        <a:defRPr sz="2400" kern="1200">
          <a:solidFill>
            <a:schemeClr val="tx1"/>
          </a:solidFill>
          <a:latin typeface="Arial"/>
          <a:ea typeface="Arial"/>
          <a:cs typeface="Arial"/>
        </a:defRPr>
      </a:lvl2pPr>
      <a:lvl3pPr marL="569913" indent="-225425" algn="l" defTabSz="457200">
        <a:spcBef>
          <a:spcPct val="20000"/>
        </a:spcBef>
        <a:spcAft>
          <a:spcPct val="0"/>
        </a:spcAft>
        <a:buClr>
          <a:srgbClr val="660874"/>
        </a:buClr>
        <a:buSzPct val="102000"/>
        <a:buFont typeface="Source Sans Pro"/>
        <a:buChar char="›"/>
        <a:defRPr sz="2000" kern="1200">
          <a:solidFill>
            <a:schemeClr val="tx1"/>
          </a:solidFill>
          <a:latin typeface="Arial"/>
          <a:ea typeface="Arial"/>
          <a:cs typeface="Arial"/>
        </a:defRPr>
      </a:lvl3pPr>
      <a:lvl4pPr marL="914400" indent="-227013" algn="l" defTabSz="457200">
        <a:spcBef>
          <a:spcPct val="20000"/>
        </a:spcBef>
        <a:spcAft>
          <a:spcPct val="0"/>
        </a:spcAft>
        <a:buClr>
          <a:srgbClr val="660874"/>
        </a:buClr>
        <a:buFont typeface="Arial"/>
        <a:buChar char="•"/>
        <a:defRPr sz="2000" kern="1200">
          <a:solidFill>
            <a:schemeClr val="tx1"/>
          </a:solidFill>
          <a:latin typeface="Arial"/>
          <a:ea typeface="Arial"/>
          <a:cs typeface="Arial"/>
        </a:defRPr>
      </a:lvl4pPr>
      <a:lvl5pPr marL="1258888" indent="-227013" algn="l" defTabSz="457200">
        <a:spcBef>
          <a:spcPct val="20000"/>
        </a:spcBef>
        <a:spcAft>
          <a:spcPct val="0"/>
        </a:spcAft>
        <a:buClr>
          <a:srgbClr val="660874"/>
        </a:buClr>
        <a:buFont typeface="Source Sans Pro"/>
        <a:buChar char="–"/>
        <a:defRPr sz="2000" kern="1200">
          <a:solidFill>
            <a:schemeClr val="tx1"/>
          </a:solidFill>
          <a:latin typeface="Arial"/>
          <a:ea typeface="Arial"/>
          <a:cs typeface="Arial"/>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slideLayout" Target="../slideLayouts/slideLayout3.xml"/><Relationship Id="rId6" Type="http://schemas.openxmlformats.org/officeDocument/2006/relationships/notesSlide" Target="../notesSlides/notesSlide7.xml"/><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3.xml"/><Relationship Id="rId4" Type="http://schemas.openxmlformats.org/officeDocument/2006/relationships/notesSlide" Target="../notesSlides/notesSlide10.xml"/><Relationship Id="rId5"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hyperlink" Target="https://lnsgroup.cc/research/FlyGM/"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8.jpe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chart" Target="../charts/chart1.xml"/><Relationship Id="rId7" Type="http://schemas.openxmlformats.org/officeDocument/2006/relationships/chart" Target="../charts/char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hyperlink" Target="https://lnsgroup.cc/research/FlyGM/" TargetMode="External"/><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lnsgroup.cc/research/FlyGM/" TargetMode="External"/><Relationship Id="rId3" Type="http://schemas.openxmlformats.org/officeDocument/2006/relationships/hyperlink" Target="https://arxiv.org/abs/2602.17997" TargetMode="External"/><Relationship Id="rId4" Type="http://schemas.openxmlformats.org/officeDocument/2006/relationships/hyperlink" Target="https://codex.flywire.ai" TargetMode="External"/><Relationship Id="rId5" Type="http://schemas.openxmlformats.org/officeDocument/2006/relationships/hyperlink" Target="https://github.com/TuragaLab/flybody" TargetMode="Externa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E9CB3A2-F40C-4BD9-86DE-C56CDB5300AE}"/>
              </a:ext>
            </a:extLst>
          </p:cNvPr>
          <p:cNvPicPr>
            <a:picLocks noChangeAspect="1"/>
          </p:cNvPicPr>
          <p:nvPr/>
        </p:nvPicPr>
        <p:blipFill>
          <a:blip r:embed="rId7"/>
          <a:stretch/>
        </p:blipFill>
        <p:spPr>
          <a:xfrm>
            <a:off x="457200" y="1024128"/>
            <a:ext cx="4005072" cy="2252852"/>
          </a:xfrm>
          <a:prstGeom prst="rect">
            <a:avLst/>
          </a:prstGeom>
        </p:spPr>
      </p:pic>
      <p:pic>
        <p:nvPicPr>
          <p:cNvPr id="4" name="Picture 3">
            <a:extLst>
              <a:ext uri="{FF2B5EF4-FFF2-40B4-BE49-F238E27FC236}">
                <a16:creationId xmlns:a16="http://schemas.microsoft.com/office/drawing/2014/main" id="{D44414EA-51AB-4D66-A1F8-6168D72E645F}"/>
              </a:ext>
            </a:extLst>
          </p:cNvPr>
          <p:cNvPicPr>
            <a:picLocks noChangeAspect="1"/>
          </p:cNvPicPr>
          <p:nvPr/>
        </p:nvPicPr>
        <p:blipFill>
          <a:blip r:embed="rId8"/>
          <a:stretch/>
        </p:blipFill>
        <p:spPr>
          <a:xfrm>
            <a:off x="4681728" y="1024128"/>
            <a:ext cx="4005072" cy="2252852"/>
          </a:xfrm>
          <a:prstGeom prst="rect">
            <a:avLst/>
          </a:prstGeom>
        </p:spPr>
      </p:pic>
      <p:pic>
        <p:nvPicPr>
          <p:cNvPr id="900" name="Silent locomotion.mp4">
            <a:hlinkClick r:id="" action="ppaction://media"/>
            <a:extLst>
              <a:ext uri="{FF2B5EF4-FFF2-40B4-BE49-F238E27FC236}">
                <a16:creationId xmlns:a16="http://schemas.microsoft.com/office/drawing/2014/main" id="{B6823228-6330-7722-C41C-84D2A0600ED1}"/>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457200" y="1024128"/>
            <a:ext cx="4005072" cy="2252852"/>
          </a:xfrm>
          <a:prstGeom prst="rect">
            <a:avLst/>
          </a:prstGeom>
        </p:spPr>
      </p:pic>
      <p:pic>
        <p:nvPicPr>
          <p:cNvPr id="901" name="Silent flight.mp4">
            <a:hlinkClick r:id="" action="ppaction://media"/>
            <a:extLst>
              <a:ext uri="{FF2B5EF4-FFF2-40B4-BE49-F238E27FC236}">
                <a16:creationId xmlns:a16="http://schemas.microsoft.com/office/drawing/2014/main" id="{B6823228-6330-7722-C41C-84D2A0600ED1}"/>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4681728" y="1024128"/>
            <a:ext cx="4005072" cy="2252852"/>
          </a:xfrm>
          <a:prstGeom prst="rect">
            <a:avLst/>
          </a:prstGeom>
        </p:spPr>
      </p:pic>
      <p:sp>
        <p:nvSpPr>
          <p:cNvPr id="902"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903"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BEHAVIOR</a:t>
            </a:r>
          </a:p>
        </p:txBody>
      </p:sp>
      <p:sp>
        <p:nvSpPr>
          <p:cNvPr id="904" name="Title 903"/>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Coordinated walking, turning and flight</a:t>
            </a:r>
          </a:p>
        </p:txBody>
      </p:sp>
      <p:sp>
        <p:nvSpPr>
          <p:cNvPr id="905" name="TextBox 904"/>
          <p:cNvSpPr txBox="1"/>
          <p:nvPr/>
        </p:nvSpPr>
        <p:spPr>
          <a:xfrm>
            <a:off x="457200" y="3386709"/>
            <a:ext cx="4005072" cy="292608"/>
          </a:xfrm>
          <a:prstGeom prst="rect">
            <a:avLst/>
          </a:prstGeom>
          <a:noFill/>
        </p:spPr>
        <p:txBody>
          <a:bodyPr wrap="square" lIns="0" rIns="0" tIns="0" bIns="0" anchor="t">
            <a:noAutofit/>
          </a:bodyPr>
          <a:lstStyle/>
          <a:p>
            <a:pPr algn="l">
              <a:lnSpc>
                <a:spcPct val="105000"/>
              </a:lnSpc>
            </a:pPr>
            <a:r>
              <a:rPr sz="1600" b="1" i="0">
                <a:solidFill>
                  <a:srgbClr val="1F1A2E"/>
                </a:solidFill>
                <a:latin typeface="Arial"/>
              </a:rPr>
              <a:t>Walking policy</a:t>
            </a:r>
          </a:p>
        </p:txBody>
      </p:sp>
      <p:sp>
        <p:nvSpPr>
          <p:cNvPr id="906" name="TextBox 905"/>
          <p:cNvSpPr txBox="1"/>
          <p:nvPr/>
        </p:nvSpPr>
        <p:spPr>
          <a:xfrm>
            <a:off x="4681728" y="3386709"/>
            <a:ext cx="4005072" cy="292608"/>
          </a:xfrm>
          <a:prstGeom prst="rect">
            <a:avLst/>
          </a:prstGeom>
          <a:noFill/>
        </p:spPr>
        <p:txBody>
          <a:bodyPr wrap="square" lIns="0" rIns="0" tIns="0" bIns="0" anchor="t">
            <a:noAutofit/>
          </a:bodyPr>
          <a:lstStyle/>
          <a:p>
            <a:pPr algn="l">
              <a:lnSpc>
                <a:spcPct val="105000"/>
              </a:lnSpc>
            </a:pPr>
            <a:r>
              <a:rPr sz="1600" b="1" i="0">
                <a:solidFill>
                  <a:srgbClr val="1F1A2E"/>
                </a:solidFill>
                <a:latin typeface="Arial"/>
              </a:rPr>
              <a:t>Flight policy</a:t>
            </a:r>
            <a:r>
              <a:rPr sz="1300" b="0" i="0">
                <a:solidFill>
                  <a:srgbClr val="6E6880"/>
                </a:solidFill>
                <a:latin typeface="Arial"/>
              </a:rPr>
              <a:t>  separately trained</a:t>
            </a:r>
          </a:p>
        </p:txBody>
      </p:sp>
      <p:sp>
        <p:nvSpPr>
          <p:cNvPr id="907" name="Rounded Rectangle 906"/>
          <p:cNvSpPr/>
          <p:nvPr/>
        </p:nvSpPr>
        <p:spPr>
          <a:xfrm>
            <a:off x="457200" y="3770757"/>
            <a:ext cx="1162710" cy="347472"/>
          </a:xfrm>
          <a:prstGeom prst="roundRect">
            <a:avLst>
              <a:gd name="adj" fmla="val 50000"/>
            </a:avLst>
          </a:prstGeom>
          <a:solidFill>
            <a:srgbClr val="F4F1F8"/>
          </a:solidFill>
          <a:ln>
            <a:noFill/>
          </a:ln>
        </p:spPr>
        <p:txBody>
          <a:bodyPr rtlCol="0" anchor="ctr"/>
          <a:lstStyle/>
          <a:p>
            <a:pPr algn="ctr"/>
          </a:p>
        </p:txBody>
      </p:sp>
      <p:sp>
        <p:nvSpPr>
          <p:cNvPr id="908" name="TextBox 907"/>
          <p:cNvSpPr txBox="1"/>
          <p:nvPr/>
        </p:nvSpPr>
        <p:spPr>
          <a:xfrm>
            <a:off x="457200" y="3770757"/>
            <a:ext cx="1162710" cy="347472"/>
          </a:xfrm>
          <a:prstGeom prst="rect">
            <a:avLst/>
          </a:prstGeom>
          <a:noFill/>
        </p:spPr>
        <p:txBody>
          <a:bodyPr wrap="square" lIns="0" rIns="0" tIns="0" bIns="0" anchor="ctr">
            <a:noAutofit/>
          </a:bodyPr>
          <a:lstStyle/>
          <a:p>
            <a:pPr algn="ctr">
              <a:lnSpc>
                <a:spcPct val="105000"/>
              </a:lnSpc>
            </a:pPr>
            <a:r>
              <a:rPr sz="1075" b="1" i="0">
                <a:solidFill>
                  <a:srgbClr val="1F1A2E"/>
                </a:solidFill>
                <a:latin typeface="Arial"/>
              </a:rPr>
              <a:t>Onset</a:t>
            </a:r>
            <a:r>
              <a:rPr sz="1075" b="1" i="0">
                <a:solidFill>
                  <a:srgbClr val="D55E00"/>
                </a:solidFill>
                <a:latin typeface="Arial"/>
              </a:rPr>
              <a:t>  ≈80 ms</a:t>
            </a:r>
          </a:p>
        </p:txBody>
      </p:sp>
      <p:sp>
        <p:nvSpPr>
          <p:cNvPr id="909" name="Rounded Rectangle 908"/>
          <p:cNvSpPr/>
          <p:nvPr/>
        </p:nvSpPr>
        <p:spPr>
          <a:xfrm>
            <a:off x="1711350" y="3770757"/>
            <a:ext cx="1436604" cy="347472"/>
          </a:xfrm>
          <a:prstGeom prst="roundRect">
            <a:avLst>
              <a:gd name="adj" fmla="val 50000"/>
            </a:avLst>
          </a:prstGeom>
          <a:solidFill>
            <a:srgbClr val="F4F1F8"/>
          </a:solidFill>
          <a:ln>
            <a:noFill/>
          </a:ln>
        </p:spPr>
        <p:txBody>
          <a:bodyPr rtlCol="0" anchor="ctr"/>
          <a:lstStyle/>
          <a:p>
            <a:pPr algn="ctr"/>
          </a:p>
        </p:txBody>
      </p:sp>
      <p:sp>
        <p:nvSpPr>
          <p:cNvPr id="910" name="TextBox 909"/>
          <p:cNvSpPr txBox="1"/>
          <p:nvPr/>
        </p:nvSpPr>
        <p:spPr>
          <a:xfrm>
            <a:off x="1711350" y="3770757"/>
            <a:ext cx="1436604" cy="347472"/>
          </a:xfrm>
          <a:prstGeom prst="rect">
            <a:avLst/>
          </a:prstGeom>
          <a:noFill/>
        </p:spPr>
        <p:txBody>
          <a:bodyPr wrap="square" lIns="0" rIns="0" tIns="0" bIns="0" anchor="ctr">
            <a:noAutofit/>
          </a:bodyPr>
          <a:lstStyle/>
          <a:p>
            <a:pPr algn="ctr">
              <a:lnSpc>
                <a:spcPct val="105000"/>
              </a:lnSpc>
            </a:pPr>
            <a:r>
              <a:rPr sz="1075" b="1" i="0">
                <a:solidFill>
                  <a:srgbClr val="1F1A2E"/>
                </a:solidFill>
                <a:latin typeface="Arial"/>
              </a:rPr>
              <a:t>Tripod gait</a:t>
            </a:r>
            <a:r>
              <a:rPr sz="1075" b="1" i="0">
                <a:solidFill>
                  <a:srgbClr val="D55E00"/>
                </a:solidFill>
                <a:latin typeface="Arial"/>
              </a:rPr>
              <a:t>  3 cm/s</a:t>
            </a:r>
          </a:p>
        </p:txBody>
      </p:sp>
      <p:sp>
        <p:nvSpPr>
          <p:cNvPr id="911" name="Rounded Rectangle 910"/>
          <p:cNvSpPr/>
          <p:nvPr/>
        </p:nvSpPr>
        <p:spPr>
          <a:xfrm>
            <a:off x="3239394" y="3770757"/>
            <a:ext cx="1199024" cy="347472"/>
          </a:xfrm>
          <a:prstGeom prst="roundRect">
            <a:avLst>
              <a:gd name="adj" fmla="val 50000"/>
            </a:avLst>
          </a:prstGeom>
          <a:solidFill>
            <a:srgbClr val="F4F1F8"/>
          </a:solidFill>
          <a:ln>
            <a:noFill/>
          </a:ln>
        </p:spPr>
        <p:txBody>
          <a:bodyPr rtlCol="0" anchor="ctr"/>
          <a:lstStyle/>
          <a:p>
            <a:pPr algn="ctr"/>
          </a:p>
        </p:txBody>
      </p:sp>
      <p:sp>
        <p:nvSpPr>
          <p:cNvPr id="912" name="TextBox 911"/>
          <p:cNvSpPr txBox="1"/>
          <p:nvPr/>
        </p:nvSpPr>
        <p:spPr>
          <a:xfrm>
            <a:off x="3239394" y="3770757"/>
            <a:ext cx="1199024" cy="347472"/>
          </a:xfrm>
          <a:prstGeom prst="rect">
            <a:avLst/>
          </a:prstGeom>
          <a:noFill/>
        </p:spPr>
        <p:txBody>
          <a:bodyPr wrap="square" lIns="0" rIns="0" tIns="0" bIns="0" anchor="ctr">
            <a:noAutofit/>
          </a:bodyPr>
          <a:lstStyle/>
          <a:p>
            <a:pPr algn="ctr">
              <a:lnSpc>
                <a:spcPct val="105000"/>
              </a:lnSpc>
            </a:pPr>
            <a:r>
              <a:rPr sz="1075" b="1" i="0">
                <a:solidFill>
                  <a:srgbClr val="1F1A2E"/>
                </a:solidFill>
                <a:latin typeface="Arial"/>
              </a:rPr>
              <a:t>Turns</a:t>
            </a:r>
            <a:r>
              <a:rPr sz="1075" b="1" i="0">
                <a:solidFill>
                  <a:srgbClr val="D55E00"/>
                </a:solidFill>
                <a:latin typeface="Arial"/>
              </a:rPr>
              <a:t>  10 rad/s</a:t>
            </a:r>
          </a:p>
        </p:txBody>
      </p:sp>
      <p:sp>
        <p:nvSpPr>
          <p:cNvPr id="913" name="Rounded Rectangle 912"/>
          <p:cNvSpPr/>
          <p:nvPr/>
        </p:nvSpPr>
        <p:spPr>
          <a:xfrm>
            <a:off x="4681728" y="3770757"/>
            <a:ext cx="1724884" cy="347472"/>
          </a:xfrm>
          <a:prstGeom prst="roundRect">
            <a:avLst>
              <a:gd name="adj" fmla="val 50000"/>
            </a:avLst>
          </a:prstGeom>
          <a:solidFill>
            <a:srgbClr val="F4F1F8"/>
          </a:solidFill>
          <a:ln>
            <a:noFill/>
          </a:ln>
        </p:spPr>
        <p:txBody>
          <a:bodyPr rtlCol="0" anchor="ctr"/>
          <a:lstStyle/>
          <a:p>
            <a:pPr algn="ctr"/>
          </a:p>
        </p:txBody>
      </p:sp>
      <p:sp>
        <p:nvSpPr>
          <p:cNvPr id="914" name="TextBox 913"/>
          <p:cNvSpPr txBox="1"/>
          <p:nvPr/>
        </p:nvSpPr>
        <p:spPr>
          <a:xfrm>
            <a:off x="4681728" y="3770757"/>
            <a:ext cx="1724884" cy="347472"/>
          </a:xfrm>
          <a:prstGeom prst="rect">
            <a:avLst/>
          </a:prstGeom>
          <a:noFill/>
        </p:spPr>
        <p:txBody>
          <a:bodyPr wrap="square" lIns="0" rIns="0" tIns="0" bIns="0" anchor="ctr">
            <a:noAutofit/>
          </a:bodyPr>
          <a:lstStyle/>
          <a:p>
            <a:pPr algn="ctr">
              <a:lnSpc>
                <a:spcPct val="105000"/>
              </a:lnSpc>
            </a:pPr>
            <a:r>
              <a:rPr sz="1075" b="1" i="0">
                <a:solidFill>
                  <a:srgbClr val="1F1A2E"/>
                </a:solidFill>
                <a:latin typeface="Arial"/>
              </a:rPr>
              <a:t>Forward flight</a:t>
            </a:r>
            <a:r>
              <a:rPr sz="1075" b="1" i="0">
                <a:solidFill>
                  <a:srgbClr val="D55E00"/>
                </a:solidFill>
                <a:latin typeface="Arial"/>
              </a:rPr>
              <a:t>  20 cm/s</a:t>
            </a:r>
          </a:p>
        </p:txBody>
      </p:sp>
      <p:sp>
        <p:nvSpPr>
          <p:cNvPr id="915" name="Rounded Rectangle 914"/>
          <p:cNvSpPr/>
          <p:nvPr/>
        </p:nvSpPr>
        <p:spPr>
          <a:xfrm>
            <a:off x="6498052" y="3770757"/>
            <a:ext cx="1396916" cy="347472"/>
          </a:xfrm>
          <a:prstGeom prst="roundRect">
            <a:avLst>
              <a:gd name="adj" fmla="val 50000"/>
            </a:avLst>
          </a:prstGeom>
          <a:solidFill>
            <a:srgbClr val="F4F1F8"/>
          </a:solidFill>
          <a:ln>
            <a:noFill/>
          </a:ln>
        </p:spPr>
        <p:txBody>
          <a:bodyPr rtlCol="0" anchor="ctr"/>
          <a:lstStyle/>
          <a:p>
            <a:pPr algn="ctr"/>
          </a:p>
        </p:txBody>
      </p:sp>
      <p:sp>
        <p:nvSpPr>
          <p:cNvPr id="916" name="TextBox 915"/>
          <p:cNvSpPr txBox="1"/>
          <p:nvPr/>
        </p:nvSpPr>
        <p:spPr>
          <a:xfrm>
            <a:off x="6498052" y="3770757"/>
            <a:ext cx="1396916" cy="347472"/>
          </a:xfrm>
          <a:prstGeom prst="rect">
            <a:avLst/>
          </a:prstGeom>
          <a:noFill/>
        </p:spPr>
        <p:txBody>
          <a:bodyPr wrap="square" lIns="0" rIns="0" tIns="0" bIns="0" anchor="ctr">
            <a:noAutofit/>
          </a:bodyPr>
          <a:lstStyle/>
          <a:p>
            <a:pPr algn="ctr">
              <a:lnSpc>
                <a:spcPct val="105000"/>
              </a:lnSpc>
            </a:pPr>
            <a:r>
              <a:rPr sz="1075" b="1" i="0">
                <a:solidFill>
                  <a:srgbClr val="1F1A2E"/>
                </a:solidFill>
                <a:latin typeface="Arial"/>
              </a:rPr>
              <a:t>Wing-beat control</a:t>
            </a:r>
          </a:p>
        </p:txBody>
      </p:sp>
      <p:sp>
        <p:nvSpPr>
          <p:cNvPr id="917" name="TextBox 916"/>
          <p:cNvSpPr txBox="1"/>
          <p:nvPr/>
        </p:nvSpPr>
        <p:spPr>
          <a:xfrm>
            <a:off x="457200" y="4227957"/>
            <a:ext cx="8229600" cy="237744"/>
          </a:xfrm>
          <a:prstGeom prst="rect">
            <a:avLst/>
          </a:prstGeom>
          <a:noFill/>
        </p:spPr>
        <p:txBody>
          <a:bodyPr wrap="square" lIns="0" rIns="0" tIns="0" bIns="0" anchor="t">
            <a:noAutofit/>
          </a:bodyPr>
          <a:lstStyle/>
          <a:p>
            <a:pPr algn="l">
              <a:lnSpc>
                <a:spcPct val="105000"/>
              </a:lnSpc>
            </a:pPr>
            <a:r>
              <a:rPr sz="1100" b="0" i="1">
                <a:solidFill>
                  <a:srgbClr val="6E6880"/>
                </a:solidFill>
                <a:latin typeface="Arial"/>
              </a:rPr>
              <a:t>Click a video to play. Playback is slowed; read the simulation timestamps.</a:t>
            </a:r>
          </a:p>
        </p:txBody>
      </p:sp>
      <p:sp>
        <p:nvSpPr>
          <p:cNvPr id="918"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§3.2, Figs. 3–4. Left panels: connectome layout with afferent, intrinsic and efferent activity.</a:t>
            </a:r>
          </a:p>
        </p:txBody>
      </p:sp>
      <p:sp>
        <p:nvSpPr>
          <p:cNvPr id="919"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extLst>
      <p:ext uri="{BB962C8B-B14F-4D97-AF65-F5344CB8AC3E}">
        <p14:creationId xmlns:p14="http://schemas.microsoft.com/office/powerpoint/2010/main" val="1526145807"/>
      </p:ext>
    </p:extLst>
  </p:cSld>
  <p:clrMapOvr>
    <a:masterClrMapping/>
  </p:clrMapOvr>
  <p:timing>
    <p:tnLst>
      <p:par>
        <p:cTn id="1" dur="indefinite" restart="never" nodeType="tmRoot">
          <p:childTnLst>
            <p:video>
              <p:cMediaNode vol="0">
                <p:cTn id="2" fill="hold" display="0">
                  <p:stCondLst>
                    <p:cond delay="indefinite"/>
                  </p:stCondLst>
                </p:cTn>
                <p:tgtEl>
                  <p:spTgt spid="900"/>
                </p:tgtEl>
              </p:cMediaNode>
            </p:video>
            <p:video>
              <p:cMediaNode vol="0">
                <p:cTn id="3" fill="hold" display="0">
                  <p:stCondLst>
                    <p:cond delay="indefinite"/>
                  </p:stCondLst>
                </p:cTn>
                <p:tgtEl>
                  <p:spTgt spid="901"/>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480AA9A-E158-495E-B330-BADB84AFD8E7}"/>
              </a:ext>
            </a:extLst>
          </p:cNvPr>
          <p:cNvPicPr>
            <a:picLocks noChangeAspect="1"/>
          </p:cNvPicPr>
          <p:nvPr/>
        </p:nvPicPr>
        <p:blipFill>
          <a:blip r:embed="rId5"/>
          <a:stretch/>
        </p:blipFill>
        <p:spPr>
          <a:xfrm>
            <a:off x="457200" y="1024128"/>
            <a:ext cx="8229600" cy="3643312"/>
          </a:xfrm>
          <a:prstGeom prst="rect">
            <a:avLst/>
          </a:prstGeom>
        </p:spPr>
      </p:pic>
      <p:pic>
        <p:nvPicPr>
          <p:cNvPr id="900" name="Silent sequence_sync.mp4">
            <a:hlinkClick r:id="" action="ppaction://media"/>
            <a:extLst>
              <a:ext uri="{FF2B5EF4-FFF2-40B4-BE49-F238E27FC236}">
                <a16:creationId xmlns:a16="http://schemas.microsoft.com/office/drawing/2014/main" id="{B6823228-6330-7722-C41C-84D2A0600ED1}"/>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57200" y="1024128"/>
            <a:ext cx="8229600" cy="3643312"/>
          </a:xfrm>
          <a:prstGeom prst="rect">
            <a:avLst/>
          </a:prstGeom>
        </p:spPr>
      </p:pic>
      <p:sp>
        <p:nvSpPr>
          <p:cNvPr id="901"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902"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INSIDE THE MODEL</a:t>
            </a:r>
          </a:p>
        </p:txBody>
      </p:sp>
      <p:sp>
        <p:nvSpPr>
          <p:cNvPr id="903" name="Title 90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One rollout links walking, pausing and turning</a:t>
            </a:r>
          </a:p>
        </p:txBody>
      </p:sp>
      <p:sp>
        <p:nvSpPr>
          <p:cNvPr id="904"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Rollout 0–768 ms; click to play at 10× slow motion. Activity panel: [1] Fig. 5.</a:t>
            </a:r>
          </a:p>
        </p:txBody>
      </p:sp>
      <p:sp>
        <p:nvSpPr>
          <p:cNvPr id="905"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extLst>
      <p:ext uri="{BB962C8B-B14F-4D97-AF65-F5344CB8AC3E}">
        <p14:creationId xmlns:p14="http://schemas.microsoft.com/office/powerpoint/2010/main" val="1526145807"/>
      </p:ext>
    </p:extLst>
  </p:cSld>
  <p:clrMapOvr>
    <a:masterClrMapping/>
  </p:clrMapOvr>
  <p:timing>
    <p:tnLst>
      <p:par>
        <p:cTn id="1" dur="indefinite" restart="never" nodeType="tmRoot">
          <p:childTnLst>
            <p:video>
              <p:cMediaNode vol="0">
                <p:cTn id="2" fill="hold" display="0">
                  <p:stCondLst>
                    <p:cond delay="indefinite"/>
                  </p:stCondLst>
                </p:cTn>
                <p:tgtEl>
                  <p:spTgt spid="900"/>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CB504B2-FA60-43A7-91FF-68CD0D8CA4F5}"/>
              </a:ext>
            </a:extLst>
          </p:cNvPr>
          <p:cNvPicPr>
            <a:picLocks noChangeAspect="1"/>
          </p:cNvPicPr>
          <p:nvPr/>
        </p:nvPicPr>
        <p:blipFill>
          <a:blip r:embed="rId3"/>
          <a:stretch/>
        </p:blipFill>
        <p:spPr>
          <a:xfrm>
            <a:off x="1724025" y="1270635"/>
            <a:ext cx="6191250" cy="2809875"/>
          </a:xfrm>
          <a:prstGeom prst="rect">
            <a:avLst/>
          </a:prstGeom>
        </p:spPr>
      </p:pic>
      <p:sp>
        <p:nvSpPr>
          <p:cNvPr id="4" name="Ascending">
            <a:extLst>
              <a:ext uri="{FF2B5EF4-FFF2-40B4-BE49-F238E27FC236}">
                <a16:creationId xmlns:a16="http://schemas.microsoft.com/office/drawing/2014/main" id="{39937105-EFC6-49EB-A424-68793215ED0E}"/>
              </a:ext>
            </a:extLst>
          </p:cNvPr>
          <p:cNvSpPr>
            <a:spLocks noGrp="1"/>
          </p:cNvSpPr>
          <p:nvPr/>
        </p:nvSpPr>
        <p:spPr>
          <a:xfrm>
            <a:off x="381000" y="1451610"/>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Ascending</a:t>
            </a:r>
          </a:p>
        </p:txBody>
      </p:sp>
      <p:sp>
        <p:nvSpPr>
          <p:cNvPr id="5" name="Sensory">
            <a:extLst>
              <a:ext uri="{FF2B5EF4-FFF2-40B4-BE49-F238E27FC236}">
                <a16:creationId xmlns:a16="http://schemas.microsoft.com/office/drawing/2014/main" id="{3B6D53DF-DC21-4927-8FF5-E5B306BE3668}"/>
              </a:ext>
            </a:extLst>
          </p:cNvPr>
          <p:cNvSpPr>
            <a:spLocks noGrp="1"/>
          </p:cNvSpPr>
          <p:nvPr/>
        </p:nvSpPr>
        <p:spPr>
          <a:xfrm>
            <a:off x="381000" y="1746885"/>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Sensory</a:t>
            </a:r>
          </a:p>
        </p:txBody>
      </p:sp>
      <p:sp>
        <p:nvSpPr>
          <p:cNvPr id="6" name="Optic">
            <a:extLst>
              <a:ext uri="{FF2B5EF4-FFF2-40B4-BE49-F238E27FC236}">
                <a16:creationId xmlns:a16="http://schemas.microsoft.com/office/drawing/2014/main" id="{A426A520-FF7A-42B6-9855-B9667983DEF0}"/>
              </a:ext>
            </a:extLst>
          </p:cNvPr>
          <p:cNvSpPr>
            <a:spLocks noGrp="1"/>
          </p:cNvSpPr>
          <p:nvPr/>
        </p:nvSpPr>
        <p:spPr>
          <a:xfrm>
            <a:off x="381000" y="2461260"/>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Optic</a:t>
            </a:r>
          </a:p>
        </p:txBody>
      </p:sp>
      <p:sp>
        <p:nvSpPr>
          <p:cNvPr id="7" name="Central">
            <a:extLst>
              <a:ext uri="{FF2B5EF4-FFF2-40B4-BE49-F238E27FC236}">
                <a16:creationId xmlns:a16="http://schemas.microsoft.com/office/drawing/2014/main" id="{425E958E-9DAC-4F14-9C38-C882859ADD54}"/>
              </a:ext>
            </a:extLst>
          </p:cNvPr>
          <p:cNvSpPr>
            <a:spLocks noGrp="1"/>
          </p:cNvSpPr>
          <p:nvPr/>
        </p:nvSpPr>
        <p:spPr>
          <a:xfrm>
            <a:off x="381000" y="3318510"/>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Central</a:t>
            </a:r>
          </a:p>
        </p:txBody>
      </p:sp>
      <p:sp>
        <p:nvSpPr>
          <p:cNvPr id="8" name="VPN / VCN">
            <a:extLst>
              <a:ext uri="{FF2B5EF4-FFF2-40B4-BE49-F238E27FC236}">
                <a16:creationId xmlns:a16="http://schemas.microsoft.com/office/drawing/2014/main" id="{2997385E-9C35-43D8-9341-C081E4E46CDA}"/>
              </a:ext>
            </a:extLst>
          </p:cNvPr>
          <p:cNvSpPr>
            <a:spLocks noGrp="1"/>
          </p:cNvSpPr>
          <p:nvPr/>
        </p:nvSpPr>
        <p:spPr>
          <a:xfrm>
            <a:off x="381000" y="3642360"/>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VPN / VCN</a:t>
            </a:r>
          </a:p>
        </p:txBody>
      </p:sp>
      <p:sp>
        <p:nvSpPr>
          <p:cNvPr id="9" name="Output classes">
            <a:extLst>
              <a:ext uri="{FF2B5EF4-FFF2-40B4-BE49-F238E27FC236}">
                <a16:creationId xmlns:a16="http://schemas.microsoft.com/office/drawing/2014/main" id="{60C351B0-14F0-480E-AB15-F5092C854A3D}"/>
              </a:ext>
            </a:extLst>
          </p:cNvPr>
          <p:cNvSpPr>
            <a:spLocks noGrp="1"/>
          </p:cNvSpPr>
          <p:nvPr/>
        </p:nvSpPr>
        <p:spPr>
          <a:xfrm>
            <a:off x="381000" y="3956685"/>
            <a:ext cx="1285875" cy="238125"/>
          </a:xfrm>
          <a:prstGeom prst="rect">
            <a:avLst/>
          </a:prstGeom>
          <a:noFill/>
          <a:ln w="0">
            <a:noFill/>
          </a:ln>
        </p:spPr>
        <p:txBody>
          <a:bodyPr wrap="square" lIns="0" tIns="0" rIns="0" bIns="0" anchor="ctr"/>
          <a:lstStyle>
            <a:defPPr algn="r">
              <a:defRPr sz="1275" b="0">
                <a:solidFill>
                  <a:srgbClr val="555555"/>
                </a:solidFill>
                <a:latin typeface="Arial"/>
                <a:ea typeface="Arial"/>
                <a:cs typeface="Arial"/>
              </a:defRPr>
            </a:defPPr>
            <a:lvl1pPr algn="r">
              <a:defRPr sz="1275" b="0">
                <a:solidFill>
                  <a:srgbClr val="555555"/>
                </a:solidFill>
                <a:latin typeface="Arial"/>
                <a:ea typeface="Arial"/>
                <a:cs typeface="Arial"/>
              </a:defRPr>
            </a:lvl1pPr>
            <a:lvl2pPr algn="r">
              <a:defRPr sz="1275" b="0">
                <a:solidFill>
                  <a:srgbClr val="555555"/>
                </a:solidFill>
                <a:latin typeface="Arial"/>
                <a:ea typeface="Arial"/>
                <a:cs typeface="Arial"/>
              </a:defRPr>
            </a:lvl2pPr>
            <a:lvl3pPr algn="r">
              <a:defRPr sz="1275" b="0">
                <a:solidFill>
                  <a:srgbClr val="555555"/>
                </a:solidFill>
                <a:latin typeface="Arial"/>
                <a:ea typeface="Arial"/>
                <a:cs typeface="Arial"/>
              </a:defRPr>
            </a:lvl3pPr>
            <a:lvl4pPr algn="r">
              <a:defRPr sz="1275" b="0">
                <a:solidFill>
                  <a:srgbClr val="555555"/>
                </a:solidFill>
                <a:latin typeface="Arial"/>
                <a:ea typeface="Arial"/>
                <a:cs typeface="Arial"/>
              </a:defRPr>
            </a:lvl4pPr>
            <a:lvl5pPr algn="r">
              <a:defRPr sz="1275" b="0">
                <a:solidFill>
                  <a:srgbClr val="555555"/>
                </a:solidFill>
                <a:latin typeface="Arial"/>
                <a:ea typeface="Arial"/>
                <a:cs typeface="Arial"/>
              </a:defRPr>
            </a:lvl5pPr>
            <a:lvl6pPr algn="r">
              <a:defRPr sz="1275" b="0">
                <a:solidFill>
                  <a:srgbClr val="555555"/>
                </a:solidFill>
                <a:latin typeface="Arial"/>
                <a:ea typeface="Arial"/>
                <a:cs typeface="Arial"/>
              </a:defRPr>
            </a:lvl6pPr>
            <a:lvl7pPr algn="r">
              <a:defRPr sz="1275" b="0">
                <a:solidFill>
                  <a:srgbClr val="555555"/>
                </a:solidFill>
                <a:latin typeface="Arial"/>
                <a:ea typeface="Arial"/>
                <a:cs typeface="Arial"/>
              </a:defRPr>
            </a:lvl7pPr>
            <a:lvl8pPr algn="r">
              <a:defRPr sz="1275" b="0">
                <a:solidFill>
                  <a:srgbClr val="555555"/>
                </a:solidFill>
                <a:latin typeface="Arial"/>
                <a:ea typeface="Arial"/>
                <a:cs typeface="Arial"/>
              </a:defRPr>
            </a:lvl8pPr>
            <a:lvl9pPr algn="r">
              <a:defRPr sz="1275" b="0">
                <a:solidFill>
                  <a:srgbClr val="555555"/>
                </a:solidFill>
                <a:latin typeface="Arial"/>
                <a:ea typeface="Arial"/>
                <a:cs typeface="Arial"/>
              </a:defRPr>
            </a:lvl9pPr>
          </a:lstStyle>
          <a:p>
            <a:pPr algn="r">
              <a:defRPr sz="1275" b="0">
                <a:solidFill>
                  <a:srgbClr val="555555"/>
                </a:solidFill>
                <a:latin typeface="Arial"/>
                <a:ea typeface="Arial"/>
                <a:cs typeface="Arial"/>
              </a:defRPr>
            </a:pPr>
            <a:r>
              <a:rPr sz="1275" b="0">
                <a:solidFill>
                  <a:srgbClr val="555555"/>
                </a:solidFill>
                <a:latin typeface="Arial"/>
                <a:ea typeface="Arial"/>
                <a:cs typeface="Arial"/>
              </a:rPr>
              <a:t>Output classes</a:t>
            </a:r>
          </a:p>
        </p:txBody>
      </p:sp>
      <p:sp>
        <p:nvSpPr>
          <p:cNvPr id="10" name="Walk">
            <a:extLst>
              <a:ext uri="{FF2B5EF4-FFF2-40B4-BE49-F238E27FC236}">
                <a16:creationId xmlns:a16="http://schemas.microsoft.com/office/drawing/2014/main" id="{1EDC7976-D438-4C1C-81A1-826B1D2D9B2F}"/>
              </a:ext>
            </a:extLst>
          </p:cNvPr>
          <p:cNvSpPr>
            <a:spLocks noGrp="1"/>
          </p:cNvSpPr>
          <p:nvPr/>
        </p:nvSpPr>
        <p:spPr>
          <a:xfrm>
            <a:off x="2488782" y="918210"/>
            <a:ext cx="914400" cy="333375"/>
          </a:xfrm>
          <a:prstGeom prst="rect">
            <a:avLst/>
          </a:prstGeom>
          <a:noFill/>
          <a:ln w="0">
            <a:noFill/>
          </a:ln>
        </p:spPr>
        <p:txBody>
          <a:bodyPr wrap="square" lIns="0" tIns="0" rIns="0" bIns="0" anchor="ctr"/>
          <a:lstStyle>
            <a:defPPr algn="ctr">
              <a:defRPr sz="1350" b="1">
                <a:solidFill>
                  <a:srgbClr val="660874"/>
                </a:solidFill>
                <a:latin typeface="Arial"/>
                <a:ea typeface="Arial"/>
                <a:cs typeface="Arial"/>
              </a:defRPr>
            </a:defPPr>
            <a:lvl1pPr algn="ctr">
              <a:defRPr sz="1350" b="1">
                <a:solidFill>
                  <a:srgbClr val="660874"/>
                </a:solidFill>
                <a:latin typeface="Arial"/>
                <a:ea typeface="Arial"/>
                <a:cs typeface="Arial"/>
              </a:defRPr>
            </a:lvl1pPr>
            <a:lvl2pPr algn="ctr">
              <a:defRPr sz="1350" b="1">
                <a:solidFill>
                  <a:srgbClr val="660874"/>
                </a:solidFill>
                <a:latin typeface="Arial"/>
                <a:ea typeface="Arial"/>
                <a:cs typeface="Arial"/>
              </a:defRPr>
            </a:lvl2pPr>
            <a:lvl3pPr algn="ctr">
              <a:defRPr sz="1350" b="1">
                <a:solidFill>
                  <a:srgbClr val="660874"/>
                </a:solidFill>
                <a:latin typeface="Arial"/>
                <a:ea typeface="Arial"/>
                <a:cs typeface="Arial"/>
              </a:defRPr>
            </a:lvl3pPr>
            <a:lvl4pPr algn="ctr">
              <a:defRPr sz="1350" b="1">
                <a:solidFill>
                  <a:srgbClr val="660874"/>
                </a:solidFill>
                <a:latin typeface="Arial"/>
                <a:ea typeface="Arial"/>
                <a:cs typeface="Arial"/>
              </a:defRPr>
            </a:lvl4pPr>
            <a:lvl5pPr algn="ctr">
              <a:defRPr sz="1350" b="1">
                <a:solidFill>
                  <a:srgbClr val="660874"/>
                </a:solidFill>
                <a:latin typeface="Arial"/>
                <a:ea typeface="Arial"/>
                <a:cs typeface="Arial"/>
              </a:defRPr>
            </a:lvl5pPr>
            <a:lvl6pPr algn="ctr">
              <a:defRPr sz="1350" b="1">
                <a:solidFill>
                  <a:srgbClr val="660874"/>
                </a:solidFill>
                <a:latin typeface="Arial"/>
                <a:ea typeface="Arial"/>
                <a:cs typeface="Arial"/>
              </a:defRPr>
            </a:lvl6pPr>
            <a:lvl7pPr algn="ctr">
              <a:defRPr sz="1350" b="1">
                <a:solidFill>
                  <a:srgbClr val="660874"/>
                </a:solidFill>
                <a:latin typeface="Arial"/>
                <a:ea typeface="Arial"/>
                <a:cs typeface="Arial"/>
              </a:defRPr>
            </a:lvl7pPr>
            <a:lvl8pPr algn="ctr">
              <a:defRPr sz="1350" b="1">
                <a:solidFill>
                  <a:srgbClr val="660874"/>
                </a:solidFill>
                <a:latin typeface="Arial"/>
                <a:ea typeface="Arial"/>
                <a:cs typeface="Arial"/>
              </a:defRPr>
            </a:lvl8pPr>
            <a:lvl9pPr algn="ctr">
              <a:defRPr sz="1350" b="1">
                <a:solidFill>
                  <a:srgbClr val="660874"/>
                </a:solidFill>
                <a:latin typeface="Arial"/>
                <a:ea typeface="Arial"/>
                <a:cs typeface="Arial"/>
              </a:defRPr>
            </a:lvl9pPr>
          </a:lstStyle>
          <a:p>
            <a:pPr algn="ctr">
              <a:defRPr sz="1350" b="1">
                <a:solidFill>
                  <a:srgbClr val="660874"/>
                </a:solidFill>
                <a:latin typeface="Arial"/>
                <a:ea typeface="Arial"/>
                <a:cs typeface="Arial"/>
              </a:defRPr>
            </a:pPr>
            <a:r>
              <a:rPr sz="1350" b="1">
                <a:solidFill>
                  <a:srgbClr val="660874"/>
                </a:solidFill>
                <a:latin typeface="Arial"/>
                <a:ea typeface="Arial"/>
                <a:cs typeface="Arial"/>
              </a:rPr>
              <a:t>Walk</a:t>
            </a:r>
          </a:p>
        </p:txBody>
      </p:sp>
      <p:sp>
        <p:nvSpPr>
          <p:cNvPr id="11" name="Slow down">
            <a:extLst>
              <a:ext uri="{FF2B5EF4-FFF2-40B4-BE49-F238E27FC236}">
                <a16:creationId xmlns:a16="http://schemas.microsoft.com/office/drawing/2014/main" id="{DABC0C52-AD14-4C25-B2A9-576EDA81D98C}"/>
              </a:ext>
            </a:extLst>
          </p:cNvPr>
          <p:cNvSpPr>
            <a:spLocks noGrp="1"/>
          </p:cNvSpPr>
          <p:nvPr/>
        </p:nvSpPr>
        <p:spPr>
          <a:xfrm>
            <a:off x="4118059" y="918210"/>
            <a:ext cx="914400" cy="333375"/>
          </a:xfrm>
          <a:prstGeom prst="rect">
            <a:avLst/>
          </a:prstGeom>
          <a:noFill/>
          <a:ln w="0">
            <a:noFill/>
          </a:ln>
        </p:spPr>
        <p:txBody>
          <a:bodyPr wrap="square" lIns="0" tIns="0" rIns="0" bIns="0" anchor="ctr"/>
          <a:lstStyle>
            <a:defPPr algn="ctr">
              <a:defRPr sz="1350" b="1">
                <a:solidFill>
                  <a:srgbClr val="660874"/>
                </a:solidFill>
                <a:latin typeface="Arial"/>
                <a:ea typeface="Arial"/>
                <a:cs typeface="Arial"/>
              </a:defRPr>
            </a:defPPr>
            <a:lvl1pPr algn="ctr">
              <a:defRPr sz="1350" b="1">
                <a:solidFill>
                  <a:srgbClr val="660874"/>
                </a:solidFill>
                <a:latin typeface="Arial"/>
                <a:ea typeface="Arial"/>
                <a:cs typeface="Arial"/>
              </a:defRPr>
            </a:lvl1pPr>
            <a:lvl2pPr algn="ctr">
              <a:defRPr sz="1350" b="1">
                <a:solidFill>
                  <a:srgbClr val="660874"/>
                </a:solidFill>
                <a:latin typeface="Arial"/>
                <a:ea typeface="Arial"/>
                <a:cs typeface="Arial"/>
              </a:defRPr>
            </a:lvl2pPr>
            <a:lvl3pPr algn="ctr">
              <a:defRPr sz="1350" b="1">
                <a:solidFill>
                  <a:srgbClr val="660874"/>
                </a:solidFill>
                <a:latin typeface="Arial"/>
                <a:ea typeface="Arial"/>
                <a:cs typeface="Arial"/>
              </a:defRPr>
            </a:lvl3pPr>
            <a:lvl4pPr algn="ctr">
              <a:defRPr sz="1350" b="1">
                <a:solidFill>
                  <a:srgbClr val="660874"/>
                </a:solidFill>
                <a:latin typeface="Arial"/>
                <a:ea typeface="Arial"/>
                <a:cs typeface="Arial"/>
              </a:defRPr>
            </a:lvl4pPr>
            <a:lvl5pPr algn="ctr">
              <a:defRPr sz="1350" b="1">
                <a:solidFill>
                  <a:srgbClr val="660874"/>
                </a:solidFill>
                <a:latin typeface="Arial"/>
                <a:ea typeface="Arial"/>
                <a:cs typeface="Arial"/>
              </a:defRPr>
            </a:lvl5pPr>
            <a:lvl6pPr algn="ctr">
              <a:defRPr sz="1350" b="1">
                <a:solidFill>
                  <a:srgbClr val="660874"/>
                </a:solidFill>
                <a:latin typeface="Arial"/>
                <a:ea typeface="Arial"/>
                <a:cs typeface="Arial"/>
              </a:defRPr>
            </a:lvl6pPr>
            <a:lvl7pPr algn="ctr">
              <a:defRPr sz="1350" b="1">
                <a:solidFill>
                  <a:srgbClr val="660874"/>
                </a:solidFill>
                <a:latin typeface="Arial"/>
                <a:ea typeface="Arial"/>
                <a:cs typeface="Arial"/>
              </a:defRPr>
            </a:lvl7pPr>
            <a:lvl8pPr algn="ctr">
              <a:defRPr sz="1350" b="1">
                <a:solidFill>
                  <a:srgbClr val="660874"/>
                </a:solidFill>
                <a:latin typeface="Arial"/>
                <a:ea typeface="Arial"/>
                <a:cs typeface="Arial"/>
              </a:defRPr>
            </a:lvl8pPr>
            <a:lvl9pPr algn="ctr">
              <a:defRPr sz="1350" b="1">
                <a:solidFill>
                  <a:srgbClr val="660874"/>
                </a:solidFill>
                <a:latin typeface="Arial"/>
                <a:ea typeface="Arial"/>
                <a:cs typeface="Arial"/>
              </a:defRPr>
            </a:lvl9pPr>
          </a:lstStyle>
          <a:p>
            <a:pPr algn="ctr">
              <a:defRPr sz="1350" b="1">
                <a:solidFill>
                  <a:srgbClr val="660874"/>
                </a:solidFill>
                <a:latin typeface="Arial"/>
                <a:ea typeface="Arial"/>
                <a:cs typeface="Arial"/>
              </a:defRPr>
            </a:pPr>
            <a:r>
              <a:rPr sz="1350" b="1">
                <a:solidFill>
                  <a:srgbClr val="660874"/>
                </a:solidFill>
                <a:latin typeface="Arial"/>
                <a:ea typeface="Arial"/>
                <a:cs typeface="Arial"/>
              </a:rPr>
              <a:t>Slow down</a:t>
            </a:r>
          </a:p>
        </p:txBody>
      </p:sp>
      <p:sp>
        <p:nvSpPr>
          <p:cNvPr id="12" name="Pause">
            <a:extLst>
              <a:ext uri="{FF2B5EF4-FFF2-40B4-BE49-F238E27FC236}">
                <a16:creationId xmlns:a16="http://schemas.microsoft.com/office/drawing/2014/main" id="{D5061060-EF2E-48EF-AA39-083A73D12CAE}"/>
              </a:ext>
            </a:extLst>
          </p:cNvPr>
          <p:cNvSpPr>
            <a:spLocks noGrp="1"/>
          </p:cNvSpPr>
          <p:nvPr/>
        </p:nvSpPr>
        <p:spPr>
          <a:xfrm>
            <a:off x="4932697" y="918210"/>
            <a:ext cx="914400" cy="333375"/>
          </a:xfrm>
          <a:prstGeom prst="rect">
            <a:avLst/>
          </a:prstGeom>
          <a:noFill/>
          <a:ln w="0">
            <a:noFill/>
          </a:ln>
        </p:spPr>
        <p:txBody>
          <a:bodyPr wrap="square" lIns="0" tIns="0" rIns="0" bIns="0" anchor="ctr"/>
          <a:lstStyle>
            <a:defPPr algn="ctr">
              <a:defRPr sz="1350" b="1">
                <a:solidFill>
                  <a:srgbClr val="660874"/>
                </a:solidFill>
                <a:latin typeface="Arial"/>
                <a:ea typeface="Arial"/>
                <a:cs typeface="Arial"/>
              </a:defRPr>
            </a:defPPr>
            <a:lvl1pPr algn="ctr">
              <a:defRPr sz="1350" b="1">
                <a:solidFill>
                  <a:srgbClr val="660874"/>
                </a:solidFill>
                <a:latin typeface="Arial"/>
                <a:ea typeface="Arial"/>
                <a:cs typeface="Arial"/>
              </a:defRPr>
            </a:lvl1pPr>
            <a:lvl2pPr algn="ctr">
              <a:defRPr sz="1350" b="1">
                <a:solidFill>
                  <a:srgbClr val="660874"/>
                </a:solidFill>
                <a:latin typeface="Arial"/>
                <a:ea typeface="Arial"/>
                <a:cs typeface="Arial"/>
              </a:defRPr>
            </a:lvl2pPr>
            <a:lvl3pPr algn="ctr">
              <a:defRPr sz="1350" b="1">
                <a:solidFill>
                  <a:srgbClr val="660874"/>
                </a:solidFill>
                <a:latin typeface="Arial"/>
                <a:ea typeface="Arial"/>
                <a:cs typeface="Arial"/>
              </a:defRPr>
            </a:lvl3pPr>
            <a:lvl4pPr algn="ctr">
              <a:defRPr sz="1350" b="1">
                <a:solidFill>
                  <a:srgbClr val="660874"/>
                </a:solidFill>
                <a:latin typeface="Arial"/>
                <a:ea typeface="Arial"/>
                <a:cs typeface="Arial"/>
              </a:defRPr>
            </a:lvl4pPr>
            <a:lvl5pPr algn="ctr">
              <a:defRPr sz="1350" b="1">
                <a:solidFill>
                  <a:srgbClr val="660874"/>
                </a:solidFill>
                <a:latin typeface="Arial"/>
                <a:ea typeface="Arial"/>
                <a:cs typeface="Arial"/>
              </a:defRPr>
            </a:lvl5pPr>
            <a:lvl6pPr algn="ctr">
              <a:defRPr sz="1350" b="1">
                <a:solidFill>
                  <a:srgbClr val="660874"/>
                </a:solidFill>
                <a:latin typeface="Arial"/>
                <a:ea typeface="Arial"/>
                <a:cs typeface="Arial"/>
              </a:defRPr>
            </a:lvl6pPr>
            <a:lvl7pPr algn="ctr">
              <a:defRPr sz="1350" b="1">
                <a:solidFill>
                  <a:srgbClr val="660874"/>
                </a:solidFill>
                <a:latin typeface="Arial"/>
                <a:ea typeface="Arial"/>
                <a:cs typeface="Arial"/>
              </a:defRPr>
            </a:lvl7pPr>
            <a:lvl8pPr algn="ctr">
              <a:defRPr sz="1350" b="1">
                <a:solidFill>
                  <a:srgbClr val="660874"/>
                </a:solidFill>
                <a:latin typeface="Arial"/>
                <a:ea typeface="Arial"/>
                <a:cs typeface="Arial"/>
              </a:defRPr>
            </a:lvl8pPr>
            <a:lvl9pPr algn="ctr">
              <a:defRPr sz="1350" b="1">
                <a:solidFill>
                  <a:srgbClr val="660874"/>
                </a:solidFill>
                <a:latin typeface="Arial"/>
                <a:ea typeface="Arial"/>
                <a:cs typeface="Arial"/>
              </a:defRPr>
            </a:lvl9pPr>
          </a:lstStyle>
          <a:p>
            <a:pPr algn="ctr">
              <a:defRPr sz="1350" b="1">
                <a:solidFill>
                  <a:srgbClr val="660874"/>
                </a:solidFill>
                <a:latin typeface="Arial"/>
                <a:ea typeface="Arial"/>
                <a:cs typeface="Arial"/>
              </a:defRPr>
            </a:pPr>
            <a:r>
              <a:rPr sz="1350" b="1">
                <a:solidFill>
                  <a:srgbClr val="660874"/>
                </a:solidFill>
                <a:latin typeface="Arial"/>
                <a:ea typeface="Arial"/>
                <a:cs typeface="Arial"/>
              </a:rPr>
              <a:t>Pause</a:t>
            </a:r>
          </a:p>
        </p:txBody>
      </p:sp>
      <p:sp>
        <p:nvSpPr>
          <p:cNvPr id="13" name="Speed up">
            <a:extLst>
              <a:ext uri="{FF2B5EF4-FFF2-40B4-BE49-F238E27FC236}">
                <a16:creationId xmlns:a16="http://schemas.microsoft.com/office/drawing/2014/main" id="{8E30B785-03CD-4BDE-A8C5-29D659D21BB1}"/>
              </a:ext>
            </a:extLst>
          </p:cNvPr>
          <p:cNvSpPr>
            <a:spLocks noGrp="1"/>
          </p:cNvSpPr>
          <p:nvPr/>
        </p:nvSpPr>
        <p:spPr>
          <a:xfrm>
            <a:off x="5747335" y="918210"/>
            <a:ext cx="914400" cy="333375"/>
          </a:xfrm>
          <a:prstGeom prst="rect">
            <a:avLst/>
          </a:prstGeom>
          <a:noFill/>
          <a:ln w="0">
            <a:noFill/>
          </a:ln>
        </p:spPr>
        <p:txBody>
          <a:bodyPr wrap="square" lIns="0" tIns="0" rIns="0" bIns="0" anchor="ctr"/>
          <a:lstStyle>
            <a:defPPr algn="ctr">
              <a:defRPr sz="1350" b="1">
                <a:solidFill>
                  <a:srgbClr val="660874"/>
                </a:solidFill>
                <a:latin typeface="Arial"/>
                <a:ea typeface="Arial"/>
                <a:cs typeface="Arial"/>
              </a:defRPr>
            </a:defPPr>
            <a:lvl1pPr algn="ctr">
              <a:defRPr sz="1350" b="1">
                <a:solidFill>
                  <a:srgbClr val="660874"/>
                </a:solidFill>
                <a:latin typeface="Arial"/>
                <a:ea typeface="Arial"/>
                <a:cs typeface="Arial"/>
              </a:defRPr>
            </a:lvl1pPr>
            <a:lvl2pPr algn="ctr">
              <a:defRPr sz="1350" b="1">
                <a:solidFill>
                  <a:srgbClr val="660874"/>
                </a:solidFill>
                <a:latin typeface="Arial"/>
                <a:ea typeface="Arial"/>
                <a:cs typeface="Arial"/>
              </a:defRPr>
            </a:lvl2pPr>
            <a:lvl3pPr algn="ctr">
              <a:defRPr sz="1350" b="1">
                <a:solidFill>
                  <a:srgbClr val="660874"/>
                </a:solidFill>
                <a:latin typeface="Arial"/>
                <a:ea typeface="Arial"/>
                <a:cs typeface="Arial"/>
              </a:defRPr>
            </a:lvl3pPr>
            <a:lvl4pPr algn="ctr">
              <a:defRPr sz="1350" b="1">
                <a:solidFill>
                  <a:srgbClr val="660874"/>
                </a:solidFill>
                <a:latin typeface="Arial"/>
                <a:ea typeface="Arial"/>
                <a:cs typeface="Arial"/>
              </a:defRPr>
            </a:lvl4pPr>
            <a:lvl5pPr algn="ctr">
              <a:defRPr sz="1350" b="1">
                <a:solidFill>
                  <a:srgbClr val="660874"/>
                </a:solidFill>
                <a:latin typeface="Arial"/>
                <a:ea typeface="Arial"/>
                <a:cs typeface="Arial"/>
              </a:defRPr>
            </a:lvl5pPr>
            <a:lvl6pPr algn="ctr">
              <a:defRPr sz="1350" b="1">
                <a:solidFill>
                  <a:srgbClr val="660874"/>
                </a:solidFill>
                <a:latin typeface="Arial"/>
                <a:ea typeface="Arial"/>
                <a:cs typeface="Arial"/>
              </a:defRPr>
            </a:lvl6pPr>
            <a:lvl7pPr algn="ctr">
              <a:defRPr sz="1350" b="1">
                <a:solidFill>
                  <a:srgbClr val="660874"/>
                </a:solidFill>
                <a:latin typeface="Arial"/>
                <a:ea typeface="Arial"/>
                <a:cs typeface="Arial"/>
              </a:defRPr>
            </a:lvl7pPr>
            <a:lvl8pPr algn="ctr">
              <a:defRPr sz="1350" b="1">
                <a:solidFill>
                  <a:srgbClr val="660874"/>
                </a:solidFill>
                <a:latin typeface="Arial"/>
                <a:ea typeface="Arial"/>
                <a:cs typeface="Arial"/>
              </a:defRPr>
            </a:lvl8pPr>
            <a:lvl9pPr algn="ctr">
              <a:defRPr sz="1350" b="1">
                <a:solidFill>
                  <a:srgbClr val="660874"/>
                </a:solidFill>
                <a:latin typeface="Arial"/>
                <a:ea typeface="Arial"/>
                <a:cs typeface="Arial"/>
              </a:defRPr>
            </a:lvl9pPr>
          </a:lstStyle>
          <a:p>
            <a:pPr algn="ctr">
              <a:defRPr sz="1350" b="1">
                <a:solidFill>
                  <a:srgbClr val="660874"/>
                </a:solidFill>
                <a:latin typeface="Arial"/>
                <a:ea typeface="Arial"/>
                <a:cs typeface="Arial"/>
              </a:defRPr>
            </a:pPr>
            <a:r>
              <a:rPr sz="1350" b="1">
                <a:solidFill>
                  <a:srgbClr val="660874"/>
                </a:solidFill>
                <a:latin typeface="Arial"/>
                <a:ea typeface="Arial"/>
                <a:cs typeface="Arial"/>
              </a:rPr>
              <a:t>Speed up</a:t>
            </a:r>
          </a:p>
        </p:txBody>
      </p:sp>
      <p:sp>
        <p:nvSpPr>
          <p:cNvPr id="14" name="Turn">
            <a:extLst>
              <a:ext uri="{FF2B5EF4-FFF2-40B4-BE49-F238E27FC236}">
                <a16:creationId xmlns:a16="http://schemas.microsoft.com/office/drawing/2014/main" id="{BEB0DDE6-AFBA-417C-8861-59F710B3FE23}"/>
              </a:ext>
            </a:extLst>
          </p:cNvPr>
          <p:cNvSpPr>
            <a:spLocks noGrp="1"/>
          </p:cNvSpPr>
          <p:nvPr/>
        </p:nvSpPr>
        <p:spPr>
          <a:xfrm>
            <a:off x="6806364" y="918210"/>
            <a:ext cx="914400" cy="333375"/>
          </a:xfrm>
          <a:prstGeom prst="rect">
            <a:avLst/>
          </a:prstGeom>
          <a:noFill/>
          <a:ln w="0">
            <a:noFill/>
          </a:ln>
        </p:spPr>
        <p:txBody>
          <a:bodyPr wrap="square" lIns="0" tIns="0" rIns="0" bIns="0" anchor="ctr"/>
          <a:lstStyle>
            <a:defPPr algn="ctr">
              <a:defRPr sz="1350" b="1">
                <a:solidFill>
                  <a:srgbClr val="660874"/>
                </a:solidFill>
                <a:latin typeface="Arial"/>
                <a:ea typeface="Arial"/>
                <a:cs typeface="Arial"/>
              </a:defRPr>
            </a:defPPr>
            <a:lvl1pPr algn="ctr">
              <a:defRPr sz="1350" b="1">
                <a:solidFill>
                  <a:srgbClr val="660874"/>
                </a:solidFill>
                <a:latin typeface="Arial"/>
                <a:ea typeface="Arial"/>
                <a:cs typeface="Arial"/>
              </a:defRPr>
            </a:lvl1pPr>
            <a:lvl2pPr algn="ctr">
              <a:defRPr sz="1350" b="1">
                <a:solidFill>
                  <a:srgbClr val="660874"/>
                </a:solidFill>
                <a:latin typeface="Arial"/>
                <a:ea typeface="Arial"/>
                <a:cs typeface="Arial"/>
              </a:defRPr>
            </a:lvl2pPr>
            <a:lvl3pPr algn="ctr">
              <a:defRPr sz="1350" b="1">
                <a:solidFill>
                  <a:srgbClr val="660874"/>
                </a:solidFill>
                <a:latin typeface="Arial"/>
                <a:ea typeface="Arial"/>
                <a:cs typeface="Arial"/>
              </a:defRPr>
            </a:lvl3pPr>
            <a:lvl4pPr algn="ctr">
              <a:defRPr sz="1350" b="1">
                <a:solidFill>
                  <a:srgbClr val="660874"/>
                </a:solidFill>
                <a:latin typeface="Arial"/>
                <a:ea typeface="Arial"/>
                <a:cs typeface="Arial"/>
              </a:defRPr>
            </a:lvl4pPr>
            <a:lvl5pPr algn="ctr">
              <a:defRPr sz="1350" b="1">
                <a:solidFill>
                  <a:srgbClr val="660874"/>
                </a:solidFill>
                <a:latin typeface="Arial"/>
                <a:ea typeface="Arial"/>
                <a:cs typeface="Arial"/>
              </a:defRPr>
            </a:lvl5pPr>
            <a:lvl6pPr algn="ctr">
              <a:defRPr sz="1350" b="1">
                <a:solidFill>
                  <a:srgbClr val="660874"/>
                </a:solidFill>
                <a:latin typeface="Arial"/>
                <a:ea typeface="Arial"/>
                <a:cs typeface="Arial"/>
              </a:defRPr>
            </a:lvl6pPr>
            <a:lvl7pPr algn="ctr">
              <a:defRPr sz="1350" b="1">
                <a:solidFill>
                  <a:srgbClr val="660874"/>
                </a:solidFill>
                <a:latin typeface="Arial"/>
                <a:ea typeface="Arial"/>
                <a:cs typeface="Arial"/>
              </a:defRPr>
            </a:lvl7pPr>
            <a:lvl8pPr algn="ctr">
              <a:defRPr sz="1350" b="1">
                <a:solidFill>
                  <a:srgbClr val="660874"/>
                </a:solidFill>
                <a:latin typeface="Arial"/>
                <a:ea typeface="Arial"/>
                <a:cs typeface="Arial"/>
              </a:defRPr>
            </a:lvl8pPr>
            <a:lvl9pPr algn="ctr">
              <a:defRPr sz="1350" b="1">
                <a:solidFill>
                  <a:srgbClr val="660874"/>
                </a:solidFill>
                <a:latin typeface="Arial"/>
                <a:ea typeface="Arial"/>
                <a:cs typeface="Arial"/>
              </a:defRPr>
            </a:lvl9pPr>
          </a:lstStyle>
          <a:p>
            <a:pPr algn="ctr">
              <a:defRPr sz="1350" b="1">
                <a:solidFill>
                  <a:srgbClr val="660874"/>
                </a:solidFill>
                <a:latin typeface="Arial"/>
                <a:ea typeface="Arial"/>
                <a:cs typeface="Arial"/>
              </a:defRPr>
            </a:pPr>
            <a:r>
              <a:rPr sz="1350" b="1">
                <a:solidFill>
                  <a:srgbClr val="660874"/>
                </a:solidFill>
                <a:latin typeface="Arial"/>
                <a:ea typeface="Arial"/>
                <a:cs typeface="Arial"/>
              </a:rPr>
              <a:t>Turn</a:t>
            </a:r>
          </a:p>
        </p:txBody>
      </p:sp>
      <p:sp>
        <p:nvSpPr>
          <p:cNvPr id="15" name="0">
            <a:extLst>
              <a:ext uri="{FF2B5EF4-FFF2-40B4-BE49-F238E27FC236}">
                <a16:creationId xmlns:a16="http://schemas.microsoft.com/office/drawing/2014/main" id="{5CE80AD6-CEF4-463E-BB0F-D92C37FC5187}"/>
              </a:ext>
            </a:extLst>
          </p:cNvPr>
          <p:cNvSpPr>
            <a:spLocks noGrp="1"/>
          </p:cNvSpPr>
          <p:nvPr/>
        </p:nvSpPr>
        <p:spPr>
          <a:xfrm>
            <a:off x="1485900"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0</a:t>
            </a:r>
          </a:p>
        </p:txBody>
      </p:sp>
      <p:sp>
        <p:nvSpPr>
          <p:cNvPr id="16" name="150">
            <a:extLst>
              <a:ext uri="{FF2B5EF4-FFF2-40B4-BE49-F238E27FC236}">
                <a16:creationId xmlns:a16="http://schemas.microsoft.com/office/drawing/2014/main" id="{90770169-AC92-4F13-AE26-1D2AA9D5E813}"/>
              </a:ext>
            </a:extLst>
          </p:cNvPr>
          <p:cNvSpPr>
            <a:spLocks noGrp="1"/>
          </p:cNvSpPr>
          <p:nvPr/>
        </p:nvSpPr>
        <p:spPr>
          <a:xfrm>
            <a:off x="2707857"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150</a:t>
            </a:r>
          </a:p>
        </p:txBody>
      </p:sp>
      <p:sp>
        <p:nvSpPr>
          <p:cNvPr id="17" name="300">
            <a:extLst>
              <a:ext uri="{FF2B5EF4-FFF2-40B4-BE49-F238E27FC236}">
                <a16:creationId xmlns:a16="http://schemas.microsoft.com/office/drawing/2014/main" id="{1E036B90-0C74-4C41-89ED-73EF1A5054E4}"/>
              </a:ext>
            </a:extLst>
          </p:cNvPr>
          <p:cNvSpPr>
            <a:spLocks noGrp="1"/>
          </p:cNvSpPr>
          <p:nvPr/>
        </p:nvSpPr>
        <p:spPr>
          <a:xfrm>
            <a:off x="3929814"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300</a:t>
            </a:r>
          </a:p>
        </p:txBody>
      </p:sp>
      <p:sp>
        <p:nvSpPr>
          <p:cNvPr id="18" name="450">
            <a:extLst>
              <a:ext uri="{FF2B5EF4-FFF2-40B4-BE49-F238E27FC236}">
                <a16:creationId xmlns:a16="http://schemas.microsoft.com/office/drawing/2014/main" id="{517DDC12-75C0-405B-82A6-5668B98CA029}"/>
              </a:ext>
            </a:extLst>
          </p:cNvPr>
          <p:cNvSpPr>
            <a:spLocks noGrp="1"/>
          </p:cNvSpPr>
          <p:nvPr/>
        </p:nvSpPr>
        <p:spPr>
          <a:xfrm>
            <a:off x="5151772"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450</a:t>
            </a:r>
          </a:p>
        </p:txBody>
      </p:sp>
      <p:sp>
        <p:nvSpPr>
          <p:cNvPr id="19" name="600">
            <a:extLst>
              <a:ext uri="{FF2B5EF4-FFF2-40B4-BE49-F238E27FC236}">
                <a16:creationId xmlns:a16="http://schemas.microsoft.com/office/drawing/2014/main" id="{888963D5-BA15-43A4-B43F-0D7F11838834}"/>
              </a:ext>
            </a:extLst>
          </p:cNvPr>
          <p:cNvSpPr>
            <a:spLocks noGrp="1"/>
          </p:cNvSpPr>
          <p:nvPr/>
        </p:nvSpPr>
        <p:spPr>
          <a:xfrm>
            <a:off x="6373729"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600</a:t>
            </a:r>
          </a:p>
        </p:txBody>
      </p:sp>
      <p:sp>
        <p:nvSpPr>
          <p:cNvPr id="20" name="750">
            <a:extLst>
              <a:ext uri="{FF2B5EF4-FFF2-40B4-BE49-F238E27FC236}">
                <a16:creationId xmlns:a16="http://schemas.microsoft.com/office/drawing/2014/main" id="{4F0BE353-1709-4B4C-A635-7FACC8C16BBE}"/>
              </a:ext>
            </a:extLst>
          </p:cNvPr>
          <p:cNvSpPr>
            <a:spLocks noGrp="1"/>
          </p:cNvSpPr>
          <p:nvPr/>
        </p:nvSpPr>
        <p:spPr>
          <a:xfrm>
            <a:off x="7595686" y="4137660"/>
            <a:ext cx="476250" cy="228600"/>
          </a:xfrm>
          <a:prstGeom prst="rect">
            <a:avLst/>
          </a:prstGeom>
          <a:noFill/>
          <a:ln w="0">
            <a:noFill/>
          </a:ln>
        </p:spPr>
        <p:txBody>
          <a:bodyPr wrap="square" lIns="0" tIns="0" rIns="0" bIns="0" anchor="ctr"/>
          <a:lstStyle>
            <a:defPPr algn="ctr">
              <a:defRPr sz="1275" b="0">
                <a:solidFill>
                  <a:srgbClr val="555555"/>
                </a:solidFill>
                <a:latin typeface="Arial"/>
                <a:ea typeface="Arial"/>
                <a:cs typeface="Arial"/>
              </a:defRPr>
            </a:defPPr>
            <a:lvl1pPr algn="ctr">
              <a:defRPr sz="1275" b="0">
                <a:solidFill>
                  <a:srgbClr val="555555"/>
                </a:solidFill>
                <a:latin typeface="Arial"/>
                <a:ea typeface="Arial"/>
                <a:cs typeface="Arial"/>
              </a:defRPr>
            </a:lvl1pPr>
            <a:lvl2pPr algn="ctr">
              <a:defRPr sz="1275" b="0">
                <a:solidFill>
                  <a:srgbClr val="555555"/>
                </a:solidFill>
                <a:latin typeface="Arial"/>
                <a:ea typeface="Arial"/>
                <a:cs typeface="Arial"/>
              </a:defRPr>
            </a:lvl2pPr>
            <a:lvl3pPr algn="ctr">
              <a:defRPr sz="1275" b="0">
                <a:solidFill>
                  <a:srgbClr val="555555"/>
                </a:solidFill>
                <a:latin typeface="Arial"/>
                <a:ea typeface="Arial"/>
                <a:cs typeface="Arial"/>
              </a:defRPr>
            </a:lvl3pPr>
            <a:lvl4pPr algn="ctr">
              <a:defRPr sz="1275" b="0">
                <a:solidFill>
                  <a:srgbClr val="555555"/>
                </a:solidFill>
                <a:latin typeface="Arial"/>
                <a:ea typeface="Arial"/>
                <a:cs typeface="Arial"/>
              </a:defRPr>
            </a:lvl4pPr>
            <a:lvl5pPr algn="ctr">
              <a:defRPr sz="1275" b="0">
                <a:solidFill>
                  <a:srgbClr val="555555"/>
                </a:solidFill>
                <a:latin typeface="Arial"/>
                <a:ea typeface="Arial"/>
                <a:cs typeface="Arial"/>
              </a:defRPr>
            </a:lvl5pPr>
            <a:lvl6pPr algn="ctr">
              <a:defRPr sz="1275" b="0">
                <a:solidFill>
                  <a:srgbClr val="555555"/>
                </a:solidFill>
                <a:latin typeface="Arial"/>
                <a:ea typeface="Arial"/>
                <a:cs typeface="Arial"/>
              </a:defRPr>
            </a:lvl6pPr>
            <a:lvl7pPr algn="ctr">
              <a:defRPr sz="1275" b="0">
                <a:solidFill>
                  <a:srgbClr val="555555"/>
                </a:solidFill>
                <a:latin typeface="Arial"/>
                <a:ea typeface="Arial"/>
                <a:cs typeface="Arial"/>
              </a:defRPr>
            </a:lvl7pPr>
            <a:lvl8pPr algn="ctr">
              <a:defRPr sz="1275" b="0">
                <a:solidFill>
                  <a:srgbClr val="555555"/>
                </a:solidFill>
                <a:latin typeface="Arial"/>
                <a:ea typeface="Arial"/>
                <a:cs typeface="Arial"/>
              </a:defRPr>
            </a:lvl8pPr>
            <a:lvl9pPr algn="ctr">
              <a:defRPr sz="1275" b="0">
                <a:solidFill>
                  <a:srgbClr val="555555"/>
                </a:solidFill>
                <a:latin typeface="Arial"/>
                <a:ea typeface="Arial"/>
                <a:cs typeface="Arial"/>
              </a:defRPr>
            </a:lvl9pPr>
          </a:lstStyle>
          <a:p>
            <a:pPr algn="ctr">
              <a:defRPr sz="1275" b="0">
                <a:solidFill>
                  <a:srgbClr val="555555"/>
                </a:solidFill>
                <a:latin typeface="Arial"/>
                <a:ea typeface="Arial"/>
                <a:cs typeface="Arial"/>
              </a:defRPr>
            </a:pPr>
            <a:r>
              <a:rPr sz="1275" b="0">
                <a:solidFill>
                  <a:srgbClr val="555555"/>
                </a:solidFill>
                <a:latin typeface="Arial"/>
                <a:ea typeface="Arial"/>
                <a:cs typeface="Arial"/>
              </a:rPr>
              <a:t>750</a:t>
            </a:r>
          </a:p>
        </p:txBody>
      </p:sp>
      <p:sp>
        <p:nvSpPr>
          <p:cNvPr id="21" name="ms">
            <a:extLst>
              <a:ext uri="{FF2B5EF4-FFF2-40B4-BE49-F238E27FC236}">
                <a16:creationId xmlns:a16="http://schemas.microsoft.com/office/drawing/2014/main" id="{EEEC2444-7F23-4B00-8DB9-F1F247992013}"/>
              </a:ext>
            </a:extLst>
          </p:cNvPr>
          <p:cNvSpPr>
            <a:spLocks noGrp="1"/>
          </p:cNvSpPr>
          <p:nvPr/>
        </p:nvSpPr>
        <p:spPr>
          <a:xfrm>
            <a:off x="8143875" y="4137660"/>
            <a:ext cx="381000" cy="228600"/>
          </a:xfrm>
          <a:prstGeom prst="rect">
            <a:avLst/>
          </a:prstGeom>
          <a:noFill/>
          <a:ln w="0">
            <a:noFill/>
          </a:ln>
        </p:spPr>
        <p:txBody>
          <a:bodyPr wrap="square" lIns="0" tIns="0" rIns="0" bIns="0" anchor="ctr"/>
          <a:lstStyle>
            <a:defPPr algn="l">
              <a:defRPr sz="1275" b="0">
                <a:solidFill>
                  <a:srgbClr val="555555"/>
                </a:solidFill>
                <a:latin typeface="Arial"/>
                <a:ea typeface="Arial"/>
                <a:cs typeface="Arial"/>
              </a:defRPr>
            </a:defPPr>
            <a:lvl1pPr algn="l">
              <a:defRPr sz="1275" b="0">
                <a:solidFill>
                  <a:srgbClr val="555555"/>
                </a:solidFill>
                <a:latin typeface="Arial"/>
                <a:ea typeface="Arial"/>
                <a:cs typeface="Arial"/>
              </a:defRPr>
            </a:lvl1pPr>
            <a:lvl2pPr algn="l">
              <a:defRPr sz="1275" b="0">
                <a:solidFill>
                  <a:srgbClr val="555555"/>
                </a:solidFill>
                <a:latin typeface="Arial"/>
                <a:ea typeface="Arial"/>
                <a:cs typeface="Arial"/>
              </a:defRPr>
            </a:lvl2pPr>
            <a:lvl3pPr algn="l">
              <a:defRPr sz="1275" b="0">
                <a:solidFill>
                  <a:srgbClr val="555555"/>
                </a:solidFill>
                <a:latin typeface="Arial"/>
                <a:ea typeface="Arial"/>
                <a:cs typeface="Arial"/>
              </a:defRPr>
            </a:lvl3pPr>
            <a:lvl4pPr algn="l">
              <a:defRPr sz="1275" b="0">
                <a:solidFill>
                  <a:srgbClr val="555555"/>
                </a:solidFill>
                <a:latin typeface="Arial"/>
                <a:ea typeface="Arial"/>
                <a:cs typeface="Arial"/>
              </a:defRPr>
            </a:lvl4pPr>
            <a:lvl5pPr algn="l">
              <a:defRPr sz="1275" b="0">
                <a:solidFill>
                  <a:srgbClr val="555555"/>
                </a:solidFill>
                <a:latin typeface="Arial"/>
                <a:ea typeface="Arial"/>
                <a:cs typeface="Arial"/>
              </a:defRPr>
            </a:lvl5pPr>
            <a:lvl6pPr algn="l">
              <a:defRPr sz="1275" b="0">
                <a:solidFill>
                  <a:srgbClr val="555555"/>
                </a:solidFill>
                <a:latin typeface="Arial"/>
                <a:ea typeface="Arial"/>
                <a:cs typeface="Arial"/>
              </a:defRPr>
            </a:lvl6pPr>
            <a:lvl7pPr algn="l">
              <a:defRPr sz="1275" b="0">
                <a:solidFill>
                  <a:srgbClr val="555555"/>
                </a:solidFill>
                <a:latin typeface="Arial"/>
                <a:ea typeface="Arial"/>
                <a:cs typeface="Arial"/>
              </a:defRPr>
            </a:lvl7pPr>
            <a:lvl8pPr algn="l">
              <a:defRPr sz="1275" b="0">
                <a:solidFill>
                  <a:srgbClr val="555555"/>
                </a:solidFill>
                <a:latin typeface="Arial"/>
                <a:ea typeface="Arial"/>
                <a:cs typeface="Arial"/>
              </a:defRPr>
            </a:lvl8pPr>
            <a:lvl9pPr algn="l">
              <a:defRPr sz="1275" b="0">
                <a:solidFill>
                  <a:srgbClr val="555555"/>
                </a:solidFill>
                <a:latin typeface="Arial"/>
                <a:ea typeface="Arial"/>
                <a:cs typeface="Arial"/>
              </a:defRPr>
            </a:lvl9pPr>
          </a:lstStyle>
          <a:p>
            <a:pPr algn="l">
              <a:defRPr sz="1275" b="0">
                <a:solidFill>
                  <a:srgbClr val="555555"/>
                </a:solidFill>
                <a:latin typeface="Arial"/>
                <a:ea typeface="Arial"/>
                <a:cs typeface="Arial"/>
              </a:defRPr>
            </a:pPr>
            <a:r>
              <a:rPr sz="1275" b="0">
                <a:solidFill>
                  <a:srgbClr val="555555"/>
                </a:solidFill>
                <a:latin typeface="Arial"/>
                <a:ea typeface="Arial"/>
                <a:cs typeface="Arial"/>
              </a:rPr>
              <a:t>ms</a:t>
            </a:r>
          </a:p>
        </p:txBody>
      </p:sp>
      <p:pic>
        <p:nvPicPr>
          <p:cNvPr id="22" name="Picture 21">
            <a:extLst>
              <a:ext uri="{FF2B5EF4-FFF2-40B4-BE49-F238E27FC236}">
                <a16:creationId xmlns:a16="http://schemas.microsoft.com/office/drawing/2014/main" id="{6E6BB6C6-9CE0-467C-BFF3-5117461406D7}"/>
              </a:ext>
            </a:extLst>
          </p:cNvPr>
          <p:cNvPicPr>
            <a:picLocks noChangeAspect="1"/>
          </p:cNvPicPr>
          <p:nvPr/>
        </p:nvPicPr>
        <p:blipFill>
          <a:blip r:embed="rId4"/>
          <a:stretch/>
        </p:blipFill>
        <p:spPr>
          <a:xfrm>
            <a:off x="8186959" y="2232660"/>
            <a:ext cx="56707" cy="1524000"/>
          </a:xfrm>
          <a:prstGeom prst="rect">
            <a:avLst/>
          </a:prstGeom>
        </p:spPr>
      </p:pic>
      <p:sp>
        <p:nvSpPr>
          <p:cNvPr id="23" name="1">
            <a:extLst>
              <a:ext uri="{FF2B5EF4-FFF2-40B4-BE49-F238E27FC236}">
                <a16:creationId xmlns:a16="http://schemas.microsoft.com/office/drawing/2014/main" id="{92C6EA7E-3ED4-4998-A1C4-421E955D2205}"/>
              </a:ext>
            </a:extLst>
          </p:cNvPr>
          <p:cNvSpPr>
            <a:spLocks noGrp="1"/>
          </p:cNvSpPr>
          <p:nvPr/>
        </p:nvSpPr>
        <p:spPr>
          <a:xfrm>
            <a:off x="8372475" y="2137410"/>
            <a:ext cx="238125" cy="238125"/>
          </a:xfrm>
          <a:prstGeom prst="rect">
            <a:avLst/>
          </a:prstGeom>
          <a:noFill/>
          <a:ln w="0">
            <a:noFill/>
          </a:ln>
        </p:spPr>
        <p:txBody>
          <a:bodyPr wrap="square" lIns="0" tIns="0" rIns="0" bIns="0" anchor="ctr"/>
          <a:lstStyle>
            <a:defPPr algn="l">
              <a:defRPr sz="1275" b="0">
                <a:solidFill>
                  <a:srgbClr val="555555"/>
                </a:solidFill>
                <a:latin typeface="Arial"/>
                <a:ea typeface="Arial"/>
                <a:cs typeface="Arial"/>
              </a:defRPr>
            </a:defPPr>
            <a:lvl1pPr algn="l">
              <a:defRPr sz="1275" b="0">
                <a:solidFill>
                  <a:srgbClr val="555555"/>
                </a:solidFill>
                <a:latin typeface="Arial"/>
                <a:ea typeface="Arial"/>
                <a:cs typeface="Arial"/>
              </a:defRPr>
            </a:lvl1pPr>
            <a:lvl2pPr algn="l">
              <a:defRPr sz="1275" b="0">
                <a:solidFill>
                  <a:srgbClr val="555555"/>
                </a:solidFill>
                <a:latin typeface="Arial"/>
                <a:ea typeface="Arial"/>
                <a:cs typeface="Arial"/>
              </a:defRPr>
            </a:lvl2pPr>
            <a:lvl3pPr algn="l">
              <a:defRPr sz="1275" b="0">
                <a:solidFill>
                  <a:srgbClr val="555555"/>
                </a:solidFill>
                <a:latin typeface="Arial"/>
                <a:ea typeface="Arial"/>
                <a:cs typeface="Arial"/>
              </a:defRPr>
            </a:lvl3pPr>
            <a:lvl4pPr algn="l">
              <a:defRPr sz="1275" b="0">
                <a:solidFill>
                  <a:srgbClr val="555555"/>
                </a:solidFill>
                <a:latin typeface="Arial"/>
                <a:ea typeface="Arial"/>
                <a:cs typeface="Arial"/>
              </a:defRPr>
            </a:lvl4pPr>
            <a:lvl5pPr algn="l">
              <a:defRPr sz="1275" b="0">
                <a:solidFill>
                  <a:srgbClr val="555555"/>
                </a:solidFill>
                <a:latin typeface="Arial"/>
                <a:ea typeface="Arial"/>
                <a:cs typeface="Arial"/>
              </a:defRPr>
            </a:lvl5pPr>
            <a:lvl6pPr algn="l">
              <a:defRPr sz="1275" b="0">
                <a:solidFill>
                  <a:srgbClr val="555555"/>
                </a:solidFill>
                <a:latin typeface="Arial"/>
                <a:ea typeface="Arial"/>
                <a:cs typeface="Arial"/>
              </a:defRPr>
            </a:lvl6pPr>
            <a:lvl7pPr algn="l">
              <a:defRPr sz="1275" b="0">
                <a:solidFill>
                  <a:srgbClr val="555555"/>
                </a:solidFill>
                <a:latin typeface="Arial"/>
                <a:ea typeface="Arial"/>
                <a:cs typeface="Arial"/>
              </a:defRPr>
            </a:lvl7pPr>
            <a:lvl8pPr algn="l">
              <a:defRPr sz="1275" b="0">
                <a:solidFill>
                  <a:srgbClr val="555555"/>
                </a:solidFill>
                <a:latin typeface="Arial"/>
                <a:ea typeface="Arial"/>
                <a:cs typeface="Arial"/>
              </a:defRPr>
            </a:lvl8pPr>
            <a:lvl9pPr algn="l">
              <a:defRPr sz="1275" b="0">
                <a:solidFill>
                  <a:srgbClr val="555555"/>
                </a:solidFill>
                <a:latin typeface="Arial"/>
                <a:ea typeface="Arial"/>
                <a:cs typeface="Arial"/>
              </a:defRPr>
            </a:lvl9pPr>
          </a:lstStyle>
          <a:p>
            <a:pPr algn="l">
              <a:defRPr sz="1275" b="0">
                <a:solidFill>
                  <a:srgbClr val="555555"/>
                </a:solidFill>
                <a:latin typeface="Arial"/>
                <a:ea typeface="Arial"/>
                <a:cs typeface="Arial"/>
              </a:defRPr>
            </a:pPr>
            <a:r>
              <a:rPr sz="1275" b="0">
                <a:solidFill>
                  <a:srgbClr val="555555"/>
                </a:solidFill>
                <a:latin typeface="Arial"/>
                <a:ea typeface="Arial"/>
                <a:cs typeface="Arial"/>
              </a:rPr>
              <a:t>1</a:t>
            </a:r>
          </a:p>
        </p:txBody>
      </p:sp>
      <p:sp>
        <p:nvSpPr>
          <p:cNvPr id="24" name="0">
            <a:extLst>
              <a:ext uri="{FF2B5EF4-FFF2-40B4-BE49-F238E27FC236}">
                <a16:creationId xmlns:a16="http://schemas.microsoft.com/office/drawing/2014/main" id="{9D07160D-475F-4200-A795-2A3445C8E42A}"/>
              </a:ext>
            </a:extLst>
          </p:cNvPr>
          <p:cNvSpPr>
            <a:spLocks noGrp="1"/>
          </p:cNvSpPr>
          <p:nvPr/>
        </p:nvSpPr>
        <p:spPr>
          <a:xfrm>
            <a:off x="8372475" y="3613785"/>
            <a:ext cx="238125" cy="238125"/>
          </a:xfrm>
          <a:prstGeom prst="rect">
            <a:avLst/>
          </a:prstGeom>
          <a:noFill/>
          <a:ln w="0">
            <a:noFill/>
          </a:ln>
        </p:spPr>
        <p:txBody>
          <a:bodyPr wrap="square" lIns="0" tIns="0" rIns="0" bIns="0" anchor="ctr"/>
          <a:lstStyle>
            <a:defPPr algn="l">
              <a:defRPr sz="1275" b="0">
                <a:solidFill>
                  <a:srgbClr val="555555"/>
                </a:solidFill>
                <a:latin typeface="Arial"/>
                <a:ea typeface="Arial"/>
                <a:cs typeface="Arial"/>
              </a:defRPr>
            </a:defPPr>
            <a:lvl1pPr algn="l">
              <a:defRPr sz="1275" b="0">
                <a:solidFill>
                  <a:srgbClr val="555555"/>
                </a:solidFill>
                <a:latin typeface="Arial"/>
                <a:ea typeface="Arial"/>
                <a:cs typeface="Arial"/>
              </a:defRPr>
            </a:lvl1pPr>
            <a:lvl2pPr algn="l">
              <a:defRPr sz="1275" b="0">
                <a:solidFill>
                  <a:srgbClr val="555555"/>
                </a:solidFill>
                <a:latin typeface="Arial"/>
                <a:ea typeface="Arial"/>
                <a:cs typeface="Arial"/>
              </a:defRPr>
            </a:lvl2pPr>
            <a:lvl3pPr algn="l">
              <a:defRPr sz="1275" b="0">
                <a:solidFill>
                  <a:srgbClr val="555555"/>
                </a:solidFill>
                <a:latin typeface="Arial"/>
                <a:ea typeface="Arial"/>
                <a:cs typeface="Arial"/>
              </a:defRPr>
            </a:lvl3pPr>
            <a:lvl4pPr algn="l">
              <a:defRPr sz="1275" b="0">
                <a:solidFill>
                  <a:srgbClr val="555555"/>
                </a:solidFill>
                <a:latin typeface="Arial"/>
                <a:ea typeface="Arial"/>
                <a:cs typeface="Arial"/>
              </a:defRPr>
            </a:lvl4pPr>
            <a:lvl5pPr algn="l">
              <a:defRPr sz="1275" b="0">
                <a:solidFill>
                  <a:srgbClr val="555555"/>
                </a:solidFill>
                <a:latin typeface="Arial"/>
                <a:ea typeface="Arial"/>
                <a:cs typeface="Arial"/>
              </a:defRPr>
            </a:lvl5pPr>
            <a:lvl6pPr algn="l">
              <a:defRPr sz="1275" b="0">
                <a:solidFill>
                  <a:srgbClr val="555555"/>
                </a:solidFill>
                <a:latin typeface="Arial"/>
                <a:ea typeface="Arial"/>
                <a:cs typeface="Arial"/>
              </a:defRPr>
            </a:lvl6pPr>
            <a:lvl7pPr algn="l">
              <a:defRPr sz="1275" b="0">
                <a:solidFill>
                  <a:srgbClr val="555555"/>
                </a:solidFill>
                <a:latin typeface="Arial"/>
                <a:ea typeface="Arial"/>
                <a:cs typeface="Arial"/>
              </a:defRPr>
            </a:lvl7pPr>
            <a:lvl8pPr algn="l">
              <a:defRPr sz="1275" b="0">
                <a:solidFill>
                  <a:srgbClr val="555555"/>
                </a:solidFill>
                <a:latin typeface="Arial"/>
                <a:ea typeface="Arial"/>
                <a:cs typeface="Arial"/>
              </a:defRPr>
            </a:lvl8pPr>
            <a:lvl9pPr algn="l">
              <a:defRPr sz="1275" b="0">
                <a:solidFill>
                  <a:srgbClr val="555555"/>
                </a:solidFill>
                <a:latin typeface="Arial"/>
                <a:ea typeface="Arial"/>
                <a:cs typeface="Arial"/>
              </a:defRPr>
            </a:lvl9pPr>
          </a:lstStyle>
          <a:p>
            <a:pPr algn="l">
              <a:defRPr sz="1275" b="0">
                <a:solidFill>
                  <a:srgbClr val="555555"/>
                </a:solidFill>
                <a:latin typeface="Arial"/>
                <a:ea typeface="Arial"/>
                <a:cs typeface="Arial"/>
              </a:defRPr>
            </a:pPr>
            <a:r>
              <a:rPr sz="1275" b="0">
                <a:solidFill>
                  <a:srgbClr val="555555"/>
                </a:solidFill>
                <a:latin typeface="Arial"/>
                <a:ea typeface="Arial"/>
                <a:cs typeface="Arial"/>
              </a:rPr>
              <a:t>0</a:t>
            </a:r>
          </a:p>
        </p:txBody>
      </p:sp>
      <p:sp>
        <p:nvSpPr>
          <p:cNvPr id="25" name="PCA&#10;intensity">
            <a:extLst>
              <a:ext uri="{FF2B5EF4-FFF2-40B4-BE49-F238E27FC236}">
                <a16:creationId xmlns:a16="http://schemas.microsoft.com/office/drawing/2014/main" id="{FCFC4F4D-7747-46BA-A4C4-592D73BB2100}"/>
              </a:ext>
            </a:extLst>
          </p:cNvPr>
          <p:cNvSpPr>
            <a:spLocks noGrp="1"/>
          </p:cNvSpPr>
          <p:nvPr/>
        </p:nvSpPr>
        <p:spPr>
          <a:xfrm>
            <a:off x="8001000" y="1518285"/>
            <a:ext cx="952500" cy="619125"/>
          </a:xfrm>
          <a:prstGeom prst="rect">
            <a:avLst/>
          </a:prstGeom>
          <a:noFill/>
          <a:ln w="0">
            <a:noFill/>
          </a:ln>
        </p:spPr>
        <p:txBody>
          <a:bodyPr wrap="square" lIns="0" tIns="0" rIns="0" bIns="0" anchor="ctr"/>
          <a:lstStyle>
            <a:defPPr algn="l">
              <a:defRPr sz="1275" b="0">
                <a:solidFill>
                  <a:srgbClr val="555555"/>
                </a:solidFill>
                <a:latin typeface="Arial"/>
                <a:ea typeface="Arial"/>
                <a:cs typeface="Arial"/>
              </a:defRPr>
            </a:defPPr>
            <a:lvl1pPr algn="l">
              <a:defRPr sz="1275" b="0">
                <a:solidFill>
                  <a:srgbClr val="555555"/>
                </a:solidFill>
                <a:latin typeface="Arial"/>
                <a:ea typeface="Arial"/>
                <a:cs typeface="Arial"/>
              </a:defRPr>
            </a:lvl1pPr>
            <a:lvl2pPr algn="l">
              <a:defRPr sz="1275" b="0">
                <a:solidFill>
                  <a:srgbClr val="555555"/>
                </a:solidFill>
                <a:latin typeface="Arial"/>
                <a:ea typeface="Arial"/>
                <a:cs typeface="Arial"/>
              </a:defRPr>
            </a:lvl2pPr>
            <a:lvl3pPr algn="l">
              <a:defRPr sz="1275" b="0">
                <a:solidFill>
                  <a:srgbClr val="555555"/>
                </a:solidFill>
                <a:latin typeface="Arial"/>
                <a:ea typeface="Arial"/>
                <a:cs typeface="Arial"/>
              </a:defRPr>
            </a:lvl3pPr>
            <a:lvl4pPr algn="l">
              <a:defRPr sz="1275" b="0">
                <a:solidFill>
                  <a:srgbClr val="555555"/>
                </a:solidFill>
                <a:latin typeface="Arial"/>
                <a:ea typeface="Arial"/>
                <a:cs typeface="Arial"/>
              </a:defRPr>
            </a:lvl4pPr>
            <a:lvl5pPr algn="l">
              <a:defRPr sz="1275" b="0">
                <a:solidFill>
                  <a:srgbClr val="555555"/>
                </a:solidFill>
                <a:latin typeface="Arial"/>
                <a:ea typeface="Arial"/>
                <a:cs typeface="Arial"/>
              </a:defRPr>
            </a:lvl5pPr>
            <a:lvl6pPr algn="l">
              <a:defRPr sz="1275" b="0">
                <a:solidFill>
                  <a:srgbClr val="555555"/>
                </a:solidFill>
                <a:latin typeface="Arial"/>
                <a:ea typeface="Arial"/>
                <a:cs typeface="Arial"/>
              </a:defRPr>
            </a:lvl6pPr>
            <a:lvl7pPr algn="l">
              <a:defRPr sz="1275" b="0">
                <a:solidFill>
                  <a:srgbClr val="555555"/>
                </a:solidFill>
                <a:latin typeface="Arial"/>
                <a:ea typeface="Arial"/>
                <a:cs typeface="Arial"/>
              </a:defRPr>
            </a:lvl7pPr>
            <a:lvl8pPr algn="l">
              <a:defRPr sz="1275" b="0">
                <a:solidFill>
                  <a:srgbClr val="555555"/>
                </a:solidFill>
                <a:latin typeface="Arial"/>
                <a:ea typeface="Arial"/>
                <a:cs typeface="Arial"/>
              </a:defRPr>
            </a:lvl8pPr>
            <a:lvl9pPr algn="l">
              <a:defRPr sz="1275" b="0">
                <a:solidFill>
                  <a:srgbClr val="555555"/>
                </a:solidFill>
                <a:latin typeface="Arial"/>
                <a:ea typeface="Arial"/>
                <a:cs typeface="Arial"/>
              </a:defRPr>
            </a:lvl9pPr>
          </a:lstStyle>
          <a:p>
            <a:pPr algn="l">
              <a:defRPr sz="1275" b="0">
                <a:solidFill>
                  <a:srgbClr val="555555"/>
                </a:solidFill>
                <a:latin typeface="Arial"/>
                <a:ea typeface="Arial"/>
                <a:cs typeface="Arial"/>
              </a:defRPr>
            </a:pPr>
            <a:r>
              <a:rPr sz="1275" b="0">
                <a:solidFill>
                  <a:srgbClr val="555555"/>
                </a:solidFill>
                <a:latin typeface="Arial"/>
                <a:ea typeface="Arial"/>
                <a:cs typeface="Arial"/>
              </a:rPr>
              <a:t>PCA</a:t>
            </a:r>
          </a:p>
          <a:p>
            <a:pPr algn="l">
              <a:defRPr sz="1275" b="0">
                <a:solidFill>
                  <a:srgbClr val="555555"/>
                </a:solidFill>
                <a:latin typeface="Arial"/>
                <a:ea typeface="Arial"/>
                <a:cs typeface="Arial"/>
              </a:defRPr>
            </a:pPr>
            <a:r>
              <a:rPr sz="1275" b="0">
                <a:solidFill>
                  <a:srgbClr val="555555"/>
                </a:solidFill>
                <a:latin typeface="Arial"/>
                <a:ea typeface="Arial"/>
                <a:cs typeface="Arial"/>
              </a:rPr>
              <a:t>intensity</a:t>
            </a:r>
          </a:p>
        </p:txBody>
      </p:sp>
      <p:sp>
        <p:nvSpPr>
          <p:cNvPr id="26" name="Qualitative latent structure; physiological c">
            <a:extLst>
              <a:ext uri="{FF2B5EF4-FFF2-40B4-BE49-F238E27FC236}">
                <a16:creationId xmlns:a16="http://schemas.microsoft.com/office/drawing/2014/main" id="{1CB3A4E9-2059-412B-A471-D27024844D08}"/>
              </a:ext>
            </a:extLst>
          </p:cNvPr>
          <p:cNvSpPr>
            <a:spLocks noGrp="1"/>
          </p:cNvSpPr>
          <p:nvPr/>
        </p:nvSpPr>
        <p:spPr>
          <a:xfrm>
            <a:off x="457200" y="4499610"/>
            <a:ext cx="8229600" cy="285750"/>
          </a:xfrm>
          <a:prstGeom prst="rect">
            <a:avLst/>
          </a:prstGeom>
          <a:noFill/>
          <a:ln w="0">
            <a:noFill/>
          </a:ln>
        </p:spPr>
        <p:txBody>
          <a:bodyPr wrap="square" lIns="0" tIns="0" rIns="0" bIns="0" anchor="ctr"/>
          <a:lstStyle>
            <a:defPPr algn="ctr">
              <a:defRPr sz="1650" b="1">
                <a:solidFill>
                  <a:srgbClr val="660874"/>
                </a:solidFill>
                <a:latin typeface="Arial"/>
                <a:ea typeface="Arial"/>
                <a:cs typeface="Arial"/>
              </a:defRPr>
            </a:defPPr>
            <a:lvl1pPr algn="ctr">
              <a:defRPr sz="1650" b="1">
                <a:solidFill>
                  <a:srgbClr val="660874"/>
                </a:solidFill>
                <a:latin typeface="Arial"/>
                <a:ea typeface="Arial"/>
                <a:cs typeface="Arial"/>
              </a:defRPr>
            </a:lvl1pPr>
            <a:lvl2pPr algn="ctr">
              <a:defRPr sz="1650" b="1">
                <a:solidFill>
                  <a:srgbClr val="660874"/>
                </a:solidFill>
                <a:latin typeface="Arial"/>
                <a:ea typeface="Arial"/>
                <a:cs typeface="Arial"/>
              </a:defRPr>
            </a:lvl2pPr>
            <a:lvl3pPr algn="ctr">
              <a:defRPr sz="1650" b="1">
                <a:solidFill>
                  <a:srgbClr val="660874"/>
                </a:solidFill>
                <a:latin typeface="Arial"/>
                <a:ea typeface="Arial"/>
                <a:cs typeface="Arial"/>
              </a:defRPr>
            </a:lvl3pPr>
            <a:lvl4pPr algn="ctr">
              <a:defRPr sz="1650" b="1">
                <a:solidFill>
                  <a:srgbClr val="660874"/>
                </a:solidFill>
                <a:latin typeface="Arial"/>
                <a:ea typeface="Arial"/>
                <a:cs typeface="Arial"/>
              </a:defRPr>
            </a:lvl4pPr>
            <a:lvl5pPr algn="ctr">
              <a:defRPr sz="1650" b="1">
                <a:solidFill>
                  <a:srgbClr val="660874"/>
                </a:solidFill>
                <a:latin typeface="Arial"/>
                <a:ea typeface="Arial"/>
                <a:cs typeface="Arial"/>
              </a:defRPr>
            </a:lvl5pPr>
            <a:lvl6pPr algn="ctr">
              <a:defRPr sz="1650" b="1">
                <a:solidFill>
                  <a:srgbClr val="660874"/>
                </a:solidFill>
                <a:latin typeface="Arial"/>
                <a:ea typeface="Arial"/>
                <a:cs typeface="Arial"/>
              </a:defRPr>
            </a:lvl6pPr>
            <a:lvl7pPr algn="ctr">
              <a:defRPr sz="1650" b="1">
                <a:solidFill>
                  <a:srgbClr val="660874"/>
                </a:solidFill>
                <a:latin typeface="Arial"/>
                <a:ea typeface="Arial"/>
                <a:cs typeface="Arial"/>
              </a:defRPr>
            </a:lvl7pPr>
            <a:lvl8pPr algn="ctr">
              <a:defRPr sz="1650" b="1">
                <a:solidFill>
                  <a:srgbClr val="660874"/>
                </a:solidFill>
                <a:latin typeface="Arial"/>
                <a:ea typeface="Arial"/>
                <a:cs typeface="Arial"/>
              </a:defRPr>
            </a:lvl8pPr>
            <a:lvl9pPr algn="ctr">
              <a:defRPr sz="1650" b="1">
                <a:solidFill>
                  <a:srgbClr val="660874"/>
                </a:solidFill>
                <a:latin typeface="Arial"/>
                <a:ea typeface="Arial"/>
                <a:cs typeface="Arial"/>
              </a:defRPr>
            </a:lvl9pPr>
          </a:lstStyle>
          <a:p>
            <a:pPr algn="ctr">
              <a:defRPr sz="1650" b="1">
                <a:solidFill>
                  <a:srgbClr val="660874"/>
                </a:solidFill>
                <a:latin typeface="Arial"/>
                <a:ea typeface="Arial"/>
                <a:cs typeface="Arial"/>
              </a:defRPr>
            </a:pPr>
            <a:r>
              <a:rPr sz="1650" b="1">
                <a:solidFill>
                  <a:srgbClr val="660874"/>
                </a:solidFill>
                <a:latin typeface="Arial"/>
                <a:ea typeface="Arial"/>
                <a:cs typeface="Arial"/>
              </a:rPr>
              <a:t>Qualitative latent structure; physiological correspondence remains untested</a:t>
            </a:r>
          </a:p>
        </p:txBody>
      </p:sp>
      <p:sp>
        <p:nvSpPr>
          <p:cNvPr id="27"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28"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INSIDE THE MODEL</a:t>
            </a:r>
          </a:p>
        </p:txBody>
      </p:sp>
      <p:sp>
        <p:nvSpPr>
          <p:cNvPr id="29" name="Title 28"/>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Latent responses differ across neuron classes</a:t>
            </a:r>
          </a:p>
        </p:txBody>
      </p:sp>
      <p:sp>
        <p:nvSpPr>
          <p:cNvPr id="30"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Fig. 5, Appendix F; random-graph control: Fig. 8. Cf. [17, 18].</a:t>
            </a:r>
          </a:p>
        </p:txBody>
      </p:sp>
      <p:sp>
        <p:nvSpPr>
          <p:cNvPr id="31"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extLst>
      <p:ext uri="{BB962C8B-B14F-4D97-AF65-F5344CB8AC3E}">
        <p14:creationId xmlns:p14="http://schemas.microsoft.com/office/powerpoint/2010/main" val="1526145807"/>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48640" y="914400"/>
            <a:ext cx="4206240" cy="960120"/>
          </a:xfrm>
        </p:spPr>
        <p:txBody>
          <a:bodyPr wrap="square" anchor="t" lIns="0" rIns="0" tIns="0" bIns="0"/>
          <a:lstStyle/>
          <a:p>
            <a:pPr algn="l">
              <a:lnSpc>
                <a:spcPct val="100000"/>
              </a:lnSpc>
            </a:pPr>
            <a:r>
              <a:rPr sz="6600" b="1">
                <a:solidFill>
                  <a:srgbClr val="660874"/>
                </a:solidFill>
                <a:latin typeface="Arial"/>
              </a:rPr>
              <a:t>FlyGM</a:t>
            </a:r>
          </a:p>
        </p:txBody>
      </p:sp>
      <p:pic>
        <p:nvPicPr>
          <p:cNvPr id="4" name="FlyGM connectome graph layout" descr="image.png"/>
          <p:cNvPicPr>
            <a:picLocks noChangeAspect="1"/>
          </p:cNvPicPr>
          <p:nvPr/>
        </p:nvPicPr>
        <p:blipFill>
          <a:blip r:embed="rId2"/>
          <a:stretch>
            <a:fillRect/>
          </a:stretch>
        </p:blipFill>
        <p:spPr>
          <a:xfrm>
            <a:off x="4800600" y="347472"/>
            <a:ext cx="4114800" cy="4114800"/>
          </a:xfrm>
          <a:prstGeom prst="rect">
            <a:avLst/>
          </a:prstGeom>
        </p:spPr>
      </p:pic>
      <p:sp>
        <p:nvSpPr>
          <p:cNvPr id="5" name="TextBox 4"/>
          <p:cNvSpPr txBox="1"/>
          <p:nvPr/>
        </p:nvSpPr>
        <p:spPr>
          <a:xfrm>
            <a:off x="548640" y="658368"/>
            <a:ext cx="4389120" cy="237744"/>
          </a:xfrm>
          <a:prstGeom prst="rect">
            <a:avLst/>
          </a:prstGeom>
          <a:noFill/>
        </p:spPr>
        <p:txBody>
          <a:bodyPr wrap="square" lIns="0" rIns="0" tIns="0" bIns="0" anchor="t">
            <a:noAutofit/>
          </a:bodyPr>
          <a:lstStyle/>
          <a:p>
            <a:pPr algn="l">
              <a:lnSpc>
                <a:spcPct val="105000"/>
              </a:lnSpc>
            </a:pPr>
            <a:r>
              <a:rPr sz="1100" b="1" i="0" spc="150">
                <a:solidFill>
                  <a:srgbClr val="D55E00"/>
                </a:solidFill>
                <a:latin typeface="Arial"/>
              </a:rPr>
              <a:t>AIAS+ 2026  ·  ORAL PRESENTATION</a:t>
            </a:r>
          </a:p>
        </p:txBody>
      </p:sp>
      <p:sp>
        <p:nvSpPr>
          <p:cNvPr id="6" name="TextBox 5"/>
          <p:cNvSpPr txBox="1"/>
          <p:nvPr/>
        </p:nvSpPr>
        <p:spPr>
          <a:xfrm>
            <a:off x="548640" y="1920240"/>
            <a:ext cx="4297680" cy="932688"/>
          </a:xfrm>
          <a:prstGeom prst="rect">
            <a:avLst/>
          </a:prstGeom>
          <a:noFill/>
        </p:spPr>
        <p:txBody>
          <a:bodyPr wrap="square" lIns="0" rIns="0" tIns="0" bIns="0" anchor="t">
            <a:noAutofit/>
          </a:bodyPr>
          <a:lstStyle/>
          <a:p>
            <a:pPr algn="l">
              <a:lnSpc>
                <a:spcPct val="102000"/>
              </a:lnSpc>
            </a:pPr>
            <a:r>
              <a:rPr sz="2000" b="0" i="0">
                <a:solidFill>
                  <a:srgbClr val="1F1A2E"/>
                </a:solidFill>
                <a:latin typeface="Arial"/>
              </a:rPr>
              <a:t>Whole-Brain Connectomic Graph Model for Whole-Body Locomotion Control</a:t>
            </a:r>
          </a:p>
        </p:txBody>
      </p:sp>
      <p:sp>
        <p:nvSpPr>
          <p:cNvPr id="7" name="TextBox 6"/>
          <p:cNvSpPr txBox="1"/>
          <p:nvPr/>
        </p:nvSpPr>
        <p:spPr>
          <a:xfrm>
            <a:off x="548640" y="2944368"/>
            <a:ext cx="4297680" cy="274320"/>
          </a:xfrm>
          <a:prstGeom prst="rect">
            <a:avLst/>
          </a:prstGeom>
          <a:noFill/>
        </p:spPr>
        <p:txBody>
          <a:bodyPr wrap="square" lIns="0" rIns="0" tIns="0" bIns="0" anchor="t">
            <a:noAutofit/>
          </a:bodyPr>
          <a:lstStyle/>
          <a:p>
            <a:pPr algn="l">
              <a:lnSpc>
                <a:spcPct val="105000"/>
              </a:lnSpc>
            </a:pPr>
            <a:r>
              <a:rPr sz="1500" b="1" i="0">
                <a:solidFill>
                  <a:srgbClr val="1F1A2E"/>
                </a:solidFill>
                <a:latin typeface="Arial"/>
              </a:rPr>
              <a:t>Zehao Jin, Yaoye Zhu, Chen Zhang, Yanan Sui</a:t>
            </a:r>
          </a:p>
        </p:txBody>
      </p:sp>
      <p:sp>
        <p:nvSpPr>
          <p:cNvPr id="8" name="TextBox 7"/>
          <p:cNvSpPr txBox="1"/>
          <p:nvPr/>
        </p:nvSpPr>
        <p:spPr>
          <a:xfrm>
            <a:off x="548640" y="3255264"/>
            <a:ext cx="4297680" cy="256032"/>
          </a:xfrm>
          <a:prstGeom prst="rect">
            <a:avLst/>
          </a:prstGeom>
          <a:noFill/>
        </p:spPr>
        <p:txBody>
          <a:bodyPr wrap="square" lIns="0" rIns="0" tIns="0" bIns="0" anchor="t">
            <a:noAutofit/>
          </a:bodyPr>
          <a:lstStyle/>
          <a:p>
            <a:pPr algn="l">
              <a:lnSpc>
                <a:spcPct val="105000"/>
              </a:lnSpc>
            </a:pPr>
            <a:r>
              <a:rPr sz="1300" b="0" i="0">
                <a:solidFill>
                  <a:srgbClr val="6E6880"/>
                </a:solidFill>
                <a:latin typeface="Arial"/>
              </a:rPr>
              <a:t>Tsinghua University  ·  LNS Group</a:t>
            </a:r>
          </a:p>
        </p:txBody>
      </p:sp>
      <p:pic>
        <p:nvPicPr>
          <p:cNvPr id="9" name="Tsinghua University logo" descr="image.png"/>
          <p:cNvPicPr>
            <a:picLocks noChangeAspect="1"/>
          </p:cNvPicPr>
          <p:nvPr/>
        </p:nvPicPr>
        <p:blipFill>
          <a:blip r:embed="rId3"/>
          <a:stretch>
            <a:fillRect/>
          </a:stretch>
        </p:blipFill>
        <p:spPr>
          <a:xfrm>
            <a:off x="548640" y="3730752"/>
            <a:ext cx="786384" cy="786384"/>
          </a:xfrm>
          <a:prstGeom prst="rect">
            <a:avLst/>
          </a:prstGeom>
        </p:spPr>
      </p:pic>
      <p:pic>
        <p:nvPicPr>
          <p:cNvPr id="10" name="LNS Group logo" descr="image.png"/>
          <p:cNvPicPr>
            <a:picLocks noChangeAspect="1"/>
          </p:cNvPicPr>
          <p:nvPr/>
        </p:nvPicPr>
        <p:blipFill>
          <a:blip r:embed="rId4"/>
          <a:stretch>
            <a:fillRect/>
          </a:stretch>
        </p:blipFill>
        <p:spPr>
          <a:xfrm>
            <a:off x="1517904" y="3931920"/>
            <a:ext cx="1536192" cy="384048"/>
          </a:xfrm>
          <a:prstGeom prst="rect">
            <a:avLst/>
          </a:prstGeom>
        </p:spPr>
      </p:pic>
      <p:pic>
        <p:nvPicPr>
          <p:cNvPr id="11" name="QR code: lnsgroup.cc/research/FlyGM" descr="qr_flygm.png">
            <a:hlinkClick r:id="rId6"/>
          </p:cNvPr>
          <p:cNvPicPr>
            <a:picLocks noChangeAspect="1"/>
          </p:cNvPicPr>
          <p:nvPr/>
        </p:nvPicPr>
        <p:blipFill>
          <a:blip r:embed="rId5"/>
          <a:stretch>
            <a:fillRect/>
          </a:stretch>
        </p:blipFill>
        <p:spPr>
          <a:xfrm>
            <a:off x="3456432" y="3675887"/>
            <a:ext cx="841248" cy="841248"/>
          </a:xfrm>
          <a:prstGeom prst="rect">
            <a:avLst/>
          </a:prstGeom>
        </p:spPr>
      </p:pic>
      <p:sp>
        <p:nvSpPr>
          <p:cNvPr id="12" name="TextBox 11"/>
          <p:cNvSpPr txBox="1"/>
          <p:nvPr/>
        </p:nvSpPr>
        <p:spPr>
          <a:xfrm>
            <a:off x="3310128" y="4535424"/>
            <a:ext cx="1133856" cy="201168"/>
          </a:xfrm>
          <a:prstGeom prst="rect">
            <a:avLst/>
          </a:prstGeom>
          <a:noFill/>
        </p:spPr>
        <p:txBody>
          <a:bodyPr wrap="square" lIns="0" rIns="0" tIns="0" bIns="0" anchor="t">
            <a:noAutofit/>
          </a:bodyPr>
          <a:lstStyle/>
          <a:p>
            <a:pPr algn="ctr">
              <a:lnSpc>
                <a:spcPct val="105000"/>
              </a:lnSpc>
            </a:pPr>
            <a:r>
              <a:rPr sz="1000" b="0" i="0">
                <a:solidFill>
                  <a:srgbClr val="6E6880"/>
                </a:solidFill>
                <a:latin typeface="Arial"/>
              </a:rPr>
              <a:t>Demo page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Fly brain and body are now both digital</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WHY NOW</a:t>
            </a:r>
          </a:p>
        </p:txBody>
      </p:sp>
      <p:pic>
        <p:nvPicPr>
          <p:cNvPr id="6" name="FlyWire whole-brain rendering" descr="image.png"/>
          <p:cNvPicPr>
            <a:picLocks noChangeAspect="1"/>
          </p:cNvPicPr>
          <p:nvPr/>
        </p:nvPicPr>
        <p:blipFill>
          <a:blip r:embed="rId2"/>
          <a:stretch>
            <a:fillRect/>
          </a:stretch>
        </p:blipFill>
        <p:spPr>
          <a:xfrm>
            <a:off x="365760" y="1051560"/>
            <a:ext cx="3931920" cy="3071812"/>
          </a:xfrm>
          <a:prstGeom prst="rect">
            <a:avLst/>
          </a:prstGeom>
        </p:spPr>
      </p:pic>
      <p:sp>
        <p:nvSpPr>
          <p:cNvPr id="7" name="TextBox 6"/>
          <p:cNvSpPr txBox="1"/>
          <p:nvPr/>
        </p:nvSpPr>
        <p:spPr>
          <a:xfrm>
            <a:off x="457200" y="4005072"/>
            <a:ext cx="1298448" cy="411480"/>
          </a:xfrm>
          <a:prstGeom prst="rect">
            <a:avLst/>
          </a:prstGeom>
          <a:noFill/>
        </p:spPr>
        <p:txBody>
          <a:bodyPr wrap="square" lIns="0" rIns="0" tIns="0" bIns="0" anchor="t">
            <a:noAutofit/>
          </a:bodyPr>
          <a:lstStyle/>
          <a:p>
            <a:pPr algn="l">
              <a:lnSpc>
                <a:spcPct val="105000"/>
              </a:lnSpc>
            </a:pPr>
            <a:r>
              <a:rPr sz="2600" b="1" i="0">
                <a:solidFill>
                  <a:srgbClr val="660874"/>
                </a:solidFill>
                <a:latin typeface="Arial"/>
              </a:rPr>
              <a:t>139,255</a:t>
            </a:r>
          </a:p>
        </p:txBody>
      </p:sp>
      <p:sp>
        <p:nvSpPr>
          <p:cNvPr id="8" name="TextBox 7"/>
          <p:cNvSpPr txBox="1"/>
          <p:nvPr/>
        </p:nvSpPr>
        <p:spPr>
          <a:xfrm>
            <a:off x="457200" y="4416552"/>
            <a:ext cx="1298448" cy="246888"/>
          </a:xfrm>
          <a:prstGeom prst="rect">
            <a:avLst/>
          </a:prstGeom>
          <a:noFill/>
        </p:spPr>
        <p:txBody>
          <a:bodyPr wrap="square" lIns="0" rIns="0" tIns="0" bIns="0" anchor="t">
            <a:noAutofit/>
          </a:bodyPr>
          <a:lstStyle/>
          <a:p>
            <a:pPr algn="l">
              <a:lnSpc>
                <a:spcPct val="105000"/>
              </a:lnSpc>
            </a:pPr>
            <a:r>
              <a:rPr sz="1300" b="0" i="0">
                <a:solidFill>
                  <a:srgbClr val="6E6880"/>
                </a:solidFill>
                <a:latin typeface="Arial"/>
              </a:rPr>
              <a:t>neurons</a:t>
            </a:r>
          </a:p>
        </p:txBody>
      </p:sp>
      <p:sp>
        <p:nvSpPr>
          <p:cNvPr id="9" name="TextBox 8"/>
          <p:cNvSpPr txBox="1"/>
          <p:nvPr/>
        </p:nvSpPr>
        <p:spPr>
          <a:xfrm>
            <a:off x="1783080" y="4005072"/>
            <a:ext cx="1298448" cy="411480"/>
          </a:xfrm>
          <a:prstGeom prst="rect">
            <a:avLst/>
          </a:prstGeom>
          <a:noFill/>
        </p:spPr>
        <p:txBody>
          <a:bodyPr wrap="square" lIns="0" rIns="0" tIns="0" bIns="0" anchor="t">
            <a:noAutofit/>
          </a:bodyPr>
          <a:lstStyle/>
          <a:p>
            <a:pPr algn="l">
              <a:lnSpc>
                <a:spcPct val="105000"/>
              </a:lnSpc>
            </a:pPr>
            <a:r>
              <a:rPr sz="2600" b="1" i="0">
                <a:solidFill>
                  <a:srgbClr val="660874"/>
                </a:solidFill>
                <a:latin typeface="Arial"/>
              </a:rPr>
              <a:t>54.5 M</a:t>
            </a:r>
          </a:p>
        </p:txBody>
      </p:sp>
      <p:sp>
        <p:nvSpPr>
          <p:cNvPr id="10" name="TextBox 9"/>
          <p:cNvSpPr txBox="1"/>
          <p:nvPr/>
        </p:nvSpPr>
        <p:spPr>
          <a:xfrm>
            <a:off x="1783080" y="4416552"/>
            <a:ext cx="1298448" cy="246888"/>
          </a:xfrm>
          <a:prstGeom prst="rect">
            <a:avLst/>
          </a:prstGeom>
          <a:noFill/>
        </p:spPr>
        <p:txBody>
          <a:bodyPr wrap="square" lIns="0" rIns="0" tIns="0" bIns="0" anchor="t">
            <a:noAutofit/>
          </a:bodyPr>
          <a:lstStyle/>
          <a:p>
            <a:pPr algn="l">
              <a:lnSpc>
                <a:spcPct val="105000"/>
              </a:lnSpc>
            </a:pPr>
            <a:r>
              <a:rPr sz="1300" b="0" i="0">
                <a:solidFill>
                  <a:srgbClr val="6E6880"/>
                </a:solidFill>
                <a:latin typeface="Arial"/>
              </a:rPr>
              <a:t>synapses</a:t>
            </a:r>
          </a:p>
        </p:txBody>
      </p:sp>
      <p:sp>
        <p:nvSpPr>
          <p:cNvPr id="11" name="TextBox 10"/>
          <p:cNvSpPr txBox="1"/>
          <p:nvPr/>
        </p:nvSpPr>
        <p:spPr>
          <a:xfrm>
            <a:off x="3108960" y="4005072"/>
            <a:ext cx="1298448" cy="411480"/>
          </a:xfrm>
          <a:prstGeom prst="rect">
            <a:avLst/>
          </a:prstGeom>
          <a:noFill/>
        </p:spPr>
        <p:txBody>
          <a:bodyPr wrap="square" lIns="0" rIns="0" tIns="0" bIns="0" anchor="t">
            <a:noAutofit/>
          </a:bodyPr>
          <a:lstStyle/>
          <a:p>
            <a:pPr algn="l">
              <a:lnSpc>
                <a:spcPct val="105000"/>
              </a:lnSpc>
            </a:pPr>
            <a:r>
              <a:rPr sz="2600" b="1" i="0">
                <a:solidFill>
                  <a:srgbClr val="660874"/>
                </a:solidFill>
                <a:latin typeface="Arial"/>
              </a:rPr>
              <a:t>8,453</a:t>
            </a:r>
          </a:p>
        </p:txBody>
      </p:sp>
      <p:sp>
        <p:nvSpPr>
          <p:cNvPr id="12" name="TextBox 11"/>
          <p:cNvSpPr txBox="1"/>
          <p:nvPr/>
        </p:nvSpPr>
        <p:spPr>
          <a:xfrm>
            <a:off x="3108960" y="4416552"/>
            <a:ext cx="1298448" cy="246888"/>
          </a:xfrm>
          <a:prstGeom prst="rect">
            <a:avLst/>
          </a:prstGeom>
          <a:noFill/>
        </p:spPr>
        <p:txBody>
          <a:bodyPr wrap="square" lIns="0" rIns="0" tIns="0" bIns="0" anchor="t">
            <a:noAutofit/>
          </a:bodyPr>
          <a:lstStyle/>
          <a:p>
            <a:pPr algn="l">
              <a:lnSpc>
                <a:spcPct val="105000"/>
              </a:lnSpc>
            </a:pPr>
            <a:r>
              <a:rPr sz="1300" b="0" i="0">
                <a:solidFill>
                  <a:srgbClr val="6E6880"/>
                </a:solidFill>
                <a:latin typeface="Arial"/>
              </a:rPr>
              <a:t>cell types</a:t>
            </a:r>
          </a:p>
        </p:txBody>
      </p:sp>
      <p:cxnSp>
        <p:nvCxnSpPr>
          <p:cNvPr id="13" name="Connector 12"/>
          <p:cNvCxnSpPr/>
          <p:nvPr/>
        </p:nvCxnSpPr>
        <p:spPr>
          <a:xfrm>
            <a:off x="4946904" y="1234439"/>
            <a:ext cx="0" cy="2688337"/>
          </a:xfrm>
          <a:prstGeom prst="line">
            <a:avLst/>
          </a:prstGeom>
          <a:ln w="31750">
            <a:solidFill>
              <a:srgbClr val="E2DCEA"/>
            </a:solidFill>
          </a:ln>
        </p:spPr>
      </p:cxnSp>
      <p:sp>
        <p:nvSpPr>
          <p:cNvPr id="14" name="Rounded Rectangle 13"/>
          <p:cNvSpPr/>
          <p:nvPr/>
        </p:nvSpPr>
        <p:spPr>
          <a:xfrm>
            <a:off x="4617720" y="1088136"/>
            <a:ext cx="658368" cy="292608"/>
          </a:xfrm>
          <a:prstGeom prst="roundRect">
            <a:avLst>
              <a:gd name="adj" fmla="val 50000"/>
            </a:avLst>
          </a:prstGeom>
          <a:solidFill>
            <a:srgbClr val="660874"/>
          </a:solidFill>
          <a:ln>
            <a:noFill/>
          </a:ln>
        </p:spPr>
        <p:txBody>
          <a:bodyPr rtlCol="0" anchor="ctr"/>
          <a:lstStyle/>
          <a:p>
            <a:pPr algn="ctr"/>
          </a:p>
        </p:txBody>
      </p:sp>
      <p:sp>
        <p:nvSpPr>
          <p:cNvPr id="15" name="TextBox 14"/>
          <p:cNvSpPr txBox="1"/>
          <p:nvPr/>
        </p:nvSpPr>
        <p:spPr>
          <a:xfrm>
            <a:off x="4617720" y="1088136"/>
            <a:ext cx="658368" cy="292608"/>
          </a:xfrm>
          <a:prstGeom prst="rect">
            <a:avLst/>
          </a:prstGeom>
          <a:noFill/>
        </p:spPr>
        <p:txBody>
          <a:bodyPr wrap="square" lIns="0" rIns="0" tIns="0" bIns="0" anchor="ctr">
            <a:noAutofit/>
          </a:bodyPr>
          <a:lstStyle/>
          <a:p>
            <a:pPr algn="ctr">
              <a:lnSpc>
                <a:spcPct val="105000"/>
              </a:lnSpc>
            </a:pPr>
            <a:r>
              <a:rPr sz="1200" b="1" i="0">
                <a:solidFill>
                  <a:srgbClr val="FFFFFF"/>
                </a:solidFill>
                <a:latin typeface="Arial"/>
              </a:rPr>
              <a:t>2024</a:t>
            </a:r>
          </a:p>
        </p:txBody>
      </p:sp>
      <p:sp>
        <p:nvSpPr>
          <p:cNvPr id="16" name="TextBox 15"/>
          <p:cNvSpPr txBox="1"/>
          <p:nvPr/>
        </p:nvSpPr>
        <p:spPr>
          <a:xfrm>
            <a:off x="5458968" y="1051560"/>
            <a:ext cx="3246120" cy="329184"/>
          </a:xfrm>
          <a:prstGeom prst="rect">
            <a:avLst/>
          </a:prstGeom>
          <a:noFill/>
        </p:spPr>
        <p:txBody>
          <a:bodyPr wrap="square" lIns="0" rIns="0" tIns="0" bIns="0" anchor="ctr">
            <a:noAutofit/>
          </a:bodyPr>
          <a:lstStyle/>
          <a:p>
            <a:pPr algn="l">
              <a:lnSpc>
                <a:spcPct val="105000"/>
              </a:lnSpc>
            </a:pPr>
            <a:r>
              <a:rPr sz="1550" b="1" i="0">
                <a:solidFill>
                  <a:srgbClr val="1F1A2E"/>
                </a:solidFill>
                <a:latin typeface="Arial"/>
              </a:rPr>
              <a:t>FlyWire whole-brain map</a:t>
            </a:r>
          </a:p>
        </p:txBody>
      </p:sp>
      <p:sp>
        <p:nvSpPr>
          <p:cNvPr id="17" name="TextBox 16"/>
          <p:cNvSpPr txBox="1"/>
          <p:nvPr/>
        </p:nvSpPr>
        <p:spPr>
          <a:xfrm>
            <a:off x="5458968" y="1417319"/>
            <a:ext cx="3246120" cy="274320"/>
          </a:xfrm>
          <a:prstGeom prst="rect">
            <a:avLst/>
          </a:prstGeom>
          <a:noFill/>
        </p:spPr>
        <p:txBody>
          <a:bodyPr wrap="square" lIns="0" rIns="0" tIns="0" bIns="0" anchor="t">
            <a:noAutofit/>
          </a:bodyPr>
          <a:lstStyle/>
          <a:p>
            <a:pPr algn="l">
              <a:lnSpc>
                <a:spcPct val="105000"/>
              </a:lnSpc>
            </a:pPr>
            <a:r>
              <a:rPr sz="1300" b="0" i="0">
                <a:solidFill>
                  <a:srgbClr val="3A3447"/>
                </a:solidFill>
                <a:latin typeface="Arial"/>
              </a:rPr>
              <a:t>Complete adult brain wiring [2, 3]</a:t>
            </a:r>
          </a:p>
        </p:txBody>
      </p:sp>
      <p:sp>
        <p:nvSpPr>
          <p:cNvPr id="18" name="Rounded Rectangle 17"/>
          <p:cNvSpPr/>
          <p:nvPr/>
        </p:nvSpPr>
        <p:spPr>
          <a:xfrm>
            <a:off x="4617720" y="1984248"/>
            <a:ext cx="658368" cy="292608"/>
          </a:xfrm>
          <a:prstGeom prst="roundRect">
            <a:avLst>
              <a:gd name="adj" fmla="val 50000"/>
            </a:avLst>
          </a:prstGeom>
          <a:solidFill>
            <a:srgbClr val="660874"/>
          </a:solidFill>
          <a:ln>
            <a:noFill/>
          </a:ln>
        </p:spPr>
        <p:txBody>
          <a:bodyPr rtlCol="0" anchor="ctr"/>
          <a:lstStyle/>
          <a:p>
            <a:pPr algn="ctr"/>
          </a:p>
        </p:txBody>
      </p:sp>
      <p:sp>
        <p:nvSpPr>
          <p:cNvPr id="19" name="TextBox 18"/>
          <p:cNvSpPr txBox="1"/>
          <p:nvPr/>
        </p:nvSpPr>
        <p:spPr>
          <a:xfrm>
            <a:off x="4617720" y="1984248"/>
            <a:ext cx="658368" cy="292608"/>
          </a:xfrm>
          <a:prstGeom prst="rect">
            <a:avLst/>
          </a:prstGeom>
          <a:noFill/>
        </p:spPr>
        <p:txBody>
          <a:bodyPr wrap="square" lIns="0" rIns="0" tIns="0" bIns="0" anchor="ctr">
            <a:noAutofit/>
          </a:bodyPr>
          <a:lstStyle/>
          <a:p>
            <a:pPr algn="ctr">
              <a:lnSpc>
                <a:spcPct val="105000"/>
              </a:lnSpc>
            </a:pPr>
            <a:r>
              <a:rPr sz="1200" b="1" i="0">
                <a:solidFill>
                  <a:srgbClr val="FFFFFF"/>
                </a:solidFill>
                <a:latin typeface="Arial"/>
              </a:rPr>
              <a:t>2024</a:t>
            </a:r>
          </a:p>
        </p:txBody>
      </p:sp>
      <p:sp>
        <p:nvSpPr>
          <p:cNvPr id="20" name="TextBox 19"/>
          <p:cNvSpPr txBox="1"/>
          <p:nvPr/>
        </p:nvSpPr>
        <p:spPr>
          <a:xfrm>
            <a:off x="5458968" y="1947672"/>
            <a:ext cx="3246120" cy="329184"/>
          </a:xfrm>
          <a:prstGeom prst="rect">
            <a:avLst/>
          </a:prstGeom>
          <a:noFill/>
        </p:spPr>
        <p:txBody>
          <a:bodyPr wrap="square" lIns="0" rIns="0" tIns="0" bIns="0" anchor="ctr">
            <a:noAutofit/>
          </a:bodyPr>
          <a:lstStyle/>
          <a:p>
            <a:pPr algn="l">
              <a:lnSpc>
                <a:spcPct val="105000"/>
              </a:lnSpc>
            </a:pPr>
            <a:r>
              <a:rPr sz="1550" b="1" i="0">
                <a:solidFill>
                  <a:srgbClr val="1F1A2E"/>
                </a:solidFill>
                <a:latin typeface="Arial"/>
              </a:rPr>
              <a:t>Connectome-based models</a:t>
            </a:r>
          </a:p>
        </p:txBody>
      </p:sp>
      <p:sp>
        <p:nvSpPr>
          <p:cNvPr id="21" name="TextBox 20"/>
          <p:cNvSpPr txBox="1"/>
          <p:nvPr/>
        </p:nvSpPr>
        <p:spPr>
          <a:xfrm>
            <a:off x="5458968" y="2313432"/>
            <a:ext cx="3246120" cy="274320"/>
          </a:xfrm>
          <a:prstGeom prst="rect">
            <a:avLst/>
          </a:prstGeom>
          <a:noFill/>
        </p:spPr>
        <p:txBody>
          <a:bodyPr wrap="square" lIns="0" rIns="0" tIns="0" bIns="0" anchor="t">
            <a:noAutofit/>
          </a:bodyPr>
          <a:lstStyle/>
          <a:p>
            <a:pPr algn="l">
              <a:lnSpc>
                <a:spcPct val="105000"/>
              </a:lnSpc>
            </a:pPr>
            <a:r>
              <a:rPr sz="1300" b="0" i="0">
                <a:solidFill>
                  <a:srgbClr val="3A3447"/>
                </a:solidFill>
                <a:latin typeface="Arial"/>
              </a:rPr>
              <a:t>Wiring predicts neural activity [4, 5]</a:t>
            </a:r>
          </a:p>
        </p:txBody>
      </p:sp>
      <p:sp>
        <p:nvSpPr>
          <p:cNvPr id="22" name="Rounded Rectangle 21"/>
          <p:cNvSpPr/>
          <p:nvPr/>
        </p:nvSpPr>
        <p:spPr>
          <a:xfrm>
            <a:off x="4617720" y="2880360"/>
            <a:ext cx="658368" cy="292608"/>
          </a:xfrm>
          <a:prstGeom prst="roundRect">
            <a:avLst>
              <a:gd name="adj" fmla="val 50000"/>
            </a:avLst>
          </a:prstGeom>
          <a:solidFill>
            <a:srgbClr val="D55E00"/>
          </a:solidFill>
          <a:ln>
            <a:noFill/>
          </a:ln>
        </p:spPr>
        <p:txBody>
          <a:bodyPr rtlCol="0" anchor="ctr"/>
          <a:lstStyle/>
          <a:p>
            <a:pPr algn="ctr"/>
          </a:p>
        </p:txBody>
      </p:sp>
      <p:sp>
        <p:nvSpPr>
          <p:cNvPr id="23" name="TextBox 22"/>
          <p:cNvSpPr txBox="1"/>
          <p:nvPr/>
        </p:nvSpPr>
        <p:spPr>
          <a:xfrm>
            <a:off x="4617720" y="2880360"/>
            <a:ext cx="658368" cy="292608"/>
          </a:xfrm>
          <a:prstGeom prst="rect">
            <a:avLst/>
          </a:prstGeom>
          <a:noFill/>
        </p:spPr>
        <p:txBody>
          <a:bodyPr wrap="square" lIns="0" rIns="0" tIns="0" bIns="0" anchor="ctr">
            <a:noAutofit/>
          </a:bodyPr>
          <a:lstStyle/>
          <a:p>
            <a:pPr algn="ctr">
              <a:lnSpc>
                <a:spcPct val="105000"/>
              </a:lnSpc>
            </a:pPr>
            <a:r>
              <a:rPr sz="1200" b="1" i="0">
                <a:solidFill>
                  <a:srgbClr val="FFFFFF"/>
                </a:solidFill>
                <a:latin typeface="Arial"/>
              </a:rPr>
              <a:t>2025</a:t>
            </a:r>
          </a:p>
        </p:txBody>
      </p:sp>
      <p:sp>
        <p:nvSpPr>
          <p:cNvPr id="24" name="TextBox 23"/>
          <p:cNvSpPr txBox="1"/>
          <p:nvPr/>
        </p:nvSpPr>
        <p:spPr>
          <a:xfrm>
            <a:off x="5458968" y="2843784"/>
            <a:ext cx="3246120" cy="329184"/>
          </a:xfrm>
          <a:prstGeom prst="rect">
            <a:avLst/>
          </a:prstGeom>
          <a:noFill/>
        </p:spPr>
        <p:txBody>
          <a:bodyPr wrap="square" lIns="0" rIns="0" tIns="0" bIns="0" anchor="ctr">
            <a:noAutofit/>
          </a:bodyPr>
          <a:lstStyle/>
          <a:p>
            <a:pPr algn="l">
              <a:lnSpc>
                <a:spcPct val="105000"/>
              </a:lnSpc>
            </a:pPr>
            <a:r>
              <a:rPr sz="1550" b="1" i="0">
                <a:solidFill>
                  <a:srgbClr val="1F1A2E"/>
                </a:solidFill>
                <a:latin typeface="Arial"/>
              </a:rPr>
              <a:t>flybody simulator</a:t>
            </a:r>
          </a:p>
        </p:txBody>
      </p:sp>
      <p:sp>
        <p:nvSpPr>
          <p:cNvPr id="25" name="TextBox 24"/>
          <p:cNvSpPr txBox="1"/>
          <p:nvPr/>
        </p:nvSpPr>
        <p:spPr>
          <a:xfrm>
            <a:off x="5458968" y="3209544"/>
            <a:ext cx="3246120" cy="274320"/>
          </a:xfrm>
          <a:prstGeom prst="rect">
            <a:avLst/>
          </a:prstGeom>
          <a:noFill/>
        </p:spPr>
        <p:txBody>
          <a:bodyPr wrap="square" lIns="0" rIns="0" tIns="0" bIns="0" anchor="t">
            <a:noAutofit/>
          </a:bodyPr>
          <a:lstStyle/>
          <a:p>
            <a:pPr algn="l">
              <a:lnSpc>
                <a:spcPct val="105000"/>
              </a:lnSpc>
            </a:pPr>
            <a:r>
              <a:rPr sz="1300" b="0" i="0">
                <a:solidFill>
                  <a:srgbClr val="3A3447"/>
                </a:solidFill>
                <a:latin typeface="Arial"/>
              </a:rPr>
              <a:t>A whole fly body in physics [6, 7]</a:t>
            </a:r>
          </a:p>
        </p:txBody>
      </p:sp>
      <p:sp>
        <p:nvSpPr>
          <p:cNvPr id="26" name="Rounded Rectangle 25"/>
          <p:cNvSpPr/>
          <p:nvPr/>
        </p:nvSpPr>
        <p:spPr>
          <a:xfrm>
            <a:off x="4617720" y="3776472"/>
            <a:ext cx="658368" cy="292608"/>
          </a:xfrm>
          <a:prstGeom prst="roundRect">
            <a:avLst>
              <a:gd name="adj" fmla="val 50000"/>
            </a:avLst>
          </a:prstGeom>
          <a:solidFill>
            <a:srgbClr val="D55E00"/>
          </a:solidFill>
          <a:ln>
            <a:noFill/>
          </a:ln>
        </p:spPr>
        <p:txBody>
          <a:bodyPr rtlCol="0" anchor="ctr"/>
          <a:lstStyle/>
          <a:p>
            <a:pPr algn="ctr"/>
          </a:p>
        </p:txBody>
      </p:sp>
      <p:sp>
        <p:nvSpPr>
          <p:cNvPr id="27" name="TextBox 26"/>
          <p:cNvSpPr txBox="1"/>
          <p:nvPr/>
        </p:nvSpPr>
        <p:spPr>
          <a:xfrm>
            <a:off x="4617720" y="3776472"/>
            <a:ext cx="658368" cy="292608"/>
          </a:xfrm>
          <a:prstGeom prst="rect">
            <a:avLst/>
          </a:prstGeom>
          <a:noFill/>
        </p:spPr>
        <p:txBody>
          <a:bodyPr wrap="square" lIns="0" rIns="0" tIns="0" bIns="0" anchor="ctr">
            <a:noAutofit/>
          </a:bodyPr>
          <a:lstStyle/>
          <a:p>
            <a:pPr algn="ctr">
              <a:lnSpc>
                <a:spcPct val="105000"/>
              </a:lnSpc>
            </a:pPr>
            <a:r>
              <a:rPr sz="1200" b="1" i="0">
                <a:solidFill>
                  <a:srgbClr val="FFFFFF"/>
                </a:solidFill>
                <a:latin typeface="Arial"/>
              </a:rPr>
              <a:t>2026</a:t>
            </a:r>
          </a:p>
        </p:txBody>
      </p:sp>
      <p:sp>
        <p:nvSpPr>
          <p:cNvPr id="28" name="TextBox 27"/>
          <p:cNvSpPr txBox="1"/>
          <p:nvPr/>
        </p:nvSpPr>
        <p:spPr>
          <a:xfrm>
            <a:off x="5458968" y="3739896"/>
            <a:ext cx="3246120" cy="329184"/>
          </a:xfrm>
          <a:prstGeom prst="rect">
            <a:avLst/>
          </a:prstGeom>
          <a:noFill/>
        </p:spPr>
        <p:txBody>
          <a:bodyPr wrap="square" lIns="0" rIns="0" tIns="0" bIns="0" anchor="ctr">
            <a:noAutofit/>
          </a:bodyPr>
          <a:lstStyle/>
          <a:p>
            <a:pPr algn="l">
              <a:lnSpc>
                <a:spcPct val="105000"/>
              </a:lnSpc>
            </a:pPr>
            <a:r>
              <a:rPr sz="1550" b="1" i="0">
                <a:solidFill>
                  <a:srgbClr val="1F1A2E"/>
                </a:solidFill>
                <a:latin typeface="Arial"/>
              </a:rPr>
              <a:t>Male CNS connectome</a:t>
            </a:r>
          </a:p>
        </p:txBody>
      </p:sp>
      <p:sp>
        <p:nvSpPr>
          <p:cNvPr id="29" name="TextBox 28"/>
          <p:cNvSpPr txBox="1"/>
          <p:nvPr/>
        </p:nvSpPr>
        <p:spPr>
          <a:xfrm>
            <a:off x="5458968" y="4105656"/>
            <a:ext cx="3246120" cy="274320"/>
          </a:xfrm>
          <a:prstGeom prst="rect">
            <a:avLst/>
          </a:prstGeom>
          <a:noFill/>
        </p:spPr>
        <p:txBody>
          <a:bodyPr wrap="square" lIns="0" rIns="0" tIns="0" bIns="0" anchor="t">
            <a:noAutofit/>
          </a:bodyPr>
          <a:lstStyle/>
          <a:p>
            <a:pPr algn="l">
              <a:lnSpc>
                <a:spcPct val="105000"/>
              </a:lnSpc>
            </a:pPr>
            <a:r>
              <a:rPr sz="1300" b="0" i="0">
                <a:solidFill>
                  <a:srgbClr val="3A3447"/>
                </a:solidFill>
                <a:latin typeface="Arial"/>
              </a:rPr>
              <a:t>Brain + nerve cord, 166,700 neurons [8]</a:t>
            </a:r>
          </a:p>
        </p:txBody>
      </p:sp>
      <p:sp>
        <p:nvSpPr>
          <p:cNvPr id="30"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Rendering: FlyWire [2]. Counts: [2, 3, 8].</a:t>
            </a:r>
          </a:p>
        </p:txBody>
      </p:sp>
      <p:sp>
        <p:nvSpPr>
          <p:cNvPr id="31"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Can a wiring diagram drive a body?</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2026: THE QUESTION GOES PUBLIC</a:t>
            </a:r>
          </a:p>
        </p:txBody>
      </p:sp>
      <p:sp>
        <p:nvSpPr>
          <p:cNvPr id="6" name="Rounded Rectangle 5"/>
          <p:cNvSpPr/>
          <p:nvPr/>
        </p:nvSpPr>
        <p:spPr>
          <a:xfrm>
            <a:off x="457200" y="1024128"/>
            <a:ext cx="2560320" cy="1481328"/>
          </a:xfrm>
          <a:prstGeom prst="roundRect">
            <a:avLst>
              <a:gd name="adj" fmla="val 7000"/>
            </a:avLst>
          </a:prstGeom>
          <a:solidFill>
            <a:srgbClr val="FBEDE3"/>
          </a:solidFill>
          <a:ln w="19050">
            <a:solidFill>
              <a:srgbClr val="D55E00"/>
            </a:solidFill>
          </a:ln>
        </p:spPr>
        <p:txBody>
          <a:bodyPr rtlCol="0" anchor="ctr"/>
          <a:lstStyle/>
          <a:p>
            <a:pPr algn="ctr"/>
          </a:p>
        </p:txBody>
      </p:sp>
      <p:sp>
        <p:nvSpPr>
          <p:cNvPr id="7" name="Rounded Rectangle 6"/>
          <p:cNvSpPr/>
          <p:nvPr/>
        </p:nvSpPr>
        <p:spPr>
          <a:xfrm>
            <a:off x="621792" y="1152144"/>
            <a:ext cx="1450359" cy="274320"/>
          </a:xfrm>
          <a:prstGeom prst="roundRect">
            <a:avLst>
              <a:gd name="adj" fmla="val 50000"/>
            </a:avLst>
          </a:prstGeom>
          <a:solidFill>
            <a:srgbClr val="D55E00"/>
          </a:solidFill>
          <a:ln>
            <a:noFill/>
          </a:ln>
        </p:spPr>
        <p:txBody>
          <a:bodyPr rtlCol="0" anchor="ctr"/>
          <a:lstStyle/>
          <a:p>
            <a:pPr algn="ctr"/>
          </a:p>
        </p:txBody>
      </p:sp>
      <p:sp>
        <p:nvSpPr>
          <p:cNvPr id="8" name="TextBox 7"/>
          <p:cNvSpPr txBox="1"/>
          <p:nvPr/>
        </p:nvSpPr>
        <p:spPr>
          <a:xfrm>
            <a:off x="621792" y="1152144"/>
            <a:ext cx="1450359" cy="274320"/>
          </a:xfrm>
          <a:prstGeom prst="rect">
            <a:avLst/>
          </a:prstGeom>
          <a:noFill/>
        </p:spPr>
        <p:txBody>
          <a:bodyPr wrap="square" lIns="0" rIns="0" tIns="0" bIns="0" anchor="ctr">
            <a:noAutofit/>
          </a:bodyPr>
          <a:lstStyle/>
          <a:p>
            <a:pPr algn="ctr">
              <a:lnSpc>
                <a:spcPct val="105000"/>
              </a:lnSpc>
            </a:pPr>
            <a:r>
              <a:rPr sz="1050" b="1" i="0">
                <a:solidFill>
                  <a:srgbClr val="FFFFFF"/>
                </a:solidFill>
                <a:latin typeface="Arial"/>
              </a:rPr>
              <a:t>SEP 2025  ·  OURS</a:t>
            </a:r>
          </a:p>
        </p:txBody>
      </p:sp>
      <p:sp>
        <p:nvSpPr>
          <p:cNvPr id="9" name="TextBox 8"/>
          <p:cNvSpPr txBox="1"/>
          <p:nvPr/>
        </p:nvSpPr>
        <p:spPr>
          <a:xfrm>
            <a:off x="621792" y="1517904"/>
            <a:ext cx="2267712" cy="512064"/>
          </a:xfrm>
          <a:prstGeom prst="rect">
            <a:avLst/>
          </a:prstGeom>
          <a:noFill/>
        </p:spPr>
        <p:txBody>
          <a:bodyPr wrap="square" lIns="0" rIns="0" tIns="0" bIns="0" anchor="t">
            <a:noAutofit/>
          </a:bodyPr>
          <a:lstStyle/>
          <a:p>
            <a:pPr algn="l">
              <a:lnSpc>
                <a:spcPct val="100000"/>
              </a:lnSpc>
            </a:pPr>
            <a:r>
              <a:rPr sz="1450" b="1" i="0">
                <a:solidFill>
                  <a:srgbClr val="D55E00"/>
                </a:solidFill>
                <a:latin typeface="Arial"/>
              </a:rPr>
              <a:t>FlyGM paper drafted</a:t>
            </a:r>
          </a:p>
        </p:txBody>
      </p:sp>
      <p:sp>
        <p:nvSpPr>
          <p:cNvPr id="10" name="TextBox 9"/>
          <p:cNvSpPr txBox="1"/>
          <p:nvPr/>
        </p:nvSpPr>
        <p:spPr>
          <a:xfrm>
            <a:off x="621792" y="2048256"/>
            <a:ext cx="2267712" cy="384048"/>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Connectome drives a whole-body fly [1]</a:t>
            </a:r>
          </a:p>
        </p:txBody>
      </p:sp>
      <p:cxnSp>
        <p:nvCxnSpPr>
          <p:cNvPr id="11" name="Connector 10"/>
          <p:cNvCxnSpPr/>
          <p:nvPr/>
        </p:nvCxnSpPr>
        <p:spPr>
          <a:xfrm>
            <a:off x="3063239" y="1764792"/>
            <a:ext cx="182881" cy="0"/>
          </a:xfrm>
          <a:prstGeom prst="line">
            <a:avLst/>
          </a:prstGeom>
          <a:ln w="25400">
            <a:solidFill>
              <a:srgbClr val="B9B1C6"/>
            </a:solidFill>
            <a:tailEnd type="triangle" w="med" len="med"/>
          </a:ln>
        </p:spPr>
      </p:cxnSp>
      <p:sp>
        <p:nvSpPr>
          <p:cNvPr id="12" name="Rounded Rectangle 11"/>
          <p:cNvSpPr/>
          <p:nvPr/>
        </p:nvSpPr>
        <p:spPr>
          <a:xfrm>
            <a:off x="3291839" y="1024128"/>
            <a:ext cx="2560320" cy="1481328"/>
          </a:xfrm>
          <a:prstGeom prst="roundRect">
            <a:avLst>
              <a:gd name="adj" fmla="val 7000"/>
            </a:avLst>
          </a:prstGeom>
          <a:solidFill>
            <a:srgbClr val="F4F1F8"/>
          </a:solidFill>
          <a:ln>
            <a:noFill/>
          </a:ln>
        </p:spPr>
        <p:txBody>
          <a:bodyPr rtlCol="0" anchor="ctr"/>
          <a:lstStyle/>
          <a:p>
            <a:pPr algn="ctr"/>
          </a:p>
        </p:txBody>
      </p:sp>
      <p:sp>
        <p:nvSpPr>
          <p:cNvPr id="13" name="Rounded Rectangle 12"/>
          <p:cNvSpPr/>
          <p:nvPr/>
        </p:nvSpPr>
        <p:spPr>
          <a:xfrm>
            <a:off x="3456432" y="1152144"/>
            <a:ext cx="911701" cy="274320"/>
          </a:xfrm>
          <a:prstGeom prst="roundRect">
            <a:avLst>
              <a:gd name="adj" fmla="val 50000"/>
            </a:avLst>
          </a:prstGeom>
          <a:solidFill>
            <a:srgbClr val="660874"/>
          </a:solidFill>
          <a:ln>
            <a:noFill/>
          </a:ln>
        </p:spPr>
        <p:txBody>
          <a:bodyPr rtlCol="0" anchor="ctr"/>
          <a:lstStyle/>
          <a:p>
            <a:pPr algn="ctr"/>
          </a:p>
        </p:txBody>
      </p:sp>
      <p:sp>
        <p:nvSpPr>
          <p:cNvPr id="14" name="TextBox 13"/>
          <p:cNvSpPr txBox="1"/>
          <p:nvPr/>
        </p:nvSpPr>
        <p:spPr>
          <a:xfrm>
            <a:off x="3456432" y="1152144"/>
            <a:ext cx="911701" cy="274320"/>
          </a:xfrm>
          <a:prstGeom prst="rect">
            <a:avLst/>
          </a:prstGeom>
          <a:noFill/>
        </p:spPr>
        <p:txBody>
          <a:bodyPr wrap="square" lIns="0" rIns="0" tIns="0" bIns="0" anchor="ctr">
            <a:noAutofit/>
          </a:bodyPr>
          <a:lstStyle/>
          <a:p>
            <a:pPr algn="ctr">
              <a:lnSpc>
                <a:spcPct val="105000"/>
              </a:lnSpc>
            </a:pPr>
            <a:r>
              <a:rPr sz="1050" b="1" i="0">
                <a:solidFill>
                  <a:srgbClr val="FFFFFF"/>
                </a:solidFill>
                <a:latin typeface="Arial"/>
              </a:rPr>
              <a:t>MAR 2026</a:t>
            </a:r>
          </a:p>
        </p:txBody>
      </p:sp>
      <p:sp>
        <p:nvSpPr>
          <p:cNvPr id="15" name="TextBox 14"/>
          <p:cNvSpPr txBox="1"/>
          <p:nvPr/>
        </p:nvSpPr>
        <p:spPr>
          <a:xfrm>
            <a:off x="3456432" y="1517904"/>
            <a:ext cx="2267712" cy="512064"/>
          </a:xfrm>
          <a:prstGeom prst="rect">
            <a:avLst/>
          </a:prstGeom>
          <a:noFill/>
        </p:spPr>
        <p:txBody>
          <a:bodyPr wrap="square" lIns="0" rIns="0" tIns="0" bIns="0" anchor="t">
            <a:noAutofit/>
          </a:bodyPr>
          <a:lstStyle/>
          <a:p>
            <a:pPr algn="l">
              <a:lnSpc>
                <a:spcPct val="100000"/>
              </a:lnSpc>
            </a:pPr>
            <a:r>
              <a:rPr sz="1450" b="1" i="0">
                <a:solidFill>
                  <a:srgbClr val="1F1A2E"/>
                </a:solidFill>
                <a:latin typeface="Arial"/>
              </a:rPr>
              <a:t>“We’ve uploaded a fruit fly”</a:t>
            </a:r>
          </a:p>
        </p:txBody>
      </p:sp>
      <p:sp>
        <p:nvSpPr>
          <p:cNvPr id="16" name="TextBox 15"/>
          <p:cNvSpPr txBox="1"/>
          <p:nvPr/>
        </p:nvSpPr>
        <p:spPr>
          <a:xfrm>
            <a:off x="3456432" y="2048256"/>
            <a:ext cx="2267712" cy="384048"/>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Eon Systems demo goes viral [9]</a:t>
            </a:r>
          </a:p>
        </p:txBody>
      </p:sp>
      <p:cxnSp>
        <p:nvCxnSpPr>
          <p:cNvPr id="17" name="Connector 16"/>
          <p:cNvCxnSpPr/>
          <p:nvPr/>
        </p:nvCxnSpPr>
        <p:spPr>
          <a:xfrm>
            <a:off x="5897879" y="1764792"/>
            <a:ext cx="182880" cy="0"/>
          </a:xfrm>
          <a:prstGeom prst="line">
            <a:avLst/>
          </a:prstGeom>
          <a:ln w="25400">
            <a:solidFill>
              <a:srgbClr val="B9B1C6"/>
            </a:solidFill>
            <a:tailEnd type="triangle" w="med" len="med"/>
          </a:ln>
        </p:spPr>
      </p:cxnSp>
      <p:sp>
        <p:nvSpPr>
          <p:cNvPr id="18" name="Rounded Rectangle 17"/>
          <p:cNvSpPr/>
          <p:nvPr/>
        </p:nvSpPr>
        <p:spPr>
          <a:xfrm>
            <a:off x="6126479" y="1024128"/>
            <a:ext cx="2560320" cy="1481328"/>
          </a:xfrm>
          <a:prstGeom prst="roundRect">
            <a:avLst>
              <a:gd name="adj" fmla="val 7000"/>
            </a:avLst>
          </a:prstGeom>
          <a:solidFill>
            <a:srgbClr val="F4F1F8"/>
          </a:solidFill>
          <a:ln>
            <a:noFill/>
          </a:ln>
        </p:spPr>
        <p:txBody>
          <a:bodyPr rtlCol="0" anchor="ctr"/>
          <a:lstStyle/>
          <a:p>
            <a:pPr algn="ctr"/>
          </a:p>
        </p:txBody>
      </p:sp>
      <p:sp>
        <p:nvSpPr>
          <p:cNvPr id="19" name="Rounded Rectangle 18"/>
          <p:cNvSpPr/>
          <p:nvPr/>
        </p:nvSpPr>
        <p:spPr>
          <a:xfrm>
            <a:off x="6291071" y="1152144"/>
            <a:ext cx="1082109" cy="274320"/>
          </a:xfrm>
          <a:prstGeom prst="roundRect">
            <a:avLst>
              <a:gd name="adj" fmla="val 50000"/>
            </a:avLst>
          </a:prstGeom>
          <a:solidFill>
            <a:srgbClr val="660874"/>
          </a:solidFill>
          <a:ln>
            <a:noFill/>
          </a:ln>
        </p:spPr>
        <p:txBody>
          <a:bodyPr rtlCol="0" anchor="ctr"/>
          <a:lstStyle/>
          <a:p>
            <a:pPr algn="ctr"/>
          </a:p>
        </p:txBody>
      </p:sp>
      <p:sp>
        <p:nvSpPr>
          <p:cNvPr id="20" name="TextBox 19"/>
          <p:cNvSpPr txBox="1"/>
          <p:nvPr/>
        </p:nvSpPr>
        <p:spPr>
          <a:xfrm>
            <a:off x="6291071" y="1152144"/>
            <a:ext cx="1082109" cy="274320"/>
          </a:xfrm>
          <a:prstGeom prst="rect">
            <a:avLst/>
          </a:prstGeom>
          <a:noFill/>
        </p:spPr>
        <p:txBody>
          <a:bodyPr wrap="square" lIns="0" rIns="0" tIns="0" bIns="0" anchor="ctr">
            <a:noAutofit/>
          </a:bodyPr>
          <a:lstStyle/>
          <a:p>
            <a:pPr algn="ctr">
              <a:lnSpc>
                <a:spcPct val="105000"/>
              </a:lnSpc>
            </a:pPr>
            <a:r>
              <a:rPr sz="1050" b="1" i="0">
                <a:solidFill>
                  <a:srgbClr val="FFFFFF"/>
                </a:solidFill>
                <a:latin typeface="Arial"/>
              </a:rPr>
              <a:t>MAR 2026 →</a:t>
            </a:r>
          </a:p>
        </p:txBody>
      </p:sp>
      <p:sp>
        <p:nvSpPr>
          <p:cNvPr id="21" name="TextBox 20"/>
          <p:cNvSpPr txBox="1"/>
          <p:nvPr/>
        </p:nvSpPr>
        <p:spPr>
          <a:xfrm>
            <a:off x="6291071" y="1517904"/>
            <a:ext cx="2267712" cy="512064"/>
          </a:xfrm>
          <a:prstGeom prst="rect">
            <a:avLst/>
          </a:prstGeom>
          <a:noFill/>
        </p:spPr>
        <p:txBody>
          <a:bodyPr wrap="square" lIns="0" rIns="0" tIns="0" bIns="0" anchor="t">
            <a:noAutofit/>
          </a:bodyPr>
          <a:lstStyle/>
          <a:p>
            <a:pPr algn="l">
              <a:lnSpc>
                <a:spcPct val="100000"/>
              </a:lnSpc>
            </a:pPr>
            <a:r>
              <a:rPr sz="1450" b="1" i="0">
                <a:solidFill>
                  <a:srgbClr val="1F1A2E"/>
                </a:solidFill>
                <a:latin typeface="Arial"/>
              </a:rPr>
              <a:t>“No, we haven’t uploaded a fly yet”</a:t>
            </a:r>
          </a:p>
        </p:txBody>
      </p:sp>
      <p:sp>
        <p:nvSpPr>
          <p:cNvPr id="22" name="TextBox 21"/>
          <p:cNvSpPr txBox="1"/>
          <p:nvPr/>
        </p:nvSpPr>
        <p:spPr>
          <a:xfrm>
            <a:off x="6291071" y="2048256"/>
            <a:ext cx="2267712" cy="384048"/>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Neuroscientists push back [10, 11]</a:t>
            </a:r>
          </a:p>
        </p:txBody>
      </p:sp>
      <p:sp>
        <p:nvSpPr>
          <p:cNvPr id="23" name="TextBox 22"/>
          <p:cNvSpPr txBox="1"/>
          <p:nvPr/>
        </p:nvSpPr>
        <p:spPr>
          <a:xfrm>
            <a:off x="457200" y="2697480"/>
            <a:ext cx="8229600" cy="228600"/>
          </a:xfrm>
          <a:prstGeom prst="rect">
            <a:avLst/>
          </a:prstGeom>
          <a:noFill/>
        </p:spPr>
        <p:txBody>
          <a:bodyPr wrap="square" lIns="0" rIns="0" tIns="0" bIns="0" anchor="t">
            <a:noAutofit/>
          </a:bodyPr>
          <a:lstStyle/>
          <a:p>
            <a:pPr algn="l">
              <a:lnSpc>
                <a:spcPct val="105000"/>
              </a:lnSpc>
            </a:pPr>
            <a:r>
              <a:rPr sz="1050" b="1" i="0" spc="120">
                <a:solidFill>
                  <a:srgbClr val="6E6880"/>
                </a:solidFill>
                <a:latin typeface="Arial"/>
              </a:rPr>
              <a:t>WHAT THE CRITICS POINT OUT</a:t>
            </a:r>
          </a:p>
        </p:txBody>
      </p:sp>
      <p:sp>
        <p:nvSpPr>
          <p:cNvPr id="24" name="Icon circle"/>
          <p:cNvSpPr/>
          <p:nvPr/>
        </p:nvSpPr>
        <p:spPr>
          <a:xfrm>
            <a:off x="457200" y="3017520"/>
            <a:ext cx="512064" cy="512064"/>
          </a:xfrm>
          <a:prstGeom prst="ellipse">
            <a:avLst/>
          </a:prstGeom>
          <a:solidFill>
            <a:srgbClr val="660874"/>
          </a:solidFill>
          <a:ln>
            <a:noFill/>
          </a:ln>
        </p:spPr>
        <p:txBody>
          <a:bodyPr rtlCol="0" anchor="ctr"/>
          <a:lstStyle/>
          <a:p>
            <a:pPr algn="ctr"/>
          </a:p>
        </p:txBody>
      </p:sp>
      <p:pic>
        <p:nvPicPr>
          <p:cNvPr id="25" name="Icon" descr="tune_w.png"/>
          <p:cNvPicPr>
            <a:picLocks noChangeAspect="1"/>
          </p:cNvPicPr>
          <p:nvPr/>
        </p:nvPicPr>
        <p:blipFill>
          <a:blip r:embed="rId2"/>
          <a:stretch>
            <a:fillRect/>
          </a:stretch>
        </p:blipFill>
        <p:spPr>
          <a:xfrm>
            <a:off x="559612" y="3119932"/>
            <a:ext cx="307238" cy="307238"/>
          </a:xfrm>
          <a:prstGeom prst="rect">
            <a:avLst/>
          </a:prstGeom>
        </p:spPr>
      </p:pic>
      <p:sp>
        <p:nvSpPr>
          <p:cNvPr id="26" name="TextBox 25"/>
          <p:cNvSpPr txBox="1"/>
          <p:nvPr/>
        </p:nvSpPr>
        <p:spPr>
          <a:xfrm>
            <a:off x="1097280" y="2990088"/>
            <a:ext cx="1901952" cy="274320"/>
          </a:xfrm>
          <a:prstGeom prst="rect">
            <a:avLst/>
          </a:prstGeom>
          <a:noFill/>
        </p:spPr>
        <p:txBody>
          <a:bodyPr wrap="square" lIns="0" rIns="0" tIns="0" bIns="0" anchor="t">
            <a:noAutofit/>
          </a:bodyPr>
          <a:lstStyle/>
          <a:p>
            <a:pPr algn="l">
              <a:lnSpc>
                <a:spcPct val="105000"/>
              </a:lnSpc>
            </a:pPr>
            <a:r>
              <a:rPr sz="1450" b="1" i="0">
                <a:solidFill>
                  <a:srgbClr val="1F1A2E"/>
                </a:solidFill>
                <a:latin typeface="Arial"/>
              </a:rPr>
              <a:t>Synapse strength</a:t>
            </a:r>
          </a:p>
        </p:txBody>
      </p:sp>
      <p:sp>
        <p:nvSpPr>
          <p:cNvPr id="27" name="TextBox 26"/>
          <p:cNvSpPr txBox="1"/>
          <p:nvPr/>
        </p:nvSpPr>
        <p:spPr>
          <a:xfrm>
            <a:off x="1097280" y="3273552"/>
            <a:ext cx="1901952" cy="457200"/>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Paths, not influence [12]</a:t>
            </a:r>
          </a:p>
        </p:txBody>
      </p:sp>
      <p:sp>
        <p:nvSpPr>
          <p:cNvPr id="28" name="Icon circle"/>
          <p:cNvSpPr/>
          <p:nvPr/>
        </p:nvSpPr>
        <p:spPr>
          <a:xfrm>
            <a:off x="3291839" y="3017520"/>
            <a:ext cx="512064" cy="512064"/>
          </a:xfrm>
          <a:prstGeom prst="ellipse">
            <a:avLst/>
          </a:prstGeom>
          <a:solidFill>
            <a:srgbClr val="660874"/>
          </a:solidFill>
          <a:ln>
            <a:noFill/>
          </a:ln>
        </p:spPr>
        <p:txBody>
          <a:bodyPr rtlCol="0" anchor="ctr"/>
          <a:lstStyle/>
          <a:p>
            <a:pPr algn="ctr"/>
          </a:p>
        </p:txBody>
      </p:sp>
      <p:pic>
        <p:nvPicPr>
          <p:cNvPr id="29" name="Icon" descr="chart_w.png"/>
          <p:cNvPicPr>
            <a:picLocks noChangeAspect="1"/>
          </p:cNvPicPr>
          <p:nvPr/>
        </p:nvPicPr>
        <p:blipFill>
          <a:blip r:embed="rId3"/>
          <a:stretch>
            <a:fillRect/>
          </a:stretch>
        </p:blipFill>
        <p:spPr>
          <a:xfrm>
            <a:off x="3394252" y="3119932"/>
            <a:ext cx="307238" cy="307238"/>
          </a:xfrm>
          <a:prstGeom prst="rect">
            <a:avLst/>
          </a:prstGeom>
        </p:spPr>
      </p:pic>
      <p:sp>
        <p:nvSpPr>
          <p:cNvPr id="30" name="TextBox 29"/>
          <p:cNvSpPr txBox="1"/>
          <p:nvPr/>
        </p:nvSpPr>
        <p:spPr>
          <a:xfrm>
            <a:off x="3931920" y="2990088"/>
            <a:ext cx="1901952" cy="274320"/>
          </a:xfrm>
          <a:prstGeom prst="rect">
            <a:avLst/>
          </a:prstGeom>
          <a:noFill/>
        </p:spPr>
        <p:txBody>
          <a:bodyPr wrap="square" lIns="0" rIns="0" tIns="0" bIns="0" anchor="t">
            <a:noAutofit/>
          </a:bodyPr>
          <a:lstStyle/>
          <a:p>
            <a:pPr algn="l">
              <a:lnSpc>
                <a:spcPct val="105000"/>
              </a:lnSpc>
            </a:pPr>
            <a:r>
              <a:rPr sz="1450" b="1" i="0">
                <a:solidFill>
                  <a:srgbClr val="1F1A2E"/>
                </a:solidFill>
                <a:latin typeface="Arial"/>
              </a:rPr>
              <a:t>Neuron dynamics</a:t>
            </a:r>
          </a:p>
        </p:txBody>
      </p:sp>
      <p:sp>
        <p:nvSpPr>
          <p:cNvPr id="31" name="TextBox 30"/>
          <p:cNvSpPr txBox="1"/>
          <p:nvPr/>
        </p:nvSpPr>
        <p:spPr>
          <a:xfrm>
            <a:off x="3931920" y="3273552"/>
            <a:ext cx="1901952" cy="457200"/>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Simplified neuron models [4]</a:t>
            </a:r>
          </a:p>
        </p:txBody>
      </p:sp>
      <p:sp>
        <p:nvSpPr>
          <p:cNvPr id="32" name="Icon circle"/>
          <p:cNvSpPr/>
          <p:nvPr/>
        </p:nvSpPr>
        <p:spPr>
          <a:xfrm>
            <a:off x="6126479" y="3017520"/>
            <a:ext cx="512064" cy="512064"/>
          </a:xfrm>
          <a:prstGeom prst="ellipse">
            <a:avLst/>
          </a:prstGeom>
          <a:solidFill>
            <a:srgbClr val="660874"/>
          </a:solidFill>
          <a:ln>
            <a:noFill/>
          </a:ln>
        </p:spPr>
        <p:txBody>
          <a:bodyPr rtlCol="0" anchor="ctr"/>
          <a:lstStyle/>
          <a:p>
            <a:pPr algn="ctr"/>
          </a:p>
        </p:txBody>
      </p:sp>
      <p:pic>
        <p:nvPicPr>
          <p:cNvPr id="33" name="Icon" descr="cable_w.png"/>
          <p:cNvPicPr>
            <a:picLocks noChangeAspect="1"/>
          </p:cNvPicPr>
          <p:nvPr/>
        </p:nvPicPr>
        <p:blipFill>
          <a:blip r:embed="rId4"/>
          <a:stretch>
            <a:fillRect/>
          </a:stretch>
        </p:blipFill>
        <p:spPr>
          <a:xfrm>
            <a:off x="6228892" y="3119932"/>
            <a:ext cx="307238" cy="307238"/>
          </a:xfrm>
          <a:prstGeom prst="rect">
            <a:avLst/>
          </a:prstGeom>
        </p:spPr>
      </p:pic>
      <p:sp>
        <p:nvSpPr>
          <p:cNvPr id="34" name="TextBox 33"/>
          <p:cNvSpPr txBox="1"/>
          <p:nvPr/>
        </p:nvSpPr>
        <p:spPr>
          <a:xfrm>
            <a:off x="6766559" y="2990088"/>
            <a:ext cx="1901952" cy="274320"/>
          </a:xfrm>
          <a:prstGeom prst="rect">
            <a:avLst/>
          </a:prstGeom>
          <a:noFill/>
        </p:spPr>
        <p:txBody>
          <a:bodyPr wrap="square" lIns="0" rIns="0" tIns="0" bIns="0" anchor="t">
            <a:noAutofit/>
          </a:bodyPr>
          <a:lstStyle/>
          <a:p>
            <a:pPr algn="l">
              <a:lnSpc>
                <a:spcPct val="105000"/>
              </a:lnSpc>
            </a:pPr>
            <a:r>
              <a:rPr sz="1450" b="1" i="0">
                <a:solidFill>
                  <a:srgbClr val="1F1A2E"/>
                </a:solidFill>
                <a:latin typeface="Arial"/>
              </a:rPr>
              <a:t>Body interface</a:t>
            </a:r>
          </a:p>
        </p:txBody>
      </p:sp>
      <p:sp>
        <p:nvSpPr>
          <p:cNvPr id="35" name="TextBox 34"/>
          <p:cNvSpPr txBox="1"/>
          <p:nvPr/>
        </p:nvSpPr>
        <p:spPr>
          <a:xfrm>
            <a:off x="6766559" y="3273552"/>
            <a:ext cx="1901952" cy="457200"/>
          </a:xfrm>
          <a:prstGeom prst="rect">
            <a:avLst/>
          </a:prstGeom>
          <a:noFill/>
        </p:spPr>
        <p:txBody>
          <a:bodyPr wrap="square" lIns="0" rIns="0" tIns="0" bIns="0" anchor="t">
            <a:noAutofit/>
          </a:bodyPr>
          <a:lstStyle/>
          <a:p>
            <a:pPr algn="l">
              <a:lnSpc>
                <a:spcPct val="100000"/>
              </a:lnSpc>
            </a:pPr>
            <a:r>
              <a:rPr sz="1250" b="0" i="0">
                <a:solidFill>
                  <a:srgbClr val="3A3447"/>
                </a:solidFill>
                <a:latin typeface="Arial"/>
              </a:rPr>
              <a:t>Hand-picked control neurons [9, 11]</a:t>
            </a:r>
          </a:p>
        </p:txBody>
      </p:sp>
      <p:sp>
        <p:nvSpPr>
          <p:cNvPr id="36" name="Rounded Rectangle 35"/>
          <p:cNvSpPr/>
          <p:nvPr/>
        </p:nvSpPr>
        <p:spPr>
          <a:xfrm>
            <a:off x="457200" y="3977639"/>
            <a:ext cx="8229600" cy="603504"/>
          </a:xfrm>
          <a:prstGeom prst="roundRect">
            <a:avLst>
              <a:gd name="adj" fmla="val 14000"/>
            </a:avLst>
          </a:prstGeom>
          <a:solidFill>
            <a:srgbClr val="660874"/>
          </a:solidFill>
          <a:ln>
            <a:noFill/>
          </a:ln>
        </p:spPr>
        <p:txBody>
          <a:bodyPr rtlCol="0" anchor="ctr"/>
          <a:lstStyle/>
          <a:p>
            <a:pPr algn="ctr"/>
          </a:p>
        </p:txBody>
      </p:sp>
      <p:sp>
        <p:nvSpPr>
          <p:cNvPr id="37" name="TextBox 36"/>
          <p:cNvSpPr txBox="1"/>
          <p:nvPr/>
        </p:nvSpPr>
        <p:spPr>
          <a:xfrm>
            <a:off x="685800" y="3977639"/>
            <a:ext cx="7772400" cy="603504"/>
          </a:xfrm>
          <a:prstGeom prst="rect">
            <a:avLst/>
          </a:prstGeom>
          <a:noFill/>
        </p:spPr>
        <p:txBody>
          <a:bodyPr wrap="square" lIns="0" rIns="0" tIns="0" bIns="0" anchor="ctr">
            <a:noAutofit/>
          </a:bodyPr>
          <a:lstStyle/>
          <a:p>
            <a:pPr algn="l">
              <a:lnSpc>
                <a:spcPct val="105000"/>
              </a:lnSpc>
            </a:pPr>
            <a:r>
              <a:rPr sz="1700" b="1" i="0">
                <a:solidFill>
                  <a:srgbClr val="F6C7A5"/>
                </a:solidFill>
                <a:latin typeface="Arial"/>
              </a:rPr>
              <a:t>Open question:  </a:t>
            </a:r>
            <a:r>
              <a:rPr sz="1700" b="1" i="0">
                <a:solidFill>
                  <a:srgbClr val="FFFFFF"/>
                </a:solidFill>
                <a:latin typeface="Arial"/>
              </a:rPr>
              <a:t>how should a connectome control a whole body?</a:t>
            </a:r>
          </a:p>
        </p:txBody>
      </p:sp>
      <p:sp>
        <p:nvSpPr>
          <p:cNvPr id="38"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FlyGM first draft completed 18 Sep 2025 [1]. Public discussion: [9–11].</a:t>
            </a:r>
          </a:p>
        </p:txBody>
      </p:sp>
      <p:sp>
        <p:nvSpPr>
          <p:cNvPr id="39"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FlyGM: wiring as the controller's architecture</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OUR APPROACH</a:t>
            </a:r>
          </a:p>
        </p:txBody>
      </p:sp>
      <p:sp>
        <p:nvSpPr>
          <p:cNvPr id="6" name="Rounded Rectangle 5"/>
          <p:cNvSpPr/>
          <p:nvPr/>
        </p:nvSpPr>
        <p:spPr>
          <a:xfrm>
            <a:off x="457200" y="1005840"/>
            <a:ext cx="2615184" cy="2743200"/>
          </a:xfrm>
          <a:prstGeom prst="roundRect">
            <a:avLst>
              <a:gd name="adj" fmla="val 6000"/>
            </a:avLst>
          </a:prstGeom>
          <a:solidFill>
            <a:srgbClr val="F4F1F8"/>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1005840" y="1097280"/>
            <a:ext cx="1517904" cy="1188720"/>
          </a:xfrm>
          <a:prstGeom prst="rect">
            <a:avLst/>
          </a:prstGeom>
        </p:spPr>
      </p:pic>
      <p:sp>
        <p:nvSpPr>
          <p:cNvPr id="8" name="Icon circle"/>
          <p:cNvSpPr/>
          <p:nvPr/>
        </p:nvSpPr>
        <p:spPr>
          <a:xfrm>
            <a:off x="603504" y="2395728"/>
            <a:ext cx="384048" cy="384048"/>
          </a:xfrm>
          <a:prstGeom prst="ellipse">
            <a:avLst/>
          </a:prstGeom>
          <a:solidFill>
            <a:srgbClr val="8E86A0"/>
          </a:solidFill>
          <a:ln>
            <a:noFill/>
          </a:ln>
        </p:spPr>
        <p:txBody>
          <a:bodyPr rtlCol="0" anchor="ctr"/>
          <a:lstStyle/>
          <a:p>
            <a:pPr algn="ctr"/>
          </a:p>
        </p:txBody>
      </p:sp>
      <p:pic>
        <p:nvPicPr>
          <p:cNvPr id="9" name="Icon" descr="biotech_w.png"/>
          <p:cNvPicPr>
            <a:picLocks noChangeAspect="1"/>
          </p:cNvPicPr>
          <p:nvPr/>
        </p:nvPicPr>
        <p:blipFill>
          <a:blip r:embed="rId3"/>
          <a:stretch>
            <a:fillRect/>
          </a:stretch>
        </p:blipFill>
        <p:spPr>
          <a:xfrm>
            <a:off x="680313" y="2472537"/>
            <a:ext cx="230428" cy="230428"/>
          </a:xfrm>
          <a:prstGeom prst="rect">
            <a:avLst/>
          </a:prstGeom>
        </p:spPr>
      </p:pic>
      <p:sp>
        <p:nvSpPr>
          <p:cNvPr id="10" name="TextBox 9"/>
          <p:cNvSpPr txBox="1"/>
          <p:nvPr/>
        </p:nvSpPr>
        <p:spPr>
          <a:xfrm>
            <a:off x="1078992" y="2395728"/>
            <a:ext cx="1929384" cy="384048"/>
          </a:xfrm>
          <a:prstGeom prst="rect">
            <a:avLst/>
          </a:prstGeom>
          <a:noFill/>
        </p:spPr>
        <p:txBody>
          <a:bodyPr wrap="square" lIns="0" rIns="0" tIns="0" bIns="0" anchor="ctr">
            <a:noAutofit/>
          </a:bodyPr>
          <a:lstStyle/>
          <a:p>
            <a:pPr algn="l">
              <a:lnSpc>
                <a:spcPct val="105000"/>
              </a:lnSpc>
            </a:pPr>
            <a:r>
              <a:rPr sz="1500" b="1" i="0">
                <a:solidFill>
                  <a:srgbClr val="1F1A2E"/>
                </a:solidFill>
                <a:latin typeface="Arial"/>
              </a:rPr>
              <a:t>Emulate the wiring</a:t>
            </a:r>
          </a:p>
        </p:txBody>
      </p:sp>
      <p:sp>
        <p:nvSpPr>
          <p:cNvPr id="11" name="TextBox 10"/>
          <p:cNvSpPr txBox="1"/>
          <p:nvPr/>
        </p:nvSpPr>
        <p:spPr>
          <a:xfrm>
            <a:off x="640080" y="2852928"/>
            <a:ext cx="2322576" cy="694944"/>
          </a:xfrm>
          <a:prstGeom prst="rect">
            <a:avLst/>
          </a:prstGeom>
          <a:noFill/>
        </p:spPr>
        <p:txBody>
          <a:bodyPr wrap="square" lIns="0" rIns="0" tIns="0" bIns="0" anchor="t">
            <a:noAutofit/>
          </a:bodyPr>
          <a:lstStyle/>
          <a:p>
            <a:pPr algn="l">
              <a:lnSpc>
                <a:spcPct val="100000"/>
              </a:lnSpc>
              <a:spcAft>
                <a:spcPts val="400"/>
              </a:spcAft>
            </a:pPr>
            <a:r>
              <a:rPr sz="1300" b="1" i="0">
                <a:solidFill>
                  <a:srgbClr val="2E8B57"/>
                </a:solidFill>
                <a:latin typeface="Arial"/>
              </a:rPr>
              <a:t>+  </a:t>
            </a:r>
            <a:r>
              <a:rPr sz="1300" b="0" i="0">
                <a:solidFill>
                  <a:srgbClr val="3A3447"/>
                </a:solidFill>
                <a:latin typeface="Arial"/>
              </a:rPr>
              <a:t>Real wiring, no training</a:t>
            </a:r>
          </a:p>
          <a:p>
            <a:pPr algn="l">
              <a:lnSpc>
                <a:spcPct val="100000"/>
              </a:lnSpc>
              <a:spcAft>
                <a:spcPts val="400"/>
              </a:spcAft>
            </a:pPr>
            <a:r>
              <a:rPr sz="1300" b="1" i="0">
                <a:solidFill>
                  <a:srgbClr val="B03A2E"/>
                </a:solidFill>
                <a:latin typeface="Arial"/>
              </a:rPr>
              <a:t>−  </a:t>
            </a:r>
            <a:r>
              <a:rPr sz="1300" b="0" i="0">
                <a:solidFill>
                  <a:srgbClr val="3A3447"/>
                </a:solidFill>
                <a:latin typeface="Arial"/>
              </a:rPr>
              <a:t>Body moved by built-in controllers</a:t>
            </a:r>
          </a:p>
        </p:txBody>
      </p:sp>
      <p:sp>
        <p:nvSpPr>
          <p:cNvPr id="12" name="TextBox 11"/>
          <p:cNvSpPr txBox="1"/>
          <p:nvPr/>
        </p:nvSpPr>
        <p:spPr>
          <a:xfrm>
            <a:off x="640080" y="3529584"/>
            <a:ext cx="2322576" cy="201168"/>
          </a:xfrm>
          <a:prstGeom prst="rect">
            <a:avLst/>
          </a:prstGeom>
          <a:noFill/>
        </p:spPr>
        <p:txBody>
          <a:bodyPr wrap="square" lIns="0" rIns="0" tIns="0" bIns="0" anchor="t">
            <a:noAutofit/>
          </a:bodyPr>
          <a:lstStyle/>
          <a:p>
            <a:pPr algn="l">
              <a:lnSpc>
                <a:spcPct val="105000"/>
              </a:lnSpc>
            </a:pPr>
            <a:r>
              <a:rPr sz="1050" b="0" i="1">
                <a:solidFill>
                  <a:srgbClr val="6E6880"/>
                </a:solidFill>
                <a:latin typeface="Arial"/>
              </a:rPr>
              <a:t>e.g. [4, 9]</a:t>
            </a:r>
          </a:p>
        </p:txBody>
      </p:sp>
      <p:sp>
        <p:nvSpPr>
          <p:cNvPr id="13" name="Rounded Rectangle 12"/>
          <p:cNvSpPr/>
          <p:nvPr/>
        </p:nvSpPr>
        <p:spPr>
          <a:xfrm>
            <a:off x="3264408" y="1005840"/>
            <a:ext cx="2615184" cy="2743200"/>
          </a:xfrm>
          <a:prstGeom prst="roundRect">
            <a:avLst>
              <a:gd name="adj" fmla="val 6000"/>
            </a:avLst>
          </a:prstGeom>
          <a:solidFill>
            <a:srgbClr val="F4F1F8"/>
          </a:solidFill>
          <a:ln>
            <a:noFill/>
          </a:ln>
        </p:spPr>
        <p:txBody>
          <a:bodyPr rtlCol="0" anchor="ctr"/>
          <a:lstStyle/>
          <a:p>
            <a:pPr algn="ctr"/>
          </a:p>
        </p:txBody>
      </p:sp>
      <p:pic>
        <p:nvPicPr>
          <p:cNvPr id="14" name="Picture 13" descr="image.png"/>
          <p:cNvPicPr>
            <a:picLocks noChangeAspect="1"/>
          </p:cNvPicPr>
          <p:nvPr/>
        </p:nvPicPr>
        <p:blipFill>
          <a:blip r:embed="rId4"/>
          <a:stretch>
            <a:fillRect/>
          </a:stretch>
        </p:blipFill>
        <p:spPr>
          <a:xfrm>
            <a:off x="3694176" y="1097280"/>
            <a:ext cx="1764792" cy="1188720"/>
          </a:xfrm>
          <a:prstGeom prst="rect">
            <a:avLst/>
          </a:prstGeom>
        </p:spPr>
      </p:pic>
      <p:sp>
        <p:nvSpPr>
          <p:cNvPr id="15" name="Icon circle"/>
          <p:cNvSpPr/>
          <p:nvPr/>
        </p:nvSpPr>
        <p:spPr>
          <a:xfrm>
            <a:off x="3410712" y="2395728"/>
            <a:ext cx="384048" cy="384048"/>
          </a:xfrm>
          <a:prstGeom prst="ellipse">
            <a:avLst/>
          </a:prstGeom>
          <a:solidFill>
            <a:srgbClr val="8E86A0"/>
          </a:solidFill>
          <a:ln>
            <a:noFill/>
          </a:ln>
        </p:spPr>
        <p:txBody>
          <a:bodyPr rtlCol="0" anchor="ctr"/>
          <a:lstStyle/>
          <a:p>
            <a:pPr algn="ctr"/>
          </a:p>
        </p:txBody>
      </p:sp>
      <p:pic>
        <p:nvPicPr>
          <p:cNvPr id="16" name="Icon" descr="robot_w.png"/>
          <p:cNvPicPr>
            <a:picLocks noChangeAspect="1"/>
          </p:cNvPicPr>
          <p:nvPr/>
        </p:nvPicPr>
        <p:blipFill>
          <a:blip r:embed="rId5"/>
          <a:stretch>
            <a:fillRect/>
          </a:stretch>
        </p:blipFill>
        <p:spPr>
          <a:xfrm>
            <a:off x="3487521" y="2472537"/>
            <a:ext cx="230428" cy="230428"/>
          </a:xfrm>
          <a:prstGeom prst="rect">
            <a:avLst/>
          </a:prstGeom>
        </p:spPr>
      </p:pic>
      <p:sp>
        <p:nvSpPr>
          <p:cNvPr id="17" name="TextBox 16"/>
          <p:cNvSpPr txBox="1"/>
          <p:nvPr/>
        </p:nvSpPr>
        <p:spPr>
          <a:xfrm>
            <a:off x="3886200" y="2395728"/>
            <a:ext cx="1929384" cy="384048"/>
          </a:xfrm>
          <a:prstGeom prst="rect">
            <a:avLst/>
          </a:prstGeom>
          <a:noFill/>
        </p:spPr>
        <p:txBody>
          <a:bodyPr wrap="square" lIns="0" rIns="0" tIns="0" bIns="0" anchor="ctr">
            <a:noAutofit/>
          </a:bodyPr>
          <a:lstStyle/>
          <a:p>
            <a:pPr algn="l">
              <a:lnSpc>
                <a:spcPct val="105000"/>
              </a:lnSpc>
            </a:pPr>
            <a:r>
              <a:rPr sz="1500" b="1" i="0">
                <a:solidFill>
                  <a:srgbClr val="1F1A2E"/>
                </a:solidFill>
                <a:latin typeface="Arial"/>
              </a:rPr>
              <a:t>Learn a generic net</a:t>
            </a:r>
          </a:p>
        </p:txBody>
      </p:sp>
      <p:sp>
        <p:nvSpPr>
          <p:cNvPr id="18" name="TextBox 17"/>
          <p:cNvSpPr txBox="1"/>
          <p:nvPr/>
        </p:nvSpPr>
        <p:spPr>
          <a:xfrm>
            <a:off x="3447288" y="2852928"/>
            <a:ext cx="2322576" cy="694944"/>
          </a:xfrm>
          <a:prstGeom prst="rect">
            <a:avLst/>
          </a:prstGeom>
          <a:noFill/>
        </p:spPr>
        <p:txBody>
          <a:bodyPr wrap="square" lIns="0" rIns="0" tIns="0" bIns="0" anchor="t">
            <a:noAutofit/>
          </a:bodyPr>
          <a:lstStyle/>
          <a:p>
            <a:pPr algn="l">
              <a:lnSpc>
                <a:spcPct val="100000"/>
              </a:lnSpc>
              <a:spcAft>
                <a:spcPts val="400"/>
              </a:spcAft>
            </a:pPr>
            <a:r>
              <a:rPr sz="1300" b="1" i="0">
                <a:solidFill>
                  <a:srgbClr val="2E8B57"/>
                </a:solidFill>
                <a:latin typeface="Arial"/>
              </a:rPr>
              <a:t>+  </a:t>
            </a:r>
            <a:r>
              <a:rPr sz="1300" b="0" i="0">
                <a:solidFill>
                  <a:srgbClr val="3A3447"/>
                </a:solidFill>
                <a:latin typeface="Arial"/>
              </a:rPr>
              <a:t>Realistic walking and flight</a:t>
            </a:r>
          </a:p>
          <a:p>
            <a:pPr algn="l">
              <a:lnSpc>
                <a:spcPct val="100000"/>
              </a:lnSpc>
              <a:spcAft>
                <a:spcPts val="400"/>
              </a:spcAft>
            </a:pPr>
            <a:r>
              <a:rPr sz="1300" b="1" i="0">
                <a:solidFill>
                  <a:srgbClr val="B03A2E"/>
                </a:solidFill>
                <a:latin typeface="Arial"/>
              </a:rPr>
              <a:t>−  </a:t>
            </a:r>
            <a:r>
              <a:rPr sz="1300" b="0" i="0">
                <a:solidFill>
                  <a:srgbClr val="3A3447"/>
                </a:solidFill>
                <a:latin typeface="Arial"/>
              </a:rPr>
              <a:t>Network unrelated to the brain</a:t>
            </a:r>
          </a:p>
        </p:txBody>
      </p:sp>
      <p:sp>
        <p:nvSpPr>
          <p:cNvPr id="19" name="TextBox 18"/>
          <p:cNvSpPr txBox="1"/>
          <p:nvPr/>
        </p:nvSpPr>
        <p:spPr>
          <a:xfrm>
            <a:off x="3447288" y="3529584"/>
            <a:ext cx="2322576" cy="201168"/>
          </a:xfrm>
          <a:prstGeom prst="rect">
            <a:avLst/>
          </a:prstGeom>
          <a:noFill/>
        </p:spPr>
        <p:txBody>
          <a:bodyPr wrap="square" lIns="0" rIns="0" tIns="0" bIns="0" anchor="t">
            <a:noAutofit/>
          </a:bodyPr>
          <a:lstStyle/>
          <a:p>
            <a:pPr algn="l">
              <a:lnSpc>
                <a:spcPct val="105000"/>
              </a:lnSpc>
            </a:pPr>
            <a:r>
              <a:rPr sz="1050" b="0" i="1">
                <a:solidFill>
                  <a:srgbClr val="6E6880"/>
                </a:solidFill>
                <a:latin typeface="Arial"/>
              </a:rPr>
              <a:t>e.g. flybody [7]</a:t>
            </a:r>
          </a:p>
        </p:txBody>
      </p:sp>
      <p:sp>
        <p:nvSpPr>
          <p:cNvPr id="20" name="Rounded Rectangle 19"/>
          <p:cNvSpPr/>
          <p:nvPr/>
        </p:nvSpPr>
        <p:spPr>
          <a:xfrm>
            <a:off x="6071616" y="1005840"/>
            <a:ext cx="2615184" cy="2743200"/>
          </a:xfrm>
          <a:prstGeom prst="roundRect">
            <a:avLst>
              <a:gd name="adj" fmla="val 6000"/>
            </a:avLst>
          </a:prstGeom>
          <a:solidFill>
            <a:srgbClr val="FBEDE3"/>
          </a:solidFill>
          <a:ln w="19050">
            <a:solidFill>
              <a:srgbClr val="D55E00"/>
            </a:solidFill>
          </a:ln>
        </p:spPr>
        <p:txBody>
          <a:bodyPr rtlCol="0" anchor="ctr"/>
          <a:lstStyle/>
          <a:p>
            <a:pPr algn="ctr"/>
          </a:p>
        </p:txBody>
      </p:sp>
      <p:pic>
        <p:nvPicPr>
          <p:cNvPr id="21" name="Picture 20" descr="connectome_layout_alpha_light.png"/>
          <p:cNvPicPr>
            <a:picLocks noChangeAspect="1"/>
          </p:cNvPicPr>
          <p:nvPr/>
        </p:nvPicPr>
        <p:blipFill>
          <a:blip r:embed="rId6"/>
          <a:stretch>
            <a:fillRect/>
          </a:stretch>
        </p:blipFill>
        <p:spPr>
          <a:xfrm>
            <a:off x="6784848" y="1069848"/>
            <a:ext cx="1207008" cy="1207008"/>
          </a:xfrm>
          <a:prstGeom prst="rect">
            <a:avLst/>
          </a:prstGeom>
        </p:spPr>
      </p:pic>
      <p:sp>
        <p:nvSpPr>
          <p:cNvPr id="22" name="Icon circle"/>
          <p:cNvSpPr/>
          <p:nvPr/>
        </p:nvSpPr>
        <p:spPr>
          <a:xfrm>
            <a:off x="6217920" y="2395728"/>
            <a:ext cx="384048" cy="384048"/>
          </a:xfrm>
          <a:prstGeom prst="ellipse">
            <a:avLst/>
          </a:prstGeom>
          <a:solidFill>
            <a:srgbClr val="D55E00"/>
          </a:solidFill>
          <a:ln>
            <a:noFill/>
          </a:ln>
        </p:spPr>
        <p:txBody>
          <a:bodyPr rtlCol="0" anchor="ctr"/>
          <a:lstStyle/>
          <a:p>
            <a:pPr algn="ctr"/>
          </a:p>
        </p:txBody>
      </p:sp>
      <p:pic>
        <p:nvPicPr>
          <p:cNvPr id="23" name="Icon" descr="hub_w.png"/>
          <p:cNvPicPr>
            <a:picLocks noChangeAspect="1"/>
          </p:cNvPicPr>
          <p:nvPr/>
        </p:nvPicPr>
        <p:blipFill>
          <a:blip r:embed="rId7"/>
          <a:stretch>
            <a:fillRect/>
          </a:stretch>
        </p:blipFill>
        <p:spPr>
          <a:xfrm>
            <a:off x="6294729" y="2472537"/>
            <a:ext cx="230428" cy="230428"/>
          </a:xfrm>
          <a:prstGeom prst="rect">
            <a:avLst/>
          </a:prstGeom>
        </p:spPr>
      </p:pic>
      <p:sp>
        <p:nvSpPr>
          <p:cNvPr id="24" name="TextBox 23"/>
          <p:cNvSpPr txBox="1"/>
          <p:nvPr/>
        </p:nvSpPr>
        <p:spPr>
          <a:xfrm>
            <a:off x="6693407" y="2395728"/>
            <a:ext cx="1929384" cy="384048"/>
          </a:xfrm>
          <a:prstGeom prst="rect">
            <a:avLst/>
          </a:prstGeom>
          <a:noFill/>
        </p:spPr>
        <p:txBody>
          <a:bodyPr wrap="square" lIns="0" rIns="0" tIns="0" bIns="0" anchor="ctr">
            <a:noAutofit/>
          </a:bodyPr>
          <a:lstStyle/>
          <a:p>
            <a:pPr algn="l">
              <a:lnSpc>
                <a:spcPct val="105000"/>
              </a:lnSpc>
            </a:pPr>
            <a:r>
              <a:rPr sz="1500" b="1" i="0">
                <a:solidFill>
                  <a:srgbClr val="D55E00"/>
                </a:solidFill>
                <a:latin typeface="Arial"/>
              </a:rPr>
              <a:t>FlyGM (ours)</a:t>
            </a:r>
          </a:p>
        </p:txBody>
      </p:sp>
      <p:sp>
        <p:nvSpPr>
          <p:cNvPr id="25" name="TextBox 24"/>
          <p:cNvSpPr txBox="1"/>
          <p:nvPr/>
        </p:nvSpPr>
        <p:spPr>
          <a:xfrm>
            <a:off x="6254496" y="2852928"/>
            <a:ext cx="2322576" cy="694944"/>
          </a:xfrm>
          <a:prstGeom prst="rect">
            <a:avLst/>
          </a:prstGeom>
          <a:noFill/>
        </p:spPr>
        <p:txBody>
          <a:bodyPr wrap="square" lIns="0" rIns="0" tIns="0" bIns="0" anchor="t">
            <a:noAutofit/>
          </a:bodyPr>
          <a:lstStyle/>
          <a:p>
            <a:pPr algn="l">
              <a:lnSpc>
                <a:spcPct val="100000"/>
              </a:lnSpc>
              <a:spcAft>
                <a:spcPts val="400"/>
              </a:spcAft>
            </a:pPr>
            <a:r>
              <a:rPr sz="1300" b="1" i="0">
                <a:solidFill>
                  <a:srgbClr val="2E8B57"/>
                </a:solidFill>
                <a:latin typeface="Arial"/>
              </a:rPr>
              <a:t>+  </a:t>
            </a:r>
            <a:r>
              <a:rPr sz="1300" b="0" i="0">
                <a:solidFill>
                  <a:srgbClr val="3A3447"/>
                </a:solidFill>
                <a:latin typeface="Arial"/>
              </a:rPr>
              <a:t>The real wiring is the network</a:t>
            </a:r>
          </a:p>
          <a:p>
            <a:pPr algn="l">
              <a:lnSpc>
                <a:spcPct val="100000"/>
              </a:lnSpc>
              <a:spcAft>
                <a:spcPts val="400"/>
              </a:spcAft>
            </a:pPr>
            <a:r>
              <a:rPr sz="1300" b="1" i="0">
                <a:solidFill>
                  <a:srgbClr val="2E8B57"/>
                </a:solidFill>
                <a:latin typeface="Arial"/>
              </a:rPr>
              <a:t>+  </a:t>
            </a:r>
            <a:r>
              <a:rPr sz="1300" b="0" i="0">
                <a:solidFill>
                  <a:srgbClr val="3A3447"/>
                </a:solidFill>
                <a:latin typeface="Arial"/>
              </a:rPr>
              <a:t>Learns whole-body control</a:t>
            </a:r>
          </a:p>
        </p:txBody>
      </p:sp>
      <p:sp>
        <p:nvSpPr>
          <p:cNvPr id="26" name="Rounded Rectangle 25"/>
          <p:cNvSpPr/>
          <p:nvPr/>
        </p:nvSpPr>
        <p:spPr>
          <a:xfrm>
            <a:off x="457200" y="3913632"/>
            <a:ext cx="8229600" cy="713232"/>
          </a:xfrm>
          <a:prstGeom prst="roundRect">
            <a:avLst>
              <a:gd name="adj" fmla="val 12000"/>
            </a:avLst>
          </a:prstGeom>
          <a:solidFill>
            <a:srgbClr val="660874"/>
          </a:solidFill>
          <a:ln>
            <a:noFill/>
          </a:ln>
        </p:spPr>
        <p:txBody>
          <a:bodyPr rtlCol="0" anchor="ctr"/>
          <a:lstStyle/>
          <a:p>
            <a:pPr algn="ctr"/>
          </a:p>
        </p:txBody>
      </p:sp>
      <p:sp>
        <p:nvSpPr>
          <p:cNvPr id="27" name="TextBox 26"/>
          <p:cNvSpPr txBox="1"/>
          <p:nvPr/>
        </p:nvSpPr>
        <p:spPr>
          <a:xfrm>
            <a:off x="685800" y="3913632"/>
            <a:ext cx="7772400" cy="713232"/>
          </a:xfrm>
          <a:prstGeom prst="rect">
            <a:avLst/>
          </a:prstGeom>
          <a:noFill/>
        </p:spPr>
        <p:txBody>
          <a:bodyPr wrap="square" lIns="0" rIns="0" tIns="0" bIns="0" anchor="ctr">
            <a:noAutofit/>
          </a:bodyPr>
          <a:lstStyle/>
          <a:p>
            <a:pPr algn="l">
              <a:lnSpc>
                <a:spcPct val="105000"/>
              </a:lnSpc>
            </a:pPr>
            <a:r>
              <a:rPr sz="1000" b="1" i="0" spc="120">
                <a:solidFill>
                  <a:srgbClr val="F6C7A5"/>
                </a:solidFill>
                <a:latin typeface="Arial"/>
              </a:rPr>
              <a:t>RESEARCH QUESTION</a:t>
            </a:r>
          </a:p>
          <a:p>
            <a:pPr algn="l">
              <a:lnSpc>
                <a:spcPct val="105000"/>
              </a:lnSpc>
            </a:pPr>
            <a:r>
              <a:rPr sz="1700" b="1" i="0">
                <a:solidFill>
                  <a:srgbClr val="FFFFFF"/>
                </a:solidFill>
                <a:latin typeface="Arial"/>
              </a:rPr>
              <a:t>Can whole-brain wiring be a useful prior for whole-body control?</a:t>
            </a:r>
          </a:p>
        </p:txBody>
      </p:sp>
      <p:sp>
        <p:nvSpPr>
          <p:cNvPr id="28"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Images: FlyWire brain [2]; flybody fly [7]; FlyGM connectome layout [1].</a:t>
            </a:r>
          </a:p>
        </p:txBody>
      </p:sp>
      <p:sp>
        <p:nvSpPr>
          <p:cNvPr id="29"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FlyGM closes the sensorimotor loop</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METHOD</a:t>
            </a:r>
          </a:p>
        </p:txBody>
      </p:sp>
      <p:pic>
        <p:nvPicPr>
          <p:cNvPr id="6" name="FlyGM framework (paper Fig. 1)" descr="image.png"/>
          <p:cNvPicPr>
            <a:picLocks noChangeAspect="1"/>
          </p:cNvPicPr>
          <p:nvPr/>
        </p:nvPicPr>
        <p:blipFill>
          <a:blip r:embed="rId2"/>
          <a:stretch>
            <a:fillRect/>
          </a:stretch>
        </p:blipFill>
        <p:spPr>
          <a:xfrm>
            <a:off x="457200" y="1024128"/>
            <a:ext cx="8229600" cy="2106679"/>
          </a:xfrm>
          <a:prstGeom prst="rect">
            <a:avLst/>
          </a:prstGeom>
        </p:spPr>
      </p:pic>
      <p:sp>
        <p:nvSpPr>
          <p:cNvPr id="7" name="Rounded Rectangle 6"/>
          <p:cNvSpPr/>
          <p:nvPr/>
        </p:nvSpPr>
        <p:spPr>
          <a:xfrm>
            <a:off x="457200" y="3291840"/>
            <a:ext cx="2615184" cy="1298448"/>
          </a:xfrm>
          <a:prstGeom prst="roundRect">
            <a:avLst>
              <a:gd name="adj" fmla="val 7000"/>
            </a:avLst>
          </a:prstGeom>
          <a:solidFill>
            <a:srgbClr val="F4F1F8"/>
          </a:solidFill>
          <a:ln>
            <a:noFill/>
          </a:ln>
        </p:spPr>
        <p:txBody>
          <a:bodyPr rtlCol="0" anchor="ctr"/>
          <a:lstStyle/>
          <a:p>
            <a:pPr algn="ctr"/>
          </a:p>
        </p:txBody>
      </p:sp>
      <p:sp>
        <p:nvSpPr>
          <p:cNvPr id="8" name="Oval 7"/>
          <p:cNvSpPr/>
          <p:nvPr/>
        </p:nvSpPr>
        <p:spPr>
          <a:xfrm>
            <a:off x="621792" y="3419856"/>
            <a:ext cx="402336" cy="402336"/>
          </a:xfrm>
          <a:prstGeom prst="ellipse">
            <a:avLst/>
          </a:prstGeom>
          <a:solidFill>
            <a:srgbClr val="2E75B6"/>
          </a:solidFill>
          <a:ln>
            <a:noFill/>
          </a:ln>
        </p:spPr>
        <p:txBody>
          <a:bodyPr rtlCol="0" anchor="ctr"/>
          <a:lstStyle/>
          <a:p>
            <a:pPr algn="ctr"/>
          </a:p>
        </p:txBody>
      </p:sp>
      <p:sp>
        <p:nvSpPr>
          <p:cNvPr id="9" name="TextBox 8"/>
          <p:cNvSpPr txBox="1"/>
          <p:nvPr/>
        </p:nvSpPr>
        <p:spPr>
          <a:xfrm>
            <a:off x="621792" y="3419856"/>
            <a:ext cx="402336" cy="402336"/>
          </a:xfrm>
          <a:prstGeom prst="rect">
            <a:avLst/>
          </a:prstGeom>
          <a:noFill/>
        </p:spPr>
        <p:txBody>
          <a:bodyPr wrap="square" lIns="0" rIns="0" tIns="0" bIns="0" anchor="ctr">
            <a:noAutofit/>
          </a:bodyPr>
          <a:lstStyle/>
          <a:p>
            <a:pPr algn="ctr">
              <a:lnSpc>
                <a:spcPct val="105000"/>
              </a:lnSpc>
            </a:pPr>
            <a:r>
              <a:rPr sz="1500" b="1" i="0">
                <a:solidFill>
                  <a:srgbClr val="FFFFFF"/>
                </a:solidFill>
                <a:latin typeface="Arial"/>
              </a:rPr>
              <a:t>1</a:t>
            </a:r>
          </a:p>
        </p:txBody>
      </p:sp>
      <p:sp>
        <p:nvSpPr>
          <p:cNvPr id="10" name="TextBox 9"/>
          <p:cNvSpPr txBox="1"/>
          <p:nvPr/>
        </p:nvSpPr>
        <p:spPr>
          <a:xfrm>
            <a:off x="1152144" y="3419856"/>
            <a:ext cx="1837943" cy="402336"/>
          </a:xfrm>
          <a:prstGeom prst="rect">
            <a:avLst/>
          </a:prstGeom>
          <a:noFill/>
        </p:spPr>
        <p:txBody>
          <a:bodyPr wrap="square" lIns="0" rIns="0" tIns="0" bIns="0" anchor="ctr">
            <a:noAutofit/>
          </a:bodyPr>
          <a:lstStyle/>
          <a:p>
            <a:pPr algn="l">
              <a:lnSpc>
                <a:spcPct val="105000"/>
              </a:lnSpc>
            </a:pPr>
            <a:r>
              <a:rPr sz="1600" b="1" i="0">
                <a:solidFill>
                  <a:srgbClr val="1F1A2E"/>
                </a:solidFill>
                <a:latin typeface="Arial"/>
              </a:rPr>
              <a:t>Observe</a:t>
            </a:r>
          </a:p>
        </p:txBody>
      </p:sp>
      <p:sp>
        <p:nvSpPr>
          <p:cNvPr id="11" name="TextBox 10"/>
          <p:cNvSpPr txBox="1"/>
          <p:nvPr/>
        </p:nvSpPr>
        <p:spPr>
          <a:xfrm>
            <a:off x="640080" y="3913632"/>
            <a:ext cx="2286000" cy="603504"/>
          </a:xfrm>
          <a:prstGeom prst="rect">
            <a:avLst/>
          </a:prstGeom>
          <a:noFill/>
        </p:spPr>
        <p:txBody>
          <a:bodyPr wrap="square" lIns="0" rIns="0" tIns="0" bIns="0" anchor="t">
            <a:noAutofit/>
          </a:bodyPr>
          <a:lstStyle/>
          <a:p>
            <a:pPr algn="l">
              <a:lnSpc>
                <a:spcPct val="102000"/>
              </a:lnSpc>
            </a:pPr>
            <a:r>
              <a:rPr sz="1350" b="0" i="0">
                <a:solidFill>
                  <a:srgbClr val="3A3447"/>
                </a:solidFill>
                <a:latin typeface="Arial"/>
              </a:rPr>
              <a:t>Body senses → encoder → afferent neurons</a:t>
            </a:r>
          </a:p>
        </p:txBody>
      </p:sp>
      <p:sp>
        <p:nvSpPr>
          <p:cNvPr id="12" name="Rounded Rectangle 11"/>
          <p:cNvSpPr/>
          <p:nvPr/>
        </p:nvSpPr>
        <p:spPr>
          <a:xfrm>
            <a:off x="3264408" y="3291840"/>
            <a:ext cx="2615184" cy="1298448"/>
          </a:xfrm>
          <a:prstGeom prst="roundRect">
            <a:avLst>
              <a:gd name="adj" fmla="val 7000"/>
            </a:avLst>
          </a:prstGeom>
          <a:solidFill>
            <a:srgbClr val="F4F1F8"/>
          </a:solidFill>
          <a:ln>
            <a:noFill/>
          </a:ln>
        </p:spPr>
        <p:txBody>
          <a:bodyPr rtlCol="0" anchor="ctr"/>
          <a:lstStyle/>
          <a:p>
            <a:pPr algn="ctr"/>
          </a:p>
        </p:txBody>
      </p:sp>
      <p:sp>
        <p:nvSpPr>
          <p:cNvPr id="13" name="Oval 12"/>
          <p:cNvSpPr/>
          <p:nvPr/>
        </p:nvSpPr>
        <p:spPr>
          <a:xfrm>
            <a:off x="3429000" y="3419856"/>
            <a:ext cx="402336" cy="402336"/>
          </a:xfrm>
          <a:prstGeom prst="ellipse">
            <a:avLst/>
          </a:prstGeom>
          <a:solidFill>
            <a:srgbClr val="4E9F5A"/>
          </a:solidFill>
          <a:ln>
            <a:noFill/>
          </a:ln>
        </p:spPr>
        <p:txBody>
          <a:bodyPr rtlCol="0" anchor="ctr"/>
          <a:lstStyle/>
          <a:p>
            <a:pPr algn="ctr"/>
          </a:p>
        </p:txBody>
      </p:sp>
      <p:sp>
        <p:nvSpPr>
          <p:cNvPr id="14" name="TextBox 13"/>
          <p:cNvSpPr txBox="1"/>
          <p:nvPr/>
        </p:nvSpPr>
        <p:spPr>
          <a:xfrm>
            <a:off x="3429000" y="3419856"/>
            <a:ext cx="402336" cy="402336"/>
          </a:xfrm>
          <a:prstGeom prst="rect">
            <a:avLst/>
          </a:prstGeom>
          <a:noFill/>
        </p:spPr>
        <p:txBody>
          <a:bodyPr wrap="square" lIns="0" rIns="0" tIns="0" bIns="0" anchor="ctr">
            <a:noAutofit/>
          </a:bodyPr>
          <a:lstStyle/>
          <a:p>
            <a:pPr algn="ctr">
              <a:lnSpc>
                <a:spcPct val="105000"/>
              </a:lnSpc>
            </a:pPr>
            <a:r>
              <a:rPr sz="1500" b="1" i="0">
                <a:solidFill>
                  <a:srgbClr val="FFFFFF"/>
                </a:solidFill>
                <a:latin typeface="Arial"/>
              </a:rPr>
              <a:t>2</a:t>
            </a:r>
          </a:p>
        </p:txBody>
      </p:sp>
      <p:sp>
        <p:nvSpPr>
          <p:cNvPr id="15" name="TextBox 14"/>
          <p:cNvSpPr txBox="1"/>
          <p:nvPr/>
        </p:nvSpPr>
        <p:spPr>
          <a:xfrm>
            <a:off x="3959352" y="3419856"/>
            <a:ext cx="1837943" cy="402336"/>
          </a:xfrm>
          <a:prstGeom prst="rect">
            <a:avLst/>
          </a:prstGeom>
          <a:noFill/>
        </p:spPr>
        <p:txBody>
          <a:bodyPr wrap="square" lIns="0" rIns="0" tIns="0" bIns="0" anchor="ctr">
            <a:noAutofit/>
          </a:bodyPr>
          <a:lstStyle/>
          <a:p>
            <a:pPr algn="l">
              <a:lnSpc>
                <a:spcPct val="105000"/>
              </a:lnSpc>
            </a:pPr>
            <a:r>
              <a:rPr sz="1600" b="1" i="0">
                <a:solidFill>
                  <a:srgbClr val="1F1A2E"/>
                </a:solidFill>
                <a:latin typeface="Arial"/>
              </a:rPr>
              <a:t>Propagate</a:t>
            </a:r>
          </a:p>
        </p:txBody>
      </p:sp>
      <p:sp>
        <p:nvSpPr>
          <p:cNvPr id="16" name="TextBox 15"/>
          <p:cNvSpPr txBox="1"/>
          <p:nvPr/>
        </p:nvSpPr>
        <p:spPr>
          <a:xfrm>
            <a:off x="3447288" y="3913632"/>
            <a:ext cx="2286000" cy="603504"/>
          </a:xfrm>
          <a:prstGeom prst="rect">
            <a:avLst/>
          </a:prstGeom>
          <a:noFill/>
        </p:spPr>
        <p:txBody>
          <a:bodyPr wrap="square" lIns="0" rIns="0" tIns="0" bIns="0" anchor="t">
            <a:noAutofit/>
          </a:bodyPr>
          <a:lstStyle/>
          <a:p>
            <a:pPr algn="l">
              <a:lnSpc>
                <a:spcPct val="102000"/>
              </a:lnSpc>
            </a:pPr>
            <a:r>
              <a:rPr sz="1350" b="0" i="0">
                <a:solidFill>
                  <a:srgbClr val="3A3447"/>
                </a:solidFill>
                <a:latin typeface="Arial"/>
              </a:rPr>
              <a:t>Signals flow along real synapses: M = W H</a:t>
            </a:r>
          </a:p>
        </p:txBody>
      </p:sp>
      <p:sp>
        <p:nvSpPr>
          <p:cNvPr id="17" name="Rounded Rectangle 16"/>
          <p:cNvSpPr/>
          <p:nvPr/>
        </p:nvSpPr>
        <p:spPr>
          <a:xfrm>
            <a:off x="6071616" y="3291840"/>
            <a:ext cx="2615184" cy="1298448"/>
          </a:xfrm>
          <a:prstGeom prst="roundRect">
            <a:avLst>
              <a:gd name="adj" fmla="val 7000"/>
            </a:avLst>
          </a:prstGeom>
          <a:solidFill>
            <a:srgbClr val="F4F1F8"/>
          </a:solidFill>
          <a:ln>
            <a:noFill/>
          </a:ln>
        </p:spPr>
        <p:txBody>
          <a:bodyPr rtlCol="0" anchor="ctr"/>
          <a:lstStyle/>
          <a:p>
            <a:pPr algn="ctr"/>
          </a:p>
        </p:txBody>
      </p:sp>
      <p:sp>
        <p:nvSpPr>
          <p:cNvPr id="18" name="Oval 17"/>
          <p:cNvSpPr/>
          <p:nvPr/>
        </p:nvSpPr>
        <p:spPr>
          <a:xfrm>
            <a:off x="6236207" y="3419856"/>
            <a:ext cx="402336" cy="402336"/>
          </a:xfrm>
          <a:prstGeom prst="ellipse">
            <a:avLst/>
          </a:prstGeom>
          <a:solidFill>
            <a:srgbClr val="E07B39"/>
          </a:solidFill>
          <a:ln>
            <a:noFill/>
          </a:ln>
        </p:spPr>
        <p:txBody>
          <a:bodyPr rtlCol="0" anchor="ctr"/>
          <a:lstStyle/>
          <a:p>
            <a:pPr algn="ctr"/>
          </a:p>
        </p:txBody>
      </p:sp>
      <p:sp>
        <p:nvSpPr>
          <p:cNvPr id="19" name="TextBox 18"/>
          <p:cNvSpPr txBox="1"/>
          <p:nvPr/>
        </p:nvSpPr>
        <p:spPr>
          <a:xfrm>
            <a:off x="6236207" y="3419856"/>
            <a:ext cx="402336" cy="402336"/>
          </a:xfrm>
          <a:prstGeom prst="rect">
            <a:avLst/>
          </a:prstGeom>
          <a:noFill/>
        </p:spPr>
        <p:txBody>
          <a:bodyPr wrap="square" lIns="0" rIns="0" tIns="0" bIns="0" anchor="ctr">
            <a:noAutofit/>
          </a:bodyPr>
          <a:lstStyle/>
          <a:p>
            <a:pPr algn="ctr">
              <a:lnSpc>
                <a:spcPct val="105000"/>
              </a:lnSpc>
            </a:pPr>
            <a:r>
              <a:rPr sz="1500" b="1" i="0">
                <a:solidFill>
                  <a:srgbClr val="FFFFFF"/>
                </a:solidFill>
                <a:latin typeface="Arial"/>
              </a:rPr>
              <a:t>3</a:t>
            </a:r>
          </a:p>
        </p:txBody>
      </p:sp>
      <p:sp>
        <p:nvSpPr>
          <p:cNvPr id="20" name="TextBox 19"/>
          <p:cNvSpPr txBox="1"/>
          <p:nvPr/>
        </p:nvSpPr>
        <p:spPr>
          <a:xfrm>
            <a:off x="6766559" y="3419856"/>
            <a:ext cx="1837943" cy="402336"/>
          </a:xfrm>
          <a:prstGeom prst="rect">
            <a:avLst/>
          </a:prstGeom>
          <a:noFill/>
        </p:spPr>
        <p:txBody>
          <a:bodyPr wrap="square" lIns="0" rIns="0" tIns="0" bIns="0" anchor="ctr">
            <a:noAutofit/>
          </a:bodyPr>
          <a:lstStyle/>
          <a:p>
            <a:pPr algn="l">
              <a:lnSpc>
                <a:spcPct val="105000"/>
              </a:lnSpc>
            </a:pPr>
            <a:r>
              <a:rPr sz="1600" b="1" i="0">
                <a:solidFill>
                  <a:srgbClr val="1F1A2E"/>
                </a:solidFill>
                <a:latin typeface="Arial"/>
              </a:rPr>
              <a:t>Act</a:t>
            </a:r>
          </a:p>
        </p:txBody>
      </p:sp>
      <p:sp>
        <p:nvSpPr>
          <p:cNvPr id="21" name="TextBox 20"/>
          <p:cNvSpPr txBox="1"/>
          <p:nvPr/>
        </p:nvSpPr>
        <p:spPr>
          <a:xfrm>
            <a:off x="6254496" y="3913632"/>
            <a:ext cx="2286000" cy="603504"/>
          </a:xfrm>
          <a:prstGeom prst="rect">
            <a:avLst/>
          </a:prstGeom>
          <a:noFill/>
        </p:spPr>
        <p:txBody>
          <a:bodyPr wrap="square" lIns="0" rIns="0" tIns="0" bIns="0" anchor="t">
            <a:noAutofit/>
          </a:bodyPr>
          <a:lstStyle/>
          <a:p>
            <a:pPr algn="l">
              <a:lnSpc>
                <a:spcPct val="102000"/>
              </a:lnSpc>
            </a:pPr>
            <a:r>
              <a:rPr sz="1350" b="0" i="0">
                <a:solidFill>
                  <a:srgbClr val="3A3447"/>
                </a:solidFill>
                <a:latin typeface="Arial"/>
              </a:rPr>
              <a:t>Efferent neurons → decoder → 59 actuators</a:t>
            </a:r>
          </a:p>
        </p:txBody>
      </p:sp>
      <p:sp>
        <p:nvSpPr>
          <p:cNvPr id="22"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Fig. 1, §2.1. Walking: 1,253-D input, 59 actions; flight: 104-D input, 12 actions.</a:t>
            </a:r>
          </a:p>
        </p:txBody>
      </p:sp>
      <p:sp>
        <p:nvSpPr>
          <p:cNvPr id="23"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Wiring is fixed; computation is learned</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METHOD</a:t>
            </a:r>
          </a:p>
        </p:txBody>
      </p:sp>
      <p:pic>
        <p:nvPicPr>
          <p:cNvPr id="6" name="Aggregated synapse graph (paper Fig. 7a)" descr="network_panel_a.png"/>
          <p:cNvPicPr>
            <a:picLocks noChangeAspect="1"/>
          </p:cNvPicPr>
          <p:nvPr/>
        </p:nvPicPr>
        <p:blipFill>
          <a:blip r:embed="rId2"/>
          <a:stretch>
            <a:fillRect/>
          </a:stretch>
        </p:blipFill>
        <p:spPr>
          <a:xfrm>
            <a:off x="411480" y="1024128"/>
            <a:ext cx="4054583" cy="3127248"/>
          </a:xfrm>
          <a:prstGeom prst="rect">
            <a:avLst/>
          </a:prstGeom>
        </p:spPr>
      </p:pic>
      <p:sp>
        <p:nvSpPr>
          <p:cNvPr id="7" name="TextBox 6"/>
          <p:cNvSpPr txBox="1"/>
          <p:nvPr/>
        </p:nvSpPr>
        <p:spPr>
          <a:xfrm>
            <a:off x="457200" y="4224528"/>
            <a:ext cx="4023360" cy="274320"/>
          </a:xfrm>
          <a:prstGeom prst="rect">
            <a:avLst/>
          </a:prstGeom>
          <a:noFill/>
        </p:spPr>
        <p:txBody>
          <a:bodyPr wrap="square" lIns="0" rIns="0" tIns="0" bIns="0" anchor="t">
            <a:noAutofit/>
          </a:bodyPr>
          <a:lstStyle/>
          <a:p>
            <a:pPr algn="l">
              <a:lnSpc>
                <a:spcPct val="105000"/>
              </a:lnSpc>
            </a:pPr>
            <a:r>
              <a:rPr sz="1100" b="0" i="1">
                <a:solidFill>
                  <a:srgbClr val="6E6880"/>
                </a:solidFill>
                <a:latin typeface="Arial"/>
              </a:rPr>
              <a:t>FlyWire neurons grouped by class [1, 2]</a:t>
            </a:r>
          </a:p>
        </p:txBody>
      </p:sp>
      <p:sp>
        <p:nvSpPr>
          <p:cNvPr id="8" name="Rounded Rectangle 7"/>
          <p:cNvSpPr/>
          <p:nvPr/>
        </p:nvSpPr>
        <p:spPr>
          <a:xfrm>
            <a:off x="4754880" y="1005840"/>
            <a:ext cx="3931920" cy="1481328"/>
          </a:xfrm>
          <a:prstGeom prst="roundRect">
            <a:avLst>
              <a:gd name="adj" fmla="val 6000"/>
            </a:avLst>
          </a:prstGeom>
          <a:solidFill>
            <a:srgbClr val="F4F1F8"/>
          </a:solidFill>
          <a:ln>
            <a:noFill/>
          </a:ln>
        </p:spPr>
        <p:txBody>
          <a:bodyPr rtlCol="0" anchor="ctr"/>
          <a:lstStyle/>
          <a:p>
            <a:pPr algn="ctr"/>
          </a:p>
        </p:txBody>
      </p:sp>
      <p:sp>
        <p:nvSpPr>
          <p:cNvPr id="9" name="TextBox 8"/>
          <p:cNvSpPr txBox="1"/>
          <p:nvPr/>
        </p:nvSpPr>
        <p:spPr>
          <a:xfrm>
            <a:off x="4956048" y="1097280"/>
            <a:ext cx="3566160" cy="292608"/>
          </a:xfrm>
          <a:prstGeom prst="rect">
            <a:avLst/>
          </a:prstGeom>
          <a:noFill/>
        </p:spPr>
        <p:txBody>
          <a:bodyPr wrap="square" lIns="0" rIns="0" tIns="0" bIns="0" anchor="t">
            <a:noAutofit/>
          </a:bodyPr>
          <a:lstStyle/>
          <a:p>
            <a:pPr algn="l">
              <a:lnSpc>
                <a:spcPct val="105000"/>
              </a:lnSpc>
            </a:pPr>
            <a:r>
              <a:rPr sz="1100" b="1" i="0" spc="100">
                <a:solidFill>
                  <a:srgbClr val="660874"/>
                </a:solidFill>
                <a:latin typeface="Arial"/>
              </a:rPr>
              <a:t>FIXED  </a:t>
            </a:r>
            <a:r>
              <a:rPr sz="1500" b="1" i="0">
                <a:solidFill>
                  <a:srgbClr val="1F1A2E"/>
                </a:solidFill>
                <a:latin typeface="Arial"/>
              </a:rPr>
              <a:t>from the connectome</a:t>
            </a:r>
          </a:p>
        </p:txBody>
      </p:sp>
      <p:sp>
        <p:nvSpPr>
          <p:cNvPr id="10" name="TextBox 9"/>
          <p:cNvSpPr txBox="1"/>
          <p:nvPr/>
        </p:nvSpPr>
        <p:spPr>
          <a:xfrm>
            <a:off x="4956048" y="1444752"/>
            <a:ext cx="3611880" cy="1005840"/>
          </a:xfrm>
          <a:prstGeom prst="rect">
            <a:avLst/>
          </a:prstGeom>
          <a:noFill/>
        </p:spPr>
        <p:txBody>
          <a:bodyPr wrap="square" lIns="0" rIns="0" tIns="0" bIns="0" anchor="t">
            <a:noAutofit/>
          </a:bodyPr>
          <a:lstStyle/>
          <a:p>
            <a:pPr algn="l" marL="182880" indent="-182880">
              <a:lnSpc>
                <a:spcPct val="102000"/>
              </a:lnSpc>
              <a:spcAft>
                <a:spcPts val="300"/>
              </a:spcAft>
              <a:buClr>
                <a:srgbClr val="660874"/>
              </a:buClr>
              <a:buFont typeface="Arial"/>
              <a:buChar char="•"/>
            </a:pPr>
            <a:r>
              <a:rPr sz="1350" b="0" i="0">
                <a:solidFill>
                  <a:srgbClr val="3A3447"/>
                </a:solidFill>
                <a:latin typeface="Arial"/>
              </a:rPr>
              <a:t>Who connects to whom</a:t>
            </a:r>
          </a:p>
          <a:p>
            <a:pPr algn="l" marL="182880" indent="-182880">
              <a:lnSpc>
                <a:spcPct val="102000"/>
              </a:lnSpc>
              <a:spcAft>
                <a:spcPts val="300"/>
              </a:spcAft>
              <a:buClr>
                <a:srgbClr val="660874"/>
              </a:buClr>
              <a:buFont typeface="Arial"/>
              <a:buChar char="•"/>
            </a:pPr>
            <a:r>
              <a:rPr sz="1350" b="0" i="0">
                <a:solidFill>
                  <a:srgbClr val="3A3447"/>
                </a:solidFill>
                <a:latin typeface="Arial"/>
              </a:rPr>
              <a:t>Signed weights from synapses [13]</a:t>
            </a:r>
          </a:p>
          <a:p>
            <a:pPr algn="l" marL="182880" indent="-182880">
              <a:lnSpc>
                <a:spcPct val="102000"/>
              </a:lnSpc>
              <a:buClr>
                <a:srgbClr val="660874"/>
              </a:buClr>
              <a:buFont typeface="Arial"/>
              <a:buChar char="•"/>
            </a:pPr>
            <a:r>
              <a:rPr sz="1350" b="0" i="0">
                <a:solidFill>
                  <a:srgbClr val="3A3447"/>
                </a:solidFill>
                <a:latin typeface="Arial"/>
              </a:rPr>
              <a:t>Afferent → intrinsic → efferent</a:t>
            </a:r>
          </a:p>
        </p:txBody>
      </p:sp>
      <p:sp>
        <p:nvSpPr>
          <p:cNvPr id="11" name="Rounded Rectangle 10"/>
          <p:cNvSpPr/>
          <p:nvPr/>
        </p:nvSpPr>
        <p:spPr>
          <a:xfrm>
            <a:off x="4754880" y="2615184"/>
            <a:ext cx="3931920" cy="1298448"/>
          </a:xfrm>
          <a:prstGeom prst="roundRect">
            <a:avLst>
              <a:gd name="adj" fmla="val 6000"/>
            </a:avLst>
          </a:prstGeom>
          <a:solidFill>
            <a:srgbClr val="FBEDE3"/>
          </a:solidFill>
          <a:ln>
            <a:noFill/>
          </a:ln>
        </p:spPr>
        <p:txBody>
          <a:bodyPr rtlCol="0" anchor="ctr"/>
          <a:lstStyle/>
          <a:p>
            <a:pPr algn="ctr"/>
          </a:p>
        </p:txBody>
      </p:sp>
      <p:sp>
        <p:nvSpPr>
          <p:cNvPr id="12" name="TextBox 11"/>
          <p:cNvSpPr txBox="1"/>
          <p:nvPr/>
        </p:nvSpPr>
        <p:spPr>
          <a:xfrm>
            <a:off x="4956048" y="2706624"/>
            <a:ext cx="3566160" cy="292608"/>
          </a:xfrm>
          <a:prstGeom prst="rect">
            <a:avLst/>
          </a:prstGeom>
          <a:noFill/>
        </p:spPr>
        <p:txBody>
          <a:bodyPr wrap="square" lIns="0" rIns="0" tIns="0" bIns="0" anchor="t">
            <a:noAutofit/>
          </a:bodyPr>
          <a:lstStyle/>
          <a:p>
            <a:pPr algn="l">
              <a:lnSpc>
                <a:spcPct val="105000"/>
              </a:lnSpc>
            </a:pPr>
            <a:r>
              <a:rPr sz="1100" b="1" i="0" spc="100">
                <a:solidFill>
                  <a:srgbClr val="D55E00"/>
                </a:solidFill>
                <a:latin typeface="Arial"/>
              </a:rPr>
              <a:t>LEARNED  </a:t>
            </a:r>
            <a:r>
              <a:rPr sz="1500" b="1" i="0">
                <a:solidFill>
                  <a:srgbClr val="1F1A2E"/>
                </a:solidFill>
                <a:latin typeface="Arial"/>
              </a:rPr>
              <a:t>by training</a:t>
            </a:r>
          </a:p>
        </p:txBody>
      </p:sp>
      <p:sp>
        <p:nvSpPr>
          <p:cNvPr id="13" name="TextBox 12"/>
          <p:cNvSpPr txBox="1"/>
          <p:nvPr/>
        </p:nvSpPr>
        <p:spPr>
          <a:xfrm>
            <a:off x="4956048" y="3054096"/>
            <a:ext cx="3611880" cy="841248"/>
          </a:xfrm>
          <a:prstGeom prst="rect">
            <a:avLst/>
          </a:prstGeom>
          <a:noFill/>
        </p:spPr>
        <p:txBody>
          <a:bodyPr wrap="square" lIns="0" rIns="0" tIns="0" bIns="0" anchor="t">
            <a:noAutofit/>
          </a:bodyPr>
          <a:lstStyle/>
          <a:p>
            <a:pPr algn="l" marL="182880" indent="-182880">
              <a:lnSpc>
                <a:spcPct val="102000"/>
              </a:lnSpc>
              <a:spcAft>
                <a:spcPts val="300"/>
              </a:spcAft>
              <a:buClr>
                <a:srgbClr val="D55E00"/>
              </a:buClr>
              <a:buFont typeface="Arial"/>
              <a:buChar char="•"/>
            </a:pPr>
            <a:r>
              <a:rPr sz="1350" b="0" i="0">
                <a:solidFill>
                  <a:srgbClr val="3A3447"/>
                </a:solidFill>
                <a:latin typeface="Arial"/>
              </a:rPr>
              <a:t>Encoder and decoder</a:t>
            </a:r>
          </a:p>
          <a:p>
            <a:pPr algn="l" marL="182880" indent="-182880">
              <a:lnSpc>
                <a:spcPct val="102000"/>
              </a:lnSpc>
              <a:spcAft>
                <a:spcPts val="300"/>
              </a:spcAft>
              <a:buClr>
                <a:srgbClr val="D55E00"/>
              </a:buClr>
              <a:buFont typeface="Arial"/>
              <a:buChar char="•"/>
            </a:pPr>
            <a:r>
              <a:rPr sz="1350" b="0" i="0">
                <a:solidFill>
                  <a:srgbClr val="3A3447"/>
                </a:solidFill>
                <a:latin typeface="Arial"/>
              </a:rPr>
              <a:t>A descriptor per neuron, η</a:t>
            </a:r>
            <a:r>
              <a:rPr sz="1350" b="0" i="0" baseline="-25000">
                <a:solidFill>
                  <a:srgbClr val="3A3447"/>
                </a:solidFill>
                <a:latin typeface="Arial"/>
              </a:rPr>
              <a:t>v</a:t>
            </a:r>
          </a:p>
          <a:p>
            <a:pPr algn="l" marL="182880" indent="-182880">
              <a:lnSpc>
                <a:spcPct val="102000"/>
              </a:lnSpc>
              <a:buClr>
                <a:srgbClr val="D55E00"/>
              </a:buClr>
              <a:buFont typeface="Arial"/>
              <a:buChar char="•"/>
            </a:pPr>
            <a:r>
              <a:rPr sz="1350" b="0" i="0">
                <a:solidFill>
                  <a:srgbClr val="3A3447"/>
                </a:solidFill>
                <a:latin typeface="Arial"/>
              </a:rPr>
              <a:t>One shared update network, f</a:t>
            </a:r>
            <a:r>
              <a:rPr sz="1350" b="0" i="0" baseline="-25000">
                <a:solidFill>
                  <a:srgbClr val="3A3447"/>
                </a:solidFill>
                <a:latin typeface="Arial"/>
              </a:rPr>
              <a:t>ψ</a:t>
            </a:r>
          </a:p>
        </p:txBody>
      </p:sp>
      <p:sp>
        <p:nvSpPr>
          <p:cNvPr id="14" name="Rounded Rectangle 13"/>
          <p:cNvSpPr/>
          <p:nvPr/>
        </p:nvSpPr>
        <p:spPr>
          <a:xfrm>
            <a:off x="4754880" y="4041648"/>
            <a:ext cx="3931920" cy="548640"/>
          </a:xfrm>
          <a:prstGeom prst="roundRect">
            <a:avLst>
              <a:gd name="adj" fmla="val 20000"/>
            </a:avLst>
          </a:prstGeom>
          <a:noFill/>
          <a:ln w="12700">
            <a:solidFill>
              <a:srgbClr val="E2DCEA"/>
            </a:solidFill>
          </a:ln>
        </p:spPr>
        <p:txBody>
          <a:bodyPr rtlCol="0" anchor="ctr"/>
          <a:lstStyle/>
          <a:p>
            <a:pPr algn="ctr"/>
          </a:p>
        </p:txBody>
      </p:sp>
      <p:sp>
        <p:nvSpPr>
          <p:cNvPr id="15" name="TextBox 14"/>
          <p:cNvSpPr txBox="1"/>
          <p:nvPr/>
        </p:nvSpPr>
        <p:spPr>
          <a:xfrm>
            <a:off x="4800600" y="4041648"/>
            <a:ext cx="3840480" cy="548640"/>
          </a:xfrm>
          <a:prstGeom prst="rect">
            <a:avLst/>
          </a:prstGeom>
          <a:noFill/>
        </p:spPr>
        <p:txBody>
          <a:bodyPr wrap="square" lIns="0" rIns="0" tIns="0" bIns="0" anchor="ctr">
            <a:noAutofit/>
          </a:bodyPr>
          <a:lstStyle/>
          <a:p>
            <a:pPr algn="ctr">
              <a:lnSpc>
                <a:spcPct val="105000"/>
              </a:lnSpc>
            </a:pPr>
            <a:r>
              <a:rPr sz="1600" b="0" i="1">
                <a:solidFill>
                  <a:srgbClr val="1F1A2E"/>
                </a:solidFill>
                <a:latin typeface="Arial"/>
              </a:rPr>
              <a:t>M</a:t>
            </a:r>
            <a:r>
              <a:rPr sz="1600" b="0" i="0" baseline="-25000">
                <a:solidFill>
                  <a:srgbClr val="1F1A2E"/>
                </a:solidFill>
                <a:latin typeface="Arial"/>
              </a:rPr>
              <a:t>t</a:t>
            </a:r>
            <a:r>
              <a:rPr sz="1600" b="0" i="1">
                <a:solidFill>
                  <a:srgbClr val="1F1A2E"/>
                </a:solidFill>
                <a:latin typeface="Arial"/>
              </a:rPr>
              <a:t> = W H</a:t>
            </a:r>
            <a:r>
              <a:rPr sz="1600" b="0" i="0" baseline="-25000">
                <a:solidFill>
                  <a:srgbClr val="1F1A2E"/>
                </a:solidFill>
                <a:latin typeface="Arial"/>
              </a:rPr>
              <a:t>t</a:t>
            </a:r>
            <a:r>
              <a:rPr sz="1600" b="0" i="1">
                <a:solidFill>
                  <a:srgbClr val="1F1A2E"/>
                </a:solidFill>
                <a:latin typeface="Arial"/>
              </a:rPr>
              <a:t>      H</a:t>
            </a:r>
            <a:r>
              <a:rPr sz="1600" b="0" i="0" baseline="-25000">
                <a:solidFill>
                  <a:srgbClr val="1F1A2E"/>
                </a:solidFill>
                <a:latin typeface="Arial"/>
              </a:rPr>
              <a:t>t+1</a:t>
            </a:r>
            <a:r>
              <a:rPr sz="1600" b="0" i="1">
                <a:solidFill>
                  <a:srgbClr val="1F1A2E"/>
                </a:solidFill>
                <a:latin typeface="Arial"/>
              </a:rPr>
              <a:t> [v] = f</a:t>
            </a:r>
            <a:r>
              <a:rPr sz="1600" b="0" i="0" baseline="-25000">
                <a:solidFill>
                  <a:srgbClr val="1F1A2E"/>
                </a:solidFill>
                <a:latin typeface="Arial"/>
              </a:rPr>
              <a:t>ψ</a:t>
            </a:r>
            <a:r>
              <a:rPr sz="1600" b="0" i="1">
                <a:solidFill>
                  <a:srgbClr val="1F1A2E"/>
                </a:solidFill>
                <a:latin typeface="Arial"/>
              </a:rPr>
              <a:t>( M</a:t>
            </a:r>
            <a:r>
              <a:rPr sz="1600" b="0" i="0" baseline="-25000">
                <a:solidFill>
                  <a:srgbClr val="1F1A2E"/>
                </a:solidFill>
                <a:latin typeface="Arial"/>
              </a:rPr>
              <a:t>t</a:t>
            </a:r>
            <a:r>
              <a:rPr sz="1600" b="0" i="1">
                <a:solidFill>
                  <a:srgbClr val="1F1A2E"/>
                </a:solidFill>
                <a:latin typeface="Arial"/>
              </a:rPr>
              <a:t> [v] ‖ η</a:t>
            </a:r>
            <a:r>
              <a:rPr sz="1600" b="0" i="0" baseline="-25000">
                <a:solidFill>
                  <a:srgbClr val="1F1A2E"/>
                </a:solidFill>
                <a:latin typeface="Arial"/>
              </a:rPr>
              <a:t>v</a:t>
            </a:r>
            <a:r>
              <a:rPr sz="1600" b="0" i="1">
                <a:solidFill>
                  <a:srgbClr val="1F1A2E"/>
                </a:solidFill>
                <a:latin typeface="Arial"/>
              </a:rPr>
              <a:t> )</a:t>
            </a:r>
          </a:p>
        </p:txBody>
      </p:sp>
      <p:sp>
        <p:nvSpPr>
          <p:cNvPr id="16"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§2.1. States are learned vectors, not firing rates; signs follow [12, 13].</a:t>
            </a:r>
          </a:p>
        </p:txBody>
      </p:sp>
      <p:sp>
        <p:nvSpPr>
          <p:cNvPr id="17"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Imitation gives a head start, PPO refines</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TRAINING</a:t>
            </a:r>
          </a:p>
        </p:txBody>
      </p:sp>
      <p:pic>
        <p:nvPicPr>
          <p:cNvPr id="6" name="Picture 5" descr="image.png"/>
          <p:cNvPicPr>
            <a:picLocks noChangeAspect="1"/>
          </p:cNvPicPr>
          <p:nvPr/>
        </p:nvPicPr>
        <p:blipFill>
          <a:blip r:embed="rId2"/>
          <a:stretch>
            <a:fillRect/>
          </a:stretch>
        </p:blipFill>
        <p:spPr>
          <a:xfrm>
            <a:off x="411480" y="1316736"/>
            <a:ext cx="1517904" cy="1017318"/>
          </a:xfrm>
          <a:prstGeom prst="rect">
            <a:avLst/>
          </a:prstGeom>
        </p:spPr>
      </p:pic>
      <p:sp>
        <p:nvSpPr>
          <p:cNvPr id="7" name="TextBox 6"/>
          <p:cNvSpPr txBox="1"/>
          <p:nvPr/>
        </p:nvSpPr>
        <p:spPr>
          <a:xfrm>
            <a:off x="347472" y="2688336"/>
            <a:ext cx="1645920" cy="292608"/>
          </a:xfrm>
          <a:prstGeom prst="rect">
            <a:avLst/>
          </a:prstGeom>
          <a:noFill/>
        </p:spPr>
        <p:txBody>
          <a:bodyPr wrap="square" lIns="0" rIns="0" tIns="0" bIns="0" anchor="t">
            <a:noAutofit/>
          </a:bodyPr>
          <a:lstStyle/>
          <a:p>
            <a:pPr algn="ctr">
              <a:lnSpc>
                <a:spcPct val="105000"/>
              </a:lnSpc>
            </a:pPr>
            <a:r>
              <a:rPr sz="1600" b="1" i="0">
                <a:solidFill>
                  <a:srgbClr val="1F1A2E"/>
                </a:solidFill>
                <a:latin typeface="Arial"/>
              </a:rPr>
              <a:t>Expert</a:t>
            </a:r>
          </a:p>
        </p:txBody>
      </p:sp>
      <p:sp>
        <p:nvSpPr>
          <p:cNvPr id="8" name="TextBox 7"/>
          <p:cNvSpPr txBox="1"/>
          <p:nvPr/>
        </p:nvSpPr>
        <p:spPr>
          <a:xfrm>
            <a:off x="347472" y="2999232"/>
            <a:ext cx="1645920" cy="457200"/>
          </a:xfrm>
          <a:prstGeom prst="rect">
            <a:avLst/>
          </a:prstGeom>
          <a:noFill/>
        </p:spPr>
        <p:txBody>
          <a:bodyPr wrap="square" lIns="0" rIns="0" tIns="0" bIns="0" anchor="t">
            <a:noAutofit/>
          </a:bodyPr>
          <a:lstStyle/>
          <a:p>
            <a:pPr algn="ctr">
              <a:lnSpc>
                <a:spcPct val="100000"/>
              </a:lnSpc>
            </a:pPr>
            <a:r>
              <a:rPr sz="1250" b="0" i="0">
                <a:solidFill>
                  <a:srgbClr val="3A3447"/>
                </a:solidFill>
                <a:latin typeface="Arial"/>
              </a:rPr>
              <a:t>flybody MLP [7]</a:t>
            </a:r>
          </a:p>
        </p:txBody>
      </p:sp>
      <p:cxnSp>
        <p:nvCxnSpPr>
          <p:cNvPr id="9" name="Connector 8"/>
          <p:cNvCxnSpPr/>
          <p:nvPr/>
        </p:nvCxnSpPr>
        <p:spPr>
          <a:xfrm>
            <a:off x="1938528" y="1828800"/>
            <a:ext cx="164592" cy="0"/>
          </a:xfrm>
          <a:prstGeom prst="line">
            <a:avLst/>
          </a:prstGeom>
          <a:ln w="25400">
            <a:solidFill>
              <a:srgbClr val="B9B1C6"/>
            </a:solidFill>
            <a:tailEnd type="triangle" w="med" len="med"/>
          </a:ln>
        </p:spPr>
      </p:cxnSp>
      <p:sp>
        <p:nvSpPr>
          <p:cNvPr id="10" name="Rounded Rectangle 9"/>
          <p:cNvSpPr/>
          <p:nvPr/>
        </p:nvSpPr>
        <p:spPr>
          <a:xfrm>
            <a:off x="2157984" y="1207007"/>
            <a:ext cx="1426464" cy="1243584"/>
          </a:xfrm>
          <a:prstGeom prst="roundRect">
            <a:avLst>
              <a:gd name="adj" fmla="val 10000"/>
            </a:avLst>
          </a:prstGeom>
          <a:solidFill>
            <a:srgbClr val="F4F1F8"/>
          </a:solidFill>
          <a:ln>
            <a:noFill/>
          </a:ln>
        </p:spPr>
        <p:txBody>
          <a:bodyPr rtlCol="0" anchor="ctr"/>
          <a:lstStyle/>
          <a:p>
            <a:pPr algn="ctr"/>
          </a:p>
        </p:txBody>
      </p:sp>
      <p:sp>
        <p:nvSpPr>
          <p:cNvPr id="11" name="Oval 10"/>
          <p:cNvSpPr/>
          <p:nvPr/>
        </p:nvSpPr>
        <p:spPr>
          <a:xfrm>
            <a:off x="2596896" y="1554480"/>
            <a:ext cx="548640" cy="548640"/>
          </a:xfrm>
          <a:prstGeom prst="ellipse">
            <a:avLst/>
          </a:prstGeom>
          <a:solidFill>
            <a:srgbClr val="660874"/>
          </a:solidFill>
          <a:ln>
            <a:noFill/>
          </a:ln>
        </p:spPr>
        <p:txBody>
          <a:bodyPr rtlCol="0" anchor="ctr"/>
          <a:lstStyle/>
          <a:p>
            <a:pPr algn="ctr"/>
          </a:p>
        </p:txBody>
      </p:sp>
      <p:sp>
        <p:nvSpPr>
          <p:cNvPr id="12" name="TextBox 11"/>
          <p:cNvSpPr txBox="1"/>
          <p:nvPr/>
        </p:nvSpPr>
        <p:spPr>
          <a:xfrm>
            <a:off x="2596896" y="1554480"/>
            <a:ext cx="548640" cy="548640"/>
          </a:xfrm>
          <a:prstGeom prst="rect">
            <a:avLst/>
          </a:prstGeom>
          <a:noFill/>
        </p:spPr>
        <p:txBody>
          <a:bodyPr wrap="square" lIns="0" rIns="0" tIns="0" bIns="0" anchor="ctr">
            <a:noAutofit/>
          </a:bodyPr>
          <a:lstStyle/>
          <a:p>
            <a:pPr algn="ctr">
              <a:lnSpc>
                <a:spcPct val="105000"/>
              </a:lnSpc>
            </a:pPr>
            <a:r>
              <a:rPr sz="2200" b="1" i="0">
                <a:solidFill>
                  <a:srgbClr val="FFFFFF"/>
                </a:solidFill>
                <a:latin typeface="Arial"/>
              </a:rPr>
              <a:t>1</a:t>
            </a:r>
          </a:p>
        </p:txBody>
      </p:sp>
      <p:sp>
        <p:nvSpPr>
          <p:cNvPr id="13" name="TextBox 12"/>
          <p:cNvSpPr txBox="1"/>
          <p:nvPr/>
        </p:nvSpPr>
        <p:spPr>
          <a:xfrm>
            <a:off x="2048256" y="2688336"/>
            <a:ext cx="1645920" cy="292608"/>
          </a:xfrm>
          <a:prstGeom prst="rect">
            <a:avLst/>
          </a:prstGeom>
          <a:noFill/>
        </p:spPr>
        <p:txBody>
          <a:bodyPr wrap="square" lIns="0" rIns="0" tIns="0" bIns="0" anchor="t">
            <a:noAutofit/>
          </a:bodyPr>
          <a:lstStyle/>
          <a:p>
            <a:pPr algn="ctr">
              <a:lnSpc>
                <a:spcPct val="105000"/>
              </a:lnSpc>
            </a:pPr>
            <a:r>
              <a:rPr sz="1600" b="1" i="0">
                <a:solidFill>
                  <a:srgbClr val="660874"/>
                </a:solidFill>
                <a:latin typeface="Arial"/>
              </a:rPr>
              <a:t>Imitation</a:t>
            </a:r>
          </a:p>
        </p:txBody>
      </p:sp>
      <p:sp>
        <p:nvSpPr>
          <p:cNvPr id="14" name="TextBox 13"/>
          <p:cNvSpPr txBox="1"/>
          <p:nvPr/>
        </p:nvSpPr>
        <p:spPr>
          <a:xfrm>
            <a:off x="2048256" y="2999232"/>
            <a:ext cx="1645920" cy="457200"/>
          </a:xfrm>
          <a:prstGeom prst="rect">
            <a:avLst/>
          </a:prstGeom>
          <a:noFill/>
        </p:spPr>
        <p:txBody>
          <a:bodyPr wrap="square" lIns="0" rIns="0" tIns="0" bIns="0" anchor="t">
            <a:noAutofit/>
          </a:bodyPr>
          <a:lstStyle/>
          <a:p>
            <a:pPr algn="ctr">
              <a:lnSpc>
                <a:spcPct val="100000"/>
              </a:lnSpc>
            </a:pPr>
            <a:r>
              <a:rPr sz="1250" b="0" i="0">
                <a:solidFill>
                  <a:srgbClr val="3A3447"/>
                </a:solidFill>
                <a:latin typeface="Arial"/>
              </a:rPr>
              <a:t>Match the expert's actions</a:t>
            </a:r>
          </a:p>
        </p:txBody>
      </p:sp>
      <p:cxnSp>
        <p:nvCxnSpPr>
          <p:cNvPr id="15" name="Connector 14"/>
          <p:cNvCxnSpPr/>
          <p:nvPr/>
        </p:nvCxnSpPr>
        <p:spPr>
          <a:xfrm>
            <a:off x="3639312" y="1828800"/>
            <a:ext cx="164592" cy="0"/>
          </a:xfrm>
          <a:prstGeom prst="line">
            <a:avLst/>
          </a:prstGeom>
          <a:ln w="25400">
            <a:solidFill>
              <a:srgbClr val="B9B1C6"/>
            </a:solidFill>
            <a:tailEnd type="triangle" w="med" len="med"/>
          </a:ln>
        </p:spPr>
      </p:cxnSp>
      <p:pic>
        <p:nvPicPr>
          <p:cNvPr id="16" name="Picture 15" descr="connectome_layout_alpha_light.png"/>
          <p:cNvPicPr>
            <a:picLocks noChangeAspect="1"/>
          </p:cNvPicPr>
          <p:nvPr/>
        </p:nvPicPr>
        <p:blipFill>
          <a:blip r:embed="rId3"/>
          <a:stretch>
            <a:fillRect/>
          </a:stretch>
        </p:blipFill>
        <p:spPr>
          <a:xfrm>
            <a:off x="3840480" y="1097280"/>
            <a:ext cx="1463040" cy="1463040"/>
          </a:xfrm>
          <a:prstGeom prst="rect">
            <a:avLst/>
          </a:prstGeom>
        </p:spPr>
      </p:pic>
      <p:sp>
        <p:nvSpPr>
          <p:cNvPr id="17" name="TextBox 16"/>
          <p:cNvSpPr txBox="1"/>
          <p:nvPr/>
        </p:nvSpPr>
        <p:spPr>
          <a:xfrm>
            <a:off x="3749040" y="2688336"/>
            <a:ext cx="1645920" cy="292608"/>
          </a:xfrm>
          <a:prstGeom prst="rect">
            <a:avLst/>
          </a:prstGeom>
          <a:noFill/>
        </p:spPr>
        <p:txBody>
          <a:bodyPr wrap="square" lIns="0" rIns="0" tIns="0" bIns="0" anchor="t">
            <a:noAutofit/>
          </a:bodyPr>
          <a:lstStyle/>
          <a:p>
            <a:pPr algn="ctr">
              <a:lnSpc>
                <a:spcPct val="105000"/>
              </a:lnSpc>
            </a:pPr>
            <a:r>
              <a:rPr sz="1600" b="1" i="0">
                <a:solidFill>
                  <a:srgbClr val="1F1A2E"/>
                </a:solidFill>
                <a:latin typeface="Arial"/>
              </a:rPr>
              <a:t>FlyGM</a:t>
            </a:r>
          </a:p>
        </p:txBody>
      </p:sp>
      <p:sp>
        <p:nvSpPr>
          <p:cNvPr id="18" name="TextBox 17"/>
          <p:cNvSpPr txBox="1"/>
          <p:nvPr/>
        </p:nvSpPr>
        <p:spPr>
          <a:xfrm>
            <a:off x="3749040" y="2999232"/>
            <a:ext cx="1645920" cy="457200"/>
          </a:xfrm>
          <a:prstGeom prst="rect">
            <a:avLst/>
          </a:prstGeom>
          <a:noFill/>
        </p:spPr>
        <p:txBody>
          <a:bodyPr wrap="square" lIns="0" rIns="0" tIns="0" bIns="0" anchor="t">
            <a:noAutofit/>
          </a:bodyPr>
          <a:lstStyle/>
          <a:p>
            <a:pPr algn="ctr">
              <a:lnSpc>
                <a:spcPct val="100000"/>
              </a:lnSpc>
            </a:pPr>
            <a:r>
              <a:rPr sz="1250" b="0" i="0">
                <a:solidFill>
                  <a:srgbClr val="3A3447"/>
                </a:solidFill>
                <a:latin typeface="Arial"/>
              </a:rPr>
              <a:t>Initialized policy</a:t>
            </a:r>
          </a:p>
        </p:txBody>
      </p:sp>
      <p:cxnSp>
        <p:nvCxnSpPr>
          <p:cNvPr id="19" name="Connector 18"/>
          <p:cNvCxnSpPr/>
          <p:nvPr/>
        </p:nvCxnSpPr>
        <p:spPr>
          <a:xfrm>
            <a:off x="5340096" y="1828800"/>
            <a:ext cx="164592" cy="0"/>
          </a:xfrm>
          <a:prstGeom prst="line">
            <a:avLst/>
          </a:prstGeom>
          <a:ln w="25400">
            <a:solidFill>
              <a:srgbClr val="B9B1C6"/>
            </a:solidFill>
            <a:tailEnd type="triangle" w="med" len="med"/>
          </a:ln>
        </p:spPr>
      </p:cxnSp>
      <p:sp>
        <p:nvSpPr>
          <p:cNvPr id="20" name="Rounded Rectangle 19"/>
          <p:cNvSpPr/>
          <p:nvPr/>
        </p:nvSpPr>
        <p:spPr>
          <a:xfrm>
            <a:off x="5559552" y="1207007"/>
            <a:ext cx="1426464" cy="1243584"/>
          </a:xfrm>
          <a:prstGeom prst="roundRect">
            <a:avLst>
              <a:gd name="adj" fmla="val 10000"/>
            </a:avLst>
          </a:prstGeom>
          <a:solidFill>
            <a:srgbClr val="FBEDE3"/>
          </a:solidFill>
          <a:ln>
            <a:noFill/>
          </a:ln>
        </p:spPr>
        <p:txBody>
          <a:bodyPr rtlCol="0" anchor="ctr"/>
          <a:lstStyle/>
          <a:p>
            <a:pPr algn="ctr"/>
          </a:p>
        </p:txBody>
      </p:sp>
      <p:sp>
        <p:nvSpPr>
          <p:cNvPr id="21" name="Oval 20"/>
          <p:cNvSpPr/>
          <p:nvPr/>
        </p:nvSpPr>
        <p:spPr>
          <a:xfrm>
            <a:off x="5998464" y="1554480"/>
            <a:ext cx="548640" cy="548640"/>
          </a:xfrm>
          <a:prstGeom prst="ellipse">
            <a:avLst/>
          </a:prstGeom>
          <a:solidFill>
            <a:srgbClr val="D55E00"/>
          </a:solidFill>
          <a:ln>
            <a:noFill/>
          </a:ln>
        </p:spPr>
        <p:txBody>
          <a:bodyPr rtlCol="0" anchor="ctr"/>
          <a:lstStyle/>
          <a:p>
            <a:pPr algn="ctr"/>
          </a:p>
        </p:txBody>
      </p:sp>
      <p:sp>
        <p:nvSpPr>
          <p:cNvPr id="22" name="TextBox 21"/>
          <p:cNvSpPr txBox="1"/>
          <p:nvPr/>
        </p:nvSpPr>
        <p:spPr>
          <a:xfrm>
            <a:off x="5998464" y="1554480"/>
            <a:ext cx="548640" cy="548640"/>
          </a:xfrm>
          <a:prstGeom prst="rect">
            <a:avLst/>
          </a:prstGeom>
          <a:noFill/>
        </p:spPr>
        <p:txBody>
          <a:bodyPr wrap="square" lIns="0" rIns="0" tIns="0" bIns="0" anchor="ctr">
            <a:noAutofit/>
          </a:bodyPr>
          <a:lstStyle/>
          <a:p>
            <a:pPr algn="ctr">
              <a:lnSpc>
                <a:spcPct val="105000"/>
              </a:lnSpc>
            </a:pPr>
            <a:r>
              <a:rPr sz="2200" b="1" i="0">
                <a:solidFill>
                  <a:srgbClr val="FFFFFF"/>
                </a:solidFill>
                <a:latin typeface="Arial"/>
              </a:rPr>
              <a:t>2</a:t>
            </a:r>
          </a:p>
        </p:txBody>
      </p:sp>
      <p:sp>
        <p:nvSpPr>
          <p:cNvPr id="23" name="TextBox 22"/>
          <p:cNvSpPr txBox="1"/>
          <p:nvPr/>
        </p:nvSpPr>
        <p:spPr>
          <a:xfrm>
            <a:off x="5449824" y="2688336"/>
            <a:ext cx="1645920" cy="292608"/>
          </a:xfrm>
          <a:prstGeom prst="rect">
            <a:avLst/>
          </a:prstGeom>
          <a:noFill/>
        </p:spPr>
        <p:txBody>
          <a:bodyPr wrap="square" lIns="0" rIns="0" tIns="0" bIns="0" anchor="t">
            <a:noAutofit/>
          </a:bodyPr>
          <a:lstStyle/>
          <a:p>
            <a:pPr algn="ctr">
              <a:lnSpc>
                <a:spcPct val="105000"/>
              </a:lnSpc>
            </a:pPr>
            <a:r>
              <a:rPr sz="1600" b="1" i="0">
                <a:solidFill>
                  <a:srgbClr val="D55E00"/>
                </a:solidFill>
                <a:latin typeface="Arial"/>
              </a:rPr>
              <a:t>PPO</a:t>
            </a:r>
          </a:p>
        </p:txBody>
      </p:sp>
      <p:sp>
        <p:nvSpPr>
          <p:cNvPr id="24" name="TextBox 23"/>
          <p:cNvSpPr txBox="1"/>
          <p:nvPr/>
        </p:nvSpPr>
        <p:spPr>
          <a:xfrm>
            <a:off x="5449824" y="2999232"/>
            <a:ext cx="1645920" cy="457200"/>
          </a:xfrm>
          <a:prstGeom prst="rect">
            <a:avLst/>
          </a:prstGeom>
          <a:noFill/>
        </p:spPr>
        <p:txBody>
          <a:bodyPr wrap="square" lIns="0" rIns="0" tIns="0" bIns="0" anchor="t">
            <a:noAutofit/>
          </a:bodyPr>
          <a:lstStyle/>
          <a:p>
            <a:pPr algn="ctr">
              <a:lnSpc>
                <a:spcPct val="100000"/>
              </a:lnSpc>
            </a:pPr>
            <a:r>
              <a:rPr sz="1250" b="0" i="0">
                <a:solidFill>
                  <a:srgbClr val="3A3447"/>
                </a:solidFill>
                <a:latin typeface="Arial"/>
              </a:rPr>
              <a:t>Maximize task reward [15]</a:t>
            </a:r>
          </a:p>
        </p:txBody>
      </p:sp>
      <p:cxnSp>
        <p:nvCxnSpPr>
          <p:cNvPr id="25" name="Connector 24"/>
          <p:cNvCxnSpPr/>
          <p:nvPr/>
        </p:nvCxnSpPr>
        <p:spPr>
          <a:xfrm>
            <a:off x="7040880" y="1828800"/>
            <a:ext cx="164592" cy="0"/>
          </a:xfrm>
          <a:prstGeom prst="line">
            <a:avLst/>
          </a:prstGeom>
          <a:ln w="25400">
            <a:solidFill>
              <a:srgbClr val="B9B1C6"/>
            </a:solidFill>
            <a:tailEnd type="triangle" w="med" len="med"/>
          </a:ln>
        </p:spPr>
      </p:cxnSp>
      <p:pic>
        <p:nvPicPr>
          <p:cNvPr id="26" name="Picture 25" descr="image.jpeg"/>
          <p:cNvPicPr>
            <a:picLocks noChangeAspect="1"/>
          </p:cNvPicPr>
          <p:nvPr/>
        </p:nvPicPr>
        <p:blipFill>
          <a:blip r:embed="rId4"/>
          <a:stretch>
            <a:fillRect/>
          </a:stretch>
        </p:blipFill>
        <p:spPr>
          <a:xfrm>
            <a:off x="7285939" y="1097280"/>
            <a:ext cx="1375257" cy="1463040"/>
          </a:xfrm>
          <a:prstGeom prst="rect">
            <a:avLst/>
          </a:prstGeom>
        </p:spPr>
      </p:pic>
      <p:sp>
        <p:nvSpPr>
          <p:cNvPr id="27" name="TextBox 26"/>
          <p:cNvSpPr txBox="1"/>
          <p:nvPr/>
        </p:nvSpPr>
        <p:spPr>
          <a:xfrm>
            <a:off x="7150608" y="2688336"/>
            <a:ext cx="1645920" cy="292608"/>
          </a:xfrm>
          <a:prstGeom prst="rect">
            <a:avLst/>
          </a:prstGeom>
          <a:noFill/>
        </p:spPr>
        <p:txBody>
          <a:bodyPr wrap="square" lIns="0" rIns="0" tIns="0" bIns="0" anchor="t">
            <a:noAutofit/>
          </a:bodyPr>
          <a:lstStyle/>
          <a:p>
            <a:pPr algn="ctr">
              <a:lnSpc>
                <a:spcPct val="105000"/>
              </a:lnSpc>
            </a:pPr>
            <a:r>
              <a:rPr sz="1600" b="1" i="0">
                <a:solidFill>
                  <a:srgbClr val="1F1A2E"/>
                </a:solidFill>
                <a:latin typeface="Arial"/>
              </a:rPr>
              <a:t>Tasks</a:t>
            </a:r>
          </a:p>
        </p:txBody>
      </p:sp>
      <p:sp>
        <p:nvSpPr>
          <p:cNvPr id="28" name="TextBox 27"/>
          <p:cNvSpPr txBox="1"/>
          <p:nvPr/>
        </p:nvSpPr>
        <p:spPr>
          <a:xfrm>
            <a:off x="7150608" y="2999232"/>
            <a:ext cx="1645920" cy="457200"/>
          </a:xfrm>
          <a:prstGeom prst="rect">
            <a:avLst/>
          </a:prstGeom>
          <a:noFill/>
        </p:spPr>
        <p:txBody>
          <a:bodyPr wrap="square" lIns="0" rIns="0" tIns="0" bIns="0" anchor="t">
            <a:noAutofit/>
          </a:bodyPr>
          <a:lstStyle/>
          <a:p>
            <a:pPr algn="ctr">
              <a:lnSpc>
                <a:spcPct val="100000"/>
              </a:lnSpc>
            </a:pPr>
            <a:r>
              <a:rPr sz="1250" b="0" i="0">
                <a:solidFill>
                  <a:srgbClr val="3A3447"/>
                </a:solidFill>
                <a:latin typeface="Arial"/>
              </a:rPr>
              <a:t>Walk, turn, fly</a:t>
            </a:r>
          </a:p>
        </p:txBody>
      </p:sp>
      <p:sp>
        <p:nvSpPr>
          <p:cNvPr id="29" name="Rounded Rectangle 28"/>
          <p:cNvSpPr/>
          <p:nvPr/>
        </p:nvSpPr>
        <p:spPr>
          <a:xfrm>
            <a:off x="457200" y="4069080"/>
            <a:ext cx="3861831" cy="402336"/>
          </a:xfrm>
          <a:prstGeom prst="roundRect">
            <a:avLst>
              <a:gd name="adj" fmla="val 50000"/>
            </a:avLst>
          </a:prstGeom>
          <a:solidFill>
            <a:srgbClr val="FFFFFF"/>
          </a:solidFill>
          <a:ln w="15875">
            <a:solidFill>
              <a:srgbClr val="660874"/>
            </a:solidFill>
          </a:ln>
        </p:spPr>
        <p:txBody>
          <a:bodyPr rtlCol="0" anchor="ctr"/>
          <a:lstStyle/>
          <a:p>
            <a:pPr algn="ctr"/>
          </a:p>
        </p:txBody>
      </p:sp>
      <p:sp>
        <p:nvSpPr>
          <p:cNvPr id="30" name="TextBox 29"/>
          <p:cNvSpPr txBox="1"/>
          <p:nvPr/>
        </p:nvSpPr>
        <p:spPr>
          <a:xfrm>
            <a:off x="457200" y="4069080"/>
            <a:ext cx="3861831" cy="402336"/>
          </a:xfrm>
          <a:prstGeom prst="rect">
            <a:avLst/>
          </a:prstGeom>
          <a:noFill/>
        </p:spPr>
        <p:txBody>
          <a:bodyPr wrap="square" lIns="0" rIns="0" tIns="0" bIns="0" anchor="ctr">
            <a:noAutofit/>
          </a:bodyPr>
          <a:lstStyle/>
          <a:p>
            <a:pPr algn="ctr">
              <a:lnSpc>
                <a:spcPct val="105000"/>
              </a:lnSpc>
            </a:pPr>
            <a:r>
              <a:rPr sz="1300" b="1" i="0">
                <a:solidFill>
                  <a:srgbClr val="660874"/>
                </a:solidFill>
                <a:latin typeface="Arial"/>
              </a:rPr>
              <a:t>Same pipeline for every controller compared</a:t>
            </a:r>
          </a:p>
        </p:txBody>
      </p:sp>
      <p:sp>
        <p:nvSpPr>
          <p:cNvPr id="31" name="Rounded Rectangle 30"/>
          <p:cNvSpPr/>
          <p:nvPr/>
        </p:nvSpPr>
        <p:spPr>
          <a:xfrm>
            <a:off x="4547631" y="4069080"/>
            <a:ext cx="3222168" cy="402336"/>
          </a:xfrm>
          <a:prstGeom prst="roundRect">
            <a:avLst>
              <a:gd name="adj" fmla="val 50000"/>
            </a:avLst>
          </a:prstGeom>
          <a:solidFill>
            <a:srgbClr val="FFFFFF"/>
          </a:solidFill>
          <a:ln w="15875">
            <a:solidFill>
              <a:srgbClr val="6E6880"/>
            </a:solidFill>
          </a:ln>
        </p:spPr>
        <p:txBody>
          <a:bodyPr rtlCol="0" anchor="ctr"/>
          <a:lstStyle/>
          <a:p>
            <a:pPr algn="ctr"/>
          </a:p>
        </p:txBody>
      </p:sp>
      <p:sp>
        <p:nvSpPr>
          <p:cNvPr id="32" name="TextBox 31"/>
          <p:cNvSpPr txBox="1"/>
          <p:nvPr/>
        </p:nvSpPr>
        <p:spPr>
          <a:xfrm>
            <a:off x="4547631" y="4069080"/>
            <a:ext cx="3222168" cy="402336"/>
          </a:xfrm>
          <a:prstGeom prst="rect">
            <a:avLst/>
          </a:prstGeom>
          <a:noFill/>
        </p:spPr>
        <p:txBody>
          <a:bodyPr wrap="square" lIns="0" rIns="0" tIns="0" bIns="0" anchor="ctr">
            <a:noAutofit/>
          </a:bodyPr>
          <a:lstStyle/>
          <a:p>
            <a:pPr algn="ctr">
              <a:lnSpc>
                <a:spcPct val="105000"/>
              </a:lnSpc>
            </a:pPr>
            <a:r>
              <a:rPr sz="1300" b="1" i="0">
                <a:solidFill>
                  <a:srgbClr val="6E6880"/>
                </a:solidFill>
                <a:latin typeface="Arial"/>
              </a:rPr>
              <a:t>Walking and flight: separate policies</a:t>
            </a:r>
          </a:p>
        </p:txBody>
      </p:sp>
      <p:sp>
        <p:nvSpPr>
          <p:cNvPr id="33"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§2.2, Appendix B. Expert policies and environments: flybody [7].</a:t>
            </a:r>
          </a:p>
        </p:txBody>
      </p:sp>
      <p:sp>
        <p:nvSpPr>
          <p:cNvPr id="34"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Real wiring learns faster, steers better</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RESULTS · DOES THE WIRING MATTER?</a:t>
            </a:r>
          </a:p>
        </p:txBody>
      </p:sp>
      <p:sp>
        <p:nvSpPr>
          <p:cNvPr id="6" name="Rounded Rectangle 5"/>
          <p:cNvSpPr/>
          <p:nvPr/>
        </p:nvSpPr>
        <p:spPr>
          <a:xfrm>
            <a:off x="457200" y="1005840"/>
            <a:ext cx="1947672" cy="676656"/>
          </a:xfrm>
          <a:prstGeom prst="roundRect">
            <a:avLst>
              <a:gd name="adj" fmla="val 12000"/>
            </a:avLst>
          </a:prstGeom>
          <a:solidFill>
            <a:srgbClr val="FBEDE3"/>
          </a:solidFill>
          <a:ln>
            <a:noFill/>
          </a:ln>
        </p:spPr>
        <p:txBody>
          <a:bodyPr rtlCol="0" anchor="ctr"/>
          <a:lstStyle/>
          <a:p>
            <a:pPr algn="ctr"/>
          </a:p>
        </p:txBody>
      </p:sp>
      <p:pic>
        <p:nvPicPr>
          <p:cNvPr id="7" name="Picture 6" descr="glyph_flygm.png"/>
          <p:cNvPicPr>
            <a:picLocks noChangeAspect="1"/>
          </p:cNvPicPr>
          <p:nvPr/>
        </p:nvPicPr>
        <p:blipFill>
          <a:blip r:embed="rId2"/>
          <a:stretch>
            <a:fillRect/>
          </a:stretch>
        </p:blipFill>
        <p:spPr>
          <a:xfrm>
            <a:off x="512064" y="1051560"/>
            <a:ext cx="731520" cy="585216"/>
          </a:xfrm>
          <a:prstGeom prst="rect">
            <a:avLst/>
          </a:prstGeom>
        </p:spPr>
      </p:pic>
      <p:sp>
        <p:nvSpPr>
          <p:cNvPr id="8" name="TextBox 7"/>
          <p:cNvSpPr txBox="1"/>
          <p:nvPr/>
        </p:nvSpPr>
        <p:spPr>
          <a:xfrm>
            <a:off x="1280160" y="1051560"/>
            <a:ext cx="1088136" cy="274320"/>
          </a:xfrm>
          <a:prstGeom prst="rect">
            <a:avLst/>
          </a:prstGeom>
          <a:noFill/>
        </p:spPr>
        <p:txBody>
          <a:bodyPr wrap="square" lIns="0" rIns="0" tIns="0" bIns="0" anchor="t">
            <a:noAutofit/>
          </a:bodyPr>
          <a:lstStyle/>
          <a:p>
            <a:pPr algn="l">
              <a:lnSpc>
                <a:spcPct val="105000"/>
              </a:lnSpc>
            </a:pPr>
            <a:r>
              <a:rPr sz="1400" b="1" i="0">
                <a:solidFill>
                  <a:srgbClr val="D55E00"/>
                </a:solidFill>
                <a:latin typeface="Arial"/>
              </a:rPr>
              <a:t>FlyGM</a:t>
            </a:r>
          </a:p>
        </p:txBody>
      </p:sp>
      <p:sp>
        <p:nvSpPr>
          <p:cNvPr id="9" name="TextBox 8"/>
          <p:cNvSpPr txBox="1"/>
          <p:nvPr/>
        </p:nvSpPr>
        <p:spPr>
          <a:xfrm>
            <a:off x="1280160" y="1335024"/>
            <a:ext cx="1088136" cy="310896"/>
          </a:xfrm>
          <a:prstGeom prst="rect">
            <a:avLst/>
          </a:prstGeom>
          <a:noFill/>
        </p:spPr>
        <p:txBody>
          <a:bodyPr wrap="square" lIns="0" rIns="0" tIns="0" bIns="0" anchor="t">
            <a:noAutofit/>
          </a:bodyPr>
          <a:lstStyle/>
          <a:p>
            <a:pPr algn="l">
              <a:lnSpc>
                <a:spcPct val="100000"/>
              </a:lnSpc>
            </a:pPr>
            <a:r>
              <a:rPr sz="1100" b="0" i="0">
                <a:solidFill>
                  <a:srgbClr val="3A3447"/>
                </a:solidFill>
                <a:latin typeface="Arial"/>
              </a:rPr>
              <a:t>Real wiring</a:t>
            </a:r>
          </a:p>
        </p:txBody>
      </p:sp>
      <p:sp>
        <p:nvSpPr>
          <p:cNvPr id="10" name="Rounded Rectangle 9"/>
          <p:cNvSpPr/>
          <p:nvPr/>
        </p:nvSpPr>
        <p:spPr>
          <a:xfrm>
            <a:off x="2551176" y="1005840"/>
            <a:ext cx="1947672" cy="676656"/>
          </a:xfrm>
          <a:prstGeom prst="roundRect">
            <a:avLst>
              <a:gd name="adj" fmla="val 12000"/>
            </a:avLst>
          </a:prstGeom>
          <a:solidFill>
            <a:srgbClr val="F4F1F8"/>
          </a:solidFill>
          <a:ln>
            <a:noFill/>
          </a:ln>
        </p:spPr>
        <p:txBody>
          <a:bodyPr rtlCol="0" anchor="ctr"/>
          <a:lstStyle/>
          <a:p>
            <a:pPr algn="ctr"/>
          </a:p>
        </p:txBody>
      </p:sp>
      <p:pic>
        <p:nvPicPr>
          <p:cNvPr id="11" name="Picture 10" descr="glyph_rewired.png"/>
          <p:cNvPicPr>
            <a:picLocks noChangeAspect="1"/>
          </p:cNvPicPr>
          <p:nvPr/>
        </p:nvPicPr>
        <p:blipFill>
          <a:blip r:embed="rId3"/>
          <a:stretch>
            <a:fillRect/>
          </a:stretch>
        </p:blipFill>
        <p:spPr>
          <a:xfrm>
            <a:off x="2606040" y="1051560"/>
            <a:ext cx="731520" cy="585216"/>
          </a:xfrm>
          <a:prstGeom prst="rect">
            <a:avLst/>
          </a:prstGeom>
        </p:spPr>
      </p:pic>
      <p:sp>
        <p:nvSpPr>
          <p:cNvPr id="12" name="TextBox 11"/>
          <p:cNvSpPr txBox="1"/>
          <p:nvPr/>
        </p:nvSpPr>
        <p:spPr>
          <a:xfrm>
            <a:off x="3374136" y="1051560"/>
            <a:ext cx="1088136" cy="274320"/>
          </a:xfrm>
          <a:prstGeom prst="rect">
            <a:avLst/>
          </a:prstGeom>
          <a:noFill/>
        </p:spPr>
        <p:txBody>
          <a:bodyPr wrap="square" lIns="0" rIns="0" tIns="0" bIns="0" anchor="t">
            <a:noAutofit/>
          </a:bodyPr>
          <a:lstStyle/>
          <a:p>
            <a:pPr algn="l">
              <a:lnSpc>
                <a:spcPct val="105000"/>
              </a:lnSpc>
            </a:pPr>
            <a:r>
              <a:rPr sz="1400" b="1" i="0">
                <a:solidFill>
                  <a:srgbClr val="009E73"/>
                </a:solidFill>
                <a:latin typeface="Arial"/>
              </a:rPr>
              <a:t>DP-Rewired</a:t>
            </a:r>
          </a:p>
        </p:txBody>
      </p:sp>
      <p:sp>
        <p:nvSpPr>
          <p:cNvPr id="13" name="TextBox 12"/>
          <p:cNvSpPr txBox="1"/>
          <p:nvPr/>
        </p:nvSpPr>
        <p:spPr>
          <a:xfrm>
            <a:off x="3374136" y="1335024"/>
            <a:ext cx="1088136" cy="310896"/>
          </a:xfrm>
          <a:prstGeom prst="rect">
            <a:avLst/>
          </a:prstGeom>
          <a:noFill/>
        </p:spPr>
        <p:txBody>
          <a:bodyPr wrap="square" lIns="0" rIns="0" tIns="0" bIns="0" anchor="t">
            <a:noAutofit/>
          </a:bodyPr>
          <a:lstStyle/>
          <a:p>
            <a:pPr algn="l">
              <a:lnSpc>
                <a:spcPct val="100000"/>
              </a:lnSpc>
            </a:pPr>
            <a:r>
              <a:rPr sz="1100" b="0" i="0">
                <a:solidFill>
                  <a:srgbClr val="3A3447"/>
                </a:solidFill>
                <a:latin typeface="Arial"/>
              </a:rPr>
              <a:t>Same degrees, shuffled</a:t>
            </a:r>
          </a:p>
        </p:txBody>
      </p:sp>
      <p:sp>
        <p:nvSpPr>
          <p:cNvPr id="14" name="Rounded Rectangle 13"/>
          <p:cNvSpPr/>
          <p:nvPr/>
        </p:nvSpPr>
        <p:spPr>
          <a:xfrm>
            <a:off x="4645152" y="1005840"/>
            <a:ext cx="1947672" cy="676656"/>
          </a:xfrm>
          <a:prstGeom prst="roundRect">
            <a:avLst>
              <a:gd name="adj" fmla="val 12000"/>
            </a:avLst>
          </a:prstGeom>
          <a:solidFill>
            <a:srgbClr val="F4F1F8"/>
          </a:solidFill>
          <a:ln>
            <a:noFill/>
          </a:ln>
        </p:spPr>
        <p:txBody>
          <a:bodyPr rtlCol="0" anchor="ctr"/>
          <a:lstStyle/>
          <a:p>
            <a:pPr algn="ctr"/>
          </a:p>
        </p:txBody>
      </p:sp>
      <p:pic>
        <p:nvPicPr>
          <p:cNvPr id="15" name="Picture 14" descr="glyph_random.png"/>
          <p:cNvPicPr>
            <a:picLocks noChangeAspect="1"/>
          </p:cNvPicPr>
          <p:nvPr/>
        </p:nvPicPr>
        <p:blipFill>
          <a:blip r:embed="rId4"/>
          <a:stretch>
            <a:fillRect/>
          </a:stretch>
        </p:blipFill>
        <p:spPr>
          <a:xfrm>
            <a:off x="4700016" y="1051560"/>
            <a:ext cx="731520" cy="585216"/>
          </a:xfrm>
          <a:prstGeom prst="rect">
            <a:avLst/>
          </a:prstGeom>
        </p:spPr>
      </p:pic>
      <p:sp>
        <p:nvSpPr>
          <p:cNvPr id="16" name="TextBox 15"/>
          <p:cNvSpPr txBox="1"/>
          <p:nvPr/>
        </p:nvSpPr>
        <p:spPr>
          <a:xfrm>
            <a:off x="5468112" y="1051560"/>
            <a:ext cx="1088136" cy="274320"/>
          </a:xfrm>
          <a:prstGeom prst="rect">
            <a:avLst/>
          </a:prstGeom>
          <a:noFill/>
        </p:spPr>
        <p:txBody>
          <a:bodyPr wrap="square" lIns="0" rIns="0" tIns="0" bIns="0" anchor="t">
            <a:noAutofit/>
          </a:bodyPr>
          <a:lstStyle/>
          <a:p>
            <a:pPr algn="l">
              <a:lnSpc>
                <a:spcPct val="105000"/>
              </a:lnSpc>
            </a:pPr>
            <a:r>
              <a:rPr sz="1400" b="1" i="0">
                <a:solidFill>
                  <a:srgbClr val="666666"/>
                </a:solidFill>
                <a:latin typeface="Arial"/>
              </a:rPr>
              <a:t>ER-Random</a:t>
            </a:r>
          </a:p>
        </p:txBody>
      </p:sp>
      <p:sp>
        <p:nvSpPr>
          <p:cNvPr id="17" name="TextBox 16"/>
          <p:cNvSpPr txBox="1"/>
          <p:nvPr/>
        </p:nvSpPr>
        <p:spPr>
          <a:xfrm>
            <a:off x="5468112" y="1335024"/>
            <a:ext cx="1088136" cy="310896"/>
          </a:xfrm>
          <a:prstGeom prst="rect">
            <a:avLst/>
          </a:prstGeom>
          <a:noFill/>
        </p:spPr>
        <p:txBody>
          <a:bodyPr wrap="square" lIns="0" rIns="0" tIns="0" bIns="0" anchor="t">
            <a:noAutofit/>
          </a:bodyPr>
          <a:lstStyle/>
          <a:p>
            <a:pPr algn="l">
              <a:lnSpc>
                <a:spcPct val="100000"/>
              </a:lnSpc>
            </a:pPr>
            <a:r>
              <a:rPr sz="1100" b="0" i="0">
                <a:solidFill>
                  <a:srgbClr val="3A3447"/>
                </a:solidFill>
                <a:latin typeface="Arial"/>
              </a:rPr>
              <a:t>Same size, random</a:t>
            </a:r>
          </a:p>
        </p:txBody>
      </p:sp>
      <p:sp>
        <p:nvSpPr>
          <p:cNvPr id="18" name="Rounded Rectangle 17"/>
          <p:cNvSpPr/>
          <p:nvPr/>
        </p:nvSpPr>
        <p:spPr>
          <a:xfrm>
            <a:off x="6739128" y="1005840"/>
            <a:ext cx="1947672" cy="676656"/>
          </a:xfrm>
          <a:prstGeom prst="roundRect">
            <a:avLst>
              <a:gd name="adj" fmla="val 12000"/>
            </a:avLst>
          </a:prstGeom>
          <a:solidFill>
            <a:srgbClr val="F4F1F8"/>
          </a:solidFill>
          <a:ln>
            <a:noFill/>
          </a:ln>
        </p:spPr>
        <p:txBody>
          <a:bodyPr rtlCol="0" anchor="ctr"/>
          <a:lstStyle/>
          <a:p>
            <a:pPr algn="ctr"/>
          </a:p>
        </p:txBody>
      </p:sp>
      <p:pic>
        <p:nvPicPr>
          <p:cNvPr id="19" name="Picture 18" descr="glyph_mlp.png"/>
          <p:cNvPicPr>
            <a:picLocks noChangeAspect="1"/>
          </p:cNvPicPr>
          <p:nvPr/>
        </p:nvPicPr>
        <p:blipFill>
          <a:blip r:embed="rId5"/>
          <a:stretch>
            <a:fillRect/>
          </a:stretch>
        </p:blipFill>
        <p:spPr>
          <a:xfrm>
            <a:off x="6793992" y="1051560"/>
            <a:ext cx="731520" cy="585216"/>
          </a:xfrm>
          <a:prstGeom prst="rect">
            <a:avLst/>
          </a:prstGeom>
        </p:spPr>
      </p:pic>
      <p:sp>
        <p:nvSpPr>
          <p:cNvPr id="20" name="TextBox 19"/>
          <p:cNvSpPr txBox="1"/>
          <p:nvPr/>
        </p:nvSpPr>
        <p:spPr>
          <a:xfrm>
            <a:off x="7562088" y="1051560"/>
            <a:ext cx="1088136" cy="274320"/>
          </a:xfrm>
          <a:prstGeom prst="rect">
            <a:avLst/>
          </a:prstGeom>
          <a:noFill/>
        </p:spPr>
        <p:txBody>
          <a:bodyPr wrap="square" lIns="0" rIns="0" tIns="0" bIns="0" anchor="t">
            <a:noAutofit/>
          </a:bodyPr>
          <a:lstStyle/>
          <a:p>
            <a:pPr algn="l">
              <a:lnSpc>
                <a:spcPct val="105000"/>
              </a:lnSpc>
            </a:pPr>
            <a:r>
              <a:rPr sz="1400" b="1" i="0">
                <a:solidFill>
                  <a:srgbClr val="0072B2"/>
                </a:solidFill>
                <a:latin typeface="Arial"/>
              </a:rPr>
              <a:t>MLP</a:t>
            </a:r>
          </a:p>
        </p:txBody>
      </p:sp>
      <p:sp>
        <p:nvSpPr>
          <p:cNvPr id="21" name="TextBox 20"/>
          <p:cNvSpPr txBox="1"/>
          <p:nvPr/>
        </p:nvSpPr>
        <p:spPr>
          <a:xfrm>
            <a:off x="7562088" y="1335024"/>
            <a:ext cx="1088136" cy="310896"/>
          </a:xfrm>
          <a:prstGeom prst="rect">
            <a:avLst/>
          </a:prstGeom>
          <a:noFill/>
        </p:spPr>
        <p:txBody>
          <a:bodyPr wrap="square" lIns="0" rIns="0" tIns="0" bIns="0" anchor="t">
            <a:noAutofit/>
          </a:bodyPr>
          <a:lstStyle/>
          <a:p>
            <a:pPr algn="l">
              <a:lnSpc>
                <a:spcPct val="100000"/>
              </a:lnSpc>
            </a:pPr>
            <a:r>
              <a:rPr sz="1100" b="0" i="0">
                <a:solidFill>
                  <a:srgbClr val="3A3447"/>
                </a:solidFill>
                <a:latin typeface="Arial"/>
              </a:rPr>
              <a:t>No graph, more params</a:t>
            </a:r>
          </a:p>
        </p:txBody>
      </p:sp>
      <p:sp>
        <p:nvSpPr>
          <p:cNvPr id="22" name="TextBox 21"/>
          <p:cNvSpPr txBox="1"/>
          <p:nvPr/>
        </p:nvSpPr>
        <p:spPr>
          <a:xfrm>
            <a:off x="457200" y="1828800"/>
            <a:ext cx="4114800" cy="274320"/>
          </a:xfrm>
          <a:prstGeom prst="rect">
            <a:avLst/>
          </a:prstGeom>
          <a:noFill/>
        </p:spPr>
        <p:txBody>
          <a:bodyPr wrap="square" lIns="0" rIns="0" tIns="0" bIns="0" anchor="t">
            <a:noAutofit/>
          </a:bodyPr>
          <a:lstStyle/>
          <a:p>
            <a:pPr algn="l">
              <a:lnSpc>
                <a:spcPct val="105000"/>
              </a:lnSpc>
            </a:pPr>
            <a:r>
              <a:rPr sz="1400" b="1" i="0">
                <a:solidFill>
                  <a:srgbClr val="660874"/>
                </a:solidFill>
                <a:latin typeface="Arial"/>
              </a:rPr>
              <a:t>Imitation: </a:t>
            </a:r>
            <a:r>
              <a:rPr sz="1400" b="1" i="0">
                <a:solidFill>
                  <a:srgbClr val="1F1A2E"/>
                </a:solidFill>
                <a:latin typeface="Arial"/>
              </a:rPr>
              <a:t>error to the expert (log)</a:t>
            </a:r>
          </a:p>
        </p:txBody>
      </p:sp>
      <p:graphicFrame>
        <p:nvGraphicFramePr>
          <p:cNvPr id="23" name="Chart: imitation convergence"/>
          <p:cNvGraphicFramePr>
            <a:graphicFrameLocks noGrp="1"/>
          </p:cNvGraphicFramePr>
          <p:nvPr/>
        </p:nvGraphicFramePr>
        <p:xfrm>
          <a:off x="365760" y="2157984"/>
          <a:ext cx="4206240" cy="2286000"/>
        </p:xfrm>
        <a:graphic>
          <a:graphicData uri="http://schemas.openxmlformats.org/drawingml/2006/chart">
            <c:chart xmlns:c="http://schemas.openxmlformats.org/drawingml/2006/chart" r:id="rId6"/>
          </a:graphicData>
        </a:graphic>
      </p:graphicFrame>
      <p:sp>
        <p:nvSpPr>
          <p:cNvPr id="24" name="TextBox 23"/>
          <p:cNvSpPr txBox="1"/>
          <p:nvPr/>
        </p:nvSpPr>
        <p:spPr>
          <a:xfrm>
            <a:off x="828446" y="4293108"/>
            <a:ext cx="3617366" cy="219456"/>
          </a:xfrm>
          <a:prstGeom prst="rect">
            <a:avLst/>
          </a:prstGeom>
          <a:noFill/>
        </p:spPr>
        <p:txBody>
          <a:bodyPr wrap="square" lIns="0" rIns="0" tIns="0" bIns="0" anchor="t">
            <a:noAutofit/>
          </a:bodyPr>
          <a:lstStyle/>
          <a:p>
            <a:pPr algn="ctr">
              <a:lnSpc>
                <a:spcPct val="105000"/>
              </a:lnSpc>
            </a:pPr>
            <a:r>
              <a:rPr sz="1100" b="0" i="0">
                <a:solidFill>
                  <a:srgbClr val="6E6880"/>
                </a:solidFill>
                <a:latin typeface="Arial"/>
              </a:rPr>
              <a:t>Gradient updates (×10³)</a:t>
            </a:r>
          </a:p>
        </p:txBody>
      </p:sp>
      <p:sp>
        <p:nvSpPr>
          <p:cNvPr id="25" name="TextBox 24"/>
          <p:cNvSpPr txBox="1"/>
          <p:nvPr/>
        </p:nvSpPr>
        <p:spPr>
          <a:xfrm>
            <a:off x="1955462" y="2742838"/>
            <a:ext cx="2148840" cy="566928"/>
          </a:xfrm>
          <a:prstGeom prst="rect">
            <a:avLst/>
          </a:prstGeom>
          <a:noFill/>
        </p:spPr>
        <p:txBody>
          <a:bodyPr wrap="square" lIns="0" rIns="0" tIns="0" bIns="0" anchor="t">
            <a:noAutofit/>
          </a:bodyPr>
          <a:lstStyle/>
          <a:p>
            <a:pPr algn="l">
              <a:lnSpc>
                <a:spcPct val="100000"/>
              </a:lnSpc>
            </a:pPr>
            <a:r>
              <a:rPr sz="1400" b="1" i="0">
                <a:solidFill>
                  <a:srgbClr val="D55E00"/>
                </a:solidFill>
                <a:latin typeface="Arial"/>
              </a:rPr>
              <a:t>2.6× fewer updates</a:t>
            </a:r>
          </a:p>
          <a:p>
            <a:pPr algn="l">
              <a:lnSpc>
                <a:spcPct val="100000"/>
              </a:lnSpc>
            </a:pPr>
            <a:r>
              <a:rPr sz="1150" b="0" i="0">
                <a:solidFill>
                  <a:srgbClr val="3A3447"/>
                </a:solidFill>
                <a:latin typeface="Arial"/>
              </a:rPr>
              <a:t>to reach the MLP's final error</a:t>
            </a:r>
          </a:p>
        </p:txBody>
      </p:sp>
      <p:cxnSp>
        <p:nvCxnSpPr>
          <p:cNvPr id="26" name="Connector 25"/>
          <p:cNvCxnSpPr/>
          <p:nvPr/>
        </p:nvCxnSpPr>
        <p:spPr>
          <a:xfrm flipH="1">
            <a:off x="2229782" y="3318910"/>
            <a:ext cx="18288" cy="365760"/>
          </a:xfrm>
          <a:prstGeom prst="line">
            <a:avLst/>
          </a:prstGeom>
          <a:ln w="19050">
            <a:solidFill>
              <a:srgbClr val="D55E00"/>
            </a:solidFill>
            <a:tailEnd type="triangle" w="med" len="med"/>
          </a:ln>
        </p:spPr>
      </p:cxnSp>
      <p:sp>
        <p:nvSpPr>
          <p:cNvPr id="27" name="TextBox 26"/>
          <p:cNvSpPr txBox="1"/>
          <p:nvPr/>
        </p:nvSpPr>
        <p:spPr>
          <a:xfrm>
            <a:off x="4754880" y="1828800"/>
            <a:ext cx="3931920" cy="274320"/>
          </a:xfrm>
          <a:prstGeom prst="rect">
            <a:avLst/>
          </a:prstGeom>
          <a:noFill/>
        </p:spPr>
        <p:txBody>
          <a:bodyPr wrap="square" lIns="0" rIns="0" tIns="0" bIns="0" anchor="t">
            <a:noAutofit/>
          </a:bodyPr>
          <a:lstStyle/>
          <a:p>
            <a:pPr algn="l">
              <a:lnSpc>
                <a:spcPct val="105000"/>
              </a:lnSpc>
            </a:pPr>
            <a:r>
              <a:rPr sz="1400" b="1" i="0">
                <a:solidFill>
                  <a:srgbClr val="660874"/>
                </a:solidFill>
                <a:latin typeface="Arial"/>
              </a:rPr>
              <a:t>After IL + PPO: </a:t>
            </a:r>
            <a:r>
              <a:rPr sz="1400" b="1" i="0">
                <a:solidFill>
                  <a:srgbClr val="1F1A2E"/>
                </a:solidFill>
                <a:latin typeface="Arial"/>
              </a:rPr>
              <a:t>angle error (°)</a:t>
            </a:r>
          </a:p>
        </p:txBody>
      </p:sp>
      <p:graphicFrame>
        <p:nvGraphicFramePr>
          <p:cNvPr id="28" name="Chart: angle error"/>
          <p:cNvGraphicFramePr>
            <a:graphicFrameLocks noGrp="1"/>
          </p:cNvGraphicFramePr>
          <p:nvPr/>
        </p:nvGraphicFramePr>
        <p:xfrm>
          <a:off x="4663440" y="2157984"/>
          <a:ext cx="4069080" cy="2560320"/>
        </p:xfrm>
        <a:graphic>
          <a:graphicData uri="http://schemas.openxmlformats.org/drawingml/2006/chart">
            <c:chart xmlns:c="http://schemas.openxmlformats.org/drawingml/2006/chart" r:id="rId7"/>
          </a:graphicData>
        </a:graphic>
      </p:graphicFrame>
      <p:sp>
        <p:nvSpPr>
          <p:cNvPr id="29" name="TextBox 28"/>
          <p:cNvSpPr txBox="1"/>
          <p:nvPr/>
        </p:nvSpPr>
        <p:spPr>
          <a:xfrm>
            <a:off x="7932184" y="2176272"/>
            <a:ext cx="731520" cy="219456"/>
          </a:xfrm>
          <a:prstGeom prst="rect">
            <a:avLst/>
          </a:prstGeom>
          <a:noFill/>
        </p:spPr>
        <p:txBody>
          <a:bodyPr wrap="square" lIns="0" rIns="0" tIns="0" bIns="0" anchor="t">
            <a:noAutofit/>
          </a:bodyPr>
          <a:lstStyle/>
          <a:p>
            <a:pPr algn="ctr">
              <a:lnSpc>
                <a:spcPct val="105000"/>
              </a:lnSpc>
            </a:pPr>
            <a:r>
              <a:rPr sz="1050" b="1" i="0">
                <a:solidFill>
                  <a:srgbClr val="666666"/>
                </a:solidFill>
                <a:latin typeface="Arial"/>
              </a:rPr>
              <a:t>125 ↑</a:t>
            </a:r>
          </a:p>
        </p:txBody>
      </p:sp>
      <p:sp>
        <p:nvSpPr>
          <p:cNvPr id="30" name="Rounded Rectangle 29"/>
          <p:cNvSpPr/>
          <p:nvPr/>
        </p:nvSpPr>
        <p:spPr>
          <a:xfrm>
            <a:off x="5120640" y="2432304"/>
            <a:ext cx="2103120" cy="512064"/>
          </a:xfrm>
          <a:prstGeom prst="roundRect">
            <a:avLst>
              <a:gd name="adj" fmla="val 10000"/>
            </a:avLst>
          </a:prstGeom>
          <a:solidFill>
            <a:srgbClr val="FFFFFF"/>
          </a:solidFill>
          <a:ln w="9525">
            <a:solidFill>
              <a:srgbClr val="E2DCEA"/>
            </a:solidFill>
          </a:ln>
        </p:spPr>
        <p:txBody>
          <a:bodyPr rtlCol="0" anchor="ctr"/>
          <a:lstStyle/>
          <a:p>
            <a:pPr algn="ctr"/>
          </a:p>
        </p:txBody>
      </p:sp>
      <p:sp>
        <p:nvSpPr>
          <p:cNvPr id="31" name="TextBox 30"/>
          <p:cNvSpPr txBox="1"/>
          <p:nvPr/>
        </p:nvSpPr>
        <p:spPr>
          <a:xfrm>
            <a:off x="5193792" y="2432304"/>
            <a:ext cx="1975104" cy="512064"/>
          </a:xfrm>
          <a:prstGeom prst="rect">
            <a:avLst/>
          </a:prstGeom>
          <a:noFill/>
        </p:spPr>
        <p:txBody>
          <a:bodyPr wrap="square" lIns="0" rIns="0" tIns="0" bIns="0" anchor="ctr">
            <a:noAutofit/>
          </a:bodyPr>
          <a:lstStyle/>
          <a:p>
            <a:pPr algn="l">
              <a:lnSpc>
                <a:spcPct val="100000"/>
              </a:lnSpc>
            </a:pPr>
            <a:r>
              <a:rPr sz="1100" b="1" i="0">
                <a:solidFill>
                  <a:srgbClr val="D55E00"/>
                </a:solidFill>
                <a:latin typeface="Arial"/>
              </a:rPr>
              <a:t>Lowest in all 4 tasks</a:t>
            </a:r>
          </a:p>
          <a:p>
            <a:pPr algn="l">
              <a:lnSpc>
                <a:spcPct val="100000"/>
              </a:lnSpc>
            </a:pPr>
            <a:r>
              <a:rPr sz="1100" b="0" i="0">
                <a:solidFill>
                  <a:srgbClr val="3A3447"/>
                </a:solidFill>
                <a:latin typeface="Arial"/>
              </a:rPr>
              <a:t>22–39% below best baseline</a:t>
            </a:r>
          </a:p>
        </p:txBody>
      </p:sp>
      <p:sp>
        <p:nvSpPr>
          <p:cNvPr id="32"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Fig. 2a (one trace per model) and Table 1 (10 rollouts per condition; turn in rad/s).</a:t>
            </a:r>
          </a:p>
        </p:txBody>
      </p:sp>
      <p:sp>
        <p:nvSpPr>
          <p:cNvPr id="33"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The gain survives ablations and GNNs</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RESULTS · WHAT DRIVES THE GAIN?</a:t>
            </a:r>
          </a:p>
        </p:txBody>
      </p:sp>
      <p:sp>
        <p:nvSpPr>
          <p:cNvPr id="6" name="TextBox 5"/>
          <p:cNvSpPr txBox="1"/>
          <p:nvPr/>
        </p:nvSpPr>
        <p:spPr>
          <a:xfrm>
            <a:off x="457200" y="1005840"/>
            <a:ext cx="4023360" cy="548640"/>
          </a:xfrm>
          <a:prstGeom prst="rect">
            <a:avLst/>
          </a:prstGeom>
          <a:noFill/>
        </p:spPr>
        <p:txBody>
          <a:bodyPr wrap="square" lIns="0" rIns="0" tIns="0" bIns="0" anchor="t">
            <a:noAutofit/>
          </a:bodyPr>
          <a:lstStyle/>
          <a:p>
            <a:pPr algn="l">
              <a:lnSpc>
                <a:spcPct val="105000"/>
              </a:lnSpc>
            </a:pPr>
            <a:r>
              <a:rPr sz="1450" b="1" i="0">
                <a:solidFill>
                  <a:srgbClr val="1F1A2E"/>
                </a:solidFill>
                <a:latin typeface="Arial"/>
              </a:rPr>
              <a:t>Generic GNN layers fall short</a:t>
            </a:r>
          </a:p>
          <a:p>
            <a:pPr algn="l">
              <a:lnSpc>
                <a:spcPct val="105000"/>
              </a:lnSpc>
            </a:pPr>
            <a:r>
              <a:rPr sz="1200" b="0" i="0">
                <a:solidFill>
                  <a:srgbClr val="6E6880"/>
                </a:solidFill>
                <a:latin typeface="Arial"/>
              </a:rPr>
              <a:t>Same FlyWire neurons; reward after IL + PPO</a:t>
            </a:r>
          </a:p>
        </p:txBody>
      </p:sp>
      <p:graphicFrame>
        <p:nvGraphicFramePr>
          <p:cNvPr id="7" name="Chart: GNN baselines"/>
          <p:cNvGraphicFramePr>
            <a:graphicFrameLocks noGrp="1"/>
          </p:cNvGraphicFramePr>
          <p:nvPr/>
        </p:nvGraphicFramePr>
        <p:xfrm>
          <a:off x="365760" y="1600200"/>
          <a:ext cx="4160520" cy="2377440"/>
        </p:xfrm>
        <a:graphic>
          <a:graphicData uri="http://schemas.openxmlformats.org/drawingml/2006/chart">
            <c:chart xmlns:c="http://schemas.openxmlformats.org/drawingml/2006/chart" r:id="rId2"/>
          </a:graphicData>
        </a:graphic>
      </p:graphicFrame>
      <p:sp>
        <p:nvSpPr>
          <p:cNvPr id="8" name="Rounded Rectangle 7"/>
          <p:cNvSpPr/>
          <p:nvPr/>
        </p:nvSpPr>
        <p:spPr>
          <a:xfrm>
            <a:off x="457200" y="4069080"/>
            <a:ext cx="4023360" cy="548640"/>
          </a:xfrm>
          <a:prstGeom prst="roundRect">
            <a:avLst>
              <a:gd name="adj" fmla="val 12000"/>
            </a:avLst>
          </a:prstGeom>
          <a:solidFill>
            <a:srgbClr val="F4F1F8"/>
          </a:solidFill>
          <a:ln>
            <a:noFill/>
          </a:ln>
        </p:spPr>
        <p:txBody>
          <a:bodyPr rtlCol="0" anchor="ctr"/>
          <a:lstStyle/>
          <a:p>
            <a:pPr algn="ctr"/>
          </a:p>
        </p:txBody>
      </p:sp>
      <p:sp>
        <p:nvSpPr>
          <p:cNvPr id="9" name="TextBox 8"/>
          <p:cNvSpPr txBox="1"/>
          <p:nvPr/>
        </p:nvSpPr>
        <p:spPr>
          <a:xfrm>
            <a:off x="621792" y="4069080"/>
            <a:ext cx="3749039" cy="548640"/>
          </a:xfrm>
          <a:prstGeom prst="rect">
            <a:avLst/>
          </a:prstGeom>
          <a:noFill/>
        </p:spPr>
        <p:txBody>
          <a:bodyPr wrap="square" lIns="0" rIns="0" tIns="0" bIns="0" anchor="ctr">
            <a:noAutofit/>
          </a:bodyPr>
          <a:lstStyle/>
          <a:p>
            <a:pPr algn="l">
              <a:lnSpc>
                <a:spcPct val="105000"/>
              </a:lnSpc>
            </a:pPr>
            <a:r>
              <a:rPr sz="1600" b="1" i="0">
                <a:solidFill>
                  <a:srgbClr val="D55E00"/>
                </a:solidFill>
                <a:latin typeface="Arial"/>
              </a:rPr>
              <a:t>2.3× </a:t>
            </a:r>
            <a:r>
              <a:rPr sz="1300" b="0" i="0">
                <a:solidFill>
                  <a:srgbClr val="3A3447"/>
                </a:solidFill>
                <a:latin typeface="Arial"/>
              </a:rPr>
              <a:t>the reward of the best GNN (PNA)</a:t>
            </a:r>
          </a:p>
        </p:txBody>
      </p:sp>
      <p:sp>
        <p:nvSpPr>
          <p:cNvPr id="10" name="TextBox 9"/>
          <p:cNvSpPr txBox="1"/>
          <p:nvPr/>
        </p:nvSpPr>
        <p:spPr>
          <a:xfrm>
            <a:off x="4754880" y="1005840"/>
            <a:ext cx="3931920" cy="548640"/>
          </a:xfrm>
          <a:prstGeom prst="rect">
            <a:avLst/>
          </a:prstGeom>
          <a:noFill/>
        </p:spPr>
        <p:txBody>
          <a:bodyPr wrap="square" lIns="0" rIns="0" tIns="0" bIns="0" anchor="t">
            <a:noAutofit/>
          </a:bodyPr>
          <a:lstStyle/>
          <a:p>
            <a:pPr algn="l">
              <a:lnSpc>
                <a:spcPct val="105000"/>
              </a:lnSpc>
            </a:pPr>
            <a:r>
              <a:rPr sz="1450" b="1" i="0">
                <a:solidFill>
                  <a:srgbClr val="1F1A2E"/>
                </a:solidFill>
                <a:latin typeface="Arial"/>
              </a:rPr>
              <a:t>Every connectome variant wins</a:t>
            </a:r>
          </a:p>
          <a:p>
            <a:pPr algn="l">
              <a:lnSpc>
                <a:spcPct val="105000"/>
              </a:lnSpc>
            </a:pPr>
            <a:r>
              <a:rPr sz="1200" b="0" i="0">
                <a:solidFill>
                  <a:srgbClr val="6E6880"/>
                </a:solidFill>
                <a:latin typeface="Arial"/>
              </a:rPr>
              <a:t>Angle error (°) at 3 cm/s, turn 7 rad/s</a:t>
            </a:r>
          </a:p>
        </p:txBody>
      </p:sp>
      <p:graphicFrame>
        <p:nvGraphicFramePr>
          <p:cNvPr id="11" name="Chart: FlyGM ablations"/>
          <p:cNvGraphicFramePr>
            <a:graphicFrameLocks noGrp="1"/>
          </p:cNvGraphicFramePr>
          <p:nvPr/>
        </p:nvGraphicFramePr>
        <p:xfrm>
          <a:off x="4617720" y="1600200"/>
          <a:ext cx="4160520" cy="2377440"/>
        </p:xfrm>
        <a:graphic>
          <a:graphicData uri="http://schemas.openxmlformats.org/drawingml/2006/chart">
            <c:chart xmlns:c="http://schemas.openxmlformats.org/drawingml/2006/chart" r:id="rId3"/>
          </a:graphicData>
        </a:graphic>
      </p:graphicFrame>
      <p:sp>
        <p:nvSpPr>
          <p:cNvPr id="12" name="Rounded Rectangle 11"/>
          <p:cNvSpPr/>
          <p:nvPr/>
        </p:nvSpPr>
        <p:spPr>
          <a:xfrm>
            <a:off x="4754880" y="4069080"/>
            <a:ext cx="3931920" cy="548640"/>
          </a:xfrm>
          <a:prstGeom prst="roundRect">
            <a:avLst>
              <a:gd name="adj" fmla="val 12000"/>
            </a:avLst>
          </a:prstGeom>
          <a:solidFill>
            <a:srgbClr val="FBEDE3"/>
          </a:solidFill>
          <a:ln>
            <a:noFill/>
          </a:ln>
        </p:spPr>
        <p:txBody>
          <a:bodyPr rtlCol="0" anchor="ctr"/>
          <a:lstStyle/>
          <a:p>
            <a:pPr algn="ctr"/>
          </a:p>
        </p:txBody>
      </p:sp>
      <p:sp>
        <p:nvSpPr>
          <p:cNvPr id="13" name="TextBox 12"/>
          <p:cNvSpPr txBox="1"/>
          <p:nvPr/>
        </p:nvSpPr>
        <p:spPr>
          <a:xfrm>
            <a:off x="4919472" y="4069080"/>
            <a:ext cx="3657600" cy="548640"/>
          </a:xfrm>
          <a:prstGeom prst="rect">
            <a:avLst/>
          </a:prstGeom>
          <a:noFill/>
        </p:spPr>
        <p:txBody>
          <a:bodyPr wrap="square" lIns="0" rIns="0" tIns="0" bIns="0" anchor="ctr">
            <a:noAutofit/>
          </a:bodyPr>
          <a:lstStyle/>
          <a:p>
            <a:pPr algn="l">
              <a:lnSpc>
                <a:spcPct val="105000"/>
              </a:lnSpc>
            </a:pPr>
            <a:r>
              <a:rPr sz="1300" b="1" i="0">
                <a:solidFill>
                  <a:srgbClr val="D55E00"/>
                </a:solidFill>
                <a:latin typeface="Arial"/>
              </a:rPr>
              <a:t>Signed weights help most: </a:t>
            </a:r>
            <a:r>
              <a:rPr sz="1300" b="0" i="0">
                <a:solidFill>
                  <a:srgbClr val="3A3447"/>
                </a:solidFill>
                <a:latin typeface="Arial"/>
              </a:rPr>
              <a:t>8.3° vs 11.0°</a:t>
            </a:r>
          </a:p>
        </p:txBody>
      </p:sp>
      <p:sp>
        <p:nvSpPr>
          <p:cNvPr id="14"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Tables 2–4. GNNs [16] sized to fit one A100 80 GB; desc. = per-neuron descriptor.</a:t>
            </a:r>
          </a:p>
        </p:txBody>
      </p:sp>
      <p:sp>
        <p:nvSpPr>
          <p:cNvPr id="15"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Next: from brain to brain + nerve cord</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OUTLOOK</a:t>
            </a:r>
          </a:p>
        </p:txBody>
      </p:sp>
      <p:pic>
        <p:nvPicPr>
          <p:cNvPr id="6" name="Male CNS rendering (FlyEM v1.0)" descr="malecns_dorsal.png"/>
          <p:cNvPicPr>
            <a:picLocks noChangeAspect="1"/>
          </p:cNvPicPr>
          <p:nvPr/>
        </p:nvPicPr>
        <p:blipFill>
          <a:blip r:embed="rId2"/>
          <a:stretch>
            <a:fillRect/>
          </a:stretch>
        </p:blipFill>
        <p:spPr>
          <a:xfrm>
            <a:off x="365760" y="987552"/>
            <a:ext cx="4846320" cy="3562776"/>
          </a:xfrm>
          <a:prstGeom prst="rect">
            <a:avLst/>
          </a:prstGeom>
        </p:spPr>
      </p:pic>
      <p:sp>
        <p:nvSpPr>
          <p:cNvPr id="7" name="TextBox 6"/>
          <p:cNvSpPr txBox="1"/>
          <p:nvPr/>
        </p:nvSpPr>
        <p:spPr>
          <a:xfrm>
            <a:off x="502920" y="987552"/>
            <a:ext cx="1097280" cy="237744"/>
          </a:xfrm>
          <a:prstGeom prst="rect">
            <a:avLst/>
          </a:prstGeom>
          <a:noFill/>
        </p:spPr>
        <p:txBody>
          <a:bodyPr wrap="square" lIns="0" rIns="0" tIns="0" bIns="0" anchor="t">
            <a:noAutofit/>
          </a:bodyPr>
          <a:lstStyle/>
          <a:p>
            <a:pPr algn="l">
              <a:lnSpc>
                <a:spcPct val="105000"/>
              </a:lnSpc>
            </a:pPr>
            <a:r>
              <a:rPr sz="1100" b="1" i="0" spc="100">
                <a:solidFill>
                  <a:srgbClr val="660874"/>
                </a:solidFill>
                <a:latin typeface="Arial"/>
              </a:rPr>
              <a:t>BRAIN</a:t>
            </a:r>
          </a:p>
        </p:txBody>
      </p:sp>
      <p:sp>
        <p:nvSpPr>
          <p:cNvPr id="8" name="TextBox 7"/>
          <p:cNvSpPr txBox="1"/>
          <p:nvPr/>
        </p:nvSpPr>
        <p:spPr>
          <a:xfrm>
            <a:off x="1645920" y="2304288"/>
            <a:ext cx="914400" cy="237744"/>
          </a:xfrm>
          <a:prstGeom prst="rect">
            <a:avLst/>
          </a:prstGeom>
          <a:noFill/>
        </p:spPr>
        <p:txBody>
          <a:bodyPr wrap="square" lIns="0" rIns="0" tIns="0" bIns="0" anchor="t">
            <a:noAutofit/>
          </a:bodyPr>
          <a:lstStyle/>
          <a:p>
            <a:pPr algn="ctr">
              <a:lnSpc>
                <a:spcPct val="105000"/>
              </a:lnSpc>
            </a:pPr>
            <a:r>
              <a:rPr sz="1100" b="1" i="0" spc="100">
                <a:solidFill>
                  <a:srgbClr val="660874"/>
                </a:solidFill>
                <a:latin typeface="Arial"/>
              </a:rPr>
              <a:t>NECK</a:t>
            </a:r>
          </a:p>
        </p:txBody>
      </p:sp>
      <p:sp>
        <p:nvSpPr>
          <p:cNvPr id="9" name="TextBox 8"/>
          <p:cNvSpPr txBox="1"/>
          <p:nvPr/>
        </p:nvSpPr>
        <p:spPr>
          <a:xfrm>
            <a:off x="2926080" y="1481328"/>
            <a:ext cx="2286000" cy="237744"/>
          </a:xfrm>
          <a:prstGeom prst="rect">
            <a:avLst/>
          </a:prstGeom>
          <a:noFill/>
        </p:spPr>
        <p:txBody>
          <a:bodyPr wrap="square" lIns="0" rIns="0" tIns="0" bIns="0" anchor="t">
            <a:noAutofit/>
          </a:bodyPr>
          <a:lstStyle/>
          <a:p>
            <a:pPr algn="r">
              <a:lnSpc>
                <a:spcPct val="105000"/>
              </a:lnSpc>
            </a:pPr>
            <a:r>
              <a:rPr sz="1100" b="1" i="0" spc="100">
                <a:solidFill>
                  <a:srgbClr val="660874"/>
                </a:solidFill>
                <a:latin typeface="Arial"/>
              </a:rPr>
              <a:t>NERVE CORD</a:t>
            </a:r>
          </a:p>
        </p:txBody>
      </p:sp>
      <p:sp>
        <p:nvSpPr>
          <p:cNvPr id="10" name="Oval 9"/>
          <p:cNvSpPr/>
          <p:nvPr/>
        </p:nvSpPr>
        <p:spPr>
          <a:xfrm>
            <a:off x="457200" y="4572000"/>
            <a:ext cx="137160" cy="137160"/>
          </a:xfrm>
          <a:prstGeom prst="ellipse">
            <a:avLst/>
          </a:prstGeom>
          <a:solidFill>
            <a:srgbClr val="E06A1B"/>
          </a:solidFill>
          <a:ln>
            <a:noFill/>
          </a:ln>
        </p:spPr>
        <p:txBody>
          <a:bodyPr rtlCol="0" anchor="ctr"/>
          <a:lstStyle/>
          <a:p>
            <a:pPr algn="ctr"/>
          </a:p>
        </p:txBody>
      </p:sp>
      <p:sp>
        <p:nvSpPr>
          <p:cNvPr id="11" name="TextBox 10"/>
          <p:cNvSpPr txBox="1"/>
          <p:nvPr/>
        </p:nvSpPr>
        <p:spPr>
          <a:xfrm>
            <a:off x="658368" y="4517136"/>
            <a:ext cx="1280160" cy="246888"/>
          </a:xfrm>
          <a:prstGeom prst="rect">
            <a:avLst/>
          </a:prstGeom>
          <a:noFill/>
        </p:spPr>
        <p:txBody>
          <a:bodyPr wrap="square" lIns="0" rIns="0" tIns="0" bIns="0" anchor="ctr">
            <a:noAutofit/>
          </a:bodyPr>
          <a:lstStyle/>
          <a:p>
            <a:pPr algn="l">
              <a:lnSpc>
                <a:spcPct val="105000"/>
              </a:lnSpc>
            </a:pPr>
            <a:r>
              <a:rPr sz="1150" b="0" i="0">
                <a:solidFill>
                  <a:srgbClr val="3A3447"/>
                </a:solidFill>
                <a:latin typeface="Arial"/>
              </a:rPr>
              <a:t>Descending</a:t>
            </a:r>
          </a:p>
        </p:txBody>
      </p:sp>
      <p:sp>
        <p:nvSpPr>
          <p:cNvPr id="12" name="Oval 11"/>
          <p:cNvSpPr/>
          <p:nvPr/>
        </p:nvSpPr>
        <p:spPr>
          <a:xfrm>
            <a:off x="1749635" y="4572000"/>
            <a:ext cx="137160" cy="137160"/>
          </a:xfrm>
          <a:prstGeom prst="ellipse">
            <a:avLst/>
          </a:prstGeom>
          <a:solidFill>
            <a:srgbClr val="2B7BBF"/>
          </a:solidFill>
          <a:ln>
            <a:noFill/>
          </a:ln>
        </p:spPr>
        <p:txBody>
          <a:bodyPr rtlCol="0" anchor="ctr"/>
          <a:lstStyle/>
          <a:p>
            <a:pPr algn="ctr"/>
          </a:p>
        </p:txBody>
      </p:sp>
      <p:sp>
        <p:nvSpPr>
          <p:cNvPr id="13" name="TextBox 12"/>
          <p:cNvSpPr txBox="1"/>
          <p:nvPr/>
        </p:nvSpPr>
        <p:spPr>
          <a:xfrm>
            <a:off x="1950803" y="4517136"/>
            <a:ext cx="1280160" cy="246888"/>
          </a:xfrm>
          <a:prstGeom prst="rect">
            <a:avLst/>
          </a:prstGeom>
          <a:noFill/>
        </p:spPr>
        <p:txBody>
          <a:bodyPr wrap="square" lIns="0" rIns="0" tIns="0" bIns="0" anchor="ctr">
            <a:noAutofit/>
          </a:bodyPr>
          <a:lstStyle/>
          <a:p>
            <a:pPr algn="l">
              <a:lnSpc>
                <a:spcPct val="105000"/>
              </a:lnSpc>
            </a:pPr>
            <a:r>
              <a:rPr sz="1150" b="0" i="0">
                <a:solidFill>
                  <a:srgbClr val="3A3447"/>
                </a:solidFill>
                <a:latin typeface="Arial"/>
              </a:rPr>
              <a:t>Ascending</a:t>
            </a:r>
          </a:p>
        </p:txBody>
      </p:sp>
      <p:sp>
        <p:nvSpPr>
          <p:cNvPr id="14" name="Oval 13"/>
          <p:cNvSpPr/>
          <p:nvPr/>
        </p:nvSpPr>
        <p:spPr>
          <a:xfrm>
            <a:off x="2952823" y="4572000"/>
            <a:ext cx="137160" cy="137160"/>
          </a:xfrm>
          <a:prstGeom prst="ellipse">
            <a:avLst/>
          </a:prstGeom>
          <a:solidFill>
            <a:srgbClr val="7B3FA0"/>
          </a:solidFill>
          <a:ln>
            <a:noFill/>
          </a:ln>
        </p:spPr>
        <p:txBody>
          <a:bodyPr rtlCol="0" anchor="ctr"/>
          <a:lstStyle/>
          <a:p>
            <a:pPr algn="ctr"/>
          </a:p>
        </p:txBody>
      </p:sp>
      <p:sp>
        <p:nvSpPr>
          <p:cNvPr id="15" name="TextBox 14"/>
          <p:cNvSpPr txBox="1"/>
          <p:nvPr/>
        </p:nvSpPr>
        <p:spPr>
          <a:xfrm>
            <a:off x="3153991" y="4517136"/>
            <a:ext cx="1280160" cy="246888"/>
          </a:xfrm>
          <a:prstGeom prst="rect">
            <a:avLst/>
          </a:prstGeom>
          <a:noFill/>
        </p:spPr>
        <p:txBody>
          <a:bodyPr wrap="square" lIns="0" rIns="0" tIns="0" bIns="0" anchor="ctr">
            <a:noAutofit/>
          </a:bodyPr>
          <a:lstStyle/>
          <a:p>
            <a:pPr algn="l">
              <a:lnSpc>
                <a:spcPct val="105000"/>
              </a:lnSpc>
            </a:pPr>
            <a:r>
              <a:rPr sz="1150" b="0" i="0">
                <a:solidFill>
                  <a:srgbClr val="3A3447"/>
                </a:solidFill>
                <a:latin typeface="Arial"/>
              </a:rPr>
              <a:t>Motor neurons</a:t>
            </a:r>
          </a:p>
        </p:txBody>
      </p:sp>
      <p:sp>
        <p:nvSpPr>
          <p:cNvPr id="16" name="TextBox 15"/>
          <p:cNvSpPr txBox="1"/>
          <p:nvPr/>
        </p:nvSpPr>
        <p:spPr>
          <a:xfrm>
            <a:off x="5486400" y="987552"/>
            <a:ext cx="3200400" cy="566928"/>
          </a:xfrm>
          <a:prstGeom prst="rect">
            <a:avLst/>
          </a:prstGeom>
          <a:noFill/>
        </p:spPr>
        <p:txBody>
          <a:bodyPr wrap="square" lIns="0" rIns="0" tIns="0" bIns="0" anchor="t">
            <a:noAutofit/>
          </a:bodyPr>
          <a:lstStyle/>
          <a:p>
            <a:pPr algn="l">
              <a:lnSpc>
                <a:spcPct val="105000"/>
              </a:lnSpc>
            </a:pPr>
            <a:r>
              <a:rPr sz="3400" b="1" i="0">
                <a:solidFill>
                  <a:srgbClr val="660874"/>
                </a:solidFill>
                <a:latin typeface="Arial"/>
              </a:rPr>
              <a:t>166,700</a:t>
            </a:r>
          </a:p>
        </p:txBody>
      </p:sp>
      <p:sp>
        <p:nvSpPr>
          <p:cNvPr id="17" name="TextBox 16"/>
          <p:cNvSpPr txBox="1"/>
          <p:nvPr/>
        </p:nvSpPr>
        <p:spPr>
          <a:xfrm>
            <a:off x="5486400" y="1554480"/>
            <a:ext cx="3200400" cy="274320"/>
          </a:xfrm>
          <a:prstGeom prst="rect">
            <a:avLst/>
          </a:prstGeom>
          <a:noFill/>
        </p:spPr>
        <p:txBody>
          <a:bodyPr wrap="square" lIns="0" rIns="0" tIns="0" bIns="0" anchor="t">
            <a:noAutofit/>
          </a:bodyPr>
          <a:lstStyle/>
          <a:p>
            <a:pPr algn="l">
              <a:lnSpc>
                <a:spcPct val="105000"/>
              </a:lnSpc>
            </a:pPr>
            <a:r>
              <a:rPr sz="1350" b="0" i="0">
                <a:solidFill>
                  <a:srgbClr val="3A3447"/>
                </a:solidFill>
                <a:latin typeface="Arial"/>
              </a:rPr>
              <a:t>neurons: brain + nerve cord [8]</a:t>
            </a:r>
          </a:p>
        </p:txBody>
      </p:sp>
      <p:sp>
        <p:nvSpPr>
          <p:cNvPr id="18" name="TextBox 17"/>
          <p:cNvSpPr txBox="1"/>
          <p:nvPr/>
        </p:nvSpPr>
        <p:spPr>
          <a:xfrm>
            <a:off x="5486400" y="1847088"/>
            <a:ext cx="3200400" cy="274320"/>
          </a:xfrm>
          <a:prstGeom prst="rect">
            <a:avLst/>
          </a:prstGeom>
          <a:noFill/>
        </p:spPr>
        <p:txBody>
          <a:bodyPr wrap="square" lIns="0" rIns="0" tIns="0" bIns="0" anchor="t">
            <a:noAutofit/>
          </a:bodyPr>
          <a:lstStyle/>
          <a:p>
            <a:pPr algn="l">
              <a:lnSpc>
                <a:spcPct val="105000"/>
              </a:lnSpc>
            </a:pPr>
            <a:r>
              <a:rPr sz="1300" b="1" i="0">
                <a:solidFill>
                  <a:srgbClr val="E06A1B"/>
                </a:solidFill>
                <a:latin typeface="Arial"/>
              </a:rPr>
              <a:t>1,314</a:t>
            </a:r>
            <a:r>
              <a:rPr sz="1300" b="0" i="0">
                <a:solidFill>
                  <a:srgbClr val="3A3447"/>
                </a:solidFill>
                <a:latin typeface="Arial"/>
              </a:rPr>
              <a:t> down  ·  </a:t>
            </a:r>
            <a:r>
              <a:rPr sz="1300" b="1" i="0">
                <a:solidFill>
                  <a:srgbClr val="2B7BBF"/>
                </a:solidFill>
                <a:latin typeface="Arial"/>
              </a:rPr>
              <a:t>1,846</a:t>
            </a:r>
            <a:r>
              <a:rPr sz="1300" b="0" i="0">
                <a:solidFill>
                  <a:srgbClr val="3A3447"/>
                </a:solidFill>
                <a:latin typeface="Arial"/>
              </a:rPr>
              <a:t> up the neck</a:t>
            </a:r>
          </a:p>
        </p:txBody>
      </p:sp>
      <p:sp>
        <p:nvSpPr>
          <p:cNvPr id="19" name="TextBox 18"/>
          <p:cNvSpPr txBox="1"/>
          <p:nvPr/>
        </p:nvSpPr>
        <p:spPr>
          <a:xfrm>
            <a:off x="5486400" y="2331720"/>
            <a:ext cx="3200400" cy="237744"/>
          </a:xfrm>
          <a:prstGeom prst="rect">
            <a:avLst/>
          </a:prstGeom>
          <a:noFill/>
        </p:spPr>
        <p:txBody>
          <a:bodyPr wrap="square" lIns="0" rIns="0" tIns="0" bIns="0" anchor="t">
            <a:noAutofit/>
          </a:bodyPr>
          <a:lstStyle/>
          <a:p>
            <a:pPr algn="l">
              <a:lnSpc>
                <a:spcPct val="105000"/>
              </a:lnSpc>
            </a:pPr>
            <a:r>
              <a:rPr sz="1050" b="1" i="0" spc="100">
                <a:solidFill>
                  <a:srgbClr val="6E6880"/>
                </a:solidFill>
                <a:latin typeface="Arial"/>
              </a:rPr>
              <a:t>WHAT IT ADDS TO FLYGM</a:t>
            </a:r>
          </a:p>
        </p:txBody>
      </p:sp>
      <p:sp>
        <p:nvSpPr>
          <p:cNvPr id="20" name="TextBox 19"/>
          <p:cNvSpPr txBox="1"/>
          <p:nvPr/>
        </p:nvSpPr>
        <p:spPr>
          <a:xfrm>
            <a:off x="5486400" y="2633472"/>
            <a:ext cx="3200400" cy="1188720"/>
          </a:xfrm>
          <a:prstGeom prst="rect">
            <a:avLst/>
          </a:prstGeom>
          <a:noFill/>
        </p:spPr>
        <p:txBody>
          <a:bodyPr wrap="square" lIns="0" rIns="0" tIns="0" bIns="0" anchor="t">
            <a:noAutofit/>
          </a:bodyPr>
          <a:lstStyle/>
          <a:p>
            <a:pPr algn="l" marL="182880" indent="-182880">
              <a:lnSpc>
                <a:spcPct val="102000"/>
              </a:lnSpc>
              <a:spcAft>
                <a:spcPts val="500"/>
              </a:spcAft>
              <a:buClr>
                <a:srgbClr val="D55E00"/>
              </a:buClr>
              <a:buFont typeface="Arial"/>
              <a:buChar char="•"/>
            </a:pPr>
            <a:r>
              <a:rPr sz="1350" b="0" i="0">
                <a:solidFill>
                  <a:srgbClr val="3A3447"/>
                </a:solidFill>
                <a:latin typeface="Arial"/>
              </a:rPr>
              <a:t>Real motor circuits below the brain</a:t>
            </a:r>
          </a:p>
          <a:p>
            <a:pPr algn="l" marL="182880" indent="-182880">
              <a:lnSpc>
                <a:spcPct val="102000"/>
              </a:lnSpc>
              <a:spcAft>
                <a:spcPts val="500"/>
              </a:spcAft>
              <a:buClr>
                <a:srgbClr val="D55E00"/>
              </a:buClr>
              <a:buFont typeface="Arial"/>
              <a:buChar char="•"/>
            </a:pPr>
            <a:r>
              <a:rPr sz="1350" b="0" i="0">
                <a:solidFill>
                  <a:srgbClr val="3A3447"/>
                </a:solidFill>
                <a:latin typeface="Arial"/>
              </a:rPr>
              <a:t>Body feedback via real pathways</a:t>
            </a:r>
          </a:p>
          <a:p>
            <a:pPr algn="l" marL="182880" indent="-182880">
              <a:lnSpc>
                <a:spcPct val="102000"/>
              </a:lnSpc>
              <a:buClr>
                <a:srgbClr val="D55E00"/>
              </a:buClr>
              <a:buFont typeface="Arial"/>
              <a:buChar char="•"/>
            </a:pPr>
            <a:r>
              <a:rPr sz="1350" b="0" i="0">
                <a:solidFill>
                  <a:srgbClr val="3A3447"/>
                </a:solidFill>
                <a:latin typeface="Arial"/>
              </a:rPr>
              <a:t>Updated synapses and cell types [19, 20]</a:t>
            </a:r>
          </a:p>
        </p:txBody>
      </p:sp>
      <p:sp>
        <p:nvSpPr>
          <p:cNvPr id="21" name="Rounded Rectangle 20"/>
          <p:cNvSpPr/>
          <p:nvPr/>
        </p:nvSpPr>
        <p:spPr>
          <a:xfrm>
            <a:off x="5486400" y="4023360"/>
            <a:ext cx="3200400" cy="566928"/>
          </a:xfrm>
          <a:prstGeom prst="roundRect">
            <a:avLst>
              <a:gd name="adj" fmla="val 14000"/>
            </a:avLst>
          </a:prstGeom>
          <a:solidFill>
            <a:srgbClr val="F4F1F8"/>
          </a:solidFill>
          <a:ln>
            <a:noFill/>
          </a:ln>
        </p:spPr>
        <p:txBody>
          <a:bodyPr rtlCol="0" anchor="ctr"/>
          <a:lstStyle/>
          <a:p>
            <a:pPr algn="ctr"/>
          </a:p>
        </p:txBody>
      </p:sp>
      <p:sp>
        <p:nvSpPr>
          <p:cNvPr id="22" name="TextBox 21"/>
          <p:cNvSpPr txBox="1"/>
          <p:nvPr/>
        </p:nvSpPr>
        <p:spPr>
          <a:xfrm>
            <a:off x="5632704" y="4023360"/>
            <a:ext cx="2971800" cy="566928"/>
          </a:xfrm>
          <a:prstGeom prst="rect">
            <a:avLst/>
          </a:prstGeom>
          <a:noFill/>
        </p:spPr>
        <p:txBody>
          <a:bodyPr wrap="square" lIns="0" rIns="0" tIns="0" bIns="0" anchor="ctr">
            <a:noAutofit/>
          </a:bodyPr>
          <a:lstStyle/>
          <a:p>
            <a:pPr algn="l">
              <a:lnSpc>
                <a:spcPct val="100000"/>
              </a:lnSpc>
            </a:pPr>
            <a:r>
              <a:rPr sz="1250" b="1" i="0">
                <a:solidFill>
                  <a:srgbClr val="660874"/>
                </a:solidFill>
                <a:latin typeface="Arial"/>
              </a:rPr>
              <a:t>Next tests: </a:t>
            </a:r>
            <a:r>
              <a:rPr sz="1250" b="0" i="0">
                <a:solidFill>
                  <a:srgbClr val="3A3447"/>
                </a:solidFill>
                <a:latin typeface="Arial"/>
              </a:rPr>
              <a:t>longer tasks, recovery, navigation</a:t>
            </a:r>
          </a:p>
        </p:txBody>
      </p:sp>
      <p:sp>
        <p:nvSpPr>
          <p:cNvPr id="23"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Outlook, not a result. Rendered from FlyEM male CNS v1.0: shells + ~280 sampled neurons [8].</a:t>
            </a:r>
          </a:p>
        </p:txBody>
      </p:sp>
      <p:sp>
        <p:nvSpPr>
          <p:cNvPr id="24"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A useful prior for whole-body control</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TAKEAWAYS</a:t>
            </a:r>
          </a:p>
        </p:txBody>
      </p:sp>
      <p:sp>
        <p:nvSpPr>
          <p:cNvPr id="6" name="Rounded Rectangle 5"/>
          <p:cNvSpPr/>
          <p:nvPr/>
        </p:nvSpPr>
        <p:spPr>
          <a:xfrm>
            <a:off x="457200" y="1024128"/>
            <a:ext cx="2615184" cy="2212848"/>
          </a:xfrm>
          <a:prstGeom prst="roundRect">
            <a:avLst>
              <a:gd name="adj" fmla="val 6000"/>
            </a:avLst>
          </a:prstGeom>
          <a:solidFill>
            <a:srgbClr val="F4F1F8"/>
          </a:solidFill>
          <a:ln>
            <a:noFill/>
          </a:ln>
        </p:spPr>
        <p:txBody>
          <a:bodyPr rtlCol="0" anchor="ctr"/>
          <a:lstStyle/>
          <a:p>
            <a:pPr algn="ctr"/>
          </a:p>
        </p:txBody>
      </p:sp>
      <p:sp>
        <p:nvSpPr>
          <p:cNvPr id="7" name="Icon circle"/>
          <p:cNvSpPr/>
          <p:nvPr/>
        </p:nvSpPr>
        <p:spPr>
          <a:xfrm>
            <a:off x="658368" y="1188720"/>
            <a:ext cx="566928" cy="566928"/>
          </a:xfrm>
          <a:prstGeom prst="ellipse">
            <a:avLst/>
          </a:prstGeom>
          <a:solidFill>
            <a:srgbClr val="660874"/>
          </a:solidFill>
          <a:ln>
            <a:noFill/>
          </a:ln>
        </p:spPr>
        <p:txBody>
          <a:bodyPr rtlCol="0" anchor="ctr"/>
          <a:lstStyle/>
          <a:p>
            <a:pPr algn="ctr"/>
          </a:p>
        </p:txBody>
      </p:sp>
      <p:pic>
        <p:nvPicPr>
          <p:cNvPr id="8" name="Icon" descr="tree_w.png"/>
          <p:cNvPicPr>
            <a:picLocks noChangeAspect="1"/>
          </p:cNvPicPr>
          <p:nvPr/>
        </p:nvPicPr>
        <p:blipFill>
          <a:blip r:embed="rId2"/>
          <a:stretch>
            <a:fillRect/>
          </a:stretch>
        </p:blipFill>
        <p:spPr>
          <a:xfrm>
            <a:off x="771753" y="1302105"/>
            <a:ext cx="340156" cy="340156"/>
          </a:xfrm>
          <a:prstGeom prst="rect">
            <a:avLst/>
          </a:prstGeom>
        </p:spPr>
      </p:pic>
      <p:sp>
        <p:nvSpPr>
          <p:cNvPr id="9" name="TextBox 8"/>
          <p:cNvSpPr txBox="1"/>
          <p:nvPr/>
        </p:nvSpPr>
        <p:spPr>
          <a:xfrm>
            <a:off x="2340863" y="1152144"/>
            <a:ext cx="548640" cy="548640"/>
          </a:xfrm>
          <a:prstGeom prst="rect">
            <a:avLst/>
          </a:prstGeom>
          <a:noFill/>
        </p:spPr>
        <p:txBody>
          <a:bodyPr wrap="square" lIns="0" rIns="0" tIns="0" bIns="0" anchor="t">
            <a:noAutofit/>
          </a:bodyPr>
          <a:lstStyle/>
          <a:p>
            <a:pPr algn="r">
              <a:lnSpc>
                <a:spcPct val="105000"/>
              </a:lnSpc>
            </a:pPr>
            <a:r>
              <a:rPr sz="2800" b="1" i="0">
                <a:solidFill>
                  <a:srgbClr val="D9D2E3"/>
                </a:solidFill>
                <a:latin typeface="Arial"/>
              </a:rPr>
              <a:t>1</a:t>
            </a:r>
          </a:p>
        </p:txBody>
      </p:sp>
      <p:sp>
        <p:nvSpPr>
          <p:cNvPr id="10" name="TextBox 9"/>
          <p:cNvSpPr txBox="1"/>
          <p:nvPr/>
        </p:nvSpPr>
        <p:spPr>
          <a:xfrm>
            <a:off x="658368" y="1901952"/>
            <a:ext cx="2249424" cy="310896"/>
          </a:xfrm>
          <a:prstGeom prst="rect">
            <a:avLst/>
          </a:prstGeom>
          <a:noFill/>
        </p:spPr>
        <p:txBody>
          <a:bodyPr wrap="square" lIns="0" rIns="0" tIns="0" bIns="0" anchor="t">
            <a:noAutofit/>
          </a:bodyPr>
          <a:lstStyle/>
          <a:p>
            <a:pPr algn="l">
              <a:lnSpc>
                <a:spcPct val="105000"/>
              </a:lnSpc>
            </a:pPr>
            <a:r>
              <a:rPr sz="1600" b="1" i="0">
                <a:solidFill>
                  <a:srgbClr val="1F1A2E"/>
                </a:solidFill>
                <a:latin typeface="Arial"/>
              </a:rPr>
              <a:t>Wiring as architecture</a:t>
            </a:r>
          </a:p>
        </p:txBody>
      </p:sp>
      <p:sp>
        <p:nvSpPr>
          <p:cNvPr id="11" name="TextBox 10"/>
          <p:cNvSpPr txBox="1"/>
          <p:nvPr/>
        </p:nvSpPr>
        <p:spPr>
          <a:xfrm>
            <a:off x="658368" y="2267712"/>
            <a:ext cx="2249424" cy="914400"/>
          </a:xfrm>
          <a:prstGeom prst="rect">
            <a:avLst/>
          </a:prstGeom>
          <a:noFill/>
        </p:spPr>
        <p:txBody>
          <a:bodyPr wrap="square" lIns="0" rIns="0" tIns="0" bIns="0" anchor="t">
            <a:noAutofit/>
          </a:bodyPr>
          <a:lstStyle/>
          <a:p>
            <a:pPr algn="l">
              <a:lnSpc>
                <a:spcPct val="105000"/>
              </a:lnSpc>
            </a:pPr>
            <a:r>
              <a:rPr sz="1400" b="0" i="0">
                <a:solidFill>
                  <a:srgbClr val="3A3447"/>
                </a:solidFill>
                <a:latin typeface="Arial"/>
              </a:rPr>
              <a:t>The fly connectome becomes a whole-body controller.</a:t>
            </a:r>
          </a:p>
        </p:txBody>
      </p:sp>
      <p:sp>
        <p:nvSpPr>
          <p:cNvPr id="12" name="Rounded Rectangle 11"/>
          <p:cNvSpPr/>
          <p:nvPr/>
        </p:nvSpPr>
        <p:spPr>
          <a:xfrm>
            <a:off x="3264408" y="1024128"/>
            <a:ext cx="2615184" cy="2212848"/>
          </a:xfrm>
          <a:prstGeom prst="roundRect">
            <a:avLst>
              <a:gd name="adj" fmla="val 6000"/>
            </a:avLst>
          </a:prstGeom>
          <a:solidFill>
            <a:srgbClr val="FBEDE3"/>
          </a:solidFill>
          <a:ln>
            <a:noFill/>
          </a:ln>
        </p:spPr>
        <p:txBody>
          <a:bodyPr rtlCol="0" anchor="ctr"/>
          <a:lstStyle/>
          <a:p>
            <a:pPr algn="ctr"/>
          </a:p>
        </p:txBody>
      </p:sp>
      <p:sp>
        <p:nvSpPr>
          <p:cNvPr id="13" name="Icon circle"/>
          <p:cNvSpPr/>
          <p:nvPr/>
        </p:nvSpPr>
        <p:spPr>
          <a:xfrm>
            <a:off x="3465576" y="1188720"/>
            <a:ext cx="566928" cy="566928"/>
          </a:xfrm>
          <a:prstGeom prst="ellipse">
            <a:avLst/>
          </a:prstGeom>
          <a:solidFill>
            <a:srgbClr val="D55E00"/>
          </a:solidFill>
          <a:ln>
            <a:noFill/>
          </a:ln>
        </p:spPr>
        <p:txBody>
          <a:bodyPr rtlCol="0" anchor="ctr"/>
          <a:lstStyle/>
          <a:p>
            <a:pPr algn="ctr"/>
          </a:p>
        </p:txBody>
      </p:sp>
      <p:pic>
        <p:nvPicPr>
          <p:cNvPr id="14" name="Icon" descr="speed_w.png"/>
          <p:cNvPicPr>
            <a:picLocks noChangeAspect="1"/>
          </p:cNvPicPr>
          <p:nvPr/>
        </p:nvPicPr>
        <p:blipFill>
          <a:blip r:embed="rId3"/>
          <a:stretch>
            <a:fillRect/>
          </a:stretch>
        </p:blipFill>
        <p:spPr>
          <a:xfrm>
            <a:off x="3578961" y="1302105"/>
            <a:ext cx="340156" cy="340156"/>
          </a:xfrm>
          <a:prstGeom prst="rect">
            <a:avLst/>
          </a:prstGeom>
        </p:spPr>
      </p:pic>
      <p:sp>
        <p:nvSpPr>
          <p:cNvPr id="15" name="TextBox 14"/>
          <p:cNvSpPr txBox="1"/>
          <p:nvPr/>
        </p:nvSpPr>
        <p:spPr>
          <a:xfrm>
            <a:off x="5148072" y="1152144"/>
            <a:ext cx="548640" cy="548640"/>
          </a:xfrm>
          <a:prstGeom prst="rect">
            <a:avLst/>
          </a:prstGeom>
          <a:noFill/>
        </p:spPr>
        <p:txBody>
          <a:bodyPr wrap="square" lIns="0" rIns="0" tIns="0" bIns="0" anchor="t">
            <a:noAutofit/>
          </a:bodyPr>
          <a:lstStyle/>
          <a:p>
            <a:pPr algn="r">
              <a:lnSpc>
                <a:spcPct val="105000"/>
              </a:lnSpc>
            </a:pPr>
            <a:r>
              <a:rPr sz="2800" b="1" i="0">
                <a:solidFill>
                  <a:srgbClr val="D9D2E3"/>
                </a:solidFill>
                <a:latin typeface="Arial"/>
              </a:rPr>
              <a:t>2</a:t>
            </a:r>
          </a:p>
        </p:txBody>
      </p:sp>
      <p:sp>
        <p:nvSpPr>
          <p:cNvPr id="16" name="TextBox 15"/>
          <p:cNvSpPr txBox="1"/>
          <p:nvPr/>
        </p:nvSpPr>
        <p:spPr>
          <a:xfrm>
            <a:off x="3465576" y="1901952"/>
            <a:ext cx="2249424" cy="310896"/>
          </a:xfrm>
          <a:prstGeom prst="rect">
            <a:avLst/>
          </a:prstGeom>
          <a:noFill/>
        </p:spPr>
        <p:txBody>
          <a:bodyPr wrap="square" lIns="0" rIns="0" tIns="0" bIns="0" anchor="t">
            <a:noAutofit/>
          </a:bodyPr>
          <a:lstStyle/>
          <a:p>
            <a:pPr algn="l">
              <a:lnSpc>
                <a:spcPct val="105000"/>
              </a:lnSpc>
            </a:pPr>
            <a:r>
              <a:rPr sz="1600" b="1" i="0">
                <a:solidFill>
                  <a:srgbClr val="1F1A2E"/>
                </a:solidFill>
                <a:latin typeface="Arial"/>
              </a:rPr>
              <a:t>Real wiring matters</a:t>
            </a:r>
          </a:p>
        </p:txBody>
      </p:sp>
      <p:sp>
        <p:nvSpPr>
          <p:cNvPr id="17" name="TextBox 16"/>
          <p:cNvSpPr txBox="1"/>
          <p:nvPr/>
        </p:nvSpPr>
        <p:spPr>
          <a:xfrm>
            <a:off x="3465576" y="2267712"/>
            <a:ext cx="2249424" cy="914400"/>
          </a:xfrm>
          <a:prstGeom prst="rect">
            <a:avLst/>
          </a:prstGeom>
          <a:noFill/>
        </p:spPr>
        <p:txBody>
          <a:bodyPr wrap="square" lIns="0" rIns="0" tIns="0" bIns="0" anchor="t">
            <a:noAutofit/>
          </a:bodyPr>
          <a:lstStyle/>
          <a:p>
            <a:pPr algn="l">
              <a:lnSpc>
                <a:spcPct val="105000"/>
              </a:lnSpc>
            </a:pPr>
            <a:r>
              <a:rPr sz="1400" b="0" i="0">
                <a:solidFill>
                  <a:srgbClr val="3A3447"/>
                </a:solidFill>
                <a:latin typeface="Arial"/>
              </a:rPr>
              <a:t>Learns faster and steers better than rewired, random and MLP controls.</a:t>
            </a:r>
          </a:p>
        </p:txBody>
      </p:sp>
      <p:sp>
        <p:nvSpPr>
          <p:cNvPr id="18" name="Rounded Rectangle 17"/>
          <p:cNvSpPr/>
          <p:nvPr/>
        </p:nvSpPr>
        <p:spPr>
          <a:xfrm>
            <a:off x="6071616" y="1024128"/>
            <a:ext cx="2615184" cy="2212848"/>
          </a:xfrm>
          <a:prstGeom prst="roundRect">
            <a:avLst>
              <a:gd name="adj" fmla="val 6000"/>
            </a:avLst>
          </a:prstGeom>
          <a:solidFill>
            <a:srgbClr val="F4F1F8"/>
          </a:solidFill>
          <a:ln>
            <a:noFill/>
          </a:ln>
        </p:spPr>
        <p:txBody>
          <a:bodyPr rtlCol="0" anchor="ctr"/>
          <a:lstStyle/>
          <a:p>
            <a:pPr algn="ctr"/>
          </a:p>
        </p:txBody>
      </p:sp>
      <p:sp>
        <p:nvSpPr>
          <p:cNvPr id="19" name="Icon circle"/>
          <p:cNvSpPr/>
          <p:nvPr/>
        </p:nvSpPr>
        <p:spPr>
          <a:xfrm>
            <a:off x="6272783" y="1188720"/>
            <a:ext cx="566928" cy="566928"/>
          </a:xfrm>
          <a:prstGeom prst="ellipse">
            <a:avLst/>
          </a:prstGeom>
          <a:solidFill>
            <a:srgbClr val="660874"/>
          </a:solidFill>
          <a:ln>
            <a:noFill/>
          </a:ln>
        </p:spPr>
        <p:txBody>
          <a:bodyPr rtlCol="0" anchor="ctr"/>
          <a:lstStyle/>
          <a:p>
            <a:pPr algn="ctr"/>
          </a:p>
        </p:txBody>
      </p:sp>
      <p:pic>
        <p:nvPicPr>
          <p:cNvPr id="20" name="Icon" descr="insights_w.png"/>
          <p:cNvPicPr>
            <a:picLocks noChangeAspect="1"/>
          </p:cNvPicPr>
          <p:nvPr/>
        </p:nvPicPr>
        <p:blipFill>
          <a:blip r:embed="rId4"/>
          <a:stretch>
            <a:fillRect/>
          </a:stretch>
        </p:blipFill>
        <p:spPr>
          <a:xfrm>
            <a:off x="6386169" y="1302105"/>
            <a:ext cx="340156" cy="340156"/>
          </a:xfrm>
          <a:prstGeom prst="rect">
            <a:avLst/>
          </a:prstGeom>
        </p:spPr>
      </p:pic>
      <p:sp>
        <p:nvSpPr>
          <p:cNvPr id="21" name="TextBox 20"/>
          <p:cNvSpPr txBox="1"/>
          <p:nvPr/>
        </p:nvSpPr>
        <p:spPr>
          <a:xfrm>
            <a:off x="7955279" y="1152144"/>
            <a:ext cx="548640" cy="548640"/>
          </a:xfrm>
          <a:prstGeom prst="rect">
            <a:avLst/>
          </a:prstGeom>
          <a:noFill/>
        </p:spPr>
        <p:txBody>
          <a:bodyPr wrap="square" lIns="0" rIns="0" tIns="0" bIns="0" anchor="t">
            <a:noAutofit/>
          </a:bodyPr>
          <a:lstStyle/>
          <a:p>
            <a:pPr algn="r">
              <a:lnSpc>
                <a:spcPct val="105000"/>
              </a:lnSpc>
            </a:pPr>
            <a:r>
              <a:rPr sz="2800" b="1" i="0">
                <a:solidFill>
                  <a:srgbClr val="D9D2E3"/>
                </a:solidFill>
                <a:latin typeface="Arial"/>
              </a:rPr>
              <a:t>3</a:t>
            </a:r>
          </a:p>
        </p:txBody>
      </p:sp>
      <p:sp>
        <p:nvSpPr>
          <p:cNvPr id="22" name="TextBox 21"/>
          <p:cNvSpPr txBox="1"/>
          <p:nvPr/>
        </p:nvSpPr>
        <p:spPr>
          <a:xfrm>
            <a:off x="6272783" y="1901952"/>
            <a:ext cx="2249424" cy="310896"/>
          </a:xfrm>
          <a:prstGeom prst="rect">
            <a:avLst/>
          </a:prstGeom>
          <a:noFill/>
        </p:spPr>
        <p:txBody>
          <a:bodyPr wrap="square" lIns="0" rIns="0" tIns="0" bIns="0" anchor="t">
            <a:noAutofit/>
          </a:bodyPr>
          <a:lstStyle/>
          <a:p>
            <a:pPr algn="l">
              <a:lnSpc>
                <a:spcPct val="105000"/>
              </a:lnSpc>
            </a:pPr>
            <a:r>
              <a:rPr sz="1600" b="1" i="0">
                <a:solidFill>
                  <a:srgbClr val="1F1A2E"/>
                </a:solidFill>
                <a:latin typeface="Arial"/>
              </a:rPr>
              <a:t>Structured dynamics</a:t>
            </a:r>
          </a:p>
        </p:txBody>
      </p:sp>
      <p:sp>
        <p:nvSpPr>
          <p:cNvPr id="23" name="TextBox 22"/>
          <p:cNvSpPr txBox="1"/>
          <p:nvPr/>
        </p:nvSpPr>
        <p:spPr>
          <a:xfrm>
            <a:off x="6272783" y="2267712"/>
            <a:ext cx="2249424" cy="914400"/>
          </a:xfrm>
          <a:prstGeom prst="rect">
            <a:avLst/>
          </a:prstGeom>
          <a:noFill/>
        </p:spPr>
        <p:txBody>
          <a:bodyPr wrap="square" lIns="0" rIns="0" tIns="0" bIns="0" anchor="t">
            <a:noAutofit/>
          </a:bodyPr>
          <a:lstStyle/>
          <a:p>
            <a:pPr algn="l">
              <a:lnSpc>
                <a:spcPct val="105000"/>
              </a:lnSpc>
            </a:pPr>
            <a:r>
              <a:rPr sz="1400" b="0" i="0">
                <a:solidFill>
                  <a:srgbClr val="3A3447"/>
                </a:solidFill>
                <a:latin typeface="Arial"/>
              </a:rPr>
              <a:t>Neuron classes show distinct activity patterns (qualitative).</a:t>
            </a:r>
          </a:p>
        </p:txBody>
      </p:sp>
      <p:sp>
        <p:nvSpPr>
          <p:cNvPr id="24" name="Rounded Rectangle 23"/>
          <p:cNvSpPr/>
          <p:nvPr/>
        </p:nvSpPr>
        <p:spPr>
          <a:xfrm>
            <a:off x="457200" y="3419856"/>
            <a:ext cx="8229600" cy="640080"/>
          </a:xfrm>
          <a:prstGeom prst="roundRect">
            <a:avLst>
              <a:gd name="adj" fmla="val 12000"/>
            </a:avLst>
          </a:prstGeom>
          <a:solidFill>
            <a:srgbClr val="660874"/>
          </a:solidFill>
          <a:ln>
            <a:noFill/>
          </a:ln>
        </p:spPr>
        <p:txBody>
          <a:bodyPr rtlCol="0" anchor="ctr"/>
          <a:lstStyle/>
          <a:p>
            <a:pPr algn="ctr"/>
          </a:p>
        </p:txBody>
      </p:sp>
      <p:sp>
        <p:nvSpPr>
          <p:cNvPr id="25" name="TextBox 24"/>
          <p:cNvSpPr txBox="1"/>
          <p:nvPr/>
        </p:nvSpPr>
        <p:spPr>
          <a:xfrm>
            <a:off x="685800" y="3419856"/>
            <a:ext cx="7772400" cy="640080"/>
          </a:xfrm>
          <a:prstGeom prst="rect">
            <a:avLst/>
          </a:prstGeom>
          <a:noFill/>
        </p:spPr>
        <p:txBody>
          <a:bodyPr wrap="square" lIns="0" rIns="0" tIns="0" bIns="0" anchor="ctr">
            <a:noAutofit/>
          </a:bodyPr>
          <a:lstStyle/>
          <a:p>
            <a:pPr algn="l">
              <a:lnSpc>
                <a:spcPct val="105000"/>
              </a:lnSpc>
            </a:pPr>
            <a:r>
              <a:rPr sz="1800" b="1" i="0">
                <a:solidFill>
                  <a:srgbClr val="F6C7A5"/>
                </a:solidFill>
                <a:latin typeface="Arial"/>
              </a:rPr>
              <a:t>Not an upload: </a:t>
            </a:r>
            <a:r>
              <a:rPr sz="1800" b="1" i="0">
                <a:solidFill>
                  <a:srgbClr val="FFFFFF"/>
                </a:solidFill>
                <a:latin typeface="Arial"/>
              </a:rPr>
              <a:t>a testable, connectome-structured controller.</a:t>
            </a:r>
          </a:p>
        </p:txBody>
      </p:sp>
      <p:sp>
        <p:nvSpPr>
          <p:cNvPr id="26" name="TextBox 25"/>
          <p:cNvSpPr txBox="1"/>
          <p:nvPr/>
        </p:nvSpPr>
        <p:spPr>
          <a:xfrm>
            <a:off x="457200" y="4206240"/>
            <a:ext cx="8229600" cy="365760"/>
          </a:xfrm>
          <a:prstGeom prst="rect">
            <a:avLst/>
          </a:prstGeom>
          <a:noFill/>
        </p:spPr>
        <p:txBody>
          <a:bodyPr wrap="square" lIns="0" rIns="0" tIns="0" bIns="0" anchor="ctr">
            <a:noAutofit/>
          </a:bodyPr>
          <a:lstStyle/>
          <a:p>
            <a:pPr algn="l">
              <a:lnSpc>
                <a:spcPct val="105000"/>
              </a:lnSpc>
            </a:pPr>
            <a:r>
              <a:rPr sz="1350" b="1" i="0">
                <a:solidFill>
                  <a:srgbClr val="660874"/>
                </a:solidFill>
                <a:latin typeface="Arial"/>
              </a:rPr>
              <a:t>Open:  </a:t>
            </a:r>
            <a:r>
              <a:rPr sz="1350" b="0" i="0">
                <a:solidFill>
                  <a:srgbClr val="3A3447"/>
                </a:solidFill>
                <a:latin typeface="Arial"/>
              </a:rPr>
              <a:t>biological fidelity  ·  learning without demonstrations  ·  other bodies</a:t>
            </a:r>
          </a:p>
        </p:txBody>
      </p:sp>
      <p:sp>
        <p:nvSpPr>
          <p:cNvPr id="27" name="Source"/>
          <p:cNvSpPr txBox="1"/>
          <p:nvPr/>
        </p:nvSpPr>
        <p:spPr>
          <a:xfrm>
            <a:off x="457200" y="4773168"/>
            <a:ext cx="7589520" cy="228600"/>
          </a:xfrm>
          <a:prstGeom prst="rect">
            <a:avLst/>
          </a:prstGeom>
          <a:noFill/>
        </p:spPr>
        <p:txBody>
          <a:bodyPr wrap="square" lIns="0" rIns="0" tIns="0" bIns="0" anchor="ctr">
            <a:noAutofit/>
          </a:bodyPr>
          <a:lstStyle/>
          <a:p>
            <a:pPr algn="l">
              <a:lnSpc>
                <a:spcPct val="105000"/>
              </a:lnSpc>
            </a:pPr>
            <a:r>
              <a:rPr sz="1000" b="0" i="0">
                <a:solidFill>
                  <a:srgbClr val="6E6880"/>
                </a:solidFill>
                <a:latin typeface="Arial"/>
              </a:rPr>
              <a:t>[1]. All comparisons use the shared IL + PPO pipeline; the representation analysis is qualitative.</a:t>
            </a:r>
          </a:p>
        </p:txBody>
      </p:sp>
      <p:sp>
        <p:nvSpPr>
          <p:cNvPr id="28"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48640" y="685800"/>
            <a:ext cx="3840480" cy="777240"/>
          </a:xfrm>
        </p:spPr>
        <p:txBody>
          <a:bodyPr wrap="square" anchor="t" lIns="0" rIns="0" tIns="0" bIns="0"/>
          <a:lstStyle/>
          <a:p>
            <a:pPr algn="l">
              <a:lnSpc>
                <a:spcPct val="100000"/>
              </a:lnSpc>
            </a:pPr>
            <a:r>
              <a:rPr sz="4600" b="1">
                <a:solidFill>
                  <a:srgbClr val="660874"/>
                </a:solidFill>
                <a:latin typeface="Arial"/>
              </a:rPr>
              <a:t>Thank you</a:t>
            </a:r>
          </a:p>
        </p:txBody>
      </p:sp>
      <p:sp>
        <p:nvSpPr>
          <p:cNvPr id="4" name="TextBox 3"/>
          <p:cNvSpPr txBox="1"/>
          <p:nvPr/>
        </p:nvSpPr>
        <p:spPr>
          <a:xfrm>
            <a:off x="548640" y="1481328"/>
            <a:ext cx="3840480" cy="329184"/>
          </a:xfrm>
          <a:prstGeom prst="rect">
            <a:avLst/>
          </a:prstGeom>
          <a:noFill/>
        </p:spPr>
        <p:txBody>
          <a:bodyPr wrap="square" lIns="0" rIns="0" tIns="0" bIns="0" anchor="t">
            <a:noAutofit/>
          </a:bodyPr>
          <a:lstStyle/>
          <a:p>
            <a:pPr algn="l">
              <a:lnSpc>
                <a:spcPct val="105000"/>
              </a:lnSpc>
            </a:pPr>
            <a:r>
              <a:rPr sz="1800" b="0" i="0">
                <a:solidFill>
                  <a:srgbClr val="3A3447"/>
                </a:solidFill>
                <a:latin typeface="Arial"/>
              </a:rPr>
              <a:t>Questions are welcome.</a:t>
            </a:r>
          </a:p>
        </p:txBody>
      </p:sp>
      <p:sp>
        <p:nvSpPr>
          <p:cNvPr id="5" name="TextBox 4"/>
          <p:cNvSpPr txBox="1"/>
          <p:nvPr/>
        </p:nvSpPr>
        <p:spPr>
          <a:xfrm>
            <a:off x="548640" y="2103120"/>
            <a:ext cx="3840480" cy="237744"/>
          </a:xfrm>
          <a:prstGeom prst="rect">
            <a:avLst/>
          </a:prstGeom>
          <a:noFill/>
        </p:spPr>
        <p:txBody>
          <a:bodyPr wrap="square" lIns="0" rIns="0" tIns="0" bIns="0" anchor="t">
            <a:noAutofit/>
          </a:bodyPr>
          <a:lstStyle/>
          <a:p>
            <a:pPr algn="l">
              <a:lnSpc>
                <a:spcPct val="105000"/>
              </a:lnSpc>
            </a:pPr>
            <a:r>
              <a:rPr sz="1100" b="1" i="0" spc="150">
                <a:solidFill>
                  <a:srgbClr val="D55E00"/>
                </a:solidFill>
                <a:latin typeface="Arial"/>
              </a:rPr>
              <a:t>SEE THE DEMOS</a:t>
            </a:r>
          </a:p>
        </p:txBody>
      </p:sp>
      <p:sp>
        <p:nvSpPr>
          <p:cNvPr id="6" name="TextBox 5"/>
          <p:cNvSpPr txBox="1"/>
          <p:nvPr/>
        </p:nvSpPr>
        <p:spPr>
          <a:xfrm>
            <a:off x="548640" y="2377440"/>
            <a:ext cx="3931920" cy="365760"/>
          </a:xfrm>
          <a:prstGeom prst="rect">
            <a:avLst/>
          </a:prstGeom>
          <a:noFill/>
        </p:spPr>
        <p:txBody>
          <a:bodyPr wrap="square" lIns="0" rIns="0" tIns="0" bIns="0" anchor="t">
            <a:noAutofit/>
          </a:bodyPr>
          <a:lstStyle/>
          <a:p>
            <a:pPr algn="l">
              <a:lnSpc>
                <a:spcPct val="105000"/>
              </a:lnSpc>
            </a:pPr>
            <a:r>
              <a:rPr sz="2000" b="1" i="0">
                <a:solidFill>
                  <a:srgbClr val="1F1A2E"/>
                </a:solidFill>
                <a:latin typeface="Arial"/>
              </a:rPr>
              <a:t>lnsgroup.cc/research/FlyGM</a:t>
            </a:r>
          </a:p>
        </p:txBody>
      </p:sp>
      <p:pic>
        <p:nvPicPr>
          <p:cNvPr id="7" name="QR code: lnsgroup.cc/research/FlyGM" descr="qr_flygm.png">
            <a:hlinkClick r:id="rId3"/>
          </p:cNvPr>
          <p:cNvPicPr>
            <a:picLocks noChangeAspect="1"/>
          </p:cNvPicPr>
          <p:nvPr/>
        </p:nvPicPr>
        <p:blipFill>
          <a:blip r:embed="rId2"/>
          <a:stretch>
            <a:fillRect/>
          </a:stretch>
        </p:blipFill>
        <p:spPr>
          <a:xfrm>
            <a:off x="548640" y="2971800"/>
            <a:ext cx="1371600" cy="1371600"/>
          </a:xfrm>
          <a:prstGeom prst="rect">
            <a:avLst/>
          </a:prstGeom>
        </p:spPr>
      </p:pic>
      <p:sp>
        <p:nvSpPr>
          <p:cNvPr id="8" name="TextBox 7"/>
          <p:cNvSpPr txBox="1"/>
          <p:nvPr/>
        </p:nvSpPr>
        <p:spPr>
          <a:xfrm>
            <a:off x="2103120" y="3108960"/>
            <a:ext cx="2377440" cy="1097280"/>
          </a:xfrm>
          <a:prstGeom prst="rect">
            <a:avLst/>
          </a:prstGeom>
          <a:noFill/>
        </p:spPr>
        <p:txBody>
          <a:bodyPr wrap="square" lIns="0" rIns="0" tIns="0" bIns="0" anchor="ctr">
            <a:noAutofit/>
          </a:bodyPr>
          <a:lstStyle/>
          <a:p>
            <a:pPr algn="l">
              <a:lnSpc>
                <a:spcPct val="115000"/>
              </a:lnSpc>
            </a:pPr>
            <a:r>
              <a:rPr sz="1300" b="1" i="0">
                <a:solidFill>
                  <a:srgbClr val="1F1A2E"/>
                </a:solidFill>
                <a:latin typeface="Arial"/>
              </a:rPr>
              <a:t>Zehao Jin, Yaoye Zhu,</a:t>
            </a:r>
          </a:p>
          <a:p>
            <a:pPr algn="l">
              <a:lnSpc>
                <a:spcPct val="115000"/>
              </a:lnSpc>
            </a:pPr>
            <a:r>
              <a:rPr sz="1300" b="1" i="0">
                <a:solidFill>
                  <a:srgbClr val="1F1A2E"/>
                </a:solidFill>
                <a:latin typeface="Arial"/>
              </a:rPr>
              <a:t>Chen Zhang, Yanan Sui</a:t>
            </a:r>
          </a:p>
          <a:p>
            <a:pPr algn="l">
              <a:lnSpc>
                <a:spcPct val="115000"/>
              </a:lnSpc>
            </a:pPr>
            <a:r>
              <a:rPr sz="1200" b="0" i="0">
                <a:solidFill>
                  <a:srgbClr val="6E6880"/>
                </a:solidFill>
                <a:latin typeface="Arial"/>
              </a:rPr>
              <a:t>Tsinghua University · LNS Group</a:t>
            </a:r>
          </a:p>
        </p:txBody>
      </p:sp>
      <p:sp>
        <p:nvSpPr>
          <p:cNvPr id="9" name="Demo stills panel"/>
          <p:cNvSpPr/>
          <p:nvPr/>
        </p:nvSpPr>
        <p:spPr>
          <a:xfrm>
            <a:off x="4572000" y="685800"/>
            <a:ext cx="4114800" cy="3931920"/>
          </a:xfrm>
          <a:prstGeom prst="roundRect">
            <a:avLst>
              <a:gd name="adj" fmla="val 4000"/>
            </a:avLst>
          </a:prstGeom>
          <a:solidFill>
            <a:srgbClr val="F4F1F8"/>
          </a:solidFill>
          <a:ln>
            <a:noFill/>
          </a:ln>
        </p:spPr>
        <p:txBody>
          <a:bodyPr rtlCol="0" anchor="ctr"/>
          <a:lstStyle/>
          <a:p>
            <a:pPr algn="ctr"/>
          </a:p>
        </p:txBody>
      </p:sp>
      <p:sp>
        <p:nvSpPr>
          <p:cNvPr id="10" name="TextBox 9"/>
          <p:cNvSpPr txBox="1"/>
          <p:nvPr/>
        </p:nvSpPr>
        <p:spPr>
          <a:xfrm>
            <a:off x="4800600" y="850392"/>
            <a:ext cx="3657600" cy="237744"/>
          </a:xfrm>
          <a:prstGeom prst="rect">
            <a:avLst/>
          </a:prstGeom>
          <a:noFill/>
        </p:spPr>
        <p:txBody>
          <a:bodyPr wrap="square" lIns="0" rIns="0" tIns="0" bIns="0" anchor="t">
            <a:noAutofit/>
          </a:bodyPr>
          <a:lstStyle/>
          <a:p>
            <a:pPr algn="l">
              <a:lnSpc>
                <a:spcPct val="105000"/>
              </a:lnSpc>
            </a:pPr>
            <a:r>
              <a:rPr sz="1050" b="1" i="0" spc="120">
                <a:solidFill>
                  <a:srgbClr val="660874"/>
                </a:solidFill>
                <a:latin typeface="Arial"/>
              </a:rPr>
              <a:t>FROM THE DEMO VIDEOS</a:t>
            </a:r>
          </a:p>
        </p:txBody>
      </p:sp>
      <p:pic>
        <p:nvPicPr>
          <p:cNvPr id="11" name="Picture 10" descr="image.png">
            <a:hlinkClick r:id="rId3"/>
          </p:cNvPr>
          <p:cNvPicPr>
            <a:picLocks noChangeAspect="1"/>
          </p:cNvPicPr>
          <p:nvPr/>
        </p:nvPicPr>
        <p:blipFill>
          <a:blip r:embed="rId4"/>
          <a:stretch>
            <a:fillRect/>
          </a:stretch>
        </p:blipFill>
        <p:spPr>
          <a:xfrm>
            <a:off x="4800600" y="1188720"/>
            <a:ext cx="1783080" cy="1002982"/>
          </a:xfrm>
          <a:prstGeom prst="rect">
            <a:avLst/>
          </a:prstGeom>
        </p:spPr>
      </p:pic>
      <p:sp>
        <p:nvSpPr>
          <p:cNvPr id="12" name="TextBox 11"/>
          <p:cNvSpPr txBox="1"/>
          <p:nvPr/>
        </p:nvSpPr>
        <p:spPr>
          <a:xfrm>
            <a:off x="4800600" y="2237422"/>
            <a:ext cx="1783080" cy="228600"/>
          </a:xfrm>
          <a:prstGeom prst="rect">
            <a:avLst/>
          </a:prstGeom>
          <a:noFill/>
        </p:spPr>
        <p:txBody>
          <a:bodyPr wrap="square" lIns="0" rIns="0" tIns="0" bIns="0" anchor="t">
            <a:noAutofit/>
          </a:bodyPr>
          <a:lstStyle/>
          <a:p>
            <a:pPr algn="l">
              <a:lnSpc>
                <a:spcPct val="105000"/>
              </a:lnSpc>
            </a:pPr>
            <a:r>
              <a:rPr sz="1100" b="0" i="0">
                <a:solidFill>
                  <a:srgbClr val="3A3447"/>
                </a:solidFill>
                <a:latin typeface="Arial"/>
              </a:rPr>
              <a:t>Walking</a:t>
            </a:r>
          </a:p>
        </p:txBody>
      </p:sp>
      <p:pic>
        <p:nvPicPr>
          <p:cNvPr id="13" name="Picture 12" descr="image.png">
            <a:hlinkClick r:id="rId3"/>
          </p:cNvPr>
          <p:cNvPicPr>
            <a:picLocks noChangeAspect="1"/>
          </p:cNvPicPr>
          <p:nvPr/>
        </p:nvPicPr>
        <p:blipFill>
          <a:blip r:embed="rId5"/>
          <a:stretch>
            <a:fillRect/>
          </a:stretch>
        </p:blipFill>
        <p:spPr>
          <a:xfrm>
            <a:off x="6675120" y="1188720"/>
            <a:ext cx="1783080" cy="1002982"/>
          </a:xfrm>
          <a:prstGeom prst="rect">
            <a:avLst/>
          </a:prstGeom>
        </p:spPr>
      </p:pic>
      <p:sp>
        <p:nvSpPr>
          <p:cNvPr id="14" name="TextBox 13"/>
          <p:cNvSpPr txBox="1"/>
          <p:nvPr/>
        </p:nvSpPr>
        <p:spPr>
          <a:xfrm>
            <a:off x="6675120" y="2237422"/>
            <a:ext cx="1783080" cy="228600"/>
          </a:xfrm>
          <a:prstGeom prst="rect">
            <a:avLst/>
          </a:prstGeom>
          <a:noFill/>
        </p:spPr>
        <p:txBody>
          <a:bodyPr wrap="square" lIns="0" rIns="0" tIns="0" bIns="0" anchor="t">
            <a:noAutofit/>
          </a:bodyPr>
          <a:lstStyle/>
          <a:p>
            <a:pPr algn="l">
              <a:lnSpc>
                <a:spcPct val="105000"/>
              </a:lnSpc>
            </a:pPr>
            <a:r>
              <a:rPr sz="1100" b="0" i="0">
                <a:solidFill>
                  <a:srgbClr val="3A3447"/>
                </a:solidFill>
                <a:latin typeface="Arial"/>
              </a:rPr>
              <a:t>Flight</a:t>
            </a:r>
          </a:p>
        </p:txBody>
      </p:sp>
      <p:pic>
        <p:nvPicPr>
          <p:cNvPr id="15" name="Picture 14" descr="image.png">
            <a:hlinkClick r:id="rId3"/>
          </p:cNvPr>
          <p:cNvPicPr>
            <a:picLocks noChangeAspect="1"/>
          </p:cNvPicPr>
          <p:nvPr/>
        </p:nvPicPr>
        <p:blipFill>
          <a:blip r:embed="rId6"/>
          <a:stretch>
            <a:fillRect/>
          </a:stretch>
        </p:blipFill>
        <p:spPr>
          <a:xfrm>
            <a:off x="4800600" y="2496312"/>
            <a:ext cx="3657600" cy="1619250"/>
          </a:xfrm>
          <a:prstGeom prst="rect">
            <a:avLst/>
          </a:prstGeom>
        </p:spPr>
      </p:pic>
      <p:sp>
        <p:nvSpPr>
          <p:cNvPr id="16" name="TextBox 15"/>
          <p:cNvSpPr txBox="1"/>
          <p:nvPr/>
        </p:nvSpPr>
        <p:spPr>
          <a:xfrm>
            <a:off x="4800600" y="4161282"/>
            <a:ext cx="3657600" cy="228600"/>
          </a:xfrm>
          <a:prstGeom prst="rect">
            <a:avLst/>
          </a:prstGeom>
          <a:noFill/>
        </p:spPr>
        <p:txBody>
          <a:bodyPr wrap="square" lIns="0" rIns="0" tIns="0" bIns="0" anchor="t">
            <a:noAutofit/>
          </a:bodyPr>
          <a:lstStyle/>
          <a:p>
            <a:pPr algn="l">
              <a:lnSpc>
                <a:spcPct val="105000"/>
              </a:lnSpc>
            </a:pPr>
            <a:r>
              <a:rPr sz="1100" b="0" i="0">
                <a:solidFill>
                  <a:srgbClr val="3A3447"/>
                </a:solidFill>
                <a:latin typeface="Arial"/>
              </a:rPr>
              <a:t>Walk → pause → turn, with model activity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References and resources</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BACKUP</a:t>
            </a:r>
          </a:p>
        </p:txBody>
      </p:sp>
      <p:sp>
        <p:nvSpPr>
          <p:cNvPr id="6" name="Rounded Rectangle 5"/>
          <p:cNvSpPr/>
          <p:nvPr/>
        </p:nvSpPr>
        <p:spPr>
          <a:xfrm>
            <a:off x="457200" y="987552"/>
            <a:ext cx="8229600" cy="621792"/>
          </a:xfrm>
          <a:prstGeom prst="roundRect">
            <a:avLst>
              <a:gd name="adj" fmla="val 12000"/>
            </a:avLst>
          </a:prstGeom>
          <a:solidFill>
            <a:srgbClr val="F4F1F8"/>
          </a:solidFill>
          <a:ln>
            <a:noFill/>
          </a:ln>
        </p:spPr>
        <p:txBody>
          <a:bodyPr rtlCol="0" anchor="ctr"/>
          <a:lstStyle/>
          <a:p>
            <a:pPr algn="ctr"/>
          </a:p>
        </p:txBody>
      </p:sp>
      <p:sp>
        <p:nvSpPr>
          <p:cNvPr id="7" name="TextBox 6"/>
          <p:cNvSpPr txBox="1"/>
          <p:nvPr/>
        </p:nvSpPr>
        <p:spPr>
          <a:xfrm>
            <a:off x="640080" y="1042415"/>
            <a:ext cx="1848342" cy="512064"/>
          </a:xfrm>
          <a:prstGeom prst="rect">
            <a:avLst/>
          </a:prstGeom>
          <a:noFill/>
        </p:spPr>
        <p:txBody>
          <a:bodyPr wrap="square" lIns="0" rIns="0" tIns="0" bIns="0" anchor="t">
            <a:noAutofit/>
          </a:bodyPr>
          <a:lstStyle/>
          <a:p>
            <a:pPr algn="l">
              <a:lnSpc>
                <a:spcPct val="110000"/>
              </a:lnSpc>
            </a:pPr>
            <a:r>
              <a:rPr sz="900" b="1" i="0" spc="80">
                <a:solidFill>
                  <a:srgbClr val="660874"/>
                </a:solidFill>
                <a:latin typeface="Arial"/>
              </a:rPr>
              <a:t>DEMO PAGE</a:t>
            </a:r>
          </a:p>
          <a:p>
            <a:pPr algn="l">
              <a:lnSpc>
                <a:spcPct val="110000"/>
              </a:lnSpc>
            </a:pPr>
            <a:r>
              <a:rPr sz="1050" b="1" i="0">
                <a:solidFill>
                  <a:srgbClr val="1F1A2E"/>
                </a:solidFill>
                <a:latin typeface="Arial"/>
                <a:hlinkClick r:id="rId2"/>
              </a:rPr>
              <a:t>lnsgroup.cc/research/FlyGM</a:t>
            </a:r>
          </a:p>
        </p:txBody>
      </p:sp>
      <p:sp>
        <p:nvSpPr>
          <p:cNvPr id="8" name="TextBox 7"/>
          <p:cNvSpPr txBox="1"/>
          <p:nvPr/>
        </p:nvSpPr>
        <p:spPr>
          <a:xfrm>
            <a:off x="2636134" y="1042415"/>
            <a:ext cx="1130047" cy="512064"/>
          </a:xfrm>
          <a:prstGeom prst="rect">
            <a:avLst/>
          </a:prstGeom>
          <a:noFill/>
        </p:spPr>
        <p:txBody>
          <a:bodyPr wrap="square" lIns="0" rIns="0" tIns="0" bIns="0" anchor="t">
            <a:noAutofit/>
          </a:bodyPr>
          <a:lstStyle/>
          <a:p>
            <a:pPr algn="l">
              <a:lnSpc>
                <a:spcPct val="110000"/>
              </a:lnSpc>
            </a:pPr>
            <a:r>
              <a:rPr sz="900" b="1" i="0" spc="80">
                <a:solidFill>
                  <a:srgbClr val="660874"/>
                </a:solidFill>
                <a:latin typeface="Arial"/>
              </a:rPr>
              <a:t>PAPER</a:t>
            </a:r>
          </a:p>
          <a:p>
            <a:pPr algn="l">
              <a:lnSpc>
                <a:spcPct val="110000"/>
              </a:lnSpc>
            </a:pPr>
            <a:r>
              <a:rPr sz="1050" b="1" i="0">
                <a:solidFill>
                  <a:srgbClr val="1F1A2E"/>
                </a:solidFill>
                <a:latin typeface="Arial"/>
                <a:hlinkClick r:id="rId3"/>
              </a:rPr>
              <a:t>arXiv:2602.17997</a:t>
            </a:r>
          </a:p>
        </p:txBody>
      </p:sp>
      <p:sp>
        <p:nvSpPr>
          <p:cNvPr id="9" name="TextBox 8"/>
          <p:cNvSpPr txBox="1"/>
          <p:nvPr/>
        </p:nvSpPr>
        <p:spPr>
          <a:xfrm>
            <a:off x="3913894" y="1042415"/>
            <a:ext cx="2448814" cy="512064"/>
          </a:xfrm>
          <a:prstGeom prst="rect">
            <a:avLst/>
          </a:prstGeom>
          <a:noFill/>
        </p:spPr>
        <p:txBody>
          <a:bodyPr wrap="square" lIns="0" rIns="0" tIns="0" bIns="0" anchor="t">
            <a:noAutofit/>
          </a:bodyPr>
          <a:lstStyle/>
          <a:p>
            <a:pPr algn="l">
              <a:lnSpc>
                <a:spcPct val="110000"/>
              </a:lnSpc>
            </a:pPr>
            <a:r>
              <a:rPr sz="900" b="1" i="0" spc="80">
                <a:solidFill>
                  <a:srgbClr val="660874"/>
                </a:solidFill>
                <a:latin typeface="Arial"/>
              </a:rPr>
              <a:t>CONNECTOME DATA</a:t>
            </a:r>
          </a:p>
          <a:p>
            <a:pPr algn="l">
              <a:lnSpc>
                <a:spcPct val="110000"/>
              </a:lnSpc>
            </a:pPr>
            <a:r>
              <a:rPr sz="1050" b="1" i="0">
                <a:solidFill>
                  <a:srgbClr val="1F1A2E"/>
                </a:solidFill>
                <a:latin typeface="Arial"/>
                <a:hlinkClick r:id="rId4"/>
              </a:rPr>
              <a:t>codex.flywire.ai · male-cns.janelia.org</a:t>
            </a:r>
          </a:p>
        </p:txBody>
      </p:sp>
      <p:sp>
        <p:nvSpPr>
          <p:cNvPr id="10" name="TextBox 9"/>
          <p:cNvSpPr txBox="1"/>
          <p:nvPr/>
        </p:nvSpPr>
        <p:spPr>
          <a:xfrm>
            <a:off x="6510420" y="1042415"/>
            <a:ext cx="1993499" cy="512064"/>
          </a:xfrm>
          <a:prstGeom prst="rect">
            <a:avLst/>
          </a:prstGeom>
          <a:noFill/>
        </p:spPr>
        <p:txBody>
          <a:bodyPr wrap="square" lIns="0" rIns="0" tIns="0" bIns="0" anchor="t">
            <a:noAutofit/>
          </a:bodyPr>
          <a:lstStyle/>
          <a:p>
            <a:pPr algn="l">
              <a:lnSpc>
                <a:spcPct val="110000"/>
              </a:lnSpc>
            </a:pPr>
            <a:r>
              <a:rPr sz="900" b="1" i="0" spc="80">
                <a:solidFill>
                  <a:srgbClr val="660874"/>
                </a:solidFill>
                <a:latin typeface="Arial"/>
              </a:rPr>
              <a:t>BODY SIMULATOR</a:t>
            </a:r>
          </a:p>
          <a:p>
            <a:pPr algn="l">
              <a:lnSpc>
                <a:spcPct val="110000"/>
              </a:lnSpc>
            </a:pPr>
            <a:r>
              <a:rPr sz="1050" b="1" i="0">
                <a:solidFill>
                  <a:srgbClr val="1F1A2E"/>
                </a:solidFill>
                <a:latin typeface="Arial"/>
                <a:hlinkClick r:id="rId5"/>
              </a:rPr>
              <a:t>github.com/TuragaLab/flybody</a:t>
            </a:r>
          </a:p>
        </p:txBody>
      </p:sp>
      <p:sp>
        <p:nvSpPr>
          <p:cNvPr id="11" name="TextBox 10"/>
          <p:cNvSpPr txBox="1"/>
          <p:nvPr/>
        </p:nvSpPr>
        <p:spPr>
          <a:xfrm>
            <a:off x="457200" y="1783080"/>
            <a:ext cx="8229600" cy="2898648"/>
          </a:xfrm>
          <a:prstGeom prst="rect">
            <a:avLst/>
          </a:prstGeom>
          <a:noFill/>
        </p:spPr>
        <p:txBody>
          <a:bodyPr wrap="square" lIns="0" rIns="0" tIns="0" bIns="0" anchor="t">
            <a:noAutofit/>
          </a:bodyPr>
          <a:lstStyle/>
          <a:p>
            <a:pPr algn="l">
              <a:lnSpc>
                <a:spcPct val="100000"/>
              </a:lnSpc>
              <a:spcAft>
                <a:spcPts val="500"/>
              </a:spcAft>
            </a:pPr>
            <a:r>
              <a:rPr sz="1100" b="1" i="0">
                <a:solidFill>
                  <a:srgbClr val="660874"/>
                </a:solidFill>
                <a:latin typeface="Arial"/>
              </a:rPr>
              <a:t>[1]  </a:t>
            </a:r>
            <a:r>
              <a:rPr sz="1100" b="0" i="0">
                <a:solidFill>
                  <a:srgbClr val="3A3447"/>
                </a:solidFill>
                <a:latin typeface="Arial"/>
              </a:rPr>
              <a:t>Z. Jin, Y. Zhu, C. Zhang, Y. Sui. Whole-brain connectomic graph model enables whole-body locomotion control in fruit fly. AIAS+ 2026; arXiv:2602.17997.</a:t>
            </a:r>
          </a:p>
          <a:p>
            <a:pPr algn="l">
              <a:lnSpc>
                <a:spcPct val="100000"/>
              </a:lnSpc>
              <a:spcAft>
                <a:spcPts val="500"/>
              </a:spcAft>
            </a:pPr>
            <a:r>
              <a:rPr sz="1100" b="1" i="0">
                <a:solidFill>
                  <a:srgbClr val="660874"/>
                </a:solidFill>
                <a:latin typeface="Arial"/>
              </a:rPr>
              <a:t>[2]  </a:t>
            </a:r>
            <a:r>
              <a:rPr sz="1100" b="0" i="0">
                <a:solidFill>
                  <a:srgbClr val="3A3447"/>
                </a:solidFill>
                <a:latin typeface="Arial"/>
              </a:rPr>
              <a:t>S. Dorkenwald et al. Neuronal wiring diagram of an adult brain. Nature 634, 124–138 (2024).</a:t>
            </a:r>
          </a:p>
          <a:p>
            <a:pPr algn="l">
              <a:lnSpc>
                <a:spcPct val="100000"/>
              </a:lnSpc>
              <a:spcAft>
                <a:spcPts val="500"/>
              </a:spcAft>
            </a:pPr>
            <a:r>
              <a:rPr sz="1100" b="1" i="0">
                <a:solidFill>
                  <a:srgbClr val="660874"/>
                </a:solidFill>
                <a:latin typeface="Arial"/>
              </a:rPr>
              <a:t>[3]  </a:t>
            </a:r>
            <a:r>
              <a:rPr sz="1100" b="0" i="0">
                <a:solidFill>
                  <a:srgbClr val="3A3447"/>
                </a:solidFill>
                <a:latin typeface="Arial"/>
              </a:rPr>
              <a:t>P. Schlegel et al. Whole-brain annotation and multi-connectome cell typing of Drosophila. Nature 634, 139–152 (2024).</a:t>
            </a:r>
          </a:p>
          <a:p>
            <a:pPr algn="l">
              <a:lnSpc>
                <a:spcPct val="100000"/>
              </a:lnSpc>
              <a:spcAft>
                <a:spcPts val="500"/>
              </a:spcAft>
            </a:pPr>
            <a:r>
              <a:rPr sz="1100" b="1" i="0">
                <a:solidFill>
                  <a:srgbClr val="660874"/>
                </a:solidFill>
                <a:latin typeface="Arial"/>
              </a:rPr>
              <a:t>[4]  </a:t>
            </a:r>
            <a:r>
              <a:rPr sz="1100" b="0" i="0">
                <a:solidFill>
                  <a:srgbClr val="3A3447"/>
                </a:solidFill>
                <a:latin typeface="Arial"/>
              </a:rPr>
              <a:t>P. K. Shiu et al. A Drosophila computational brain model reveals sensorimotor processing. Nature 634, 210–219 (2024).</a:t>
            </a:r>
          </a:p>
          <a:p>
            <a:pPr algn="l">
              <a:lnSpc>
                <a:spcPct val="100000"/>
              </a:lnSpc>
              <a:spcAft>
                <a:spcPts val="500"/>
              </a:spcAft>
            </a:pPr>
            <a:r>
              <a:rPr sz="1100" b="1" i="0">
                <a:solidFill>
                  <a:srgbClr val="660874"/>
                </a:solidFill>
                <a:latin typeface="Arial"/>
              </a:rPr>
              <a:t>[5]  </a:t>
            </a:r>
            <a:r>
              <a:rPr sz="1100" b="0" i="0">
                <a:solidFill>
                  <a:srgbClr val="3A3447"/>
                </a:solidFill>
                <a:latin typeface="Arial"/>
              </a:rPr>
              <a:t>J. K. Lappalainen et al. Connectome-constrained networks predict neural activity across the fly visual system. Nature 634, 1132–1140 (2024).</a:t>
            </a:r>
          </a:p>
          <a:p>
            <a:pPr algn="l">
              <a:lnSpc>
                <a:spcPct val="100000"/>
              </a:lnSpc>
              <a:spcAft>
                <a:spcPts val="500"/>
              </a:spcAft>
            </a:pPr>
            <a:r>
              <a:rPr sz="1100" b="1" i="0">
                <a:solidFill>
                  <a:srgbClr val="660874"/>
                </a:solidFill>
                <a:latin typeface="Arial"/>
              </a:rPr>
              <a:t>[6]  </a:t>
            </a:r>
            <a:r>
              <a:rPr sz="1100" b="0" i="0">
                <a:solidFill>
                  <a:srgbClr val="3A3447"/>
                </a:solidFill>
                <a:latin typeface="Arial"/>
              </a:rPr>
              <a:t>S. Wang-Chen et al. NeuroMechFly v2: simulating embodied sensorimotor control in adult Drosophila. Nat. Methods 21, 2353–2362 (2024).</a:t>
            </a:r>
          </a:p>
          <a:p>
            <a:pPr algn="l">
              <a:lnSpc>
                <a:spcPct val="100000"/>
              </a:lnSpc>
              <a:spcAft>
                <a:spcPts val="500"/>
              </a:spcAft>
            </a:pPr>
            <a:r>
              <a:rPr sz="1100" b="1" i="0">
                <a:solidFill>
                  <a:srgbClr val="660874"/>
                </a:solidFill>
                <a:latin typeface="Arial"/>
              </a:rPr>
              <a:t>[7]  </a:t>
            </a:r>
            <a:r>
              <a:rPr sz="1100" b="0" i="0">
                <a:solidFill>
                  <a:srgbClr val="3A3447"/>
                </a:solidFill>
                <a:latin typeface="Arial"/>
              </a:rPr>
              <a:t>R. Vaxenburg et al. Whole-body physics simulation of fruit fly locomotion. Nature 643, 1312–1320 (2025).</a:t>
            </a:r>
          </a:p>
          <a:p>
            <a:pPr algn="l">
              <a:lnSpc>
                <a:spcPct val="100000"/>
              </a:lnSpc>
              <a:spcAft>
                <a:spcPts val="500"/>
              </a:spcAft>
            </a:pPr>
            <a:r>
              <a:rPr sz="1100" b="1" i="0">
                <a:solidFill>
                  <a:srgbClr val="660874"/>
                </a:solidFill>
                <a:latin typeface="Arial"/>
              </a:rPr>
              <a:t>[8]  </a:t>
            </a:r>
            <a:r>
              <a:rPr sz="1100" b="0" i="0">
                <a:solidFill>
                  <a:srgbClr val="3A3447"/>
                </a:solidFill>
                <a:latin typeface="Arial"/>
              </a:rPr>
              <a:t>S. Berg et al. Sexual dimorphism in the complete connectome of the Drosophila male central nervous system. Cell 189, 5504–5526 (2026).</a:t>
            </a:r>
          </a:p>
          <a:p>
            <a:pPr algn="l">
              <a:lnSpc>
                <a:spcPct val="100000"/>
              </a:lnSpc>
              <a:spcAft>
                <a:spcPts val="500"/>
              </a:spcAft>
            </a:pPr>
            <a:r>
              <a:rPr sz="1100" b="1" i="0">
                <a:solidFill>
                  <a:srgbClr val="660874"/>
                </a:solidFill>
                <a:latin typeface="Arial"/>
              </a:rPr>
              <a:t>[9]  </a:t>
            </a:r>
            <a:r>
              <a:rPr sz="1100" b="0" i="0">
                <a:solidFill>
                  <a:srgbClr val="3A3447"/>
                </a:solidFill>
                <a:latin typeface="Arial"/>
              </a:rPr>
              <a:t>Eon Systems. “We’ve uploaded a fruit fly”; “How the Eon team produced a virtual embodied fly”. eon.systems/updates (Mar 2026).</a:t>
            </a:r>
          </a:p>
        </p:txBody>
      </p:sp>
      <p:sp>
        <p:nvSpPr>
          <p:cNvPr id="12"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457200" y="438912"/>
            <a:ext cx="8229600" cy="502920"/>
          </a:xfrm>
        </p:spPr>
        <p:txBody>
          <a:bodyPr wrap="square" anchor="t" lIns="0" rIns="0" tIns="0" bIns="0"/>
          <a:lstStyle/>
          <a:p>
            <a:pPr algn="l">
              <a:lnSpc>
                <a:spcPct val="100000"/>
              </a:lnSpc>
            </a:pPr>
            <a:r>
              <a:rPr sz="2800" b="1">
                <a:solidFill>
                  <a:srgbClr val="1F1A2E"/>
                </a:solidFill>
                <a:latin typeface="Arial"/>
              </a:rPr>
              <a:t>References (continued)</a:t>
            </a:r>
          </a:p>
        </p:txBody>
      </p:sp>
      <p:sp>
        <p:nvSpPr>
          <p:cNvPr id="4" name="Kicker dot"/>
          <p:cNvSpPr/>
          <p:nvPr/>
        </p:nvSpPr>
        <p:spPr>
          <a:xfrm>
            <a:off x="457200" y="274320"/>
            <a:ext cx="91440" cy="91440"/>
          </a:xfrm>
          <a:prstGeom prst="ellipse">
            <a:avLst/>
          </a:prstGeom>
          <a:solidFill>
            <a:srgbClr val="D55E00"/>
          </a:solidFill>
          <a:ln>
            <a:noFill/>
          </a:ln>
        </p:spPr>
        <p:txBody>
          <a:bodyPr rtlCol="0" anchor="ctr"/>
          <a:lstStyle/>
          <a:p>
            <a:pPr algn="ctr"/>
          </a:p>
        </p:txBody>
      </p:sp>
      <p:sp>
        <p:nvSpPr>
          <p:cNvPr id="5" name="Kicker"/>
          <p:cNvSpPr txBox="1"/>
          <p:nvPr/>
        </p:nvSpPr>
        <p:spPr>
          <a:xfrm>
            <a:off x="621792" y="219456"/>
            <a:ext cx="6400800" cy="201168"/>
          </a:xfrm>
          <a:prstGeom prst="rect">
            <a:avLst/>
          </a:prstGeom>
          <a:noFill/>
        </p:spPr>
        <p:txBody>
          <a:bodyPr wrap="square" lIns="0" rIns="0" tIns="0" bIns="0" anchor="ctr">
            <a:noAutofit/>
          </a:bodyPr>
          <a:lstStyle/>
          <a:p>
            <a:pPr algn="l">
              <a:lnSpc>
                <a:spcPct val="105000"/>
              </a:lnSpc>
            </a:pPr>
            <a:r>
              <a:rPr sz="1050" b="1" i="0" spc="120">
                <a:solidFill>
                  <a:srgbClr val="660874"/>
                </a:solidFill>
                <a:latin typeface="Arial"/>
              </a:rPr>
              <a:t>BACKUP</a:t>
            </a:r>
          </a:p>
        </p:txBody>
      </p:sp>
      <p:sp>
        <p:nvSpPr>
          <p:cNvPr id="6" name="TextBox 5"/>
          <p:cNvSpPr txBox="1"/>
          <p:nvPr/>
        </p:nvSpPr>
        <p:spPr>
          <a:xfrm>
            <a:off x="457200" y="1024128"/>
            <a:ext cx="8229600" cy="3657600"/>
          </a:xfrm>
          <a:prstGeom prst="rect">
            <a:avLst/>
          </a:prstGeom>
          <a:noFill/>
        </p:spPr>
        <p:txBody>
          <a:bodyPr wrap="square" lIns="0" rIns="0" tIns="0" bIns="0" anchor="t">
            <a:noAutofit/>
          </a:bodyPr>
          <a:lstStyle/>
          <a:p>
            <a:pPr algn="l">
              <a:lnSpc>
                <a:spcPct val="100000"/>
              </a:lnSpc>
              <a:spcAft>
                <a:spcPts val="500"/>
              </a:spcAft>
            </a:pPr>
            <a:r>
              <a:rPr sz="1100" b="1" i="0">
                <a:solidFill>
                  <a:srgbClr val="660874"/>
                </a:solidFill>
                <a:latin typeface="Arial"/>
              </a:rPr>
              <a:t>[10]  </a:t>
            </a:r>
            <a:r>
              <a:rPr sz="1100" b="0" i="0">
                <a:solidFill>
                  <a:srgbClr val="3A3447"/>
                </a:solidFill>
                <a:latin typeface="Arial"/>
              </a:rPr>
              <a:t>A. Zeleznikow-Johnston. No, we haven’t uploaded a fly yet. LessWrong (Mar 2026).</a:t>
            </a:r>
          </a:p>
          <a:p>
            <a:pPr algn="l">
              <a:lnSpc>
                <a:spcPct val="100000"/>
              </a:lnSpc>
              <a:spcAft>
                <a:spcPts val="500"/>
              </a:spcAft>
            </a:pPr>
            <a:r>
              <a:rPr sz="1100" b="1" i="0">
                <a:solidFill>
                  <a:srgbClr val="660874"/>
                </a:solidFill>
                <a:latin typeface="Arial"/>
              </a:rPr>
              <a:t>[11]  </a:t>
            </a:r>
            <a:r>
              <a:rPr sz="1100" b="0" i="0">
                <a:solidFill>
                  <a:srgbClr val="3A3447"/>
                </a:solidFill>
                <a:latin typeface="Arial"/>
              </a:rPr>
              <a:t>P. Mineault. Deconstructing viral fly sims. NeuroAI, neuroai.science (2026).</a:t>
            </a:r>
          </a:p>
          <a:p>
            <a:pPr algn="l">
              <a:lnSpc>
                <a:spcPct val="100000"/>
              </a:lnSpc>
              <a:spcAft>
                <a:spcPts val="500"/>
              </a:spcAft>
            </a:pPr>
            <a:r>
              <a:rPr sz="1100" b="1" i="0">
                <a:solidFill>
                  <a:srgbClr val="660874"/>
                </a:solidFill>
                <a:latin typeface="Arial"/>
              </a:rPr>
              <a:t>[12]  </a:t>
            </a:r>
            <a:r>
              <a:rPr sz="1100" b="0" i="0">
                <a:solidFill>
                  <a:srgbClr val="3A3447"/>
                </a:solidFill>
                <a:latin typeface="Arial"/>
              </a:rPr>
              <a:t>D. A. Pospisil et al. The fly connectome reveals a path to the effectome. Nature 634, 201–209 (2024).</a:t>
            </a:r>
          </a:p>
          <a:p>
            <a:pPr algn="l">
              <a:lnSpc>
                <a:spcPct val="100000"/>
              </a:lnSpc>
              <a:spcAft>
                <a:spcPts val="500"/>
              </a:spcAft>
            </a:pPr>
            <a:r>
              <a:rPr sz="1100" b="1" i="0">
                <a:solidFill>
                  <a:srgbClr val="660874"/>
                </a:solidFill>
                <a:latin typeface="Arial"/>
              </a:rPr>
              <a:t>[13]  </a:t>
            </a:r>
            <a:r>
              <a:rPr sz="1100" b="0" i="0">
                <a:solidFill>
                  <a:srgbClr val="3A3447"/>
                </a:solidFill>
                <a:latin typeface="Arial"/>
              </a:rPr>
              <a:t>N. Eckstein et al. Neurotransmitter classification from electron microscopy images at synaptic sites in Drosophila melanogaster. Cell 187, 2574–2594 (2024).</a:t>
            </a:r>
          </a:p>
          <a:p>
            <a:pPr algn="l">
              <a:lnSpc>
                <a:spcPct val="100000"/>
              </a:lnSpc>
              <a:spcAft>
                <a:spcPts val="500"/>
              </a:spcAft>
            </a:pPr>
            <a:r>
              <a:rPr sz="1100" b="1" i="0">
                <a:solidFill>
                  <a:srgbClr val="660874"/>
                </a:solidFill>
                <a:latin typeface="Arial"/>
              </a:rPr>
              <a:t>[14]  </a:t>
            </a:r>
            <a:r>
              <a:rPr sz="1100" b="0" i="0">
                <a:solidFill>
                  <a:srgbClr val="3A3447"/>
                </a:solidFill>
                <a:latin typeface="Arial"/>
              </a:rPr>
              <a:t>E. Todorov, T. Erez, Y. Tassa. MuJoCo: a physics engine for model-based control. IROS, 5026–5033 (2012).</a:t>
            </a:r>
          </a:p>
          <a:p>
            <a:pPr algn="l">
              <a:lnSpc>
                <a:spcPct val="100000"/>
              </a:lnSpc>
              <a:spcAft>
                <a:spcPts val="500"/>
              </a:spcAft>
            </a:pPr>
            <a:r>
              <a:rPr sz="1100" b="1" i="0">
                <a:solidFill>
                  <a:srgbClr val="660874"/>
                </a:solidFill>
                <a:latin typeface="Arial"/>
              </a:rPr>
              <a:t>[15]  </a:t>
            </a:r>
            <a:r>
              <a:rPr sz="1100" b="0" i="0">
                <a:solidFill>
                  <a:srgbClr val="3A3447"/>
                </a:solidFill>
                <a:latin typeface="Arial"/>
              </a:rPr>
              <a:t>J. Schulman et al. Proximal policy optimization algorithms. arXiv:1707.06347 (2017).</a:t>
            </a:r>
          </a:p>
          <a:p>
            <a:pPr algn="l">
              <a:lnSpc>
                <a:spcPct val="100000"/>
              </a:lnSpc>
              <a:spcAft>
                <a:spcPts val="500"/>
              </a:spcAft>
            </a:pPr>
            <a:r>
              <a:rPr sz="1100" b="1" i="0">
                <a:solidFill>
                  <a:srgbClr val="660874"/>
                </a:solidFill>
                <a:latin typeface="Arial"/>
              </a:rPr>
              <a:t>[16]  </a:t>
            </a:r>
            <a:r>
              <a:rPr sz="1100" b="0" i="0">
                <a:solidFill>
                  <a:srgbClr val="3A3447"/>
                </a:solidFill>
                <a:latin typeface="Arial"/>
              </a:rPr>
              <a:t>GNN baselines: GCN, Kipf &amp; Welling, ICLR (2017); EdgeConv, Wang et al., ACM TOG 38 (2019); GraphSAGE, Hamilton et al., NeurIPS (2017); GAT, Veličković et al., ICLR (2018); PNA, Corso et al., NeurIPS (2020).</a:t>
            </a:r>
          </a:p>
          <a:p>
            <a:pPr algn="l">
              <a:lnSpc>
                <a:spcPct val="100000"/>
              </a:lnSpc>
              <a:spcAft>
                <a:spcPts val="500"/>
              </a:spcAft>
            </a:pPr>
            <a:r>
              <a:rPr sz="1100" b="1" i="0">
                <a:solidFill>
                  <a:srgbClr val="660874"/>
                </a:solidFill>
                <a:latin typeface="Arial"/>
              </a:rPr>
              <a:t>[17]  </a:t>
            </a:r>
            <a:r>
              <a:rPr sz="1100" b="0" i="0">
                <a:solidFill>
                  <a:srgbClr val="3A3447"/>
                </a:solidFill>
                <a:latin typeface="Arial"/>
              </a:rPr>
              <a:t>B. E. Brezovec et al. Mapping the neural dynamics of locomotion across the Drosophila brain. Curr. Biol. 34, 710–726 (2024).</a:t>
            </a:r>
          </a:p>
          <a:p>
            <a:pPr algn="l">
              <a:lnSpc>
                <a:spcPct val="100000"/>
              </a:lnSpc>
              <a:spcAft>
                <a:spcPts val="500"/>
              </a:spcAft>
            </a:pPr>
            <a:r>
              <a:rPr sz="1100" b="1" i="0">
                <a:solidFill>
                  <a:srgbClr val="660874"/>
                </a:solidFill>
                <a:latin typeface="Arial"/>
              </a:rPr>
              <a:t>[18]  </a:t>
            </a:r>
            <a:r>
              <a:rPr sz="1100" b="0" i="0">
                <a:solidFill>
                  <a:srgbClr val="3A3447"/>
                </a:solidFill>
                <a:latin typeface="Arial"/>
              </a:rPr>
              <a:t>E. S. Schaffer et al. The spatial and temporal structure of neural activity across the fly brain. Nat. Commun. 14, 5572 (2023).</a:t>
            </a:r>
          </a:p>
          <a:p>
            <a:pPr algn="l">
              <a:lnSpc>
                <a:spcPct val="100000"/>
              </a:lnSpc>
              <a:spcAft>
                <a:spcPts val="500"/>
              </a:spcAft>
            </a:pPr>
            <a:r>
              <a:rPr sz="1100" b="1" i="0">
                <a:solidFill>
                  <a:srgbClr val="660874"/>
                </a:solidFill>
                <a:latin typeface="Arial"/>
              </a:rPr>
              <a:t>[19]  </a:t>
            </a:r>
            <a:r>
              <a:rPr sz="1100" b="0" i="0">
                <a:solidFill>
                  <a:srgbClr val="3A3447"/>
                </a:solidFill>
                <a:latin typeface="Arial"/>
              </a:rPr>
              <a:t>S.-C. Yu et al. New synapse detection in the whole-brain connectome of Drosophila. bioRxiv (2025).</a:t>
            </a:r>
          </a:p>
          <a:p>
            <a:pPr algn="l">
              <a:lnSpc>
                <a:spcPct val="100000"/>
              </a:lnSpc>
              <a:spcAft>
                <a:spcPts val="500"/>
              </a:spcAft>
            </a:pPr>
            <a:r>
              <a:rPr sz="1100" b="1" i="0">
                <a:solidFill>
                  <a:srgbClr val="660874"/>
                </a:solidFill>
                <a:latin typeface="Arial"/>
              </a:rPr>
              <a:t>[20]  </a:t>
            </a:r>
            <a:r>
              <a:rPr sz="1100" b="0" i="0">
                <a:solidFill>
                  <a:srgbClr val="3A3447"/>
                </a:solidFill>
                <a:latin typeface="Arial"/>
              </a:rPr>
              <a:t>D. Deutsch et al. Sexually-dimorphic neurons in the Drosophila whole-brain connectome. Research Square (2025).</a:t>
            </a:r>
          </a:p>
        </p:txBody>
      </p:sp>
      <p:sp>
        <p:nvSpPr>
          <p:cNvPr id="7" name="Slide number"/>
          <p:cNvSpPr txBox="1"/>
          <p:nvPr/>
        </p:nvSpPr>
        <p:spPr>
          <a:xfrm>
            <a:off x="8229600" y="4773168"/>
            <a:ext cx="457200" cy="228600"/>
          </a:xfrm>
          <a:prstGeom prst="rect">
            <a:avLst/>
          </a:prstGeom>
          <a:noFill/>
        </p:spPr>
        <p:txBody>
          <a:bodyPr wrap="none" lIns="0" rIns="0" tIns="0" bIns="0" anchor="ctr">
            <a:spAutoFit/>
          </a:bodyPr>
          <a:lstStyle/>
          <a:p>
            <a:pPr algn="r"/>
            <a:fld id="{5C1D9F7E-2B47-4C0B-9E55-6B0D1A3E1F01}" type="slidenum">
              <a:rPr lang="en-US" sz="1000">
                <a:solidFill>
                  <a:srgbClr val="6E6880"/>
                </a:solidFill>
                <a:latin typeface="Arial"/>
              </a:rPr>
              <a:t>#</a:t>
            </a:fld>
          </a:p>
        </p:txBody>
      </p:sp>
    </p:spTree>
  </p:cSld>
  <p:clrMapOvr>
    <a:masterClrMapping/>
  </p:clrMapOvr>
</p:sld>
</file>

<file path=ppt/theme/theme1.xml><?xml version="1.0" encoding="utf-8"?>
<a:theme xmlns:a="http://schemas.openxmlformats.org/drawingml/2006/main" name="SU_Preso_16x9_v6">
  <a:themeElements>
    <a:clrScheme name="Stanford2">
      <a:dk1>
        <a:srgbClr val="000000"/>
      </a:dk1>
      <a:lt1>
        <a:srgbClr val="FFFFFF"/>
      </a:lt1>
      <a:dk2>
        <a:srgbClr val="DAD7CB"/>
      </a:dk2>
      <a:lt2>
        <a:srgbClr val="8C1515"/>
      </a:lt2>
      <a:accent1>
        <a:srgbClr val="8D3C1E"/>
      </a:accent1>
      <a:accent2>
        <a:srgbClr val="00505C"/>
      </a:accent2>
      <a:accent3>
        <a:srgbClr val="53284F"/>
      </a:accent3>
      <a:accent4>
        <a:srgbClr val="175E54"/>
      </a:accent4>
      <a:accent5>
        <a:srgbClr val="4D4F53"/>
      </a:accent5>
      <a:accent6>
        <a:srgbClr val="D2C295"/>
      </a:accent6>
      <a:hlink>
        <a:srgbClr val="A4001D"/>
      </a:hlink>
      <a:folHlink>
        <a:srgbClr val="000000"/>
      </a:folHlink>
    </a:clrScheme>
    <a:fontScheme name="Stanford">
      <a:majorFont>
        <a:latin typeface="Source Sans Pro Semibold"/>
        <a:ea typeface=""/>
        <a:cs typeface=""/>
      </a:majorFont>
      <a:minorFont>
        <a:latin typeface="Source Sans Pro"/>
        <a:ea typeface=""/>
        <a:cs typeface=""/>
      </a:minorFont>
    </a:fontScheme>
    <a:fmtScheme name="Stanford2">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a:solidFill>
            <a:schemeClr val="phClr"/>
          </a:solidFill>
          <a:prstDash val="solid"/>
        </a:ln>
        <a:ln w="26425">
          <a:solidFill>
            <a:schemeClr val="phClr"/>
          </a:solidFill>
          <a:prstDash val="solid"/>
        </a:ln>
        <a:ln w="44450">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U_Preso_16x9_v6">
  <a:themeElements>
    <a:clrScheme name="Stanford2">
      <a:dk1>
        <a:srgbClr val="000000"/>
      </a:dk1>
      <a:lt1>
        <a:srgbClr val="FFFFFF"/>
      </a:lt1>
      <a:dk2>
        <a:srgbClr val="DAD7CB"/>
      </a:dk2>
      <a:lt2>
        <a:srgbClr val="8C1515"/>
      </a:lt2>
      <a:accent1>
        <a:srgbClr val="8D3C1E"/>
      </a:accent1>
      <a:accent2>
        <a:srgbClr val="00505C"/>
      </a:accent2>
      <a:accent3>
        <a:srgbClr val="53284F"/>
      </a:accent3>
      <a:accent4>
        <a:srgbClr val="175E54"/>
      </a:accent4>
      <a:accent5>
        <a:srgbClr val="4D4F53"/>
      </a:accent5>
      <a:accent6>
        <a:srgbClr val="D2C295"/>
      </a:accent6>
      <a:hlink>
        <a:srgbClr val="A4001D"/>
      </a:hlink>
      <a:folHlink>
        <a:srgbClr val="000000"/>
      </a:folHlink>
    </a:clrScheme>
    <a:fontScheme name="Stanford">
      <a:majorFont>
        <a:latin typeface="Source Sans Pro Semibold"/>
        <a:ea typeface=""/>
        <a:cs typeface=""/>
      </a:majorFont>
      <a:minorFont>
        <a:latin typeface="Source Sans Pro"/>
        <a:ea typeface=""/>
        <a:cs typeface=""/>
      </a:minorFont>
    </a:fontScheme>
    <a:fmtScheme name="Stanford2">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a:solidFill>
            <a:schemeClr val="phClr"/>
          </a:solidFill>
          <a:prstDash val="solid"/>
        </a:ln>
        <a:ln w="26425">
          <a:solidFill>
            <a:schemeClr val="phClr"/>
          </a:solidFill>
          <a:prstDash val="solid"/>
        </a:ln>
        <a:ln w="44450">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2583</Words>
  <Application>Microsoft Macintosh PowerPoint</Application>
  <DocSecurity>0</DocSecurity>
  <PresentationFormat>On-screen Show (16:9)</PresentationFormat>
  <Paragraphs>170</Paragraphs>
  <Slides>14</Slides>
  <Notes>14</Notes>
  <HiddenSlides>1</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Source Sans Pro</vt:lpstr>
      <vt:lpstr>Source Sans Pro Semibold</vt:lpstr>
      <vt:lpstr>Wingdings</vt:lpstr>
      <vt:lpstr>SU_Preso_16x9_v6</vt:lpstr>
      <vt:lpstr>FlyGM Whole-Brain Connectomic Graph Model for Whole-Body Locomotion Control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FlyGM: Whole-Brain Connectomic Graph Model for Whole-Body Locomotion Control</dc:title>
  <dc:creator>Walnut Exporter</dc:creator>
  <cp:lastModifiedBy>Jin, Zehao</cp:lastModifiedBy>
  <cp:revision>1</cp:revision>
  <dcterms:created xsi:type="dcterms:W3CDTF">2026-10-26T01:42:36Z</dcterms:created>
  <dcterms:modified xsi:type="dcterms:W3CDTF">2026-10-27T04:25:53Z</dcterms:modified>
  <dc:subject>AIAS+ 2026 oral presentation</dc:subject>
</cp:coreProperties>
</file>